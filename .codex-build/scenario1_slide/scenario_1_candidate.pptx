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8c8725a7bd4a46" /><Relationship Type="http://schemas.openxmlformats.org/officeDocument/2006/relationships/extended-properties" Target="/docProps/app.xml" Id="Rdb8a63a6598d4010" /><Relationship Type="http://schemas.openxmlformats.org/officeDocument/2006/relationships/officeDocument" Target="/ppt/presentation.xml" Id="R0711e5a720fa4fd0" /></Relationships>
</file>

<file path=ppt/presentation.xml><?xml version="1.0" encoding="utf-8"?>
<p:presentation xmlns:p="http://schemas.openxmlformats.org/presentationml/2006/main">
  <p:sldMasterIdLst>
    <p:sldMasterId xmlns:r="http://schemas.openxmlformats.org/officeDocument/2006/relationships" id="2147483648" r:id="Rbe2d3664530b4654"/>
  </p:sldMasterIdLst>
  <p:notesMasterIdLst>
    <p:notesMasterId xmlns:r="http://schemas.openxmlformats.org/officeDocument/2006/relationships" r:id="R11cc0a4da145451a"/>
  </p:notesMasterIdLst>
  <p:sldIdLst>
    <p:sldId xmlns:r="http://schemas.openxmlformats.org/officeDocument/2006/relationships" id="256" r:id="R43ba03b755024e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ca90f008c44dd4" /><Relationship Type="http://schemas.openxmlformats.org/officeDocument/2006/relationships/slideMaster" Target="/ppt/slideMasters/slideMaster1.xml" Id="Rbe2d3664530b4654" /><Relationship Type="http://schemas.openxmlformats.org/officeDocument/2006/relationships/notesMaster" Target="/ppt/notesMasters/notesMaster1.xml" Id="R11cc0a4da145451a" /><Relationship Type="http://schemas.openxmlformats.org/officeDocument/2006/relationships/presProps" Target="/ppt/presProps.xml" Id="R1ac041507e284926" /><Relationship Type="http://schemas.openxmlformats.org/officeDocument/2006/relationships/tableStyles" Target="/ppt/tableStyles.xml" Id="R80eb371910574996" /><Relationship Type="http://schemas.openxmlformats.org/officeDocument/2006/relationships/slide" Target="/ppt/slides/slide1.xml" Id="R43ba03b755024e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9a3ed409c64d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9f58ec6784468d" /><Relationship Type="http://schemas.openxmlformats.org/officeDocument/2006/relationships/notesMaster" Target="/ppt/notesMasters/notesMaster1.xml" Id="Rf50782a9cb734f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uses ordinary FIFO replay submission. Controller mode exposes expected replay timing during tool wait, assigns due-time priority before replay, uses that priority in the local submission gate, and lowers the same priority into SGLang.</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101.5 s to 86.2 s, or 15.1%. Average TTFT improved from 3.2 s to 2.7 s per replay request. Total lateness improved from 278.7 s to 217.1 s, or 22.1%. Average replay lateness improved from 8.7 s to 6.8 s. P95 lateness improved from 31.3 s to 19.5 s, or 37.6%. Max lateness improved from 31.6 s to 19.6 s, or 38.0%. Trade-off: full workload window increased from 234.7 s to 257.7 s, or 23.0 s longer.</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f56a9d8bd44a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70fd57492d4ef9" /><Relationship Type="http://schemas.openxmlformats.org/officeDocument/2006/relationships/slideLayout" Target="/ppt/slideLayouts/slideLayout1.xml" Id="Rc1bbdb2d1f9e43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bbdb2d1f9e43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c2c906aff049e8" /><Relationship Type="http://schemas.openxmlformats.org/officeDocument/2006/relationships/notesSlide" Target="/ppt/notesSlides/notesSlide1.xml" Id="Rda87c42379864a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AD1D662E-F8D2-4E8A-B832-E020A1501E59}"/>
              </a:ext>
            </a:extLst>
          </p:cNvPr>
          <p:cNvSpPr>
            <a:spLocks xmlns:a="http://schemas.openxmlformats.org/drawingml/2006/main" noGrp="1"/>
          </p:cNvSpPr>
          <p:nvPr/>
        </p:nvSpPr>
        <p:spPr>
          <a:xfrm xmlns:a="http://schemas.openxmlformats.org/drawingml/2006/main">
            <a:off x="533400" y="342900"/>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Better Deadline Scheduling</a:t>
            </a:r>
          </a:p>
        </p:txBody>
      </p:sp>
      <p:sp>
        <p:nvSpPr>
          <p:cNvPr id="2" name="">
            <a:extLst xmlns:a="http://schemas.openxmlformats.org/drawingml/2006/main">
              <a:ext uri="{FF2B5EF4-FFF2-40B4-BE49-F238E27FC236}">
                <a16:creationId xmlns:a16="http://schemas.microsoft.com/office/drawing/2014/main" id="{92DFFBFB-12C9-448F-AABD-4FB766D2F78C}"/>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signals help the backend serve soon-due replay work first.</a:t>
            </a:r>
          </a:p>
        </p:txBody>
      </p:sp>
      <p:sp>
        <p:nvSpPr>
          <p:cNvPr id="3" name="">
            <a:extLst xmlns:a="http://schemas.openxmlformats.org/drawingml/2006/main">
              <a:ext uri="{FF2B5EF4-FFF2-40B4-BE49-F238E27FC236}">
                <a16:creationId xmlns:a16="http://schemas.microsoft.com/office/drawing/2014/main" id="{3A843FA3-5934-4DA4-97E1-B0D11676C765}"/>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059669"/>
                </a:solidFill>
                <a:latin typeface="Helvetica Neue"/>
                <a:ea typeface="Helvetica Neue"/>
                <a:cs typeface="Helvetica Neue"/>
              </a:defRPr>
            </a:pPr>
            <a:r>
              <a:rPr sz="1350" b="1">
                <a:solidFill>
                  <a:srgbClr val="059669"/>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41AA21A0-C5AC-4008-932A-48C27A320B59}"/>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766D0A-B19A-4D31-A152-D8D1DD375D02}"/>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B578403F-FBC2-4EB5-8A5A-8207A961764D}"/>
              </a:ext>
            </a:extLst>
          </p:cNvPr>
          <p:cNvSpPr>
            <a:spLocks xmlns:a="http://schemas.openxmlformats.org/drawingml/2006/main" noGrp="1"/>
          </p:cNvSpPr>
          <p:nvPr/>
        </p:nvSpPr>
        <p:spPr>
          <a:xfrm xmlns:a="http://schemas.openxmlformats.org/drawingml/2006/main">
            <a:off x="628650" y="19812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4C13B120-20B3-4F57-8891-713A23E72AB0}"/>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8" name="">
            <a:extLst xmlns:a="http://schemas.openxmlformats.org/drawingml/2006/main">
              <a:ext uri="{FF2B5EF4-FFF2-40B4-BE49-F238E27FC236}">
                <a16:creationId xmlns:a16="http://schemas.microsoft.com/office/drawing/2014/main" id="{79D12747-9162-4223-85D7-E36A0EEF654E}"/>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9" name="">
            <a:extLst xmlns:a="http://schemas.openxmlformats.org/drawingml/2006/main">
              <a:ext uri="{FF2B5EF4-FFF2-40B4-BE49-F238E27FC236}">
                <a16:creationId xmlns:a16="http://schemas.microsoft.com/office/drawing/2014/main" id="{4565BCA9-6421-45E1-850E-A7ECC5AA39AC}"/>
              </a:ext>
            </a:extLst>
          </p:cNvPr>
          <p:cNvSpPr>
            <a:spLocks xmlns:a="http://schemas.openxmlformats.org/drawingml/2006/main" noGrp="1"/>
          </p:cNvSpPr>
          <p:nvPr/>
        </p:nvSpPr>
        <p:spPr>
          <a:xfrm xmlns:a="http://schemas.openxmlformats.org/drawingml/2006/main">
            <a:off x="628650" y="23431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3084F203-849A-4FBB-BF45-105339352109}"/>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1" name="">
            <a:extLst xmlns:a="http://schemas.openxmlformats.org/drawingml/2006/main">
              <a:ext uri="{FF2B5EF4-FFF2-40B4-BE49-F238E27FC236}">
                <a16:creationId xmlns:a16="http://schemas.microsoft.com/office/drawing/2014/main" id="{0BF1E89D-2EAB-4C99-A9EF-D5A11FF1CBD3}"/>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tool-wait timeline.</a:t>
            </a:r>
          </a:p>
        </p:txBody>
      </p:sp>
      <p:sp>
        <p:nvSpPr>
          <p:cNvPr id="12" name="">
            <a:extLst xmlns:a="http://schemas.openxmlformats.org/drawingml/2006/main">
              <a:ext uri="{FF2B5EF4-FFF2-40B4-BE49-F238E27FC236}">
                <a16:creationId xmlns:a16="http://schemas.microsoft.com/office/drawing/2014/main" id="{40CC6F74-C7AB-4941-AA60-7CB2543FC323}"/>
              </a:ext>
            </a:extLst>
          </p:cNvPr>
          <p:cNvSpPr>
            <a:spLocks xmlns:a="http://schemas.openxmlformats.org/drawingml/2006/main" noGrp="1"/>
          </p:cNvSpPr>
          <p:nvPr/>
        </p:nvSpPr>
        <p:spPr>
          <a:xfrm xmlns:a="http://schemas.openxmlformats.org/drawingml/2006/main">
            <a:off x="628650" y="27051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CAD57AED-B71E-40D6-8BCC-9E53BCA10FEF}"/>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6149233F-9AF1-4988-B887-BC49E3A23920}"/>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range from very short to long.</a:t>
            </a:r>
          </a:p>
        </p:txBody>
      </p:sp>
      <p:sp>
        <p:nvSpPr>
          <p:cNvPr id="15" name="">
            <a:extLst xmlns:a="http://schemas.openxmlformats.org/drawingml/2006/main">
              <a:ext uri="{FF2B5EF4-FFF2-40B4-BE49-F238E27FC236}">
                <a16:creationId xmlns:a16="http://schemas.microsoft.com/office/drawing/2014/main" id="{69A9E26D-EE01-4167-8C53-4A54856B9C14}"/>
              </a:ext>
            </a:extLst>
          </p:cNvPr>
          <p:cNvSpPr>
            <a:spLocks xmlns:a="http://schemas.openxmlformats.org/drawingml/2006/main" noGrp="1"/>
          </p:cNvSpPr>
          <p:nvPr/>
        </p:nvSpPr>
        <p:spPr>
          <a:xfrm xmlns:a="http://schemas.openxmlformats.org/drawingml/2006/main">
            <a:off x="628650" y="30670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C9BA0D3B-FEB0-4209-9118-6BD5DB1EE9ED}"/>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7" name="">
            <a:extLst xmlns:a="http://schemas.openxmlformats.org/drawingml/2006/main">
              <a:ext uri="{FF2B5EF4-FFF2-40B4-BE49-F238E27FC236}">
                <a16:creationId xmlns:a16="http://schemas.microsoft.com/office/drawing/2014/main" id="{4DAD4AB6-5D10-46D6-8F84-AD5A3AD7725A}"/>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uses FIFO replay submission.</a:t>
            </a:r>
          </a:p>
        </p:txBody>
      </p:sp>
      <p:sp>
        <p:nvSpPr>
          <p:cNvPr id="18" name="">
            <a:extLst xmlns:a="http://schemas.openxmlformats.org/drawingml/2006/main">
              <a:ext uri="{FF2B5EF4-FFF2-40B4-BE49-F238E27FC236}">
                <a16:creationId xmlns:a16="http://schemas.microsoft.com/office/drawing/2014/main" id="{25EA697A-4F70-4209-BC40-5A279C308C44}"/>
              </a:ext>
            </a:extLst>
          </p:cNvPr>
          <p:cNvSpPr>
            <a:spLocks xmlns:a="http://schemas.openxmlformats.org/drawingml/2006/main" noGrp="1"/>
          </p:cNvSpPr>
          <p:nvPr/>
        </p:nvSpPr>
        <p:spPr>
          <a:xfrm xmlns:a="http://schemas.openxmlformats.org/drawingml/2006/main">
            <a:off x="628650" y="34290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EF0BE6FB-06AB-4BCE-AA80-5B50FE7D666A}"/>
              </a:ext>
            </a:extLst>
          </p:cNvPr>
          <p:cNvSpPr>
            <a:spLocks xmlns:a="http://schemas.openxmlformats.org/drawingml/2006/main" noGrp="1"/>
          </p:cNvSpPr>
          <p:nvPr/>
        </p:nvSpPr>
        <p:spPr>
          <a:xfrm xmlns:a="http://schemas.openxmlformats.org/drawingml/2006/main">
            <a:off x="628650" y="34385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0" name="">
            <a:extLst xmlns:a="http://schemas.openxmlformats.org/drawingml/2006/main">
              <a:ext uri="{FF2B5EF4-FFF2-40B4-BE49-F238E27FC236}">
                <a16:creationId xmlns:a16="http://schemas.microsoft.com/office/drawing/2014/main" id="{C33150E0-A2D4-4C0D-B6C5-E2B1651D04F1}"/>
              </a:ext>
            </a:extLst>
          </p:cNvPr>
          <p:cNvSpPr>
            <a:spLocks xmlns:a="http://schemas.openxmlformats.org/drawingml/2006/main" noGrp="1"/>
          </p:cNvSpPr>
          <p:nvPr/>
        </p:nvSpPr>
        <p:spPr>
          <a:xfrm xmlns:a="http://schemas.openxmlformats.org/drawingml/2006/main">
            <a:off x="819150" y="33528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The controller uses expected tool-return time during tool wait.</a:t>
            </a:r>
          </a:p>
        </p:txBody>
      </p:sp>
      <p:sp>
        <p:nvSpPr>
          <p:cNvPr id="21" name="">
            <a:extLst xmlns:a="http://schemas.openxmlformats.org/drawingml/2006/main">
              <a:ext uri="{FF2B5EF4-FFF2-40B4-BE49-F238E27FC236}">
                <a16:creationId xmlns:a16="http://schemas.microsoft.com/office/drawing/2014/main" id="{788786AF-E096-47AC-A07D-8352CB051F2A}"/>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2" name="">
            <a:extLst xmlns:a="http://schemas.openxmlformats.org/drawingml/2006/main">
              <a:ext uri="{FF2B5EF4-FFF2-40B4-BE49-F238E27FC236}">
                <a16:creationId xmlns:a16="http://schemas.microsoft.com/office/drawing/2014/main" id="{048965EA-BFED-4281-9322-F1A21EA0C3FF}"/>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23" name="">
            <a:extLst xmlns:a="http://schemas.openxmlformats.org/drawingml/2006/main">
              <a:ext uri="{FF2B5EF4-FFF2-40B4-BE49-F238E27FC236}">
                <a16:creationId xmlns:a16="http://schemas.microsoft.com/office/drawing/2014/main" id="{DDC3696E-CC4D-4573-AEA1-90F8A2672304}"/>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gives the soonest-due replay the highest priority, applies that order before SGLang through the local submission gate, then passes the same priority into SGLang scheduling.</a:t>
            </a:r>
          </a:p>
        </p:txBody>
      </p:sp>
      <p:sp>
        <p:nvSpPr>
          <p:cNvPr id="24" name="">
            <a:extLst xmlns:a="http://schemas.openxmlformats.org/drawingml/2006/main">
              <a:ext uri="{FF2B5EF4-FFF2-40B4-BE49-F238E27FC236}">
                <a16:creationId xmlns:a16="http://schemas.microsoft.com/office/drawing/2014/main" id="{AF0EAF37-CB9F-4AEF-BAC6-DBD469E3E5C7}"/>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25" name="">
            <a:extLst xmlns:a="http://schemas.openxmlformats.org/drawingml/2006/main">
              <a:ext uri="{FF2B5EF4-FFF2-40B4-BE49-F238E27FC236}">
                <a16:creationId xmlns:a16="http://schemas.microsoft.com/office/drawing/2014/main" id="{3C2DF088-8B4F-4C06-9824-9DE80777A851}"/>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deadline_predictive_queue_submitprio_20260916_221604</a:t>
            </a:r>
          </a:p>
        </p:txBody>
      </p:sp>
      <p:sp>
        <p:nvSpPr>
          <p:cNvPr id="26" name="">
            <a:extLst xmlns:a="http://schemas.openxmlformats.org/drawingml/2006/main">
              <a:ext uri="{FF2B5EF4-FFF2-40B4-BE49-F238E27FC236}">
                <a16:creationId xmlns:a16="http://schemas.microsoft.com/office/drawing/2014/main" id="{DD2D9FF2-A543-4FAC-AE02-6D1E00878353}"/>
              </a:ext>
            </a:extLst>
          </p:cNvPr>
          <p:cNvSpPr>
            <a:spLocks xmlns:a="http://schemas.openxmlformats.org/drawingml/2006/main" noGrp="1"/>
          </p:cNvSpPr>
          <p:nvPr/>
        </p:nvSpPr>
        <p:spPr>
          <a:xfrm xmlns:a="http://schemas.openxmlformats.org/drawingml/2006/main">
            <a:off x="5619750" y="2171700"/>
            <a:ext cx="2571750" cy="876300"/>
          </a:xfrm>
          <a:prstGeom xmlns:a="http://schemas.openxmlformats.org/drawingml/2006/main" prst="rect">
            <a:avLst/>
          </a:prstGeom>
          <a:solidFill xmlns:a="http://schemas.openxmlformats.org/drawingml/2006/main">
            <a:srgbClr val="EFF6FF"/>
          </a:solidFill>
          <a:ln xmlns:a="http://schemas.openxmlformats.org/drawingml/2006/main" w="9525">
            <a:solidFill>
              <a:srgbClr val="DBE4EF"/>
            </a:solidFill>
            <a:prstDash val="solid"/>
          </a:ln>
        </p:spPr>
      </p:sp>
      <p:sp>
        <p:nvSpPr>
          <p:cNvPr id="27" name="">
            <a:extLst xmlns:a="http://schemas.openxmlformats.org/drawingml/2006/main">
              <a:ext uri="{FF2B5EF4-FFF2-40B4-BE49-F238E27FC236}">
                <a16:creationId xmlns:a16="http://schemas.microsoft.com/office/drawing/2014/main" id="{A773B49E-468C-43D8-99C1-F6418E3E6A83}"/>
              </a:ext>
            </a:extLst>
          </p:cNvPr>
          <p:cNvSpPr>
            <a:spLocks xmlns:a="http://schemas.openxmlformats.org/drawingml/2006/main" noGrp="1"/>
          </p:cNvSpPr>
          <p:nvPr/>
        </p:nvSpPr>
        <p:spPr>
          <a:xfrm xmlns:a="http://schemas.openxmlformats.org/drawingml/2006/main">
            <a:off x="57721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TTFT</a:t>
            </a:r>
          </a:p>
        </p:txBody>
      </p:sp>
      <p:sp>
        <p:nvSpPr>
          <p:cNvPr id="28" name="">
            <a:extLst xmlns:a="http://schemas.openxmlformats.org/drawingml/2006/main">
              <a:ext uri="{FF2B5EF4-FFF2-40B4-BE49-F238E27FC236}">
                <a16:creationId xmlns:a16="http://schemas.microsoft.com/office/drawing/2014/main" id="{C50A7B31-3F7C-45DD-980E-A85201B4C216}"/>
              </a:ext>
            </a:extLst>
          </p:cNvPr>
          <p:cNvSpPr>
            <a:spLocks xmlns:a="http://schemas.openxmlformats.org/drawingml/2006/main" noGrp="1"/>
          </p:cNvSpPr>
          <p:nvPr/>
        </p:nvSpPr>
        <p:spPr>
          <a:xfrm xmlns:a="http://schemas.openxmlformats.org/drawingml/2006/main">
            <a:off x="57721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15.1% better</a:t>
            </a:r>
          </a:p>
        </p:txBody>
      </p:sp>
      <p:sp>
        <p:nvSpPr>
          <p:cNvPr id="29" name="">
            <a:extLst xmlns:a="http://schemas.openxmlformats.org/drawingml/2006/main">
              <a:ext uri="{FF2B5EF4-FFF2-40B4-BE49-F238E27FC236}">
                <a16:creationId xmlns:a16="http://schemas.microsoft.com/office/drawing/2014/main" id="{B41221F6-D84D-4FBE-8D72-5F480A359A8E}"/>
              </a:ext>
            </a:extLst>
          </p:cNvPr>
          <p:cNvSpPr>
            <a:spLocks xmlns:a="http://schemas.openxmlformats.org/drawingml/2006/main" noGrp="1"/>
          </p:cNvSpPr>
          <p:nvPr/>
        </p:nvSpPr>
        <p:spPr>
          <a:xfrm xmlns:a="http://schemas.openxmlformats.org/drawingml/2006/main">
            <a:off x="57721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101.5 s to 86.2 s</a:t>
            </a:r>
          </a:p>
        </p:txBody>
      </p:sp>
      <p:sp>
        <p:nvSpPr>
          <p:cNvPr id="30" name="">
            <a:extLst xmlns:a="http://schemas.openxmlformats.org/drawingml/2006/main">
              <a:ext uri="{FF2B5EF4-FFF2-40B4-BE49-F238E27FC236}">
                <a16:creationId xmlns:a16="http://schemas.microsoft.com/office/drawing/2014/main" id="{CD0C18E1-3D4D-4720-8F3F-DCA6CE30246B}"/>
              </a:ext>
            </a:extLst>
          </p:cNvPr>
          <p:cNvSpPr>
            <a:spLocks xmlns:a="http://schemas.openxmlformats.org/drawingml/2006/main" noGrp="1"/>
          </p:cNvSpPr>
          <p:nvPr/>
        </p:nvSpPr>
        <p:spPr>
          <a:xfrm xmlns:a="http://schemas.openxmlformats.org/drawingml/2006/main">
            <a:off x="8401050" y="2171700"/>
            <a:ext cx="2571750" cy="876300"/>
          </a:xfrm>
          <a:prstGeom xmlns:a="http://schemas.openxmlformats.org/drawingml/2006/main" prst="rect">
            <a:avLst/>
          </a:prstGeom>
          <a:solidFill xmlns:a="http://schemas.openxmlformats.org/drawingml/2006/main">
            <a:srgbClr val="EFF6FF"/>
          </a:solidFill>
          <a:ln xmlns:a="http://schemas.openxmlformats.org/drawingml/2006/main" w="9525">
            <a:solidFill>
              <a:srgbClr val="DBE4EF"/>
            </a:solidFill>
            <a:prstDash val="solid"/>
          </a:ln>
        </p:spPr>
      </p:sp>
      <p:sp>
        <p:nvSpPr>
          <p:cNvPr id="31" name="">
            <a:extLst xmlns:a="http://schemas.openxmlformats.org/drawingml/2006/main">
              <a:ext uri="{FF2B5EF4-FFF2-40B4-BE49-F238E27FC236}">
                <a16:creationId xmlns:a16="http://schemas.microsoft.com/office/drawing/2014/main" id="{DAEB6145-26D0-446E-833E-5E31DE469ED8}"/>
              </a:ext>
            </a:extLst>
          </p:cNvPr>
          <p:cNvSpPr>
            <a:spLocks xmlns:a="http://schemas.openxmlformats.org/drawingml/2006/main" noGrp="1"/>
          </p:cNvSpPr>
          <p:nvPr/>
        </p:nvSpPr>
        <p:spPr>
          <a:xfrm xmlns:a="http://schemas.openxmlformats.org/drawingml/2006/main">
            <a:off x="85534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Avg TTFT per request</a:t>
            </a:r>
          </a:p>
        </p:txBody>
      </p:sp>
      <p:sp>
        <p:nvSpPr>
          <p:cNvPr id="32" name="">
            <a:extLst xmlns:a="http://schemas.openxmlformats.org/drawingml/2006/main">
              <a:ext uri="{FF2B5EF4-FFF2-40B4-BE49-F238E27FC236}">
                <a16:creationId xmlns:a16="http://schemas.microsoft.com/office/drawing/2014/main" id="{34E4A827-0DA6-42BC-A865-8986690C9894}"/>
              </a:ext>
            </a:extLst>
          </p:cNvPr>
          <p:cNvSpPr>
            <a:spLocks xmlns:a="http://schemas.openxmlformats.org/drawingml/2006/main" noGrp="1"/>
          </p:cNvSpPr>
          <p:nvPr/>
        </p:nvSpPr>
        <p:spPr>
          <a:xfrm xmlns:a="http://schemas.openxmlformats.org/drawingml/2006/main">
            <a:off x="85534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0.5 s faster</a:t>
            </a:r>
          </a:p>
        </p:txBody>
      </p:sp>
      <p:sp>
        <p:nvSpPr>
          <p:cNvPr id="33" name="">
            <a:extLst xmlns:a="http://schemas.openxmlformats.org/drawingml/2006/main">
              <a:ext uri="{FF2B5EF4-FFF2-40B4-BE49-F238E27FC236}">
                <a16:creationId xmlns:a16="http://schemas.microsoft.com/office/drawing/2014/main" id="{ABB0C548-53A6-4608-BDE1-41E5D09749A0}"/>
              </a:ext>
            </a:extLst>
          </p:cNvPr>
          <p:cNvSpPr>
            <a:spLocks xmlns:a="http://schemas.openxmlformats.org/drawingml/2006/main" noGrp="1"/>
          </p:cNvSpPr>
          <p:nvPr/>
        </p:nvSpPr>
        <p:spPr>
          <a:xfrm xmlns:a="http://schemas.openxmlformats.org/drawingml/2006/main">
            <a:off x="85534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3.2 s to 2.7 s</a:t>
            </a:r>
          </a:p>
        </p:txBody>
      </p:sp>
      <p:sp>
        <p:nvSpPr>
          <p:cNvPr id="34" name="">
            <a:extLst xmlns:a="http://schemas.openxmlformats.org/drawingml/2006/main">
              <a:ext uri="{FF2B5EF4-FFF2-40B4-BE49-F238E27FC236}">
                <a16:creationId xmlns:a16="http://schemas.microsoft.com/office/drawing/2014/main" id="{F3F3092A-8C88-4830-8774-22257CF8BD2A}"/>
              </a:ext>
            </a:extLst>
          </p:cNvPr>
          <p:cNvSpPr>
            <a:spLocks xmlns:a="http://schemas.openxmlformats.org/drawingml/2006/main" noGrp="1"/>
          </p:cNvSpPr>
          <p:nvPr/>
        </p:nvSpPr>
        <p:spPr>
          <a:xfrm xmlns:a="http://schemas.openxmlformats.org/drawingml/2006/main">
            <a:off x="5619750" y="3238500"/>
            <a:ext cx="2571750" cy="876300"/>
          </a:xfrm>
          <a:prstGeom xmlns:a="http://schemas.openxmlformats.org/drawingml/2006/main" prst="rect">
            <a:avLst/>
          </a:prstGeom>
          <a:solidFill xmlns:a="http://schemas.openxmlformats.org/drawingml/2006/main">
            <a:srgbClr val="ECFDF5"/>
          </a:solidFill>
          <a:ln xmlns:a="http://schemas.openxmlformats.org/drawingml/2006/main" w="9525">
            <a:solidFill>
              <a:srgbClr val="DBE4EF"/>
            </a:solidFill>
            <a:prstDash val="solid"/>
          </a:ln>
        </p:spPr>
      </p:sp>
      <p:sp>
        <p:nvSpPr>
          <p:cNvPr id="35" name="">
            <a:extLst xmlns:a="http://schemas.openxmlformats.org/drawingml/2006/main">
              <a:ext uri="{FF2B5EF4-FFF2-40B4-BE49-F238E27FC236}">
                <a16:creationId xmlns:a16="http://schemas.microsoft.com/office/drawing/2014/main" id="{964BC494-E47D-4EC5-A0FE-E0DCC7D5F28F}"/>
              </a:ext>
            </a:extLst>
          </p:cNvPr>
          <p:cNvSpPr>
            <a:spLocks xmlns:a="http://schemas.openxmlformats.org/drawingml/2006/main" noGrp="1"/>
          </p:cNvSpPr>
          <p:nvPr/>
        </p:nvSpPr>
        <p:spPr>
          <a:xfrm xmlns:a="http://schemas.openxmlformats.org/drawingml/2006/main">
            <a:off x="57721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lateness</a:t>
            </a:r>
          </a:p>
        </p:txBody>
      </p:sp>
      <p:sp>
        <p:nvSpPr>
          <p:cNvPr id="36" name="">
            <a:extLst xmlns:a="http://schemas.openxmlformats.org/drawingml/2006/main">
              <a:ext uri="{FF2B5EF4-FFF2-40B4-BE49-F238E27FC236}">
                <a16:creationId xmlns:a16="http://schemas.microsoft.com/office/drawing/2014/main" id="{C54B1214-1141-4BE1-8FA8-5608249F22B3}"/>
              </a:ext>
            </a:extLst>
          </p:cNvPr>
          <p:cNvSpPr>
            <a:spLocks xmlns:a="http://schemas.openxmlformats.org/drawingml/2006/main" noGrp="1"/>
          </p:cNvSpPr>
          <p:nvPr/>
        </p:nvSpPr>
        <p:spPr>
          <a:xfrm xmlns:a="http://schemas.openxmlformats.org/drawingml/2006/main">
            <a:off x="57721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59669"/>
                </a:solidFill>
                <a:latin typeface="Helvetica Neue"/>
                <a:ea typeface="Helvetica Neue"/>
                <a:cs typeface="Helvetica Neue"/>
              </a:defRPr>
            </a:pPr>
            <a:r>
              <a:rPr sz="1800" b="1">
                <a:solidFill>
                  <a:srgbClr val="059669"/>
                </a:solidFill>
                <a:latin typeface="Helvetica Neue"/>
                <a:ea typeface="Helvetica Neue"/>
                <a:cs typeface="Helvetica Neue"/>
              </a:rPr>
              <a:t>22.1% better</a:t>
            </a:r>
          </a:p>
        </p:txBody>
      </p:sp>
      <p:sp>
        <p:nvSpPr>
          <p:cNvPr id="37" name="">
            <a:extLst xmlns:a="http://schemas.openxmlformats.org/drawingml/2006/main">
              <a:ext uri="{FF2B5EF4-FFF2-40B4-BE49-F238E27FC236}">
                <a16:creationId xmlns:a16="http://schemas.microsoft.com/office/drawing/2014/main" id="{1305F91E-CF27-476E-A7A9-15D5AFB7E5D4}"/>
              </a:ext>
            </a:extLst>
          </p:cNvPr>
          <p:cNvSpPr>
            <a:spLocks xmlns:a="http://schemas.openxmlformats.org/drawingml/2006/main" noGrp="1"/>
          </p:cNvSpPr>
          <p:nvPr/>
        </p:nvSpPr>
        <p:spPr>
          <a:xfrm xmlns:a="http://schemas.openxmlformats.org/drawingml/2006/main">
            <a:off x="57721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278.7 s to 217.1 s</a:t>
            </a:r>
          </a:p>
        </p:txBody>
      </p:sp>
      <p:sp>
        <p:nvSpPr>
          <p:cNvPr id="38" name="">
            <a:extLst xmlns:a="http://schemas.openxmlformats.org/drawingml/2006/main">
              <a:ext uri="{FF2B5EF4-FFF2-40B4-BE49-F238E27FC236}">
                <a16:creationId xmlns:a16="http://schemas.microsoft.com/office/drawing/2014/main" id="{447BC887-382C-4DC0-9DF9-3E707D5A27BD}"/>
              </a:ext>
            </a:extLst>
          </p:cNvPr>
          <p:cNvSpPr>
            <a:spLocks xmlns:a="http://schemas.openxmlformats.org/drawingml/2006/main" noGrp="1"/>
          </p:cNvSpPr>
          <p:nvPr/>
        </p:nvSpPr>
        <p:spPr>
          <a:xfrm xmlns:a="http://schemas.openxmlformats.org/drawingml/2006/main">
            <a:off x="8401050" y="3238500"/>
            <a:ext cx="2571750" cy="876300"/>
          </a:xfrm>
          <a:prstGeom xmlns:a="http://schemas.openxmlformats.org/drawingml/2006/main" prst="rect">
            <a:avLst/>
          </a:prstGeom>
          <a:solidFill xmlns:a="http://schemas.openxmlformats.org/drawingml/2006/main">
            <a:srgbClr val="ECFDF5"/>
          </a:solidFill>
          <a:ln xmlns:a="http://schemas.openxmlformats.org/drawingml/2006/main" w="9525">
            <a:solidFill>
              <a:srgbClr val="DBE4EF"/>
            </a:solidFill>
            <a:prstDash val="solid"/>
          </a:ln>
        </p:spPr>
      </p:sp>
      <p:sp>
        <p:nvSpPr>
          <p:cNvPr id="39" name="">
            <a:extLst xmlns:a="http://schemas.openxmlformats.org/drawingml/2006/main">
              <a:ext uri="{FF2B5EF4-FFF2-40B4-BE49-F238E27FC236}">
                <a16:creationId xmlns:a16="http://schemas.microsoft.com/office/drawing/2014/main" id="{E65B0BFE-986A-49A5-8E4F-FE6012631725}"/>
              </a:ext>
            </a:extLst>
          </p:cNvPr>
          <p:cNvSpPr>
            <a:spLocks xmlns:a="http://schemas.openxmlformats.org/drawingml/2006/main" noGrp="1"/>
          </p:cNvSpPr>
          <p:nvPr/>
        </p:nvSpPr>
        <p:spPr>
          <a:xfrm xmlns:a="http://schemas.openxmlformats.org/drawingml/2006/main">
            <a:off x="85534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P95 lateness</a:t>
            </a:r>
          </a:p>
        </p:txBody>
      </p:sp>
      <p:sp>
        <p:nvSpPr>
          <p:cNvPr id="40" name="">
            <a:extLst xmlns:a="http://schemas.openxmlformats.org/drawingml/2006/main">
              <a:ext uri="{FF2B5EF4-FFF2-40B4-BE49-F238E27FC236}">
                <a16:creationId xmlns:a16="http://schemas.microsoft.com/office/drawing/2014/main" id="{1B209FC5-BD98-4B20-991C-95E3E13BDE9C}"/>
              </a:ext>
            </a:extLst>
          </p:cNvPr>
          <p:cNvSpPr>
            <a:spLocks xmlns:a="http://schemas.openxmlformats.org/drawingml/2006/main" noGrp="1"/>
          </p:cNvSpPr>
          <p:nvPr/>
        </p:nvSpPr>
        <p:spPr>
          <a:xfrm xmlns:a="http://schemas.openxmlformats.org/drawingml/2006/main">
            <a:off x="85534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59669"/>
                </a:solidFill>
                <a:latin typeface="Helvetica Neue"/>
                <a:ea typeface="Helvetica Neue"/>
                <a:cs typeface="Helvetica Neue"/>
              </a:defRPr>
            </a:pPr>
            <a:r>
              <a:rPr sz="1800" b="1">
                <a:solidFill>
                  <a:srgbClr val="059669"/>
                </a:solidFill>
                <a:latin typeface="Helvetica Neue"/>
                <a:ea typeface="Helvetica Neue"/>
                <a:cs typeface="Helvetica Neue"/>
              </a:rPr>
              <a:t>37.6% better</a:t>
            </a:r>
          </a:p>
        </p:txBody>
      </p:sp>
      <p:sp>
        <p:nvSpPr>
          <p:cNvPr id="41" name="">
            <a:extLst xmlns:a="http://schemas.openxmlformats.org/drawingml/2006/main">
              <a:ext uri="{FF2B5EF4-FFF2-40B4-BE49-F238E27FC236}">
                <a16:creationId xmlns:a16="http://schemas.microsoft.com/office/drawing/2014/main" id="{D6541B45-4560-41E4-B7B7-D6AF9D7B01C5}"/>
              </a:ext>
            </a:extLst>
          </p:cNvPr>
          <p:cNvSpPr>
            <a:spLocks xmlns:a="http://schemas.openxmlformats.org/drawingml/2006/main" noGrp="1"/>
          </p:cNvSpPr>
          <p:nvPr/>
        </p:nvSpPr>
        <p:spPr>
          <a:xfrm xmlns:a="http://schemas.openxmlformats.org/drawingml/2006/main">
            <a:off x="85534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31.3 s to 19.5 s</a:t>
            </a:r>
          </a:p>
        </p:txBody>
      </p:sp>
      <p:sp>
        <p:nvSpPr>
          <p:cNvPr id="42" name="">
            <a:extLst xmlns:a="http://schemas.openxmlformats.org/drawingml/2006/main">
              <a:ext uri="{FF2B5EF4-FFF2-40B4-BE49-F238E27FC236}">
                <a16:creationId xmlns:a16="http://schemas.microsoft.com/office/drawing/2014/main" id="{4201BF52-6E20-439D-AE54-20E6150D2695}"/>
              </a:ext>
            </a:extLst>
          </p:cNvPr>
          <p:cNvSpPr>
            <a:spLocks xmlns:a="http://schemas.openxmlformats.org/drawingml/2006/main" noGrp="1"/>
          </p:cNvSpPr>
          <p:nvPr/>
        </p:nvSpPr>
        <p:spPr>
          <a:xfrm xmlns:a="http://schemas.openxmlformats.org/drawingml/2006/main">
            <a:off x="5619750" y="4305300"/>
            <a:ext cx="5353050" cy="876300"/>
          </a:xfrm>
          <a:prstGeom xmlns:a="http://schemas.openxmlformats.org/drawingml/2006/main" prst="rect">
            <a:avLst/>
          </a:prstGeom>
          <a:solidFill xmlns:a="http://schemas.openxmlformats.org/drawingml/2006/main">
            <a:srgbClr val="FFF7ED"/>
          </a:solidFill>
          <a:ln xmlns:a="http://schemas.openxmlformats.org/drawingml/2006/main" w="9525">
            <a:solidFill>
              <a:srgbClr val="DBE4EF"/>
            </a:solidFill>
            <a:prstDash val="solid"/>
          </a:ln>
        </p:spPr>
      </p:sp>
      <p:sp>
        <p:nvSpPr>
          <p:cNvPr id="43" name="">
            <a:extLst xmlns:a="http://schemas.openxmlformats.org/drawingml/2006/main">
              <a:ext uri="{FF2B5EF4-FFF2-40B4-BE49-F238E27FC236}">
                <a16:creationId xmlns:a16="http://schemas.microsoft.com/office/drawing/2014/main" id="{7E59420C-8AD9-4AE3-9F6A-30C3C696D8A9}"/>
              </a:ext>
            </a:extLst>
          </p:cNvPr>
          <p:cNvSpPr>
            <a:spLocks xmlns:a="http://schemas.openxmlformats.org/drawingml/2006/main" noGrp="1"/>
          </p:cNvSpPr>
          <p:nvPr/>
        </p:nvSpPr>
        <p:spPr>
          <a:xfrm xmlns:a="http://schemas.openxmlformats.org/drawingml/2006/main">
            <a:off x="5772150" y="4438650"/>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Trade-off</a:t>
            </a:r>
          </a:p>
        </p:txBody>
      </p:sp>
      <p:sp>
        <p:nvSpPr>
          <p:cNvPr id="44" name="">
            <a:extLst xmlns:a="http://schemas.openxmlformats.org/drawingml/2006/main">
              <a:ext uri="{FF2B5EF4-FFF2-40B4-BE49-F238E27FC236}">
                <a16:creationId xmlns:a16="http://schemas.microsoft.com/office/drawing/2014/main" id="{055E35AB-0275-437D-A510-A01CD4C5EF3C}"/>
              </a:ext>
            </a:extLst>
          </p:cNvPr>
          <p:cNvSpPr>
            <a:spLocks xmlns:a="http://schemas.openxmlformats.org/drawingml/2006/main" noGrp="1"/>
          </p:cNvSpPr>
          <p:nvPr/>
        </p:nvSpPr>
        <p:spPr>
          <a:xfrm xmlns:a="http://schemas.openxmlformats.org/drawingml/2006/main">
            <a:off x="5772150" y="466725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B45309"/>
                </a:solidFill>
                <a:latin typeface="Helvetica Neue"/>
                <a:ea typeface="Helvetica Neue"/>
                <a:cs typeface="Helvetica Neue"/>
              </a:defRPr>
            </a:pPr>
            <a:r>
              <a:rPr sz="1800" b="1">
                <a:solidFill>
                  <a:srgbClr val="B45309"/>
                </a:solidFill>
                <a:latin typeface="Helvetica Neue"/>
                <a:ea typeface="Helvetica Neue"/>
                <a:cs typeface="Helvetica Neue"/>
              </a:rPr>
              <a:t>23.0 s longer</a:t>
            </a:r>
          </a:p>
        </p:txBody>
      </p:sp>
      <p:sp>
        <p:nvSpPr>
          <p:cNvPr id="45" name="">
            <a:extLst xmlns:a="http://schemas.openxmlformats.org/drawingml/2006/main">
              <a:ext uri="{FF2B5EF4-FFF2-40B4-BE49-F238E27FC236}">
                <a16:creationId xmlns:a16="http://schemas.microsoft.com/office/drawing/2014/main" id="{1EA387BB-C9CE-4B2C-9AD0-B4F90D8EF23E}"/>
              </a:ext>
            </a:extLst>
          </p:cNvPr>
          <p:cNvSpPr>
            <a:spLocks xmlns:a="http://schemas.openxmlformats.org/drawingml/2006/main" noGrp="1"/>
          </p:cNvSpPr>
          <p:nvPr/>
        </p:nvSpPr>
        <p:spPr>
          <a:xfrm xmlns:a="http://schemas.openxmlformats.org/drawingml/2006/main">
            <a:off x="5772150" y="4953000"/>
            <a:ext cx="504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Workload window: 234.7 s to 257.7 s</a:t>
            </a:r>
          </a:p>
        </p:txBody>
      </p:sp>
      <p:sp>
        <p:nvSpPr>
          <p:cNvPr id="46" name="">
            <a:extLst xmlns:a="http://schemas.openxmlformats.org/drawingml/2006/main">
              <a:ext uri="{FF2B5EF4-FFF2-40B4-BE49-F238E27FC236}">
                <a16:creationId xmlns:a16="http://schemas.microsoft.com/office/drawing/2014/main" id="{4E30F3B5-493F-4492-89AC-81B07EB7D52E}"/>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AA5E46B5-D5C9-4F80-8C38-E8AC3211936F}"/>
              </a:ext>
            </a:extLst>
          </p:cNvPr>
          <p:cNvSpPr>
            <a:spLocks xmlns:a="http://schemas.openxmlformats.org/drawingml/2006/main" noGrp="1"/>
          </p:cNvSpPr>
          <p:nvPr/>
        </p:nvSpPr>
        <p:spPr>
          <a:xfrm xmlns:a="http://schemas.openxmlformats.org/drawingml/2006/main">
            <a:off x="628650" y="5791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Takeaway</a:t>
            </a:r>
          </a:p>
        </p:txBody>
      </p:sp>
      <p:sp>
        <p:nvSpPr>
          <p:cNvPr id="48" name="">
            <a:extLst xmlns:a="http://schemas.openxmlformats.org/drawingml/2006/main">
              <a:ext uri="{FF2B5EF4-FFF2-40B4-BE49-F238E27FC236}">
                <a16:creationId xmlns:a16="http://schemas.microsoft.com/office/drawing/2014/main" id="{F65C1011-5FF0-462A-B333-9D5661A5B2D7}"/>
              </a:ext>
            </a:extLst>
          </p:cNvPr>
          <p:cNvSpPr>
            <a:spLocks xmlns:a="http://schemas.openxmlformats.org/drawingml/2006/main" noGrp="1"/>
          </p:cNvSpPr>
          <p:nvPr/>
        </p:nvSpPr>
        <p:spPr>
          <a:xfrm xmlns:a="http://schemas.openxmlformats.org/drawingml/2006/main">
            <a:off x="196215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Harness-aware scheduling reduced replay delay across the full workload, not just one target request.</a:t>
            </a:r>
          </a:p>
        </p:txBody>
      </p:sp>
      <p:sp>
        <p:nvSpPr>
          <p:cNvPr id="49" name="">
            <a:extLst xmlns:a="http://schemas.openxmlformats.org/drawingml/2006/main">
              <a:ext uri="{FF2B5EF4-FFF2-40B4-BE49-F238E27FC236}">
                <a16:creationId xmlns:a16="http://schemas.microsoft.com/office/drawing/2014/main" id="{CBF493B1-449A-454A-9F72-E5EA1FBC2E5D}"/>
              </a:ext>
            </a:extLst>
          </p:cNvPr>
          <p:cNvSpPr>
            <a:spLocks xmlns:a="http://schemas.openxmlformats.org/drawingml/2006/main" noGrp="1"/>
          </p:cNvSpPr>
          <p:nvPr/>
        </p:nvSpPr>
        <p:spPr>
          <a:xfrm xmlns:a="http://schemas.openxmlformats.org/drawingml/2006/main">
            <a:off x="552450" y="64198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Source: Harness-Aware Scenario Tracker</a:t>
            </a:r>
          </a:p>
        </p:txBody>
      </p:sp>
    </p:spTree>
    <p:extLst>
      <p:ext uri="{BB962C8B-B14F-4D97-AF65-F5344CB8AC3E}">
        <p14:creationId xmlns:p14="http://schemas.microsoft.com/office/powerpoint/2010/main" val="12879256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2026-09-17T17:37:38.8370000Z</dcterms:created>
  <dcterms:modified xsi:type="dcterms:W3CDTF">2026-09-17T17:37:38.8370000Z</dcterms:modified>
</coreProperties>
</file>