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7475b17ffd4947" /><Relationship Type="http://schemas.openxmlformats.org/officeDocument/2006/relationships/extended-properties" Target="/docProps/app.xml" Id="R9c71e8727de34db8" /><Relationship Type="http://schemas.openxmlformats.org/officeDocument/2006/relationships/officeDocument" Target="/ppt/presentation.xml" Id="R165ce1e8c5be413c" /></Relationships>
</file>

<file path=ppt/presentation.xml><?xml version="1.0" encoding="utf-8"?>
<p:presentation xmlns:p="http://schemas.openxmlformats.org/presentationml/2006/main">
  <p:sldMasterIdLst>
    <p:sldMasterId xmlns:r="http://schemas.openxmlformats.org/officeDocument/2006/relationships" id="2147483648" r:id="R5f99eae03b5445a2"/>
  </p:sldMasterIdLst>
  <p:notesMasterIdLst>
    <p:notesMasterId xmlns:r="http://schemas.openxmlformats.org/officeDocument/2006/relationships" r:id="Rb218685b8dc7433b"/>
  </p:notesMasterIdLst>
  <p:sldIdLst>
    <p:sldId xmlns:r="http://schemas.openxmlformats.org/officeDocument/2006/relationships" id="256" r:id="Rfc8dd3e68dd147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a48dff1e2343eb" /><Relationship Type="http://schemas.openxmlformats.org/officeDocument/2006/relationships/slideMaster" Target="/ppt/slideMasters/slideMaster1.xml" Id="R5f99eae03b5445a2" /><Relationship Type="http://schemas.openxmlformats.org/officeDocument/2006/relationships/notesMaster" Target="/ppt/notesMasters/notesMaster1.xml" Id="Rb218685b8dc7433b" /><Relationship Type="http://schemas.openxmlformats.org/officeDocument/2006/relationships/presProps" Target="/ppt/presProps.xml" Id="R36829999351e4bc6" /><Relationship Type="http://schemas.openxmlformats.org/officeDocument/2006/relationships/tableStyles" Target="/ppt/tableStyles.xml" Id="Rd5a1da28451a4c27" /><Relationship Type="http://schemas.openxmlformats.org/officeDocument/2006/relationships/slide" Target="/ppt/slides/slide1.xml" Id="Rfc8dd3e68dd147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f6d89a7f094b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2f369417f24b50" /><Relationship Type="http://schemas.openxmlformats.org/officeDocument/2006/relationships/notesMaster" Target="/ppt/notesMasters/notesMaster1.xml" Id="Rac3850f7d1b042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submits replay work in arrival order. Controller mode estimates expected replay timing during tool wait, then releases ready replay requests in deadline order before they enter SGLang. The experiment does not label requests as high or low priority.</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101.5 s to 86.2 s, or 15.1%. Average TTFT improved from 3.2 s to 2.7 s per replay request. Total lateness improved from 278.7 s to 217.1 s, or 22.1%. Average replay lateness improved from 8.7 s to 6.8 s. P95 lateness improved from 31.3 s to 19.5 s, or 37.6%. Max lateness improved from 31.6 s to 19.6 s, or 38.0%. Trade-off: full workload window increased from 234.7 s to 257.7 s, or 23.0 s longer.</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f3e4f6d18443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5151843cc549ca" /><Relationship Type="http://schemas.openxmlformats.org/officeDocument/2006/relationships/slideLayout" Target="/ppt/slideLayouts/slideLayout1.xml" Id="R7153330e0ada4b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53330e0ada4b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553219dc8047ca" /><Relationship Type="http://schemas.openxmlformats.org/officeDocument/2006/relationships/notesSlide" Target="/ppt/notesSlides/notesSlide1.xml" Id="R43eae24e201141a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614CDD0A-4601-4845-9719-7453F66619D6}"/>
              </a:ext>
            </a:extLst>
          </p:cNvPr>
          <p:cNvSpPr>
            <a:spLocks xmlns:a="http://schemas.openxmlformats.org/drawingml/2006/main" noGrp="1"/>
          </p:cNvSpPr>
          <p:nvPr/>
        </p:nvSpPr>
        <p:spPr>
          <a:xfrm xmlns:a="http://schemas.openxmlformats.org/drawingml/2006/main">
            <a:off x="533400" y="34290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Deadline-Aware Replay Ordering</a:t>
            </a:r>
          </a:p>
        </p:txBody>
      </p:sp>
      <p:sp>
        <p:nvSpPr>
          <p:cNvPr id="2" name="">
            <a:extLst xmlns:a="http://schemas.openxmlformats.org/drawingml/2006/main">
              <a:ext uri="{FF2B5EF4-FFF2-40B4-BE49-F238E27FC236}">
                <a16:creationId xmlns:a16="http://schemas.microsoft.com/office/drawing/2014/main" id="{A306FF03-EF49-44F5-A7E6-D660C67EF14B}"/>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tells us when agents are expected to resume, so replay work enters SGLang in deadline order.</a:t>
            </a:r>
          </a:p>
        </p:txBody>
      </p:sp>
      <p:sp>
        <p:nvSpPr>
          <p:cNvPr id="3" name="">
            <a:extLst xmlns:a="http://schemas.openxmlformats.org/drawingml/2006/main">
              <a:ext uri="{FF2B5EF4-FFF2-40B4-BE49-F238E27FC236}">
                <a16:creationId xmlns:a16="http://schemas.microsoft.com/office/drawing/2014/main" id="{8EF15FE8-9E1B-412B-B0A2-7DCABFA05FD3}"/>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6EADD1F9-14A3-448C-A902-E79ABB1B6905}"/>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9C9AAF-0918-480E-944C-C2373A68BABA}"/>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D92595A2-9F7D-448B-A179-E862C98634A3}"/>
              </a:ext>
            </a:extLst>
          </p:cNvPr>
          <p:cNvSpPr>
            <a:spLocks xmlns:a="http://schemas.openxmlformats.org/drawingml/2006/main" noGrp="1"/>
          </p:cNvSpPr>
          <p:nvPr/>
        </p:nvSpPr>
        <p:spPr>
          <a:xfrm xmlns:a="http://schemas.openxmlformats.org/drawingml/2006/main">
            <a:off x="628650" y="19812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CCA2C5CD-D490-4FA3-ABB7-C745EB1E8BF4}"/>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8" name="">
            <a:extLst xmlns:a="http://schemas.openxmlformats.org/drawingml/2006/main">
              <a:ext uri="{FF2B5EF4-FFF2-40B4-BE49-F238E27FC236}">
                <a16:creationId xmlns:a16="http://schemas.microsoft.com/office/drawing/2014/main" id="{2BB95F21-D757-46F7-81BF-A9A5970F8DEB}"/>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9" name="">
            <a:extLst xmlns:a="http://schemas.openxmlformats.org/drawingml/2006/main">
              <a:ext uri="{FF2B5EF4-FFF2-40B4-BE49-F238E27FC236}">
                <a16:creationId xmlns:a16="http://schemas.microsoft.com/office/drawing/2014/main" id="{EF25A711-CB61-43AC-A672-62CA86EF64DF}"/>
              </a:ext>
            </a:extLst>
          </p:cNvPr>
          <p:cNvSpPr>
            <a:spLocks xmlns:a="http://schemas.openxmlformats.org/drawingml/2006/main" noGrp="1"/>
          </p:cNvSpPr>
          <p:nvPr/>
        </p:nvSpPr>
        <p:spPr>
          <a:xfrm xmlns:a="http://schemas.openxmlformats.org/drawingml/2006/main">
            <a:off x="628650" y="23431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819577D7-E9D2-4BD9-B5F3-B212FE18C30C}"/>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BBF16391-596B-4590-9279-112708EB6B93}"/>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tool-wait timeline.</a:t>
            </a:r>
          </a:p>
        </p:txBody>
      </p:sp>
      <p:sp>
        <p:nvSpPr>
          <p:cNvPr id="12" name="">
            <a:extLst xmlns:a="http://schemas.openxmlformats.org/drawingml/2006/main">
              <a:ext uri="{FF2B5EF4-FFF2-40B4-BE49-F238E27FC236}">
                <a16:creationId xmlns:a16="http://schemas.microsoft.com/office/drawing/2014/main" id="{912BA2F9-FEA5-4F4C-BEA2-EDC5CD8970DC}"/>
              </a:ext>
            </a:extLst>
          </p:cNvPr>
          <p:cNvSpPr>
            <a:spLocks xmlns:a="http://schemas.openxmlformats.org/drawingml/2006/main" noGrp="1"/>
          </p:cNvSpPr>
          <p:nvPr/>
        </p:nvSpPr>
        <p:spPr>
          <a:xfrm xmlns:a="http://schemas.openxmlformats.org/drawingml/2006/main">
            <a:off x="628650" y="27051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91ABBB06-CE5A-4A39-A4CA-AE1EE1834335}"/>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4" name="">
            <a:extLst xmlns:a="http://schemas.openxmlformats.org/drawingml/2006/main">
              <a:ext uri="{FF2B5EF4-FFF2-40B4-BE49-F238E27FC236}">
                <a16:creationId xmlns:a16="http://schemas.microsoft.com/office/drawing/2014/main" id="{0C0E0DA3-BC5A-470E-9339-678B535A8C41}"/>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range from very short to long.</a:t>
            </a:r>
          </a:p>
        </p:txBody>
      </p:sp>
      <p:sp>
        <p:nvSpPr>
          <p:cNvPr id="15" name="">
            <a:extLst xmlns:a="http://schemas.openxmlformats.org/drawingml/2006/main">
              <a:ext uri="{FF2B5EF4-FFF2-40B4-BE49-F238E27FC236}">
                <a16:creationId xmlns:a16="http://schemas.microsoft.com/office/drawing/2014/main" id="{5D3166B8-14B9-4FD2-9E32-3D253DAC04F5}"/>
              </a:ext>
            </a:extLst>
          </p:cNvPr>
          <p:cNvSpPr>
            <a:spLocks xmlns:a="http://schemas.openxmlformats.org/drawingml/2006/main" noGrp="1"/>
          </p:cNvSpPr>
          <p:nvPr/>
        </p:nvSpPr>
        <p:spPr>
          <a:xfrm xmlns:a="http://schemas.openxmlformats.org/drawingml/2006/main">
            <a:off x="628650" y="30670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8EB6BADA-6B0A-4C9B-901F-31DF87EF9493}"/>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7" name="">
            <a:extLst xmlns:a="http://schemas.openxmlformats.org/drawingml/2006/main">
              <a:ext uri="{FF2B5EF4-FFF2-40B4-BE49-F238E27FC236}">
                <a16:creationId xmlns:a16="http://schemas.microsoft.com/office/drawing/2014/main" id="{5EF39FB5-C235-499B-8602-2AC631165B9F}"/>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submits replay work in arrival order.</a:t>
            </a:r>
          </a:p>
        </p:txBody>
      </p:sp>
      <p:sp>
        <p:nvSpPr>
          <p:cNvPr id="18" name="">
            <a:extLst xmlns:a="http://schemas.openxmlformats.org/drawingml/2006/main">
              <a:ext uri="{FF2B5EF4-FFF2-40B4-BE49-F238E27FC236}">
                <a16:creationId xmlns:a16="http://schemas.microsoft.com/office/drawing/2014/main" id="{F1987F35-FAE3-4978-93FA-664AAD81F127}"/>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9" name="">
            <a:extLst xmlns:a="http://schemas.openxmlformats.org/drawingml/2006/main">
              <a:ext uri="{FF2B5EF4-FFF2-40B4-BE49-F238E27FC236}">
                <a16:creationId xmlns:a16="http://schemas.microsoft.com/office/drawing/2014/main" id="{86A32093-901C-4F27-9E1D-5F688FAFD53C}"/>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20" name="">
            <a:extLst xmlns:a="http://schemas.openxmlformats.org/drawingml/2006/main">
              <a:ext uri="{FF2B5EF4-FFF2-40B4-BE49-F238E27FC236}">
                <a16:creationId xmlns:a16="http://schemas.microsoft.com/office/drawing/2014/main" id="{24BD46A9-D6A0-4E74-9ED5-830EF9380F4A}"/>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estimates when each agent will resume, then releases replay requests in deadline order. It does not label requests as high or low priority; it only changes which ready replay enters the backend next.</a:t>
            </a:r>
          </a:p>
        </p:txBody>
      </p:sp>
      <p:sp>
        <p:nvSpPr>
          <p:cNvPr id="21" name="">
            <a:extLst xmlns:a="http://schemas.openxmlformats.org/drawingml/2006/main">
              <a:ext uri="{FF2B5EF4-FFF2-40B4-BE49-F238E27FC236}">
                <a16:creationId xmlns:a16="http://schemas.microsoft.com/office/drawing/2014/main" id="{814C5361-5A08-4DB4-8D2B-F7D5B8E37C4F}"/>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22" name="">
            <a:extLst xmlns:a="http://schemas.openxmlformats.org/drawingml/2006/main">
              <a:ext uri="{FF2B5EF4-FFF2-40B4-BE49-F238E27FC236}">
                <a16:creationId xmlns:a16="http://schemas.microsoft.com/office/drawing/2014/main" id="{AA12FD7E-D0B5-4D06-9275-5577D8922932}"/>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deadline_predictive_queue_submitprio_20260916_221604</a:t>
            </a:r>
          </a:p>
        </p:txBody>
      </p:sp>
      <p:sp>
        <p:nvSpPr>
          <p:cNvPr id="23" name="">
            <a:extLst xmlns:a="http://schemas.openxmlformats.org/drawingml/2006/main">
              <a:ext uri="{FF2B5EF4-FFF2-40B4-BE49-F238E27FC236}">
                <a16:creationId xmlns:a16="http://schemas.microsoft.com/office/drawing/2014/main" id="{E2FDD75A-2EC1-412C-B377-18DD3390A974}"/>
              </a:ext>
            </a:extLst>
          </p:cNvPr>
          <p:cNvSpPr>
            <a:spLocks xmlns:a="http://schemas.openxmlformats.org/drawingml/2006/main" noGrp="1"/>
          </p:cNvSpPr>
          <p:nvPr/>
        </p:nvSpPr>
        <p:spPr>
          <a:xfrm xmlns:a="http://schemas.openxmlformats.org/drawingml/2006/main">
            <a:off x="5619750" y="21717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C7849866-5E4F-4FA9-95F9-C3D8B6388E93}"/>
              </a:ext>
            </a:extLst>
          </p:cNvPr>
          <p:cNvSpPr>
            <a:spLocks xmlns:a="http://schemas.openxmlformats.org/drawingml/2006/main" noGrp="1"/>
          </p:cNvSpPr>
          <p:nvPr/>
        </p:nvSpPr>
        <p:spPr>
          <a:xfrm xmlns:a="http://schemas.openxmlformats.org/drawingml/2006/main">
            <a:off x="57721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TTFT</a:t>
            </a:r>
          </a:p>
        </p:txBody>
      </p:sp>
      <p:sp>
        <p:nvSpPr>
          <p:cNvPr id="25" name="">
            <a:extLst xmlns:a="http://schemas.openxmlformats.org/drawingml/2006/main">
              <a:ext uri="{FF2B5EF4-FFF2-40B4-BE49-F238E27FC236}">
                <a16:creationId xmlns:a16="http://schemas.microsoft.com/office/drawing/2014/main" id="{D5A4A461-7807-497B-A6E9-C604403CA894}"/>
              </a:ext>
            </a:extLst>
          </p:cNvPr>
          <p:cNvSpPr>
            <a:spLocks xmlns:a="http://schemas.openxmlformats.org/drawingml/2006/main" noGrp="1"/>
          </p:cNvSpPr>
          <p:nvPr/>
        </p:nvSpPr>
        <p:spPr>
          <a:xfrm xmlns:a="http://schemas.openxmlformats.org/drawingml/2006/main">
            <a:off x="57721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15.1% better</a:t>
            </a:r>
          </a:p>
        </p:txBody>
      </p:sp>
      <p:sp>
        <p:nvSpPr>
          <p:cNvPr id="26" name="">
            <a:extLst xmlns:a="http://schemas.openxmlformats.org/drawingml/2006/main">
              <a:ext uri="{FF2B5EF4-FFF2-40B4-BE49-F238E27FC236}">
                <a16:creationId xmlns:a16="http://schemas.microsoft.com/office/drawing/2014/main" id="{474E10F3-7253-46AD-88F9-C08F5D7506AB}"/>
              </a:ext>
            </a:extLst>
          </p:cNvPr>
          <p:cNvSpPr>
            <a:spLocks xmlns:a="http://schemas.openxmlformats.org/drawingml/2006/main" noGrp="1"/>
          </p:cNvSpPr>
          <p:nvPr/>
        </p:nvSpPr>
        <p:spPr>
          <a:xfrm xmlns:a="http://schemas.openxmlformats.org/drawingml/2006/main">
            <a:off x="57721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101.5 s to 86.2 s</a:t>
            </a:r>
          </a:p>
        </p:txBody>
      </p:sp>
      <p:sp>
        <p:nvSpPr>
          <p:cNvPr id="27" name="">
            <a:extLst xmlns:a="http://schemas.openxmlformats.org/drawingml/2006/main">
              <a:ext uri="{FF2B5EF4-FFF2-40B4-BE49-F238E27FC236}">
                <a16:creationId xmlns:a16="http://schemas.microsoft.com/office/drawing/2014/main" id="{0BD0ED2C-13B0-4D54-89DF-9F9C98AB0099}"/>
              </a:ext>
            </a:extLst>
          </p:cNvPr>
          <p:cNvSpPr>
            <a:spLocks xmlns:a="http://schemas.openxmlformats.org/drawingml/2006/main" noGrp="1"/>
          </p:cNvSpPr>
          <p:nvPr/>
        </p:nvSpPr>
        <p:spPr>
          <a:xfrm xmlns:a="http://schemas.openxmlformats.org/drawingml/2006/main">
            <a:off x="8401050" y="21717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56AC184A-FBEE-4115-A1DD-90AB06839772}"/>
              </a:ext>
            </a:extLst>
          </p:cNvPr>
          <p:cNvSpPr>
            <a:spLocks xmlns:a="http://schemas.openxmlformats.org/drawingml/2006/main" noGrp="1"/>
          </p:cNvSpPr>
          <p:nvPr/>
        </p:nvSpPr>
        <p:spPr>
          <a:xfrm xmlns:a="http://schemas.openxmlformats.org/drawingml/2006/main">
            <a:off x="85534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Avg TTFT per request</a:t>
            </a:r>
          </a:p>
        </p:txBody>
      </p:sp>
      <p:sp>
        <p:nvSpPr>
          <p:cNvPr id="29" name="">
            <a:extLst xmlns:a="http://schemas.openxmlformats.org/drawingml/2006/main">
              <a:ext uri="{FF2B5EF4-FFF2-40B4-BE49-F238E27FC236}">
                <a16:creationId xmlns:a16="http://schemas.microsoft.com/office/drawing/2014/main" id="{72C2A423-B826-4FFA-84F7-DEAAB4A38551}"/>
              </a:ext>
            </a:extLst>
          </p:cNvPr>
          <p:cNvSpPr>
            <a:spLocks xmlns:a="http://schemas.openxmlformats.org/drawingml/2006/main" noGrp="1"/>
          </p:cNvSpPr>
          <p:nvPr/>
        </p:nvSpPr>
        <p:spPr>
          <a:xfrm xmlns:a="http://schemas.openxmlformats.org/drawingml/2006/main">
            <a:off x="85534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0.5 s faster</a:t>
            </a:r>
          </a:p>
        </p:txBody>
      </p:sp>
      <p:sp>
        <p:nvSpPr>
          <p:cNvPr id="30" name="">
            <a:extLst xmlns:a="http://schemas.openxmlformats.org/drawingml/2006/main">
              <a:ext uri="{FF2B5EF4-FFF2-40B4-BE49-F238E27FC236}">
                <a16:creationId xmlns:a16="http://schemas.microsoft.com/office/drawing/2014/main" id="{DE1EBD53-3980-4E90-8BE3-E0865D40BD41}"/>
              </a:ext>
            </a:extLst>
          </p:cNvPr>
          <p:cNvSpPr>
            <a:spLocks xmlns:a="http://schemas.openxmlformats.org/drawingml/2006/main" noGrp="1"/>
          </p:cNvSpPr>
          <p:nvPr/>
        </p:nvSpPr>
        <p:spPr>
          <a:xfrm xmlns:a="http://schemas.openxmlformats.org/drawingml/2006/main">
            <a:off x="85534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3.2 s to 2.7 s</a:t>
            </a:r>
          </a:p>
        </p:txBody>
      </p:sp>
      <p:sp>
        <p:nvSpPr>
          <p:cNvPr id="31" name="">
            <a:extLst xmlns:a="http://schemas.openxmlformats.org/drawingml/2006/main">
              <a:ext uri="{FF2B5EF4-FFF2-40B4-BE49-F238E27FC236}">
                <a16:creationId xmlns:a16="http://schemas.microsoft.com/office/drawing/2014/main" id="{AD631DF2-3977-415B-A5BE-3BEC570E3A84}"/>
              </a:ext>
            </a:extLst>
          </p:cNvPr>
          <p:cNvSpPr>
            <a:spLocks xmlns:a="http://schemas.openxmlformats.org/drawingml/2006/main" noGrp="1"/>
          </p:cNvSpPr>
          <p:nvPr/>
        </p:nvSpPr>
        <p:spPr>
          <a:xfrm xmlns:a="http://schemas.openxmlformats.org/drawingml/2006/main">
            <a:off x="5619750" y="32385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D51D4F9C-250C-4279-B435-F97A8D201F3E}"/>
              </a:ext>
            </a:extLst>
          </p:cNvPr>
          <p:cNvSpPr>
            <a:spLocks xmlns:a="http://schemas.openxmlformats.org/drawingml/2006/main" noGrp="1"/>
          </p:cNvSpPr>
          <p:nvPr/>
        </p:nvSpPr>
        <p:spPr>
          <a:xfrm xmlns:a="http://schemas.openxmlformats.org/drawingml/2006/main">
            <a:off x="57721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lateness</a:t>
            </a:r>
          </a:p>
        </p:txBody>
      </p:sp>
      <p:sp>
        <p:nvSpPr>
          <p:cNvPr id="33" name="">
            <a:extLst xmlns:a="http://schemas.openxmlformats.org/drawingml/2006/main">
              <a:ext uri="{FF2B5EF4-FFF2-40B4-BE49-F238E27FC236}">
                <a16:creationId xmlns:a16="http://schemas.microsoft.com/office/drawing/2014/main" id="{95D5FB2B-FB4F-44C6-9889-F23E6C2A46A8}"/>
              </a:ext>
            </a:extLst>
          </p:cNvPr>
          <p:cNvSpPr>
            <a:spLocks xmlns:a="http://schemas.openxmlformats.org/drawingml/2006/main" noGrp="1"/>
          </p:cNvSpPr>
          <p:nvPr/>
        </p:nvSpPr>
        <p:spPr>
          <a:xfrm xmlns:a="http://schemas.openxmlformats.org/drawingml/2006/main">
            <a:off x="57721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22.1% better</a:t>
            </a:r>
          </a:p>
        </p:txBody>
      </p:sp>
      <p:sp>
        <p:nvSpPr>
          <p:cNvPr id="34" name="">
            <a:extLst xmlns:a="http://schemas.openxmlformats.org/drawingml/2006/main">
              <a:ext uri="{FF2B5EF4-FFF2-40B4-BE49-F238E27FC236}">
                <a16:creationId xmlns:a16="http://schemas.microsoft.com/office/drawing/2014/main" id="{D9A3160D-456C-458C-802F-274794263C67}"/>
              </a:ext>
            </a:extLst>
          </p:cNvPr>
          <p:cNvSpPr>
            <a:spLocks xmlns:a="http://schemas.openxmlformats.org/drawingml/2006/main" noGrp="1"/>
          </p:cNvSpPr>
          <p:nvPr/>
        </p:nvSpPr>
        <p:spPr>
          <a:xfrm xmlns:a="http://schemas.openxmlformats.org/drawingml/2006/main">
            <a:off x="57721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278.7 s to 217.1 s</a:t>
            </a:r>
          </a:p>
        </p:txBody>
      </p:sp>
      <p:sp>
        <p:nvSpPr>
          <p:cNvPr id="35" name="">
            <a:extLst xmlns:a="http://schemas.openxmlformats.org/drawingml/2006/main">
              <a:ext uri="{FF2B5EF4-FFF2-40B4-BE49-F238E27FC236}">
                <a16:creationId xmlns:a16="http://schemas.microsoft.com/office/drawing/2014/main" id="{9D28F73C-9B68-42D4-B505-D902E6352751}"/>
              </a:ext>
            </a:extLst>
          </p:cNvPr>
          <p:cNvSpPr>
            <a:spLocks xmlns:a="http://schemas.openxmlformats.org/drawingml/2006/main" noGrp="1"/>
          </p:cNvSpPr>
          <p:nvPr/>
        </p:nvSpPr>
        <p:spPr>
          <a:xfrm xmlns:a="http://schemas.openxmlformats.org/drawingml/2006/main">
            <a:off x="8401050" y="32385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42F1F978-410D-4BDC-BA3C-8BABD5DFCCF7}"/>
              </a:ext>
            </a:extLst>
          </p:cNvPr>
          <p:cNvSpPr>
            <a:spLocks xmlns:a="http://schemas.openxmlformats.org/drawingml/2006/main" noGrp="1"/>
          </p:cNvSpPr>
          <p:nvPr/>
        </p:nvSpPr>
        <p:spPr>
          <a:xfrm xmlns:a="http://schemas.openxmlformats.org/drawingml/2006/main">
            <a:off x="85534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P95 lateness</a:t>
            </a:r>
          </a:p>
        </p:txBody>
      </p:sp>
      <p:sp>
        <p:nvSpPr>
          <p:cNvPr id="37" name="">
            <a:extLst xmlns:a="http://schemas.openxmlformats.org/drawingml/2006/main">
              <a:ext uri="{FF2B5EF4-FFF2-40B4-BE49-F238E27FC236}">
                <a16:creationId xmlns:a16="http://schemas.microsoft.com/office/drawing/2014/main" id="{4C20073B-17DA-4D0C-B155-276384A0B642}"/>
              </a:ext>
            </a:extLst>
          </p:cNvPr>
          <p:cNvSpPr>
            <a:spLocks xmlns:a="http://schemas.openxmlformats.org/drawingml/2006/main" noGrp="1"/>
          </p:cNvSpPr>
          <p:nvPr/>
        </p:nvSpPr>
        <p:spPr>
          <a:xfrm xmlns:a="http://schemas.openxmlformats.org/drawingml/2006/main">
            <a:off x="85534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37.6% better</a:t>
            </a:r>
          </a:p>
        </p:txBody>
      </p:sp>
      <p:sp>
        <p:nvSpPr>
          <p:cNvPr id="38" name="">
            <a:extLst xmlns:a="http://schemas.openxmlformats.org/drawingml/2006/main">
              <a:ext uri="{FF2B5EF4-FFF2-40B4-BE49-F238E27FC236}">
                <a16:creationId xmlns:a16="http://schemas.microsoft.com/office/drawing/2014/main" id="{21CC80D2-963D-4BD5-8D1C-7705DA9B1095}"/>
              </a:ext>
            </a:extLst>
          </p:cNvPr>
          <p:cNvSpPr>
            <a:spLocks xmlns:a="http://schemas.openxmlformats.org/drawingml/2006/main" noGrp="1"/>
          </p:cNvSpPr>
          <p:nvPr/>
        </p:nvSpPr>
        <p:spPr>
          <a:xfrm xmlns:a="http://schemas.openxmlformats.org/drawingml/2006/main">
            <a:off x="85534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31.3 s to 19.5 s</a:t>
            </a:r>
          </a:p>
        </p:txBody>
      </p:sp>
      <p:sp>
        <p:nvSpPr>
          <p:cNvPr id="39" name="">
            <a:extLst xmlns:a="http://schemas.openxmlformats.org/drawingml/2006/main">
              <a:ext uri="{FF2B5EF4-FFF2-40B4-BE49-F238E27FC236}">
                <a16:creationId xmlns:a16="http://schemas.microsoft.com/office/drawing/2014/main" id="{1DE5C32D-6DE3-4C97-A6E0-B427068F6890}"/>
              </a:ext>
            </a:extLst>
          </p:cNvPr>
          <p:cNvSpPr>
            <a:spLocks xmlns:a="http://schemas.openxmlformats.org/drawingml/2006/main" noGrp="1"/>
          </p:cNvSpPr>
          <p:nvPr/>
        </p:nvSpPr>
        <p:spPr>
          <a:xfrm xmlns:a="http://schemas.openxmlformats.org/drawingml/2006/main">
            <a:off x="5619750" y="4305300"/>
            <a:ext cx="5353050" cy="8763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558BAB06-2477-4EEB-8BBE-DD90C7B1A2D9}"/>
              </a:ext>
            </a:extLst>
          </p:cNvPr>
          <p:cNvSpPr>
            <a:spLocks xmlns:a="http://schemas.openxmlformats.org/drawingml/2006/main" noGrp="1"/>
          </p:cNvSpPr>
          <p:nvPr/>
        </p:nvSpPr>
        <p:spPr>
          <a:xfrm xmlns:a="http://schemas.openxmlformats.org/drawingml/2006/main">
            <a:off x="5772150" y="4438650"/>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Trade-off</a:t>
            </a:r>
          </a:p>
        </p:txBody>
      </p:sp>
      <p:sp>
        <p:nvSpPr>
          <p:cNvPr id="41" name="">
            <a:extLst xmlns:a="http://schemas.openxmlformats.org/drawingml/2006/main">
              <a:ext uri="{FF2B5EF4-FFF2-40B4-BE49-F238E27FC236}">
                <a16:creationId xmlns:a16="http://schemas.microsoft.com/office/drawing/2014/main" id="{53A6580E-6306-4ADD-BD08-FCA7E5685CAD}"/>
              </a:ext>
            </a:extLst>
          </p:cNvPr>
          <p:cNvSpPr>
            <a:spLocks xmlns:a="http://schemas.openxmlformats.org/drawingml/2006/main" noGrp="1"/>
          </p:cNvSpPr>
          <p:nvPr/>
        </p:nvSpPr>
        <p:spPr>
          <a:xfrm xmlns:a="http://schemas.openxmlformats.org/drawingml/2006/main">
            <a:off x="5772150" y="466725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334155"/>
                </a:solidFill>
                <a:latin typeface="Helvetica Neue"/>
                <a:ea typeface="Helvetica Neue"/>
                <a:cs typeface="Helvetica Neue"/>
              </a:defRPr>
            </a:pPr>
            <a:r>
              <a:rPr sz="1800" b="1">
                <a:solidFill>
                  <a:srgbClr val="334155"/>
                </a:solidFill>
                <a:latin typeface="Helvetica Neue"/>
                <a:ea typeface="Helvetica Neue"/>
                <a:cs typeface="Helvetica Neue"/>
              </a:rPr>
              <a:t>23.0 s longer</a:t>
            </a:r>
          </a:p>
        </p:txBody>
      </p:sp>
      <p:sp>
        <p:nvSpPr>
          <p:cNvPr id="42" name="">
            <a:extLst xmlns:a="http://schemas.openxmlformats.org/drawingml/2006/main">
              <a:ext uri="{FF2B5EF4-FFF2-40B4-BE49-F238E27FC236}">
                <a16:creationId xmlns:a16="http://schemas.microsoft.com/office/drawing/2014/main" id="{67B487C0-0453-4D2C-A980-822F9A6D8F88}"/>
              </a:ext>
            </a:extLst>
          </p:cNvPr>
          <p:cNvSpPr>
            <a:spLocks xmlns:a="http://schemas.openxmlformats.org/drawingml/2006/main" noGrp="1"/>
          </p:cNvSpPr>
          <p:nvPr/>
        </p:nvSpPr>
        <p:spPr>
          <a:xfrm xmlns:a="http://schemas.openxmlformats.org/drawingml/2006/main">
            <a:off x="5772150" y="4953000"/>
            <a:ext cx="504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Workload window: 234.7 s to 257.7 s</a:t>
            </a:r>
          </a:p>
        </p:txBody>
      </p:sp>
      <p:sp>
        <p:nvSpPr>
          <p:cNvPr id="43" name="">
            <a:extLst xmlns:a="http://schemas.openxmlformats.org/drawingml/2006/main">
              <a:ext uri="{FF2B5EF4-FFF2-40B4-BE49-F238E27FC236}">
                <a16:creationId xmlns:a16="http://schemas.microsoft.com/office/drawing/2014/main" id="{325CF4AB-0A12-4CBF-83BE-EAC36F546F7D}"/>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C974122-03F5-486B-A339-0153D9A1EAC3}"/>
              </a:ext>
            </a:extLst>
          </p:cNvPr>
          <p:cNvSpPr>
            <a:spLocks xmlns:a="http://schemas.openxmlformats.org/drawingml/2006/main" noGrp="1"/>
          </p:cNvSpPr>
          <p:nvPr/>
        </p:nvSpPr>
        <p:spPr>
          <a:xfrm xmlns:a="http://schemas.openxmlformats.org/drawingml/2006/main">
            <a:off x="628650" y="5791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Takeaway</a:t>
            </a:r>
          </a:p>
        </p:txBody>
      </p:sp>
      <p:sp>
        <p:nvSpPr>
          <p:cNvPr id="45" name="">
            <a:extLst xmlns:a="http://schemas.openxmlformats.org/drawingml/2006/main">
              <a:ext uri="{FF2B5EF4-FFF2-40B4-BE49-F238E27FC236}">
                <a16:creationId xmlns:a16="http://schemas.microsoft.com/office/drawing/2014/main" id="{19F3E9ED-757B-4DF6-9E27-06CAD467D75C}"/>
              </a:ext>
            </a:extLst>
          </p:cNvPr>
          <p:cNvSpPr>
            <a:spLocks xmlns:a="http://schemas.openxmlformats.org/drawingml/2006/main" noGrp="1"/>
          </p:cNvSpPr>
          <p:nvPr/>
        </p:nvSpPr>
        <p:spPr>
          <a:xfrm xmlns:a="http://schemas.openxmlformats.org/drawingml/2006/main">
            <a:off x="196215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Using harness timing to order replay work reduced replay delay across the full workload.</a:t>
            </a:r>
          </a:p>
        </p:txBody>
      </p:sp>
      <p:sp>
        <p:nvSpPr>
          <p:cNvPr id="46" name="">
            <a:extLst xmlns:a="http://schemas.openxmlformats.org/drawingml/2006/main">
              <a:ext uri="{FF2B5EF4-FFF2-40B4-BE49-F238E27FC236}">
                <a16:creationId xmlns:a16="http://schemas.microsoft.com/office/drawing/2014/main" id="{F190AF02-A8E5-459D-BE67-FE6A78E6783E}"/>
              </a:ext>
            </a:extLst>
          </p:cNvPr>
          <p:cNvSpPr>
            <a:spLocks xmlns:a="http://schemas.openxmlformats.org/drawingml/2006/main" noGrp="1"/>
          </p:cNvSpPr>
          <p:nvPr/>
        </p:nvSpPr>
        <p:spPr>
          <a:xfrm xmlns:a="http://schemas.openxmlformats.org/drawingml/2006/main">
            <a:off x="552450" y="64198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Source: Harness-Aware Scenario Tracker</a:t>
            </a:r>
          </a:p>
        </p:txBody>
      </p:sp>
    </p:spTree>
    <p:extLst>
      <p:ext uri="{BB962C8B-B14F-4D97-AF65-F5344CB8AC3E}">
        <p14:creationId xmlns:p14="http://schemas.microsoft.com/office/powerpoint/2010/main" val="3210644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2026-09-17T17:45:32.0930000Z</dcterms:created>
  <dcterms:modified xsi:type="dcterms:W3CDTF">2026-09-17T17:45:32.0930000Z</dcterms:modified>
</coreProperties>
</file>