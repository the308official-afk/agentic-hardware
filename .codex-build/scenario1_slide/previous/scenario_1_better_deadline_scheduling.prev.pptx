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de54de77c7497c" /><Relationship Type="http://schemas.openxmlformats.org/officeDocument/2006/relationships/extended-properties" Target="/docProps/app.xml" Id="R3de70d0f32a04ceb" /><Relationship Type="http://schemas.openxmlformats.org/officeDocument/2006/relationships/officeDocument" Target="/ppt/presentation.xml" Id="R755690fc47454833" /></Relationships>
</file>

<file path=ppt/presentation.xml><?xml version="1.0" encoding="utf-8"?>
<p:presentation xmlns:p="http://schemas.openxmlformats.org/presentationml/2006/main">
  <p:sldMasterIdLst>
    <p:sldMasterId xmlns:r="http://schemas.openxmlformats.org/officeDocument/2006/relationships" id="2147483648" r:id="R2f98655772e54b1f"/>
  </p:sldMasterIdLst>
  <p:notesMasterIdLst>
    <p:notesMasterId xmlns:r="http://schemas.openxmlformats.org/officeDocument/2006/relationships" r:id="R7438d22af33844c7"/>
  </p:notesMasterIdLst>
  <p:sldIdLst>
    <p:sldId xmlns:r="http://schemas.openxmlformats.org/officeDocument/2006/relationships" id="256" r:id="Re1e4938672e94d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bd113474b44582" /><Relationship Type="http://schemas.openxmlformats.org/officeDocument/2006/relationships/slideMaster" Target="/ppt/slideMasters/slideMaster1.xml" Id="R2f98655772e54b1f" /><Relationship Type="http://schemas.openxmlformats.org/officeDocument/2006/relationships/notesMaster" Target="/ppt/notesMasters/notesMaster1.xml" Id="R7438d22af33844c7" /><Relationship Type="http://schemas.openxmlformats.org/officeDocument/2006/relationships/presProps" Target="/ppt/presProps.xml" Id="Re2e943d308284ae3" /><Relationship Type="http://schemas.openxmlformats.org/officeDocument/2006/relationships/tableStyles" Target="/ppt/tableStyles.xml" Id="R456b870e0d814591" /><Relationship Type="http://schemas.openxmlformats.org/officeDocument/2006/relationships/slide" Target="/ppt/slides/slide1.xml" Id="Re1e4938672e94d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450c8dfc5d49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05585474854512" /><Relationship Type="http://schemas.openxmlformats.org/officeDocument/2006/relationships/notesMaster" Target="/ppt/notesMasters/notesMaster1.xml" Id="R247ea038986243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1 source: harness_aware_scenario_tracker.html.</a:t>
            </a:r>
          </a:p>
          <a:p xmlns:a="http://schemas.openxmlformats.org/drawingml/2006/main">
            <a:r>
              <a:t/>
            </a:r>
          </a:p>
          <a:p xmlns:a="http://schemas.openxmlformats.org/drawingml/2006/main">
            <a:r>
              <a:t>Setup: same 32 measured replay requests in baseline and controller modes, using the same generated timeline. Baseline uses ordinary FIFO replay submission. Controller mode exposes expected replay timing during tool wait, assigns due-time priority before replay, uses that priority in the local submission gate, and lowers the same priority into SGLang.</a:t>
            </a:r>
          </a:p>
          <a:p xmlns:a="http://schemas.openxmlformats.org/drawingml/2006/main">
            <a:r>
              <a:t/>
            </a:r>
          </a:p>
          <a:p xmlns:a="http://schemas.openxmlformats.org/drawingml/2006/main">
            <a:r>
              <a:t>Signals: session_id, phase=tool_wait, expected_tool_return_ms, next_ready_eta_ms, deadline_after_ready_ms, tool_wait_class, task_replay_steps.</a:t>
            </a:r>
          </a:p>
          <a:p xmlns:a="http://schemas.openxmlformats.org/drawingml/2006/main">
            <a:r>
              <a:t/>
            </a:r>
          </a:p>
          <a:p xmlns:a="http://schemas.openxmlformats.org/drawingml/2006/main">
            <a:r>
              <a:t>Results: Total TTFT improved from 101.5 s to 86.2 s, or 15.1%. Average TTFT improved from 3.2 s to 2.7 s per replay request. Total lateness improved from 278.7 s to 217.1 s, or 22.1%. Average replay lateness improved from 8.7 s to 6.8 s. P95 lateness improved from 31.3 s to 19.5 s, or 37.6%. Max lateness improved from 31.6 s to 19.6 s, or 38.0%. Trade-off: full workload window increased from 234.7 s to 257.7 s, or 23.0 s longer.</a:t>
            </a:r>
          </a:p>
          <a:p xmlns:a="http://schemas.openxmlformats.org/drawingml/2006/main">
            <a:r>
              <a:t/>
            </a:r>
          </a:p>
          <a:p xmlns:a="http://schemas.openxmlformats.org/drawingml/2006/main">
            <a:r>
              <a:t>[Sources]</a:t>
            </a:r>
          </a:p>
          <a:p xmlns:a="http://schemas.openxmlformats.org/drawingml/2006/main">
            <a:r>
              <a:t>Local file: /Users/oluwolejaiyeoba/Documents/GitHub/agentic_hardware/harness_aware_scenario_tracker.html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f7795de9f043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5133fec0af4395" /><Relationship Type="http://schemas.openxmlformats.org/officeDocument/2006/relationships/slideLayout" Target="/ppt/slideLayouts/slideLayout1.xml" Id="Rdf36aff7ebc140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36aff7ebc140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52b47d72664c84" /><Relationship Type="http://schemas.openxmlformats.org/officeDocument/2006/relationships/notesSlide" Target="/ppt/notesSlides/notesSlide1.xml" Id="R757c38634aec41c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451E26E-4B05-47A1-833D-A6CC9F277BA2}"/>
              </a:ext>
            </a:extLst>
          </p:cNvPr>
          <p:cNvSpPr>
            <a:spLocks xmlns:a="http://schemas.openxmlformats.org/drawingml/2006/main" noGrp="1"/>
          </p:cNvSpPr>
          <p:nvPr/>
        </p:nvSpPr>
        <p:spPr>
          <a:xfrm xmlns:a="http://schemas.openxmlformats.org/drawingml/2006/main">
            <a:off x="533400" y="34290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Scenario 1: Better Deadline Scheduling</a:t>
            </a:r>
          </a:p>
        </p:txBody>
      </p:sp>
      <p:sp>
        <p:nvSpPr>
          <p:cNvPr id="2" name="">
            <a:extLst xmlns:a="http://schemas.openxmlformats.org/drawingml/2006/main">
              <a:ext uri="{FF2B5EF4-FFF2-40B4-BE49-F238E27FC236}">
                <a16:creationId xmlns:a16="http://schemas.microsoft.com/office/drawing/2014/main" id="{CA36AE08-F091-41E3-9A6B-7E7903252614}"/>
              </a:ext>
            </a:extLst>
          </p:cNvPr>
          <p:cNvSpPr>
            <a:spLocks xmlns:a="http://schemas.openxmlformats.org/drawingml/2006/main" noGrp="1"/>
          </p:cNvSpPr>
          <p:nvPr/>
        </p:nvSpPr>
        <p:spPr>
          <a:xfrm xmlns:a="http://schemas.openxmlformats.org/drawingml/2006/main">
            <a:off x="552450" y="8382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Harness timing signals help the backend serve soon-due replay work first.</a:t>
            </a:r>
          </a:p>
        </p:txBody>
      </p:sp>
      <p:sp>
        <p:nvSpPr>
          <p:cNvPr id="3" name="">
            <a:extLst xmlns:a="http://schemas.openxmlformats.org/drawingml/2006/main">
              <a:ext uri="{FF2B5EF4-FFF2-40B4-BE49-F238E27FC236}">
                <a16:creationId xmlns:a16="http://schemas.microsoft.com/office/drawing/2014/main" id="{08234C11-307B-45E6-BBCF-BB1931B855A2}"/>
              </a:ext>
            </a:extLst>
          </p:cNvPr>
          <p:cNvSpPr>
            <a:spLocks xmlns:a="http://schemas.openxmlformats.org/drawingml/2006/main" noGrp="1"/>
          </p:cNvSpPr>
          <p:nvPr/>
        </p:nvSpPr>
        <p:spPr>
          <a:xfrm xmlns:a="http://schemas.openxmlformats.org/drawingml/2006/main">
            <a:off x="10287000" y="4762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059669"/>
                </a:solidFill>
                <a:latin typeface="Helvetica Neue"/>
                <a:ea typeface="Helvetica Neue"/>
                <a:cs typeface="Helvetica Neue"/>
              </a:defRPr>
            </a:pPr>
            <a:r>
              <a:rPr sz="1350" b="1">
                <a:solidFill>
                  <a:srgbClr val="059669"/>
                </a:solidFill>
                <a:latin typeface="Helvetica Neue"/>
                <a:ea typeface="Helvetica Neue"/>
                <a:cs typeface="Helvetica Neue"/>
              </a:rPr>
              <a:t>Clear win</a:t>
            </a:r>
          </a:p>
        </p:txBody>
      </p:sp>
      <p:sp>
        <p:nvSpPr>
          <p:cNvPr id="4" name="">
            <a:extLst xmlns:a="http://schemas.openxmlformats.org/drawingml/2006/main">
              <a:ext uri="{FF2B5EF4-FFF2-40B4-BE49-F238E27FC236}">
                <a16:creationId xmlns:a16="http://schemas.microsoft.com/office/drawing/2014/main" id="{9347B127-52F2-4367-B253-A9072842D402}"/>
              </a:ext>
            </a:extLst>
          </p:cNvPr>
          <p:cNvSpPr>
            <a:spLocks xmlns:a="http://schemas.openxmlformats.org/drawingml/2006/main" noGrp="1"/>
          </p:cNvSpPr>
          <p:nvPr/>
        </p:nvSpPr>
        <p:spPr>
          <a:xfrm xmlns:a="http://schemas.openxmlformats.org/drawingml/2006/main">
            <a:off x="533400" y="120015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8FFD97-626C-4603-B705-F3C92002E88D}"/>
              </a:ext>
            </a:extLst>
          </p:cNvPr>
          <p:cNvSpPr>
            <a:spLocks xmlns:a="http://schemas.openxmlformats.org/drawingml/2006/main" noGrp="1"/>
          </p:cNvSpPr>
          <p:nvPr/>
        </p:nvSpPr>
        <p:spPr>
          <a:xfrm xmlns:a="http://schemas.openxmlformats.org/drawingml/2006/main">
            <a:off x="628650" y="1524000"/>
            <a:ext cx="433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setup tests</a:t>
            </a:r>
          </a:p>
        </p:txBody>
      </p:sp>
      <p:sp>
        <p:nvSpPr>
          <p:cNvPr id="6" name="">
            <a:extLst xmlns:a="http://schemas.openxmlformats.org/drawingml/2006/main">
              <a:ext uri="{FF2B5EF4-FFF2-40B4-BE49-F238E27FC236}">
                <a16:creationId xmlns:a16="http://schemas.microsoft.com/office/drawing/2014/main" id="{BD238B9C-8DDA-422F-8BBF-B4A8C698A6C2}"/>
              </a:ext>
            </a:extLst>
          </p:cNvPr>
          <p:cNvSpPr>
            <a:spLocks xmlns:a="http://schemas.openxmlformats.org/drawingml/2006/main" noGrp="1"/>
          </p:cNvSpPr>
          <p:nvPr/>
        </p:nvSpPr>
        <p:spPr>
          <a:xfrm xmlns:a="http://schemas.openxmlformats.org/drawingml/2006/main">
            <a:off x="628650" y="19812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25B7C9A-32F2-494F-9820-5508C656D500}"/>
              </a:ext>
            </a:extLst>
          </p:cNvPr>
          <p:cNvSpPr>
            <a:spLocks xmlns:a="http://schemas.openxmlformats.org/drawingml/2006/main" noGrp="1"/>
          </p:cNvSpPr>
          <p:nvPr/>
        </p:nvSpPr>
        <p:spPr>
          <a:xfrm xmlns:a="http://schemas.openxmlformats.org/drawingml/2006/main">
            <a:off x="628650" y="19907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7736942A-33AA-4C53-8C52-877FDDD7DE3F}"/>
              </a:ext>
            </a:extLst>
          </p:cNvPr>
          <p:cNvSpPr>
            <a:spLocks xmlns:a="http://schemas.openxmlformats.org/drawingml/2006/main" noGrp="1"/>
          </p:cNvSpPr>
          <p:nvPr/>
        </p:nvSpPr>
        <p:spPr>
          <a:xfrm xmlns:a="http://schemas.openxmlformats.org/drawingml/2006/main">
            <a:off x="819150" y="19050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The same 32 replay requests run in baseline and controller modes.</a:t>
            </a:r>
          </a:p>
        </p:txBody>
      </p:sp>
      <p:sp>
        <p:nvSpPr>
          <p:cNvPr id="9" name="">
            <a:extLst xmlns:a="http://schemas.openxmlformats.org/drawingml/2006/main">
              <a:ext uri="{FF2B5EF4-FFF2-40B4-BE49-F238E27FC236}">
                <a16:creationId xmlns:a16="http://schemas.microsoft.com/office/drawing/2014/main" id="{D876F8BA-138D-45A0-9D38-4DF5BC0C0F0F}"/>
              </a:ext>
            </a:extLst>
          </p:cNvPr>
          <p:cNvSpPr>
            <a:spLocks xmlns:a="http://schemas.openxmlformats.org/drawingml/2006/main" noGrp="1"/>
          </p:cNvSpPr>
          <p:nvPr/>
        </p:nvSpPr>
        <p:spPr>
          <a:xfrm xmlns:a="http://schemas.openxmlformats.org/drawingml/2006/main">
            <a:off x="628650" y="23431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38C77668-E1BD-426A-A82D-123EE9D6958B}"/>
              </a:ext>
            </a:extLst>
          </p:cNvPr>
          <p:cNvSpPr>
            <a:spLocks xmlns:a="http://schemas.openxmlformats.org/drawingml/2006/main" noGrp="1"/>
          </p:cNvSpPr>
          <p:nvPr/>
        </p:nvSpPr>
        <p:spPr>
          <a:xfrm xmlns:a="http://schemas.openxmlformats.org/drawingml/2006/main">
            <a:off x="628650" y="23526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897E9EF7-32E1-4058-9B2C-59629EE6EFF7}"/>
              </a:ext>
            </a:extLst>
          </p:cNvPr>
          <p:cNvSpPr>
            <a:spLocks xmlns:a="http://schemas.openxmlformats.org/drawingml/2006/main" noGrp="1"/>
          </p:cNvSpPr>
          <p:nvPr/>
        </p:nvSpPr>
        <p:spPr>
          <a:xfrm xmlns:a="http://schemas.openxmlformats.org/drawingml/2006/main">
            <a:off x="819150" y="22669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Tool waits vary from very short returns to long returns.</a:t>
            </a:r>
          </a:p>
        </p:txBody>
      </p:sp>
      <p:sp>
        <p:nvSpPr>
          <p:cNvPr id="12" name="">
            <a:extLst xmlns:a="http://schemas.openxmlformats.org/drawingml/2006/main">
              <a:ext uri="{FF2B5EF4-FFF2-40B4-BE49-F238E27FC236}">
                <a16:creationId xmlns:a16="http://schemas.microsoft.com/office/drawing/2014/main" id="{E3F05FFE-CDF7-4DDF-83DF-2B9C7C7A2C43}"/>
              </a:ext>
            </a:extLst>
          </p:cNvPr>
          <p:cNvSpPr>
            <a:spLocks xmlns:a="http://schemas.openxmlformats.org/drawingml/2006/main" noGrp="1"/>
          </p:cNvSpPr>
          <p:nvPr/>
        </p:nvSpPr>
        <p:spPr>
          <a:xfrm xmlns:a="http://schemas.openxmlformats.org/drawingml/2006/main">
            <a:off x="628650" y="270510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715BF7DA-7CA6-4706-9173-E40A82550C38}"/>
              </a:ext>
            </a:extLst>
          </p:cNvPr>
          <p:cNvSpPr>
            <a:spLocks xmlns:a="http://schemas.openxmlformats.org/drawingml/2006/main" noGrp="1"/>
          </p:cNvSpPr>
          <p:nvPr/>
        </p:nvSpPr>
        <p:spPr>
          <a:xfrm xmlns:a="http://schemas.openxmlformats.org/drawingml/2006/main">
            <a:off x="628650" y="271462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62AB0160-B8BD-41F7-A74A-4874938C95CE}"/>
              </a:ext>
            </a:extLst>
          </p:cNvPr>
          <p:cNvSpPr>
            <a:spLocks xmlns:a="http://schemas.openxmlformats.org/drawingml/2006/main" noGrp="1"/>
          </p:cNvSpPr>
          <p:nvPr/>
        </p:nvSpPr>
        <p:spPr>
          <a:xfrm xmlns:a="http://schemas.openxmlformats.org/drawingml/2006/main">
            <a:off x="819150" y="262890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Baseline uses ordinary FIFO replay submission.</a:t>
            </a:r>
          </a:p>
        </p:txBody>
      </p:sp>
      <p:sp>
        <p:nvSpPr>
          <p:cNvPr id="15" name="">
            <a:extLst xmlns:a="http://schemas.openxmlformats.org/drawingml/2006/main">
              <a:ext uri="{FF2B5EF4-FFF2-40B4-BE49-F238E27FC236}">
                <a16:creationId xmlns:a16="http://schemas.microsoft.com/office/drawing/2014/main" id="{3719C562-68B8-4832-B454-F72F05827600}"/>
              </a:ext>
            </a:extLst>
          </p:cNvPr>
          <p:cNvSpPr>
            <a:spLocks xmlns:a="http://schemas.openxmlformats.org/drawingml/2006/main" noGrp="1"/>
          </p:cNvSpPr>
          <p:nvPr/>
        </p:nvSpPr>
        <p:spPr>
          <a:xfrm xmlns:a="http://schemas.openxmlformats.org/drawingml/2006/main">
            <a:off x="628650" y="3067050"/>
            <a:ext cx="762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A89B4B7F-0FBB-4E67-A596-FE5410E305BF}"/>
              </a:ext>
            </a:extLst>
          </p:cNvPr>
          <p:cNvSpPr>
            <a:spLocks xmlns:a="http://schemas.openxmlformats.org/drawingml/2006/main" noGrp="1"/>
          </p:cNvSpPr>
          <p:nvPr/>
        </p:nvSpPr>
        <p:spPr>
          <a:xfrm xmlns:a="http://schemas.openxmlformats.org/drawingml/2006/main">
            <a:off x="628650" y="3076575"/>
            <a:ext cx="7620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3C777F1D-0431-478F-8DE1-9B0C5D7F4A48}"/>
              </a:ext>
            </a:extLst>
          </p:cNvPr>
          <p:cNvSpPr>
            <a:spLocks xmlns:a="http://schemas.openxmlformats.org/drawingml/2006/main" noGrp="1"/>
          </p:cNvSpPr>
          <p:nvPr/>
        </p:nvSpPr>
        <p:spPr>
          <a:xfrm xmlns:a="http://schemas.openxmlformats.org/drawingml/2006/main">
            <a:off x="819150" y="2990850"/>
            <a:ext cx="414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The controller uses expected tool-return time during tool wait.</a:t>
            </a:r>
          </a:p>
        </p:txBody>
      </p:sp>
      <p:sp>
        <p:nvSpPr>
          <p:cNvPr id="18" name="">
            <a:extLst xmlns:a="http://schemas.openxmlformats.org/drawingml/2006/main">
              <a:ext uri="{FF2B5EF4-FFF2-40B4-BE49-F238E27FC236}">
                <a16:creationId xmlns:a16="http://schemas.microsoft.com/office/drawing/2014/main" id="{3E298373-00CF-4A1C-80CF-0A26A0494E97}"/>
              </a:ext>
            </a:extLst>
          </p:cNvPr>
          <p:cNvSpPr>
            <a:spLocks xmlns:a="http://schemas.openxmlformats.org/drawingml/2006/main" noGrp="1"/>
          </p:cNvSpPr>
          <p:nvPr/>
        </p:nvSpPr>
        <p:spPr>
          <a:xfrm xmlns:a="http://schemas.openxmlformats.org/drawingml/2006/main">
            <a:off x="628650" y="3562350"/>
            <a:ext cx="4333875"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BE4EF"/>
            </a:solidFill>
            <a:prstDash val="solid"/>
          </a:ln>
        </p:spPr>
      </p:sp>
      <p:sp>
        <p:nvSpPr>
          <p:cNvPr id="19" name="">
            <a:extLst xmlns:a="http://schemas.openxmlformats.org/drawingml/2006/main">
              <a:ext uri="{FF2B5EF4-FFF2-40B4-BE49-F238E27FC236}">
                <a16:creationId xmlns:a16="http://schemas.microsoft.com/office/drawing/2014/main" id="{B5C8ED66-46EF-4A27-A0CC-79562C80F8D0}"/>
              </a:ext>
            </a:extLst>
          </p:cNvPr>
          <p:cNvSpPr>
            <a:spLocks xmlns:a="http://schemas.openxmlformats.org/drawingml/2006/main" noGrp="1"/>
          </p:cNvSpPr>
          <p:nvPr/>
        </p:nvSpPr>
        <p:spPr>
          <a:xfrm xmlns:a="http://schemas.openxmlformats.org/drawingml/2006/main">
            <a:off x="838200" y="37528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111827"/>
                </a:solidFill>
                <a:latin typeface="Helvetica Neue"/>
                <a:ea typeface="Helvetica Neue"/>
                <a:cs typeface="Helvetica Neue"/>
              </a:defRPr>
            </a:pPr>
            <a:r>
              <a:rPr sz="1425" b="1">
                <a:solidFill>
                  <a:srgbClr val="111827"/>
                </a:solidFill>
                <a:latin typeface="Helvetica Neue"/>
                <a:ea typeface="Helvetica Neue"/>
                <a:cs typeface="Helvetica Neue"/>
              </a:rPr>
              <a:t>What the controller does</a:t>
            </a:r>
          </a:p>
        </p:txBody>
      </p:sp>
      <p:sp>
        <p:nvSpPr>
          <p:cNvPr id="20" name="">
            <a:extLst xmlns:a="http://schemas.openxmlformats.org/drawingml/2006/main">
              <a:ext uri="{FF2B5EF4-FFF2-40B4-BE49-F238E27FC236}">
                <a16:creationId xmlns:a16="http://schemas.microsoft.com/office/drawing/2014/main" id="{691BAC1A-5074-4B63-AD93-17C6DA4B9B6C}"/>
              </a:ext>
            </a:extLst>
          </p:cNvPr>
          <p:cNvSpPr>
            <a:spLocks xmlns:a="http://schemas.openxmlformats.org/drawingml/2006/main" noGrp="1"/>
          </p:cNvSpPr>
          <p:nvPr/>
        </p:nvSpPr>
        <p:spPr>
          <a:xfrm xmlns:a="http://schemas.openxmlformats.org/drawingml/2006/main">
            <a:off x="838200" y="40767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It gives the soonest-due replay the highest priority, applies that order before SGLang through the local submission gate, then passes the same priority into SGLang scheduling.</a:t>
            </a:r>
          </a:p>
        </p:txBody>
      </p:sp>
      <p:sp>
        <p:nvSpPr>
          <p:cNvPr id="21" name="">
            <a:extLst xmlns:a="http://schemas.openxmlformats.org/drawingml/2006/main">
              <a:ext uri="{FF2B5EF4-FFF2-40B4-BE49-F238E27FC236}">
                <a16:creationId xmlns:a16="http://schemas.microsoft.com/office/drawing/2014/main" id="{7CDD72EA-B83B-4501-82BC-EE78FAED04A3}"/>
              </a:ext>
            </a:extLst>
          </p:cNvPr>
          <p:cNvSpPr>
            <a:spLocks xmlns:a="http://schemas.openxmlformats.org/drawingml/2006/main" noGrp="1"/>
          </p:cNvSpPr>
          <p:nvPr/>
        </p:nvSpPr>
        <p:spPr>
          <a:xfrm xmlns:a="http://schemas.openxmlformats.org/drawingml/2006/main">
            <a:off x="5619750" y="1524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Results across all replay requests</a:t>
            </a:r>
          </a:p>
        </p:txBody>
      </p:sp>
      <p:sp>
        <p:nvSpPr>
          <p:cNvPr id="22" name="">
            <a:extLst xmlns:a="http://schemas.openxmlformats.org/drawingml/2006/main">
              <a:ext uri="{FF2B5EF4-FFF2-40B4-BE49-F238E27FC236}">
                <a16:creationId xmlns:a16="http://schemas.microsoft.com/office/drawing/2014/main" id="{1510F3AC-D561-4257-BA38-C62BC76323C6}"/>
              </a:ext>
            </a:extLst>
          </p:cNvPr>
          <p:cNvSpPr>
            <a:spLocks xmlns:a="http://schemas.openxmlformats.org/drawingml/2006/main" noGrp="1"/>
          </p:cNvSpPr>
          <p:nvPr/>
        </p:nvSpPr>
        <p:spPr>
          <a:xfrm xmlns:a="http://schemas.openxmlformats.org/drawingml/2006/main">
            <a:off x="5619750" y="1828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Latest clear-win run: deadline_predictive_queue_submitprio_20260916_221604</a:t>
            </a:r>
          </a:p>
        </p:txBody>
      </p:sp>
      <p:sp>
        <p:nvSpPr>
          <p:cNvPr id="23" name="">
            <a:extLst xmlns:a="http://schemas.openxmlformats.org/drawingml/2006/main">
              <a:ext uri="{FF2B5EF4-FFF2-40B4-BE49-F238E27FC236}">
                <a16:creationId xmlns:a16="http://schemas.microsoft.com/office/drawing/2014/main" id="{7D40B9DA-8032-4CDC-A2AB-9FD9A398E5EA}"/>
              </a:ext>
            </a:extLst>
          </p:cNvPr>
          <p:cNvSpPr>
            <a:spLocks xmlns:a="http://schemas.openxmlformats.org/drawingml/2006/main" noGrp="1"/>
          </p:cNvSpPr>
          <p:nvPr/>
        </p:nvSpPr>
        <p:spPr>
          <a:xfrm xmlns:a="http://schemas.openxmlformats.org/drawingml/2006/main">
            <a:off x="56197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4" name="">
            <a:extLst xmlns:a="http://schemas.openxmlformats.org/drawingml/2006/main">
              <a:ext uri="{FF2B5EF4-FFF2-40B4-BE49-F238E27FC236}">
                <a16:creationId xmlns:a16="http://schemas.microsoft.com/office/drawing/2014/main" id="{AA8CB5E8-29B3-4489-9BF2-4EE035BE9871}"/>
              </a:ext>
            </a:extLst>
          </p:cNvPr>
          <p:cNvSpPr>
            <a:spLocks xmlns:a="http://schemas.openxmlformats.org/drawingml/2006/main" noGrp="1"/>
          </p:cNvSpPr>
          <p:nvPr/>
        </p:nvSpPr>
        <p:spPr>
          <a:xfrm xmlns:a="http://schemas.openxmlformats.org/drawingml/2006/main">
            <a:off x="57721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TTFT</a:t>
            </a:r>
          </a:p>
        </p:txBody>
      </p:sp>
      <p:sp>
        <p:nvSpPr>
          <p:cNvPr id="25" name="">
            <a:extLst xmlns:a="http://schemas.openxmlformats.org/drawingml/2006/main">
              <a:ext uri="{FF2B5EF4-FFF2-40B4-BE49-F238E27FC236}">
                <a16:creationId xmlns:a16="http://schemas.microsoft.com/office/drawing/2014/main" id="{969CC49A-7E48-4B94-A89B-1CD95576A4E7}"/>
              </a:ext>
            </a:extLst>
          </p:cNvPr>
          <p:cNvSpPr>
            <a:spLocks xmlns:a="http://schemas.openxmlformats.org/drawingml/2006/main" noGrp="1"/>
          </p:cNvSpPr>
          <p:nvPr/>
        </p:nvSpPr>
        <p:spPr>
          <a:xfrm xmlns:a="http://schemas.openxmlformats.org/drawingml/2006/main">
            <a:off x="57721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15.1% better</a:t>
            </a:r>
          </a:p>
        </p:txBody>
      </p:sp>
      <p:sp>
        <p:nvSpPr>
          <p:cNvPr id="26" name="">
            <a:extLst xmlns:a="http://schemas.openxmlformats.org/drawingml/2006/main">
              <a:ext uri="{FF2B5EF4-FFF2-40B4-BE49-F238E27FC236}">
                <a16:creationId xmlns:a16="http://schemas.microsoft.com/office/drawing/2014/main" id="{EB73200D-915C-46B0-84B1-8431FBA5E797}"/>
              </a:ext>
            </a:extLst>
          </p:cNvPr>
          <p:cNvSpPr>
            <a:spLocks xmlns:a="http://schemas.openxmlformats.org/drawingml/2006/main" noGrp="1"/>
          </p:cNvSpPr>
          <p:nvPr/>
        </p:nvSpPr>
        <p:spPr>
          <a:xfrm xmlns:a="http://schemas.openxmlformats.org/drawingml/2006/main">
            <a:off x="57721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101.5 s to 86.2 s</a:t>
            </a:r>
          </a:p>
        </p:txBody>
      </p:sp>
      <p:sp>
        <p:nvSpPr>
          <p:cNvPr id="27" name="">
            <a:extLst xmlns:a="http://schemas.openxmlformats.org/drawingml/2006/main">
              <a:ext uri="{FF2B5EF4-FFF2-40B4-BE49-F238E27FC236}">
                <a16:creationId xmlns:a16="http://schemas.microsoft.com/office/drawing/2014/main" id="{37A6CA1B-088B-4682-88CF-137AD2D22CEA}"/>
              </a:ext>
            </a:extLst>
          </p:cNvPr>
          <p:cNvSpPr>
            <a:spLocks xmlns:a="http://schemas.openxmlformats.org/drawingml/2006/main" noGrp="1"/>
          </p:cNvSpPr>
          <p:nvPr/>
        </p:nvSpPr>
        <p:spPr>
          <a:xfrm xmlns:a="http://schemas.openxmlformats.org/drawingml/2006/main">
            <a:off x="8401050" y="2171700"/>
            <a:ext cx="2571750" cy="876300"/>
          </a:xfrm>
          <a:prstGeom xmlns:a="http://schemas.openxmlformats.org/drawingml/2006/main" prst="rect">
            <a:avLst/>
          </a:prstGeom>
          <a:solidFill xmlns:a="http://schemas.openxmlformats.org/drawingml/2006/main">
            <a:srgbClr val="EFF6FF"/>
          </a:solidFill>
          <a:ln xmlns:a="http://schemas.openxmlformats.org/drawingml/2006/main" w="9525">
            <a:solidFill>
              <a:srgbClr val="DBE4EF"/>
            </a:solidFill>
            <a:prstDash val="solid"/>
          </a:ln>
        </p:spPr>
      </p:sp>
      <p:sp>
        <p:nvSpPr>
          <p:cNvPr id="28" name="">
            <a:extLst xmlns:a="http://schemas.openxmlformats.org/drawingml/2006/main">
              <a:ext uri="{FF2B5EF4-FFF2-40B4-BE49-F238E27FC236}">
                <a16:creationId xmlns:a16="http://schemas.microsoft.com/office/drawing/2014/main" id="{9ED03FE3-3CD2-45BA-B2C1-75AE5A5CD4B8}"/>
              </a:ext>
            </a:extLst>
          </p:cNvPr>
          <p:cNvSpPr>
            <a:spLocks xmlns:a="http://schemas.openxmlformats.org/drawingml/2006/main" noGrp="1"/>
          </p:cNvSpPr>
          <p:nvPr/>
        </p:nvSpPr>
        <p:spPr>
          <a:xfrm xmlns:a="http://schemas.openxmlformats.org/drawingml/2006/main">
            <a:off x="8553450" y="23050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Avg TTFT per request</a:t>
            </a:r>
          </a:p>
        </p:txBody>
      </p:sp>
      <p:sp>
        <p:nvSpPr>
          <p:cNvPr id="29" name="">
            <a:extLst xmlns:a="http://schemas.openxmlformats.org/drawingml/2006/main">
              <a:ext uri="{FF2B5EF4-FFF2-40B4-BE49-F238E27FC236}">
                <a16:creationId xmlns:a16="http://schemas.microsoft.com/office/drawing/2014/main" id="{63AAF044-E0E8-4793-BF9B-CC2D8BEF019B}"/>
              </a:ext>
            </a:extLst>
          </p:cNvPr>
          <p:cNvSpPr>
            <a:spLocks xmlns:a="http://schemas.openxmlformats.org/drawingml/2006/main" noGrp="1"/>
          </p:cNvSpPr>
          <p:nvPr/>
        </p:nvSpPr>
        <p:spPr>
          <a:xfrm xmlns:a="http://schemas.openxmlformats.org/drawingml/2006/main">
            <a:off x="8553450" y="25336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0.5 s faster</a:t>
            </a:r>
          </a:p>
        </p:txBody>
      </p:sp>
      <p:sp>
        <p:nvSpPr>
          <p:cNvPr id="30" name="">
            <a:extLst xmlns:a="http://schemas.openxmlformats.org/drawingml/2006/main">
              <a:ext uri="{FF2B5EF4-FFF2-40B4-BE49-F238E27FC236}">
                <a16:creationId xmlns:a16="http://schemas.microsoft.com/office/drawing/2014/main" id="{C93F29E4-89CE-435E-9926-212EB8A1C2F1}"/>
              </a:ext>
            </a:extLst>
          </p:cNvPr>
          <p:cNvSpPr>
            <a:spLocks xmlns:a="http://schemas.openxmlformats.org/drawingml/2006/main" noGrp="1"/>
          </p:cNvSpPr>
          <p:nvPr/>
        </p:nvSpPr>
        <p:spPr>
          <a:xfrm xmlns:a="http://schemas.openxmlformats.org/drawingml/2006/main">
            <a:off x="8553450" y="28194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3.2 s to 2.7 s</a:t>
            </a:r>
          </a:p>
        </p:txBody>
      </p:sp>
      <p:sp>
        <p:nvSpPr>
          <p:cNvPr id="31" name="">
            <a:extLst xmlns:a="http://schemas.openxmlformats.org/drawingml/2006/main">
              <a:ext uri="{FF2B5EF4-FFF2-40B4-BE49-F238E27FC236}">
                <a16:creationId xmlns:a16="http://schemas.microsoft.com/office/drawing/2014/main" id="{B66E5463-6956-44D7-9E36-537BF16637D9}"/>
              </a:ext>
            </a:extLst>
          </p:cNvPr>
          <p:cNvSpPr>
            <a:spLocks xmlns:a="http://schemas.openxmlformats.org/drawingml/2006/main" noGrp="1"/>
          </p:cNvSpPr>
          <p:nvPr/>
        </p:nvSpPr>
        <p:spPr>
          <a:xfrm xmlns:a="http://schemas.openxmlformats.org/drawingml/2006/main">
            <a:off x="56197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2" name="">
            <a:extLst xmlns:a="http://schemas.openxmlformats.org/drawingml/2006/main">
              <a:ext uri="{FF2B5EF4-FFF2-40B4-BE49-F238E27FC236}">
                <a16:creationId xmlns:a16="http://schemas.microsoft.com/office/drawing/2014/main" id="{05BA5B9C-A9D6-454B-BE77-713486301783}"/>
              </a:ext>
            </a:extLst>
          </p:cNvPr>
          <p:cNvSpPr>
            <a:spLocks xmlns:a="http://schemas.openxmlformats.org/drawingml/2006/main" noGrp="1"/>
          </p:cNvSpPr>
          <p:nvPr/>
        </p:nvSpPr>
        <p:spPr>
          <a:xfrm xmlns:a="http://schemas.openxmlformats.org/drawingml/2006/main">
            <a:off x="57721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Total lateness</a:t>
            </a:r>
          </a:p>
        </p:txBody>
      </p:sp>
      <p:sp>
        <p:nvSpPr>
          <p:cNvPr id="33" name="">
            <a:extLst xmlns:a="http://schemas.openxmlformats.org/drawingml/2006/main">
              <a:ext uri="{FF2B5EF4-FFF2-40B4-BE49-F238E27FC236}">
                <a16:creationId xmlns:a16="http://schemas.microsoft.com/office/drawing/2014/main" id="{4F06F1D1-02CB-4943-B077-F4A840DBEF67}"/>
              </a:ext>
            </a:extLst>
          </p:cNvPr>
          <p:cNvSpPr>
            <a:spLocks xmlns:a="http://schemas.openxmlformats.org/drawingml/2006/main" noGrp="1"/>
          </p:cNvSpPr>
          <p:nvPr/>
        </p:nvSpPr>
        <p:spPr>
          <a:xfrm xmlns:a="http://schemas.openxmlformats.org/drawingml/2006/main">
            <a:off x="57721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22.1% better</a:t>
            </a:r>
          </a:p>
        </p:txBody>
      </p:sp>
      <p:sp>
        <p:nvSpPr>
          <p:cNvPr id="34" name="">
            <a:extLst xmlns:a="http://schemas.openxmlformats.org/drawingml/2006/main">
              <a:ext uri="{FF2B5EF4-FFF2-40B4-BE49-F238E27FC236}">
                <a16:creationId xmlns:a16="http://schemas.microsoft.com/office/drawing/2014/main" id="{18A4D729-5FE3-4E33-B630-D790A40FB1E2}"/>
              </a:ext>
            </a:extLst>
          </p:cNvPr>
          <p:cNvSpPr>
            <a:spLocks xmlns:a="http://schemas.openxmlformats.org/drawingml/2006/main" noGrp="1"/>
          </p:cNvSpPr>
          <p:nvPr/>
        </p:nvSpPr>
        <p:spPr>
          <a:xfrm xmlns:a="http://schemas.openxmlformats.org/drawingml/2006/main">
            <a:off x="57721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278.7 s to 217.1 s</a:t>
            </a:r>
          </a:p>
        </p:txBody>
      </p:sp>
      <p:sp>
        <p:nvSpPr>
          <p:cNvPr id="35" name="">
            <a:extLst xmlns:a="http://schemas.openxmlformats.org/drawingml/2006/main">
              <a:ext uri="{FF2B5EF4-FFF2-40B4-BE49-F238E27FC236}">
                <a16:creationId xmlns:a16="http://schemas.microsoft.com/office/drawing/2014/main" id="{F6EC3C90-88C7-41FE-BEC8-648C11AA589B}"/>
              </a:ext>
            </a:extLst>
          </p:cNvPr>
          <p:cNvSpPr>
            <a:spLocks xmlns:a="http://schemas.openxmlformats.org/drawingml/2006/main" noGrp="1"/>
          </p:cNvSpPr>
          <p:nvPr/>
        </p:nvSpPr>
        <p:spPr>
          <a:xfrm xmlns:a="http://schemas.openxmlformats.org/drawingml/2006/main">
            <a:off x="8401050" y="3238500"/>
            <a:ext cx="2571750" cy="876300"/>
          </a:xfrm>
          <a:prstGeom xmlns:a="http://schemas.openxmlformats.org/drawingml/2006/main" prst="rect">
            <a:avLst/>
          </a:prstGeom>
          <a:solidFill xmlns:a="http://schemas.openxmlformats.org/drawingml/2006/main">
            <a:srgbClr val="ECFDF5"/>
          </a:solidFill>
          <a:ln xmlns:a="http://schemas.openxmlformats.org/drawingml/2006/main" w="9525">
            <a:solidFill>
              <a:srgbClr val="DBE4EF"/>
            </a:solidFill>
            <a:prstDash val="solid"/>
          </a:ln>
        </p:spPr>
      </p:sp>
      <p:sp>
        <p:nvSpPr>
          <p:cNvPr id="36" name="">
            <a:extLst xmlns:a="http://schemas.openxmlformats.org/drawingml/2006/main">
              <a:ext uri="{FF2B5EF4-FFF2-40B4-BE49-F238E27FC236}">
                <a16:creationId xmlns:a16="http://schemas.microsoft.com/office/drawing/2014/main" id="{2140129C-CDC3-4E59-A8E7-38AAA290FC51}"/>
              </a:ext>
            </a:extLst>
          </p:cNvPr>
          <p:cNvSpPr>
            <a:spLocks xmlns:a="http://schemas.openxmlformats.org/drawingml/2006/main" noGrp="1"/>
          </p:cNvSpPr>
          <p:nvPr/>
        </p:nvSpPr>
        <p:spPr>
          <a:xfrm xmlns:a="http://schemas.openxmlformats.org/drawingml/2006/main">
            <a:off x="8553450" y="3371850"/>
            <a:ext cx="2266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P95 lateness</a:t>
            </a:r>
          </a:p>
        </p:txBody>
      </p:sp>
      <p:sp>
        <p:nvSpPr>
          <p:cNvPr id="37" name="">
            <a:extLst xmlns:a="http://schemas.openxmlformats.org/drawingml/2006/main">
              <a:ext uri="{FF2B5EF4-FFF2-40B4-BE49-F238E27FC236}">
                <a16:creationId xmlns:a16="http://schemas.microsoft.com/office/drawing/2014/main" id="{C4FB1940-1398-4E65-A81E-6DDFDDA85D77}"/>
              </a:ext>
            </a:extLst>
          </p:cNvPr>
          <p:cNvSpPr>
            <a:spLocks xmlns:a="http://schemas.openxmlformats.org/drawingml/2006/main" noGrp="1"/>
          </p:cNvSpPr>
          <p:nvPr/>
        </p:nvSpPr>
        <p:spPr>
          <a:xfrm xmlns:a="http://schemas.openxmlformats.org/drawingml/2006/main">
            <a:off x="8553450" y="360045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59669"/>
                </a:solidFill>
                <a:latin typeface="Helvetica Neue"/>
                <a:ea typeface="Helvetica Neue"/>
                <a:cs typeface="Helvetica Neue"/>
              </a:defRPr>
            </a:pPr>
            <a:r>
              <a:rPr sz="1800" b="1">
                <a:solidFill>
                  <a:srgbClr val="059669"/>
                </a:solidFill>
                <a:latin typeface="Helvetica Neue"/>
                <a:ea typeface="Helvetica Neue"/>
                <a:cs typeface="Helvetica Neue"/>
              </a:rPr>
              <a:t>37.6% better</a:t>
            </a:r>
          </a:p>
        </p:txBody>
      </p:sp>
      <p:sp>
        <p:nvSpPr>
          <p:cNvPr id="38" name="">
            <a:extLst xmlns:a="http://schemas.openxmlformats.org/drawingml/2006/main">
              <a:ext uri="{FF2B5EF4-FFF2-40B4-BE49-F238E27FC236}">
                <a16:creationId xmlns:a16="http://schemas.microsoft.com/office/drawing/2014/main" id="{FC8E534D-A9C8-4CE0-A3E6-9534DD3BBDC1}"/>
              </a:ext>
            </a:extLst>
          </p:cNvPr>
          <p:cNvSpPr>
            <a:spLocks xmlns:a="http://schemas.openxmlformats.org/drawingml/2006/main" noGrp="1"/>
          </p:cNvSpPr>
          <p:nvPr/>
        </p:nvSpPr>
        <p:spPr>
          <a:xfrm xmlns:a="http://schemas.openxmlformats.org/drawingml/2006/main">
            <a:off x="8553450" y="3886200"/>
            <a:ext cx="2266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31.3 s to 19.5 s</a:t>
            </a:r>
          </a:p>
        </p:txBody>
      </p:sp>
      <p:sp>
        <p:nvSpPr>
          <p:cNvPr id="39" name="">
            <a:extLst xmlns:a="http://schemas.openxmlformats.org/drawingml/2006/main">
              <a:ext uri="{FF2B5EF4-FFF2-40B4-BE49-F238E27FC236}">
                <a16:creationId xmlns:a16="http://schemas.microsoft.com/office/drawing/2014/main" id="{A5E1DC61-027C-4D3E-9D24-062805A4594E}"/>
              </a:ext>
            </a:extLst>
          </p:cNvPr>
          <p:cNvSpPr>
            <a:spLocks xmlns:a="http://schemas.openxmlformats.org/drawingml/2006/main" noGrp="1"/>
          </p:cNvSpPr>
          <p:nvPr/>
        </p:nvSpPr>
        <p:spPr>
          <a:xfrm xmlns:a="http://schemas.openxmlformats.org/drawingml/2006/main">
            <a:off x="5619750" y="4305300"/>
            <a:ext cx="5353050" cy="876300"/>
          </a:xfrm>
          <a:prstGeom xmlns:a="http://schemas.openxmlformats.org/drawingml/2006/main" prst="rect">
            <a:avLst/>
          </a:prstGeom>
          <a:solidFill xmlns:a="http://schemas.openxmlformats.org/drawingml/2006/main">
            <a:srgbClr val="FFF7ED"/>
          </a:solidFill>
          <a:ln xmlns:a="http://schemas.openxmlformats.org/drawingml/2006/main" w="9525">
            <a:solidFill>
              <a:srgbClr val="DBE4EF"/>
            </a:solidFill>
            <a:prstDash val="solid"/>
          </a:ln>
        </p:spPr>
      </p:sp>
      <p:sp>
        <p:nvSpPr>
          <p:cNvPr id="40" name="">
            <a:extLst xmlns:a="http://schemas.openxmlformats.org/drawingml/2006/main">
              <a:ext uri="{FF2B5EF4-FFF2-40B4-BE49-F238E27FC236}">
                <a16:creationId xmlns:a16="http://schemas.microsoft.com/office/drawing/2014/main" id="{D385D59B-C82A-4D57-A241-676FA0596250}"/>
              </a:ext>
            </a:extLst>
          </p:cNvPr>
          <p:cNvSpPr>
            <a:spLocks xmlns:a="http://schemas.openxmlformats.org/drawingml/2006/main" noGrp="1"/>
          </p:cNvSpPr>
          <p:nvPr/>
        </p:nvSpPr>
        <p:spPr>
          <a:xfrm xmlns:a="http://schemas.openxmlformats.org/drawingml/2006/main">
            <a:off x="5772150" y="4438650"/>
            <a:ext cx="504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Trade-off</a:t>
            </a:r>
          </a:p>
        </p:txBody>
      </p:sp>
      <p:sp>
        <p:nvSpPr>
          <p:cNvPr id="41" name="">
            <a:extLst xmlns:a="http://schemas.openxmlformats.org/drawingml/2006/main">
              <a:ext uri="{FF2B5EF4-FFF2-40B4-BE49-F238E27FC236}">
                <a16:creationId xmlns:a16="http://schemas.microsoft.com/office/drawing/2014/main" id="{6773CDD0-8A45-49C8-B196-56A8E36D63D2}"/>
              </a:ext>
            </a:extLst>
          </p:cNvPr>
          <p:cNvSpPr>
            <a:spLocks xmlns:a="http://schemas.openxmlformats.org/drawingml/2006/main" noGrp="1"/>
          </p:cNvSpPr>
          <p:nvPr/>
        </p:nvSpPr>
        <p:spPr>
          <a:xfrm xmlns:a="http://schemas.openxmlformats.org/drawingml/2006/main">
            <a:off x="5772150" y="466725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B45309"/>
                </a:solidFill>
                <a:latin typeface="Helvetica Neue"/>
                <a:ea typeface="Helvetica Neue"/>
                <a:cs typeface="Helvetica Neue"/>
              </a:defRPr>
            </a:pPr>
            <a:r>
              <a:rPr sz="1800" b="1">
                <a:solidFill>
                  <a:srgbClr val="B45309"/>
                </a:solidFill>
                <a:latin typeface="Helvetica Neue"/>
                <a:ea typeface="Helvetica Neue"/>
                <a:cs typeface="Helvetica Neue"/>
              </a:rPr>
              <a:t>23.0 s longer</a:t>
            </a:r>
          </a:p>
        </p:txBody>
      </p:sp>
      <p:sp>
        <p:nvSpPr>
          <p:cNvPr id="42" name="">
            <a:extLst xmlns:a="http://schemas.openxmlformats.org/drawingml/2006/main">
              <a:ext uri="{FF2B5EF4-FFF2-40B4-BE49-F238E27FC236}">
                <a16:creationId xmlns:a16="http://schemas.microsoft.com/office/drawing/2014/main" id="{6AC6365F-7587-4FD5-AB30-05F39066262E}"/>
              </a:ext>
            </a:extLst>
          </p:cNvPr>
          <p:cNvSpPr>
            <a:spLocks xmlns:a="http://schemas.openxmlformats.org/drawingml/2006/main" noGrp="1"/>
          </p:cNvSpPr>
          <p:nvPr/>
        </p:nvSpPr>
        <p:spPr>
          <a:xfrm xmlns:a="http://schemas.openxmlformats.org/drawingml/2006/main">
            <a:off x="5772150" y="4953000"/>
            <a:ext cx="504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334155"/>
                </a:solidFill>
                <a:latin typeface="Helvetica Neue"/>
                <a:ea typeface="Helvetica Neue"/>
                <a:cs typeface="Helvetica Neue"/>
              </a:defRPr>
            </a:pPr>
            <a:r>
              <a:rPr sz="975" b="0">
                <a:solidFill>
                  <a:srgbClr val="334155"/>
                </a:solidFill>
                <a:latin typeface="Helvetica Neue"/>
                <a:ea typeface="Helvetica Neue"/>
                <a:cs typeface="Helvetica Neue"/>
              </a:rPr>
              <a:t>Workload window: 234.7 s to 257.7 s</a:t>
            </a:r>
          </a:p>
        </p:txBody>
      </p:sp>
      <p:sp>
        <p:nvSpPr>
          <p:cNvPr id="43" name="">
            <a:extLst xmlns:a="http://schemas.openxmlformats.org/drawingml/2006/main">
              <a:ext uri="{FF2B5EF4-FFF2-40B4-BE49-F238E27FC236}">
                <a16:creationId xmlns:a16="http://schemas.microsoft.com/office/drawing/2014/main" id="{9D75B10D-B620-4F5C-933A-3562989DA955}"/>
              </a:ext>
            </a:extLst>
          </p:cNvPr>
          <p:cNvSpPr>
            <a:spLocks xmlns:a="http://schemas.openxmlformats.org/drawingml/2006/main" noGrp="1"/>
          </p:cNvSpPr>
          <p:nvPr/>
        </p:nvSpPr>
        <p:spPr>
          <a:xfrm xmlns:a="http://schemas.openxmlformats.org/drawingml/2006/main">
            <a:off x="533400" y="5524500"/>
            <a:ext cx="11125200" cy="13335"/>
          </a:xfrm>
          <a:prstGeom xmlns:a="http://schemas.openxmlformats.org/drawingml/2006/main" prst="rect">
            <a:avLst/>
          </a:prstGeom>
          <a:solidFill xmlns:a="http://schemas.openxmlformats.org/drawingml/2006/main">
            <a:srgbClr val="D7DEE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C4C8873-7146-4457-BBE6-DAE1D27E7CE9}"/>
              </a:ext>
            </a:extLst>
          </p:cNvPr>
          <p:cNvSpPr>
            <a:spLocks xmlns:a="http://schemas.openxmlformats.org/drawingml/2006/main" noGrp="1"/>
          </p:cNvSpPr>
          <p:nvPr/>
        </p:nvSpPr>
        <p:spPr>
          <a:xfrm xmlns:a="http://schemas.openxmlformats.org/drawingml/2006/main">
            <a:off x="628650" y="579120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Takeaway</a:t>
            </a:r>
          </a:p>
        </p:txBody>
      </p:sp>
      <p:sp>
        <p:nvSpPr>
          <p:cNvPr id="45" name="">
            <a:extLst xmlns:a="http://schemas.openxmlformats.org/drawingml/2006/main">
              <a:ext uri="{FF2B5EF4-FFF2-40B4-BE49-F238E27FC236}">
                <a16:creationId xmlns:a16="http://schemas.microsoft.com/office/drawing/2014/main" id="{5AA24259-2F18-4CCE-ACFA-55B191560638}"/>
              </a:ext>
            </a:extLst>
          </p:cNvPr>
          <p:cNvSpPr>
            <a:spLocks xmlns:a="http://schemas.openxmlformats.org/drawingml/2006/main" noGrp="1"/>
          </p:cNvSpPr>
          <p:nvPr/>
        </p:nvSpPr>
        <p:spPr>
          <a:xfrm xmlns:a="http://schemas.openxmlformats.org/drawingml/2006/main">
            <a:off x="1962150" y="57912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Harness-aware scheduling reduced replay delay across the full workload, not just one target request.</a:t>
            </a:r>
          </a:p>
        </p:txBody>
      </p:sp>
      <p:sp>
        <p:nvSpPr>
          <p:cNvPr id="46" name="">
            <a:extLst xmlns:a="http://schemas.openxmlformats.org/drawingml/2006/main">
              <a:ext uri="{FF2B5EF4-FFF2-40B4-BE49-F238E27FC236}">
                <a16:creationId xmlns:a16="http://schemas.microsoft.com/office/drawing/2014/main" id="{367F39A6-9895-461F-BFBB-54B384575CA0}"/>
              </a:ext>
            </a:extLst>
          </p:cNvPr>
          <p:cNvSpPr>
            <a:spLocks xmlns:a="http://schemas.openxmlformats.org/drawingml/2006/main" noGrp="1"/>
          </p:cNvSpPr>
          <p:nvPr/>
        </p:nvSpPr>
        <p:spPr>
          <a:xfrm xmlns:a="http://schemas.openxmlformats.org/drawingml/2006/main">
            <a:off x="552450" y="64198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Source: harness_aware_scenario_tracker.html</a:t>
            </a:r>
          </a:p>
        </p:txBody>
      </p:sp>
    </p:spTree>
    <p:extLst>
      <p:ext uri="{BB962C8B-B14F-4D97-AF65-F5344CB8AC3E}">
        <p14:creationId xmlns:p14="http://schemas.microsoft.com/office/powerpoint/2010/main" val="1536098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2026-09-17T17:36:37.0990000Z</dcterms:created>
  <dcterms:modified xsi:type="dcterms:W3CDTF">2026-09-17T17:36:37.0990000Z</dcterms:modified>
</coreProperties>
</file>