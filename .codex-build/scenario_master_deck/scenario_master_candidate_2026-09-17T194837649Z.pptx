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7a357dd1bb4345" /><Relationship Type="http://schemas.openxmlformats.org/officeDocument/2006/relationships/extended-properties" Target="/docProps/app.xml" Id="Rd500c07a3ae14e42" /><Relationship Type="http://schemas.openxmlformats.org/officeDocument/2006/relationships/officeDocument" Target="/ppt/presentation.xml" Id="Rfa895bebf4554746" /></Relationships>
</file>

<file path=ppt/presentation.xml><?xml version="1.0" encoding="utf-8"?>
<p:presentation xmlns:p="http://schemas.openxmlformats.org/presentationml/2006/main">
  <p:sldMasterIdLst>
    <p:sldMasterId xmlns:r="http://schemas.openxmlformats.org/officeDocument/2006/relationships" id="2147483648" r:id="R1846000c1a06466b"/>
  </p:sldMasterIdLst>
  <p:notesMasterIdLst>
    <p:notesMasterId xmlns:r="http://schemas.openxmlformats.org/officeDocument/2006/relationships" r:id="R52a0847507394216"/>
  </p:notesMasterIdLst>
  <p:sldIdLst>
    <p:sldId xmlns:r="http://schemas.openxmlformats.org/officeDocument/2006/relationships" id="256" r:id="Rb74155c8cbdb46ef"/>
    <p:sldId xmlns:r="http://schemas.openxmlformats.org/officeDocument/2006/relationships" id="257" r:id="R138d1589c912440e"/>
    <p:sldId xmlns:r="http://schemas.openxmlformats.org/officeDocument/2006/relationships" id="258" r:id="R0f814b2aa5f945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b872d58de446cb" /><Relationship Type="http://schemas.openxmlformats.org/officeDocument/2006/relationships/slideMaster" Target="/ppt/slideMasters/slideMaster1.xml" Id="R1846000c1a06466b" /><Relationship Type="http://schemas.openxmlformats.org/officeDocument/2006/relationships/notesMaster" Target="/ppt/notesMasters/notesMaster1.xml" Id="R52a0847507394216" /><Relationship Type="http://schemas.openxmlformats.org/officeDocument/2006/relationships/presProps" Target="/ppt/presProps.xml" Id="Rc9c8e9d8f68c4e03" /><Relationship Type="http://schemas.openxmlformats.org/officeDocument/2006/relationships/tableStyles" Target="/ppt/tableStyles.xml" Id="Rcd86209afe2b4710" /><Relationship Type="http://schemas.openxmlformats.org/officeDocument/2006/relationships/slide" Target="/ppt/slides/slide1.xml" Id="Rb74155c8cbdb46ef" /><Relationship Type="http://schemas.openxmlformats.org/officeDocument/2006/relationships/slide" Target="/ppt/slides/slide2.xml" Id="R138d1589c912440e" /><Relationship Type="http://schemas.openxmlformats.org/officeDocument/2006/relationships/slide" Target="/ppt/slides/slide3.xml" Id="R0f814b2aa5f945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f254db458145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5e269f2a334a56" /><Relationship Type="http://schemas.openxmlformats.org/officeDocument/2006/relationships/notesMaster" Target="/ppt/notesMasters/notesMaster1.xml" Id="Rfeef332ae01f46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1fecd15aa44242" /><Relationship Type="http://schemas.openxmlformats.org/officeDocument/2006/relationships/notesMaster" Target="/ppt/notesMasters/notesMaster1.xml" Id="R9eb88c4e5fad44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77320dc8de4ee0" /><Relationship Type="http://schemas.openxmlformats.org/officeDocument/2006/relationships/notesMaster" Target="/ppt/notesMasters/notesMaster1.xml" Id="Rbeef1cf717e144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submits replay work in arrival order. Controller mode estimates expected replay timing during tool wait, then releases ready replay requests in deadline order before they enter SGLang. The request payload stays the same; only the release sequence changes.</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112.2 s to 74.4 s, or 33.7%. Average TTFT improved from 3.5 s to 2.3 s per replay request. Total lateness improved from 287.3 s to 213.6 s, or 25.7%. Average replay lateness improved from 9.0 s to 6.7 s. P95 lateness improved from 30.0 s to 18.2 s, or 39.4%. Max lateness improved from 31.6 s to 19.7 s, or 38.0%. Trade-off: full workload window increased from 37.1 s to 42.0 s, or 5.0 s longer.</a:t>
            </a:r>
          </a:p>
          <a:p xmlns:a="http://schemas.openxmlformats.org/drawingml/2006/main">
            <a:r>
              <a:t/>
            </a:r>
          </a:p>
          <a:p xmlns:a="http://schemas.openxmlformats.org/drawingml/2006/main">
            <a:r>
              <a:t>Mechanism evidence: early priorities assigned 32 / 32 replay requests, SGLang priority rows 32 / 32, local submission priority 32 / 32. Tool-wait buckets were 7 very short, 8 short, 14 medium, and 3 long. Replay friction deep dive was trace-rich for 64 / 64 rows. Controller average scheduler friction was 2.6 versus baseline 2.7, and controller average memory friction was 2.7 versus baseline 2.8. The main remaining issue was mixed scheduler and memory friction.</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2 source: harness_aware_scenario_tracker.html.</a:t>
            </a:r>
          </a:p>
          <a:p xmlns:a="http://schemas.openxmlformats.org/drawingml/2006/main">
            <a:r>
              <a:t/>
            </a:r>
          </a:p>
          <a:p xmlns:a="http://schemas.openxmlformats.org/drawingml/2006/main">
            <a:r>
              <a:t>Setup: same 32 replay requests in both modes using the same generated timeline. Each replay session has its own session_id and prefix_id. Baseline waits until replay arrives. Controller mode uses ETA, reuse probability, and recompute cost during tool wait, then requests SGLang-side KV preparation only when the window is safe enough for the load to finish before replay.</a:t>
            </a:r>
          </a:p>
          <a:p xmlns:a="http://schemas.openxmlformats.org/drawingml/2006/main">
            <a:r>
              <a:t/>
            </a:r>
          </a:p>
          <a:p xmlns:a="http://schemas.openxmlformats.org/drawingml/2006/main">
            <a:r>
              <a:t>Run: proactive_kv_management_selective_admission_20260917_062007 compared no_prefetch against controller_proactive_kv_management.</a:t>
            </a:r>
          </a:p>
          <a:p xmlns:a="http://schemas.openxmlformats.org/drawingml/2006/main">
            <a:r>
              <a:t/>
            </a:r>
          </a:p>
          <a:p xmlns:a="http://schemas.openxmlformats.org/drawingml/2006/main">
            <a:r>
              <a:t>Results: Total TTFT improved from 123.1 s to 116.5 s, or 5.3%. Average replay TTFT improved from 3.8 s to 3.6 s. Total lateness improved from 123.4 s to 116.9 s, or 5.3%. Average replay lateness improved from 3.9 s to 3.7 s. P95 lateness was roughly flat, moving from 7.3 s to 7.4 s. Max lateness improved from 10.5 s to 8.3 s. Full workload window was essentially unchanged, moving from 328.6 s to 328.5 s.</a:t>
            </a:r>
          </a:p>
          <a:p xmlns:a="http://schemas.openxmlformats.org/drawingml/2006/main">
            <a:r>
              <a:t/>
            </a:r>
          </a:p>
          <a:p xmlns:a="http://schemas.openxmlformats.org/drawingml/2006/main">
            <a:r>
              <a:t>Mechanism evidence: 21 prefetch requests, 21 backend actions, direct hook available for 21 of 21, 9 prepare plans would load and 12 were already resident. Selective admission skipped 12 already-resident prefixes and 3 host-resident prefixes that were too small to justify loading. It attempted direct load on 6 prefixes. The proof table observed 111 load-back events plus 560 H2D copy events before replay compute, with 48,889 prepared tokens via load_back.</a:t>
            </a:r>
          </a:p>
          <a:p xmlns:a="http://schemas.openxmlformats.org/drawingml/2006/main">
            <a:r>
              <a:t/>
            </a:r>
          </a:p>
          <a:p xmlns:a="http://schemas.openxmlformats.org/drawingml/2006/main">
            <a:r>
              <a:t>Important caveat: the aggregate timing win is modest. Only 11 of 32 paired requests improved individually, so the next tuning direction is better replay-reuse prediction.</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3 source: harness_aware_scenario_tracker.html.</a:t>
            </a:r>
          </a:p>
          <a:p xmlns:a="http://schemas.openxmlformats.org/drawingml/2006/main">
            <a:r>
              <a:t/>
            </a:r>
          </a:p>
          <a:p xmlns:a="http://schemas.openxmlformats.org/drawingml/2006/main">
            <a:r>
              <a:t>Setup: same 32 replay requests in both modes using the same generated timeline. The load generator creates enough concurrent long-context sessions to force KV eviction decisions. Baseline mode runs without value-aware eviction signals. Controller mode scores every replay-capable prefix as high, normal, or low value from harness signals, and SGLang's native priority radix eviction path performs the real eviction.</a:t>
            </a:r>
          </a:p>
          <a:p xmlns:a="http://schemas.openxmlformats.org/drawingml/2006/main">
            <a:r>
              <a:t/>
            </a:r>
          </a:p>
          <a:p xmlns:a="http://schemas.openxmlformats.org/drawingml/2006/main">
            <a:r>
              <a:t>Run: value_aware_eviction_all_requests_fixed_20260917_163518 compared no_prefetch against controller_value_aware_eviction.</a:t>
            </a:r>
          </a:p>
          <a:p xmlns:a="http://schemas.openxmlformats.org/drawingml/2006/main">
            <a:r>
              <a:t/>
            </a:r>
          </a:p>
          <a:p xmlns:a="http://schemas.openxmlformats.org/drawingml/2006/main">
            <a:r>
              <a:t>Results: Total TTFT improved from 482.3 s to 233.5 s, or 51.6%. Average replay TTFT improved from 15.1 s to 7.3 s. Total lateness improved from 1014.0 s to 659.9 s, or 34.9%. Average replay lateness improved from 31.7 s to 20.6 s. The trade-off is that the overall workload window increased from 205.6 s to 268.8 s, or 63.1 s longer.</a:t>
            </a:r>
          </a:p>
          <a:p xmlns:a="http://schemas.openxmlformats.org/drawingml/2006/main">
            <a:r>
              <a:t/>
            </a:r>
          </a:p>
          <a:p xmlns:a="http://schemas.openxmlformats.org/drawingml/2006/main">
            <a:r>
              <a:t>Mechanism evidence: value classes reached SGLang as 23 high, 16 normal, and 9 low values with zero mismatches. SGLang ran with radix priority eviction. Native SGLang and HiCache eviction events were observed: 324 device eviction events and 77 host eviction events.</a:t>
            </a:r>
          </a:p>
          <a:p xmlns:a="http://schemas.openxmlformats.org/drawingml/2006/main">
            <a:r>
              <a:t/>
            </a:r>
          </a:p>
          <a:p xmlns:a="http://schemas.openxmlformats.org/drawingml/2006/main">
            <a:r>
              <a:t>Important caveat: this produced a strong replay responsiveness win, but not a no-cost system win. The next tuning question is how to keep the TTFT and lateness benefit while reducing the workload-window cost.</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5d7e2b056340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f03894fd854dbe" /><Relationship Type="http://schemas.openxmlformats.org/officeDocument/2006/relationships/slideLayout" Target="/ppt/slideLayouts/slideLayout1.xml" Id="Ra7ff8dfd635f49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ff8dfd635f49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3cacd31f484fa2" /><Relationship Type="http://schemas.openxmlformats.org/officeDocument/2006/relationships/notesSlide" Target="/ppt/notesSlides/notesSlide1.xml" Id="Rf77b8a42b6ba40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59532168bf4d0d" /><Relationship Type="http://schemas.openxmlformats.org/officeDocument/2006/relationships/notesSlide" Target="/ppt/notesSlides/notesSlide2.xml" Id="R23cafec55b5e47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c087d9965a43bb" /><Relationship Type="http://schemas.openxmlformats.org/officeDocument/2006/relationships/notesSlide" Target="/ppt/notesSlides/notesSlide3.xml" Id="R75779152d03a403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FEF9032-14CB-4611-BFAE-F9FD912DC336}"/>
              </a:ext>
            </a:extLst>
          </p:cNvPr>
          <p:cNvSpPr>
            <a:spLocks xmlns:a="http://schemas.openxmlformats.org/drawingml/2006/main" noGrp="1"/>
          </p:cNvSpPr>
          <p:nvPr/>
        </p:nvSpPr>
        <p:spPr>
          <a:xfrm xmlns:a="http://schemas.openxmlformats.org/drawingml/2006/main">
            <a:off x="533400" y="34290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Deadline-Aware Replay Ordering</a:t>
            </a:r>
          </a:p>
        </p:txBody>
      </p:sp>
      <p:sp>
        <p:nvSpPr>
          <p:cNvPr id="2" name="">
            <a:extLst xmlns:a="http://schemas.openxmlformats.org/drawingml/2006/main">
              <a:ext uri="{FF2B5EF4-FFF2-40B4-BE49-F238E27FC236}">
                <a16:creationId xmlns:a16="http://schemas.microsoft.com/office/drawing/2014/main" id="{7893614C-BAF1-4178-84FB-C89060545A2C}"/>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estimates when agents resume, then releases replay work in deadline order.</a:t>
            </a:r>
          </a:p>
        </p:txBody>
      </p:sp>
      <p:sp>
        <p:nvSpPr>
          <p:cNvPr id="3" name="">
            <a:extLst xmlns:a="http://schemas.openxmlformats.org/drawingml/2006/main">
              <a:ext uri="{FF2B5EF4-FFF2-40B4-BE49-F238E27FC236}">
                <a16:creationId xmlns:a16="http://schemas.microsoft.com/office/drawing/2014/main" id="{A008747E-5F60-4951-95E5-E3684A183D61}"/>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0EA58FBC-C468-4785-B208-EA1C78EDAB49}"/>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4888AE9-8195-46F2-A38B-AE7FB7609491}"/>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878B6368-AF16-4BA7-B9BC-8F26041E6B62}"/>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317FB1B8-3360-483C-B3E8-DD52894F1B83}"/>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F98A62EC-8AF1-4A6C-91C6-FD1938C7E684}"/>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822E2D99-C452-45BA-A1EA-BDAEA406A347}"/>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0" name="">
            <a:extLst xmlns:a="http://schemas.openxmlformats.org/drawingml/2006/main">
              <a:ext uri="{FF2B5EF4-FFF2-40B4-BE49-F238E27FC236}">
                <a16:creationId xmlns:a16="http://schemas.microsoft.com/office/drawing/2014/main" id="{C39A7921-DD87-4960-99F8-60F4D22B0BE1}"/>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CF7FE237-7ED0-472C-B761-FAF98D9E40F3}"/>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2" name="">
            <a:extLst xmlns:a="http://schemas.openxmlformats.org/drawingml/2006/main">
              <a:ext uri="{FF2B5EF4-FFF2-40B4-BE49-F238E27FC236}">
                <a16:creationId xmlns:a16="http://schemas.microsoft.com/office/drawing/2014/main" id="{73624CF0-04CE-4503-833D-B6E3E5CC4092}"/>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C9D80407-B2CF-4295-B9C2-6B58E3100063}"/>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submits replay work in arrival order.</a:t>
            </a:r>
          </a:p>
        </p:txBody>
      </p:sp>
      <p:sp>
        <p:nvSpPr>
          <p:cNvPr id="14" name="">
            <a:extLst xmlns:a="http://schemas.openxmlformats.org/drawingml/2006/main">
              <a:ext uri="{FF2B5EF4-FFF2-40B4-BE49-F238E27FC236}">
                <a16:creationId xmlns:a16="http://schemas.microsoft.com/office/drawing/2014/main" id="{3855A5C4-3B4C-4245-A404-8DDC1E957691}"/>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75324805-BF91-4C8C-94DF-308A6E79F0A8}"/>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11C425E2-F647-4927-A946-6E3EB54CBE60}"/>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uses expected tool-return times to decide which replay should enter next, so a soon-returning agent is not stuck behind later work.</a:t>
            </a:r>
          </a:p>
        </p:txBody>
      </p:sp>
      <p:sp>
        <p:nvSpPr>
          <p:cNvPr id="17" name="">
            <a:extLst xmlns:a="http://schemas.openxmlformats.org/drawingml/2006/main">
              <a:ext uri="{FF2B5EF4-FFF2-40B4-BE49-F238E27FC236}">
                <a16:creationId xmlns:a16="http://schemas.microsoft.com/office/drawing/2014/main" id="{C8D580B7-EDE9-4292-8AB6-7BAAC894DDF0}"/>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8D8908F1-C889-405E-A00F-56860C64946F}"/>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scenario1_replay_friction_20260917_192617</a:t>
            </a:r>
          </a:p>
        </p:txBody>
      </p:sp>
      <p:sp>
        <p:nvSpPr>
          <p:cNvPr id="19" name="">
            <a:extLst xmlns:a="http://schemas.openxmlformats.org/drawingml/2006/main">
              <a:ext uri="{FF2B5EF4-FFF2-40B4-BE49-F238E27FC236}">
                <a16:creationId xmlns:a16="http://schemas.microsoft.com/office/drawing/2014/main" id="{AE6D7497-9764-4210-806D-54F5C4193859}"/>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47454E70-9D7F-4B90-87BB-7EFF52F9FA30}"/>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D7DE7D61-F82B-4921-98DE-A8C3A6EC65A1}"/>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33.7% better</a:t>
            </a:r>
          </a:p>
        </p:txBody>
      </p:sp>
      <p:sp>
        <p:nvSpPr>
          <p:cNvPr id="22" name="">
            <a:extLst xmlns:a="http://schemas.openxmlformats.org/drawingml/2006/main">
              <a:ext uri="{FF2B5EF4-FFF2-40B4-BE49-F238E27FC236}">
                <a16:creationId xmlns:a16="http://schemas.microsoft.com/office/drawing/2014/main" id="{C38E5A49-1566-4730-8F18-E4D337F2C085}"/>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112.2 s to 74.4 s</a:t>
            </a:r>
          </a:p>
        </p:txBody>
      </p:sp>
      <p:sp>
        <p:nvSpPr>
          <p:cNvPr id="23" name="">
            <a:extLst xmlns:a="http://schemas.openxmlformats.org/drawingml/2006/main">
              <a:ext uri="{FF2B5EF4-FFF2-40B4-BE49-F238E27FC236}">
                <a16:creationId xmlns:a16="http://schemas.microsoft.com/office/drawing/2014/main" id="{1E505ADF-83CC-4740-B8E6-50EE6A26DA97}"/>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0956B340-BE79-470F-9585-4C9F83129EEA}"/>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7255FB47-DF80-49A2-9576-46E57A71723A}"/>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1.2 s faster</a:t>
            </a:r>
          </a:p>
        </p:txBody>
      </p:sp>
      <p:sp>
        <p:nvSpPr>
          <p:cNvPr id="26" name="">
            <a:extLst xmlns:a="http://schemas.openxmlformats.org/drawingml/2006/main">
              <a:ext uri="{FF2B5EF4-FFF2-40B4-BE49-F238E27FC236}">
                <a16:creationId xmlns:a16="http://schemas.microsoft.com/office/drawing/2014/main" id="{011FBD03-1C8E-4B13-A7B7-9A36BC122E2E}"/>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3.5 s to 2.3 s</a:t>
            </a:r>
          </a:p>
        </p:txBody>
      </p:sp>
      <p:sp>
        <p:nvSpPr>
          <p:cNvPr id="27" name="">
            <a:extLst xmlns:a="http://schemas.openxmlformats.org/drawingml/2006/main">
              <a:ext uri="{FF2B5EF4-FFF2-40B4-BE49-F238E27FC236}">
                <a16:creationId xmlns:a16="http://schemas.microsoft.com/office/drawing/2014/main" id="{82DC9926-FFD2-4C20-A56A-F77DE6424A72}"/>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82DEC91A-C77C-4213-90C2-44CDFB5F32A0}"/>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3392EA11-DE0B-4C28-8864-3F949E35E993}"/>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25.7% better</a:t>
            </a:r>
          </a:p>
        </p:txBody>
      </p:sp>
      <p:sp>
        <p:nvSpPr>
          <p:cNvPr id="30" name="">
            <a:extLst xmlns:a="http://schemas.openxmlformats.org/drawingml/2006/main">
              <a:ext uri="{FF2B5EF4-FFF2-40B4-BE49-F238E27FC236}">
                <a16:creationId xmlns:a16="http://schemas.microsoft.com/office/drawing/2014/main" id="{19992F2F-4850-4916-9002-9E9A3DAEC046}"/>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287.3 s to 213.6 s</a:t>
            </a:r>
          </a:p>
        </p:txBody>
      </p:sp>
      <p:sp>
        <p:nvSpPr>
          <p:cNvPr id="31" name="">
            <a:extLst xmlns:a="http://schemas.openxmlformats.org/drawingml/2006/main">
              <a:ext uri="{FF2B5EF4-FFF2-40B4-BE49-F238E27FC236}">
                <a16:creationId xmlns:a16="http://schemas.microsoft.com/office/drawing/2014/main" id="{00535A4D-640B-4290-9AD1-0B584AD73CB4}"/>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C0BD4AD6-67CC-49FD-8BEB-85EF514AC8AC}"/>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P95 lateness</a:t>
            </a:r>
          </a:p>
        </p:txBody>
      </p:sp>
      <p:sp>
        <p:nvSpPr>
          <p:cNvPr id="33" name="">
            <a:extLst xmlns:a="http://schemas.openxmlformats.org/drawingml/2006/main">
              <a:ext uri="{FF2B5EF4-FFF2-40B4-BE49-F238E27FC236}">
                <a16:creationId xmlns:a16="http://schemas.microsoft.com/office/drawing/2014/main" id="{B3740A6E-25E5-47A5-8852-56F9AB5E5347}"/>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39.4% better</a:t>
            </a:r>
          </a:p>
        </p:txBody>
      </p:sp>
      <p:sp>
        <p:nvSpPr>
          <p:cNvPr id="34" name="">
            <a:extLst xmlns:a="http://schemas.openxmlformats.org/drawingml/2006/main">
              <a:ext uri="{FF2B5EF4-FFF2-40B4-BE49-F238E27FC236}">
                <a16:creationId xmlns:a16="http://schemas.microsoft.com/office/drawing/2014/main" id="{3D5CF11B-43EE-4158-A7C1-66202533F762}"/>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30.0 s to 18.2 s</a:t>
            </a:r>
          </a:p>
        </p:txBody>
      </p:sp>
      <p:sp>
        <p:nvSpPr>
          <p:cNvPr id="35" name="">
            <a:extLst xmlns:a="http://schemas.openxmlformats.org/drawingml/2006/main">
              <a:ext uri="{FF2B5EF4-FFF2-40B4-BE49-F238E27FC236}">
                <a16:creationId xmlns:a16="http://schemas.microsoft.com/office/drawing/2014/main" id="{88987FDF-6F7C-4825-9BDF-A033314C7988}"/>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539CD843-E467-492A-B26E-44EB38656B37}"/>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Max lateness</a:t>
            </a:r>
          </a:p>
        </p:txBody>
      </p:sp>
      <p:sp>
        <p:nvSpPr>
          <p:cNvPr id="37" name="">
            <a:extLst xmlns:a="http://schemas.openxmlformats.org/drawingml/2006/main">
              <a:ext uri="{FF2B5EF4-FFF2-40B4-BE49-F238E27FC236}">
                <a16:creationId xmlns:a16="http://schemas.microsoft.com/office/drawing/2014/main" id="{B770C058-AF96-41E9-9714-3F7B2260309E}"/>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38.0% better</a:t>
            </a:r>
          </a:p>
        </p:txBody>
      </p:sp>
      <p:sp>
        <p:nvSpPr>
          <p:cNvPr id="38" name="">
            <a:extLst xmlns:a="http://schemas.openxmlformats.org/drawingml/2006/main">
              <a:ext uri="{FF2B5EF4-FFF2-40B4-BE49-F238E27FC236}">
                <a16:creationId xmlns:a16="http://schemas.microsoft.com/office/drawing/2014/main" id="{EF15CE0A-0993-4EF9-AE5C-A287110CA5D8}"/>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31.6 s to 19.7 s</a:t>
            </a:r>
          </a:p>
        </p:txBody>
      </p:sp>
      <p:sp>
        <p:nvSpPr>
          <p:cNvPr id="39" name="">
            <a:extLst xmlns:a="http://schemas.openxmlformats.org/drawingml/2006/main">
              <a:ext uri="{FF2B5EF4-FFF2-40B4-BE49-F238E27FC236}">
                <a16:creationId xmlns:a16="http://schemas.microsoft.com/office/drawing/2014/main" id="{7B402887-5578-474F-93E0-AC239FBAEBB3}"/>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FF1F1"/>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25E4731C-3413-41BF-B27B-6C47A90105E7}"/>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60213A7F-5F4A-4745-AEFD-8DB03769AB86}"/>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F1D1D"/>
                </a:solidFill>
                <a:latin typeface="Helvetica Neue"/>
                <a:ea typeface="Helvetica Neue"/>
                <a:cs typeface="Helvetica Neue"/>
              </a:defRPr>
            </a:pPr>
            <a:r>
              <a:rPr sz="1725" b="1">
                <a:solidFill>
                  <a:srgbClr val="7F1D1D"/>
                </a:solidFill>
                <a:latin typeface="Helvetica Neue"/>
                <a:ea typeface="Helvetica Neue"/>
                <a:cs typeface="Helvetica Neue"/>
              </a:rPr>
              <a:t>5.0 s longer</a:t>
            </a:r>
          </a:p>
        </p:txBody>
      </p:sp>
      <p:sp>
        <p:nvSpPr>
          <p:cNvPr id="42" name="">
            <a:extLst xmlns:a="http://schemas.openxmlformats.org/drawingml/2006/main">
              <a:ext uri="{FF2B5EF4-FFF2-40B4-BE49-F238E27FC236}">
                <a16:creationId xmlns:a16="http://schemas.microsoft.com/office/drawing/2014/main" id="{003FF456-E2C6-457E-9BFC-FB1331B2DC05}"/>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37.1 s to 42.0 s</a:t>
            </a:r>
          </a:p>
        </p:txBody>
      </p:sp>
      <p:sp>
        <p:nvSpPr>
          <p:cNvPr id="43" name="">
            <a:extLst xmlns:a="http://schemas.openxmlformats.org/drawingml/2006/main">
              <a:ext uri="{FF2B5EF4-FFF2-40B4-BE49-F238E27FC236}">
                <a16:creationId xmlns:a16="http://schemas.microsoft.com/office/drawing/2014/main" id="{2B053179-1009-4BE9-91B8-FCF13CF128BD}"/>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4E28B85-D89E-4796-A45E-98380A5DBC4D}"/>
              </a:ext>
            </a:extLst>
          </p:cNvPr>
          <p:cNvSpPr>
            <a:spLocks xmlns:a="http://schemas.openxmlformats.org/drawingml/2006/main" noGrp="1"/>
          </p:cNvSpPr>
          <p:nvPr/>
        </p:nvSpPr>
        <p:spPr>
          <a:xfrm xmlns:a="http://schemas.openxmlformats.org/drawingml/2006/main">
            <a:off x="628650" y="5791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Harness signals</a:t>
            </a:r>
          </a:p>
        </p:txBody>
      </p:sp>
      <p:sp>
        <p:nvSpPr>
          <p:cNvPr id="45" name="">
            <a:extLst xmlns:a="http://schemas.openxmlformats.org/drawingml/2006/main">
              <a:ext uri="{FF2B5EF4-FFF2-40B4-BE49-F238E27FC236}">
                <a16:creationId xmlns:a16="http://schemas.microsoft.com/office/drawing/2014/main" id="{BD435A95-0702-47D9-9FE1-5F66CD8E4675}"/>
              </a:ext>
            </a:extLst>
          </p:cNvPr>
          <p:cNvSpPr>
            <a:spLocks xmlns:a="http://schemas.openxmlformats.org/drawingml/2006/main" noGrp="1"/>
          </p:cNvSpPr>
          <p:nvPr/>
        </p:nvSpPr>
        <p:spPr>
          <a:xfrm xmlns:a="http://schemas.openxmlformats.org/drawingml/2006/main">
            <a:off x="2438400" y="57721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Session ID, tool-wait phase, expected return time, replay deadline, wait class, replay steps.</a:t>
            </a:r>
          </a:p>
        </p:txBody>
      </p:sp>
    </p:spTree>
    <p:extLst>
      <p:ext uri="{BB962C8B-B14F-4D97-AF65-F5344CB8AC3E}">
        <p14:creationId xmlns:p14="http://schemas.microsoft.com/office/powerpoint/2010/main" val="8283400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FD5B3A10-9914-4386-AD99-C9A8FC29A6D3}"/>
              </a:ext>
            </a:extLst>
          </p:cNvPr>
          <p:cNvSpPr>
            <a:spLocks xmlns:a="http://schemas.openxmlformats.org/drawingml/2006/main" noGrp="1"/>
          </p:cNvSpPr>
          <p:nvPr/>
        </p:nvSpPr>
        <p:spPr>
          <a:xfrm xmlns:a="http://schemas.openxmlformats.org/drawingml/2006/main">
            <a:off x="533400" y="3429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2: Proactive KV Preparation</a:t>
            </a:r>
          </a:p>
        </p:txBody>
      </p:sp>
      <p:sp>
        <p:nvSpPr>
          <p:cNvPr id="2" name="">
            <a:extLst xmlns:a="http://schemas.openxmlformats.org/drawingml/2006/main">
              <a:ext uri="{FF2B5EF4-FFF2-40B4-BE49-F238E27FC236}">
                <a16:creationId xmlns:a16="http://schemas.microsoft.com/office/drawing/2014/main" id="{30D163CF-2C52-4DF8-802E-D9AA32B4F719}"/>
              </a:ext>
            </a:extLst>
          </p:cNvPr>
          <p:cNvSpPr>
            <a:spLocks xmlns:a="http://schemas.openxmlformats.org/drawingml/2006/main" noGrp="1"/>
          </p:cNvSpPr>
          <p:nvPr/>
        </p:nvSpPr>
        <p:spPr>
          <a:xfrm xmlns:a="http://schemas.openxmlformats.org/drawingml/2006/main">
            <a:off x="552450" y="8382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During tool wait, the backend prepares useful host-backed KV before replay arrives.</a:t>
            </a:r>
          </a:p>
        </p:txBody>
      </p:sp>
      <p:sp>
        <p:nvSpPr>
          <p:cNvPr id="3" name="">
            <a:extLst xmlns:a="http://schemas.openxmlformats.org/drawingml/2006/main">
              <a:ext uri="{FF2B5EF4-FFF2-40B4-BE49-F238E27FC236}">
                <a16:creationId xmlns:a16="http://schemas.microsoft.com/office/drawing/2014/main" id="{17900986-0058-45DC-B97F-B561E540AA8A}"/>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Modest win</a:t>
            </a:r>
          </a:p>
        </p:txBody>
      </p:sp>
      <p:sp>
        <p:nvSpPr>
          <p:cNvPr id="4" name="">
            <a:extLst xmlns:a="http://schemas.openxmlformats.org/drawingml/2006/main">
              <a:ext uri="{FF2B5EF4-FFF2-40B4-BE49-F238E27FC236}">
                <a16:creationId xmlns:a16="http://schemas.microsoft.com/office/drawing/2014/main" id="{E236C548-98C8-4337-8F07-28B0FDB8AAC4}"/>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AD2FB66-19A1-4EEB-8F01-ECACBCE4945B}"/>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C045936F-994D-4710-ADE7-F871D783C4BD}"/>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B77DE99C-B085-4663-BFBA-EAB8007AB8AE}"/>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14581B74-5328-4E19-BA42-E3B12959CBC7}"/>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C5B9A627-CA0E-45FB-9F9F-BD1813D3B688}"/>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long tool-wait timeline.</a:t>
            </a:r>
          </a:p>
        </p:txBody>
      </p:sp>
      <p:sp>
        <p:nvSpPr>
          <p:cNvPr id="10" name="">
            <a:extLst xmlns:a="http://schemas.openxmlformats.org/drawingml/2006/main">
              <a:ext uri="{FF2B5EF4-FFF2-40B4-BE49-F238E27FC236}">
                <a16:creationId xmlns:a16="http://schemas.microsoft.com/office/drawing/2014/main" id="{8835DBA2-5CA8-4A80-8147-5D5F62A1F466}"/>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FFCAA2F5-7677-407D-905F-C76AF8DC1BDF}"/>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waits until replay arrives.</a:t>
            </a:r>
          </a:p>
        </p:txBody>
      </p:sp>
      <p:sp>
        <p:nvSpPr>
          <p:cNvPr id="12" name="">
            <a:extLst xmlns:a="http://schemas.openxmlformats.org/drawingml/2006/main">
              <a:ext uri="{FF2B5EF4-FFF2-40B4-BE49-F238E27FC236}">
                <a16:creationId xmlns:a16="http://schemas.microsoft.com/office/drawing/2014/main" id="{3A95434D-123D-4BBE-AD19-38F1E5C487DD}"/>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44590154-2974-4C26-91A8-190912FC9774}"/>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Controller mode prepares only useful KV.</a:t>
            </a:r>
          </a:p>
        </p:txBody>
      </p:sp>
      <p:sp>
        <p:nvSpPr>
          <p:cNvPr id="14" name="">
            <a:extLst xmlns:a="http://schemas.openxmlformats.org/drawingml/2006/main">
              <a:ext uri="{FF2B5EF4-FFF2-40B4-BE49-F238E27FC236}">
                <a16:creationId xmlns:a16="http://schemas.microsoft.com/office/drawing/2014/main" id="{57ED5C73-D921-4A21-BDA7-430AE34D9C75}"/>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103B9FD0-6463-4594-99E8-D6376E6C61BD}"/>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15362C3E-FAC2-43BD-AD2B-FFEC19B7D631}"/>
              </a:ext>
            </a:extLst>
          </p:cNvPr>
          <p:cNvSpPr>
            <a:spLocks xmlns:a="http://schemas.openxmlformats.org/drawingml/2006/main" noGrp="1"/>
          </p:cNvSpPr>
          <p:nvPr/>
        </p:nvSpPr>
        <p:spPr>
          <a:xfrm xmlns:a="http://schemas.openxmlformats.org/drawingml/2006/main">
            <a:off x="838200" y="4076700"/>
            <a:ext cx="3714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334155"/>
                </a:solidFill>
                <a:latin typeface="Helvetica Neue"/>
                <a:ea typeface="Helvetica Neue"/>
                <a:cs typeface="Helvetica Neue"/>
              </a:defRPr>
            </a:pPr>
            <a:r>
              <a:rPr sz="1238" b="0">
                <a:solidFill>
                  <a:srgbClr val="334155"/>
                </a:solidFill>
                <a:latin typeface="Helvetica Neue"/>
                <a:ea typeface="Helvetica Neue"/>
                <a:cs typeface="Helvetica Neue"/>
              </a:rPr>
              <a:t>It prepares likely-needed KV during the tool wait, but only when SGLang says the KV is worth loading.</a:t>
            </a:r>
          </a:p>
        </p:txBody>
      </p:sp>
      <p:sp>
        <p:nvSpPr>
          <p:cNvPr id="17" name="">
            <a:extLst xmlns:a="http://schemas.openxmlformats.org/drawingml/2006/main">
              <a:ext uri="{FF2B5EF4-FFF2-40B4-BE49-F238E27FC236}">
                <a16:creationId xmlns:a16="http://schemas.microsoft.com/office/drawing/2014/main" id="{832E92C2-67F4-40C9-8542-01A27878439F}"/>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BB5F54F7-E0CC-4029-A24B-982FB24F8B0C}"/>
              </a:ext>
            </a:extLst>
          </p:cNvPr>
          <p:cNvSpPr>
            <a:spLocks xmlns:a="http://schemas.openxmlformats.org/drawingml/2006/main" noGrp="1"/>
          </p:cNvSpPr>
          <p:nvPr/>
        </p:nvSpPr>
        <p:spPr>
          <a:xfrm xmlns:a="http://schemas.openxmlformats.org/drawingml/2006/main">
            <a:off x="5619750" y="1828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all-request run: proactive_kv_management_selective_admission_20260917_062007</a:t>
            </a:r>
          </a:p>
        </p:txBody>
      </p:sp>
      <p:sp>
        <p:nvSpPr>
          <p:cNvPr id="19" name="">
            <a:extLst xmlns:a="http://schemas.openxmlformats.org/drawingml/2006/main">
              <a:ext uri="{FF2B5EF4-FFF2-40B4-BE49-F238E27FC236}">
                <a16:creationId xmlns:a16="http://schemas.microsoft.com/office/drawing/2014/main" id="{0CD49475-00E6-4E96-B469-A0C032CDEB67}"/>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8B4F136D-12EA-4D16-9DCA-F1F0ED5120B0}"/>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8FBDF25E-928E-4F88-9A9A-E79B34138C8C}"/>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5.3% better</a:t>
            </a:r>
          </a:p>
        </p:txBody>
      </p:sp>
      <p:sp>
        <p:nvSpPr>
          <p:cNvPr id="22" name="">
            <a:extLst xmlns:a="http://schemas.openxmlformats.org/drawingml/2006/main">
              <a:ext uri="{FF2B5EF4-FFF2-40B4-BE49-F238E27FC236}">
                <a16:creationId xmlns:a16="http://schemas.microsoft.com/office/drawing/2014/main" id="{1846E517-5242-44A3-B8A6-2E034F8B1EF7}"/>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123.1 s to 116.5 s</a:t>
            </a:r>
          </a:p>
        </p:txBody>
      </p:sp>
      <p:sp>
        <p:nvSpPr>
          <p:cNvPr id="23" name="">
            <a:extLst xmlns:a="http://schemas.openxmlformats.org/drawingml/2006/main">
              <a:ext uri="{FF2B5EF4-FFF2-40B4-BE49-F238E27FC236}">
                <a16:creationId xmlns:a16="http://schemas.microsoft.com/office/drawing/2014/main" id="{27114151-38BD-4FE9-BEFA-E11AEB0E09ED}"/>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D785CA0F-6A19-4E56-A40F-0E20B2D869AD}"/>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7D056C25-9D11-47AA-8AF7-F2F7A06B7D7B}"/>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0.2 s faster</a:t>
            </a:r>
          </a:p>
        </p:txBody>
      </p:sp>
      <p:sp>
        <p:nvSpPr>
          <p:cNvPr id="26" name="">
            <a:extLst xmlns:a="http://schemas.openxmlformats.org/drawingml/2006/main">
              <a:ext uri="{FF2B5EF4-FFF2-40B4-BE49-F238E27FC236}">
                <a16:creationId xmlns:a16="http://schemas.microsoft.com/office/drawing/2014/main" id="{D51C4ACE-E6F3-4087-BFC8-32345EA22662}"/>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3.8 s to 3.6 s</a:t>
            </a:r>
          </a:p>
        </p:txBody>
      </p:sp>
      <p:sp>
        <p:nvSpPr>
          <p:cNvPr id="27" name="">
            <a:extLst xmlns:a="http://schemas.openxmlformats.org/drawingml/2006/main">
              <a:ext uri="{FF2B5EF4-FFF2-40B4-BE49-F238E27FC236}">
                <a16:creationId xmlns:a16="http://schemas.microsoft.com/office/drawing/2014/main" id="{D77CB6D3-9903-43BE-993E-96B068A97E92}"/>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6C59BF7B-7145-47A1-AFFE-3A589203135B}"/>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E41B23A2-E295-437B-9F74-50772587E6F8}"/>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5.3% better</a:t>
            </a:r>
          </a:p>
        </p:txBody>
      </p:sp>
      <p:sp>
        <p:nvSpPr>
          <p:cNvPr id="30" name="">
            <a:extLst xmlns:a="http://schemas.openxmlformats.org/drawingml/2006/main">
              <a:ext uri="{FF2B5EF4-FFF2-40B4-BE49-F238E27FC236}">
                <a16:creationId xmlns:a16="http://schemas.microsoft.com/office/drawing/2014/main" id="{70E759DB-CB18-42F1-87C8-FA989A3948FB}"/>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123.4 s to 116.9 s</a:t>
            </a:r>
          </a:p>
        </p:txBody>
      </p:sp>
      <p:sp>
        <p:nvSpPr>
          <p:cNvPr id="31" name="">
            <a:extLst xmlns:a="http://schemas.openxmlformats.org/drawingml/2006/main">
              <a:ext uri="{FF2B5EF4-FFF2-40B4-BE49-F238E27FC236}">
                <a16:creationId xmlns:a16="http://schemas.microsoft.com/office/drawing/2014/main" id="{BD08FBFA-AB98-43CE-A4FE-57FFD415CB93}"/>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C7287680-471C-4B8E-8A9C-C21EA5D0A938}"/>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Max lateness</a:t>
            </a:r>
          </a:p>
        </p:txBody>
      </p:sp>
      <p:sp>
        <p:nvSpPr>
          <p:cNvPr id="33" name="">
            <a:extLst xmlns:a="http://schemas.openxmlformats.org/drawingml/2006/main">
              <a:ext uri="{FF2B5EF4-FFF2-40B4-BE49-F238E27FC236}">
                <a16:creationId xmlns:a16="http://schemas.microsoft.com/office/drawing/2014/main" id="{1EB3BB7E-C969-4368-ABE2-855CEBC37792}"/>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2.2 s better</a:t>
            </a:r>
          </a:p>
        </p:txBody>
      </p:sp>
      <p:sp>
        <p:nvSpPr>
          <p:cNvPr id="34" name="">
            <a:extLst xmlns:a="http://schemas.openxmlformats.org/drawingml/2006/main">
              <a:ext uri="{FF2B5EF4-FFF2-40B4-BE49-F238E27FC236}">
                <a16:creationId xmlns:a16="http://schemas.microsoft.com/office/drawing/2014/main" id="{EB3C6FAB-B39D-47A6-A528-F142D7226208}"/>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10.5 s to 8.3 s</a:t>
            </a:r>
          </a:p>
        </p:txBody>
      </p:sp>
      <p:sp>
        <p:nvSpPr>
          <p:cNvPr id="35" name="">
            <a:extLst xmlns:a="http://schemas.openxmlformats.org/drawingml/2006/main">
              <a:ext uri="{FF2B5EF4-FFF2-40B4-BE49-F238E27FC236}">
                <a16:creationId xmlns:a16="http://schemas.microsoft.com/office/drawing/2014/main" id="{AAAE83CA-8AE0-47B1-AE33-30125B7B27AF}"/>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FFF1F1"/>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71BE09F7-B4E4-423B-8FFB-97C82C078EAA}"/>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P95 lateness</a:t>
            </a:r>
          </a:p>
        </p:txBody>
      </p:sp>
      <p:sp>
        <p:nvSpPr>
          <p:cNvPr id="37" name="">
            <a:extLst xmlns:a="http://schemas.openxmlformats.org/drawingml/2006/main">
              <a:ext uri="{FF2B5EF4-FFF2-40B4-BE49-F238E27FC236}">
                <a16:creationId xmlns:a16="http://schemas.microsoft.com/office/drawing/2014/main" id="{2DEDD8BB-DCCD-4E7C-8006-16733F3ECE43}"/>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F1D1D"/>
                </a:solidFill>
                <a:latin typeface="Helvetica Neue"/>
                <a:ea typeface="Helvetica Neue"/>
                <a:cs typeface="Helvetica Neue"/>
              </a:defRPr>
            </a:pPr>
            <a:r>
              <a:rPr sz="1725" b="1">
                <a:solidFill>
                  <a:srgbClr val="7F1D1D"/>
                </a:solidFill>
                <a:latin typeface="Helvetica Neue"/>
                <a:ea typeface="Helvetica Neue"/>
                <a:cs typeface="Helvetica Neue"/>
              </a:rPr>
              <a:t>0.1 s worse</a:t>
            </a:r>
          </a:p>
        </p:txBody>
      </p:sp>
      <p:sp>
        <p:nvSpPr>
          <p:cNvPr id="38" name="">
            <a:extLst xmlns:a="http://schemas.openxmlformats.org/drawingml/2006/main">
              <a:ext uri="{FF2B5EF4-FFF2-40B4-BE49-F238E27FC236}">
                <a16:creationId xmlns:a16="http://schemas.microsoft.com/office/drawing/2014/main" id="{318FE187-AEA5-45A4-BEDF-4194875CEA6D}"/>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Roughly flat: 7.3 s to 7.4 s</a:t>
            </a:r>
          </a:p>
        </p:txBody>
      </p:sp>
      <p:sp>
        <p:nvSpPr>
          <p:cNvPr id="39" name="">
            <a:extLst xmlns:a="http://schemas.openxmlformats.org/drawingml/2006/main">
              <a:ext uri="{FF2B5EF4-FFF2-40B4-BE49-F238E27FC236}">
                <a16:creationId xmlns:a16="http://schemas.microsoft.com/office/drawing/2014/main" id="{2310558F-4D91-491C-AF02-CF05FEF4EF32}"/>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E8C59B95-B4DF-4B77-A179-FA03B146E85B}"/>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D1C227D4-A61A-41F9-A3B2-0A779647AF00}"/>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about same</a:t>
            </a:r>
          </a:p>
        </p:txBody>
      </p:sp>
      <p:sp>
        <p:nvSpPr>
          <p:cNvPr id="42" name="">
            <a:extLst xmlns:a="http://schemas.openxmlformats.org/drawingml/2006/main">
              <a:ext uri="{FF2B5EF4-FFF2-40B4-BE49-F238E27FC236}">
                <a16:creationId xmlns:a16="http://schemas.microsoft.com/office/drawing/2014/main" id="{6CAFC1D4-0804-4913-9074-A6001298C46C}"/>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328.6 s to 328.5 s</a:t>
            </a:r>
          </a:p>
        </p:txBody>
      </p:sp>
      <p:sp>
        <p:nvSpPr>
          <p:cNvPr id="43" name="">
            <a:extLst xmlns:a="http://schemas.openxmlformats.org/drawingml/2006/main">
              <a:ext uri="{FF2B5EF4-FFF2-40B4-BE49-F238E27FC236}">
                <a16:creationId xmlns:a16="http://schemas.microsoft.com/office/drawing/2014/main" id="{C4434368-A672-40C6-8129-FA35FADCA341}"/>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570DF67-E22F-40BE-A773-7AE08C349D0E}"/>
              </a:ext>
            </a:extLst>
          </p:cNvPr>
          <p:cNvSpPr>
            <a:spLocks xmlns:a="http://schemas.openxmlformats.org/drawingml/2006/main" noGrp="1"/>
          </p:cNvSpPr>
          <p:nvPr/>
        </p:nvSpPr>
        <p:spPr>
          <a:xfrm xmlns:a="http://schemas.openxmlformats.org/drawingml/2006/main">
            <a:off x="628650" y="5791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Harness signals</a:t>
            </a:r>
          </a:p>
        </p:txBody>
      </p:sp>
      <p:sp>
        <p:nvSpPr>
          <p:cNvPr id="45" name="">
            <a:extLst xmlns:a="http://schemas.openxmlformats.org/drawingml/2006/main">
              <a:ext uri="{FF2B5EF4-FFF2-40B4-BE49-F238E27FC236}">
                <a16:creationId xmlns:a16="http://schemas.microsoft.com/office/drawing/2014/main" id="{7DADDE60-6B4E-4CAC-997B-F45E348D40E3}"/>
              </a:ext>
            </a:extLst>
          </p:cNvPr>
          <p:cNvSpPr>
            <a:spLocks xmlns:a="http://schemas.openxmlformats.org/drawingml/2006/main" noGrp="1"/>
          </p:cNvSpPr>
          <p:nvPr/>
        </p:nvSpPr>
        <p:spPr>
          <a:xfrm xmlns:a="http://schemas.openxmlformats.org/drawingml/2006/main">
            <a:off x="2438400" y="57721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Session ID, prefix ID, expected return time, ETA uncertainty, replay deadline, reuse probability, recompute cost.</a:t>
            </a:r>
          </a:p>
        </p:txBody>
      </p:sp>
    </p:spTree>
    <p:extLst>
      <p:ext uri="{BB962C8B-B14F-4D97-AF65-F5344CB8AC3E}">
        <p14:creationId xmlns:p14="http://schemas.microsoft.com/office/powerpoint/2010/main" val="10730427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2F4F726-A791-41A3-AB2E-A002287AE6F6}"/>
              </a:ext>
            </a:extLst>
          </p:cNvPr>
          <p:cNvSpPr>
            <a:spLocks xmlns:a="http://schemas.openxmlformats.org/drawingml/2006/main" noGrp="1"/>
          </p:cNvSpPr>
          <p:nvPr/>
        </p:nvSpPr>
        <p:spPr>
          <a:xfrm xmlns:a="http://schemas.openxmlformats.org/drawingml/2006/main">
            <a:off x="533400" y="3429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3: Value-Aware KV Eviction</a:t>
            </a:r>
          </a:p>
        </p:txBody>
      </p:sp>
      <p:sp>
        <p:nvSpPr>
          <p:cNvPr id="2" name="">
            <a:extLst xmlns:a="http://schemas.openxmlformats.org/drawingml/2006/main">
              <a:ext uri="{FF2B5EF4-FFF2-40B4-BE49-F238E27FC236}">
                <a16:creationId xmlns:a16="http://schemas.microsoft.com/office/drawing/2014/main" id="{E464AB91-8927-4A41-B9A3-EB5C298349ED}"/>
              </a:ext>
            </a:extLst>
          </p:cNvPr>
          <p:cNvSpPr>
            <a:spLocks xmlns:a="http://schemas.openxmlformats.org/drawingml/2006/main" noGrp="1"/>
          </p:cNvSpPr>
          <p:nvPr/>
        </p:nvSpPr>
        <p:spPr>
          <a:xfrm xmlns:a="http://schemas.openxmlformats.org/drawingml/2006/main">
            <a:off x="552450" y="8382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When memory pressure forces evictions, SGLang keeps KV that is more likely to matter soon.</a:t>
            </a:r>
          </a:p>
        </p:txBody>
      </p:sp>
      <p:sp>
        <p:nvSpPr>
          <p:cNvPr id="3" name="">
            <a:extLst xmlns:a="http://schemas.openxmlformats.org/drawingml/2006/main">
              <a:ext uri="{FF2B5EF4-FFF2-40B4-BE49-F238E27FC236}">
                <a16:creationId xmlns:a16="http://schemas.microsoft.com/office/drawing/2014/main" id="{10C79741-132A-40D4-BF98-C6542E64DFA7}"/>
              </a:ext>
            </a:extLst>
          </p:cNvPr>
          <p:cNvSpPr>
            <a:spLocks xmlns:a="http://schemas.openxmlformats.org/drawingml/2006/main" noGrp="1"/>
          </p:cNvSpPr>
          <p:nvPr/>
        </p:nvSpPr>
        <p:spPr>
          <a:xfrm xmlns:a="http://schemas.openxmlformats.org/drawingml/2006/main">
            <a:off x="9429750" y="4762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Request win + trade-off</a:t>
            </a:r>
          </a:p>
        </p:txBody>
      </p:sp>
      <p:sp>
        <p:nvSpPr>
          <p:cNvPr id="4" name="">
            <a:extLst xmlns:a="http://schemas.openxmlformats.org/drawingml/2006/main">
              <a:ext uri="{FF2B5EF4-FFF2-40B4-BE49-F238E27FC236}">
                <a16:creationId xmlns:a16="http://schemas.microsoft.com/office/drawing/2014/main" id="{BB3AE12E-B3FA-4BA3-BBBD-A2E42E147C7D}"/>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D1C972-29B5-4AF0-998D-8FB44DAE9564}"/>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1C09204B-4D31-41DD-A274-633C11863E89}"/>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6F1A8204-0417-4516-BC57-C7C11090EE10}"/>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E92327E1-B18E-456B-B13D-71A97311E31F}"/>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38126682-61B4-4A62-BFEC-6E983CEB1DBA}"/>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Concurrent long-context sessions force KV eviction.</a:t>
            </a:r>
          </a:p>
        </p:txBody>
      </p:sp>
      <p:sp>
        <p:nvSpPr>
          <p:cNvPr id="10" name="">
            <a:extLst xmlns:a="http://schemas.openxmlformats.org/drawingml/2006/main">
              <a:ext uri="{FF2B5EF4-FFF2-40B4-BE49-F238E27FC236}">
                <a16:creationId xmlns:a16="http://schemas.microsoft.com/office/drawing/2014/main" id="{B463B62E-4FDE-48CB-B64E-79867F29E720}"/>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6184D5B0-5A01-482D-8B89-B121FE340735}"/>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uses ordinary eviction behavior.</a:t>
            </a:r>
          </a:p>
        </p:txBody>
      </p:sp>
      <p:sp>
        <p:nvSpPr>
          <p:cNvPr id="12" name="">
            <a:extLst xmlns:a="http://schemas.openxmlformats.org/drawingml/2006/main">
              <a:ext uri="{FF2B5EF4-FFF2-40B4-BE49-F238E27FC236}">
                <a16:creationId xmlns:a16="http://schemas.microsoft.com/office/drawing/2014/main" id="{8EB6695C-A93C-434B-8BB3-2EB20870E08F}"/>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05AE7CF4-3CA3-4A4F-8A11-745C4C37E4E3}"/>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Controller mode marks cached prefixes by value.</a:t>
            </a:r>
          </a:p>
        </p:txBody>
      </p:sp>
      <p:sp>
        <p:nvSpPr>
          <p:cNvPr id="14" name="">
            <a:extLst xmlns:a="http://schemas.openxmlformats.org/drawingml/2006/main">
              <a:ext uri="{FF2B5EF4-FFF2-40B4-BE49-F238E27FC236}">
                <a16:creationId xmlns:a16="http://schemas.microsoft.com/office/drawing/2014/main" id="{5E65CAFE-DEB4-4667-8E10-A5847B828E52}"/>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5FCD4637-25E9-4A64-BAFA-3D6FC1AF33BA}"/>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41E31FCA-D86B-48B0-9AF8-0208901241CE}"/>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helps SGLang avoid evicting KV that a soon-returning agent is likely to need.</a:t>
            </a:r>
          </a:p>
        </p:txBody>
      </p:sp>
      <p:sp>
        <p:nvSpPr>
          <p:cNvPr id="17" name="">
            <a:extLst xmlns:a="http://schemas.openxmlformats.org/drawingml/2006/main">
              <a:ext uri="{FF2B5EF4-FFF2-40B4-BE49-F238E27FC236}">
                <a16:creationId xmlns:a16="http://schemas.microsoft.com/office/drawing/2014/main" id="{4E998B78-AD9D-4ADF-B0F3-B2C110C5A44A}"/>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49815D47-5870-4FE1-92FA-B02FE57A9254}"/>
              </a:ext>
            </a:extLst>
          </p:cNvPr>
          <p:cNvSpPr>
            <a:spLocks xmlns:a="http://schemas.openxmlformats.org/drawingml/2006/main" noGrp="1"/>
          </p:cNvSpPr>
          <p:nvPr/>
        </p:nvSpPr>
        <p:spPr>
          <a:xfrm xmlns:a="http://schemas.openxmlformats.org/drawingml/2006/main">
            <a:off x="5619750" y="1828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all-request run: value_aware_eviction_all_requests_fixed_20260917_163518</a:t>
            </a:r>
          </a:p>
        </p:txBody>
      </p:sp>
      <p:sp>
        <p:nvSpPr>
          <p:cNvPr id="19" name="">
            <a:extLst xmlns:a="http://schemas.openxmlformats.org/drawingml/2006/main">
              <a:ext uri="{FF2B5EF4-FFF2-40B4-BE49-F238E27FC236}">
                <a16:creationId xmlns:a16="http://schemas.microsoft.com/office/drawing/2014/main" id="{683C1838-C6FE-4509-B36A-30F39E6DFC63}"/>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7486C05A-E9AF-4121-9453-7C0CF8444570}"/>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AF7A5119-6477-41ED-B3B7-224324FA2C7E}"/>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51.6% better</a:t>
            </a:r>
          </a:p>
        </p:txBody>
      </p:sp>
      <p:sp>
        <p:nvSpPr>
          <p:cNvPr id="22" name="">
            <a:extLst xmlns:a="http://schemas.openxmlformats.org/drawingml/2006/main">
              <a:ext uri="{FF2B5EF4-FFF2-40B4-BE49-F238E27FC236}">
                <a16:creationId xmlns:a16="http://schemas.microsoft.com/office/drawing/2014/main" id="{B3F3A7DC-0FCD-49D2-A897-C3754284B95E}"/>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482.3 s to 233.5 s</a:t>
            </a:r>
          </a:p>
        </p:txBody>
      </p:sp>
      <p:sp>
        <p:nvSpPr>
          <p:cNvPr id="23" name="">
            <a:extLst xmlns:a="http://schemas.openxmlformats.org/drawingml/2006/main">
              <a:ext uri="{FF2B5EF4-FFF2-40B4-BE49-F238E27FC236}">
                <a16:creationId xmlns:a16="http://schemas.microsoft.com/office/drawing/2014/main" id="{8EF8396C-C38F-4302-AC1F-616852E2610F}"/>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8362B5AA-D467-474C-B53E-0D2F1E9CFFC8}"/>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46C28CAB-3966-4A06-8BBC-D1B2F5AFC163}"/>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7.8 s faster</a:t>
            </a:r>
          </a:p>
        </p:txBody>
      </p:sp>
      <p:sp>
        <p:nvSpPr>
          <p:cNvPr id="26" name="">
            <a:extLst xmlns:a="http://schemas.openxmlformats.org/drawingml/2006/main">
              <a:ext uri="{FF2B5EF4-FFF2-40B4-BE49-F238E27FC236}">
                <a16:creationId xmlns:a16="http://schemas.microsoft.com/office/drawing/2014/main" id="{734BAD74-72E9-4807-B1D2-E9E7C2AD2A5F}"/>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15.1 s to 7.3 s</a:t>
            </a:r>
          </a:p>
        </p:txBody>
      </p:sp>
      <p:sp>
        <p:nvSpPr>
          <p:cNvPr id="27" name="">
            <a:extLst xmlns:a="http://schemas.openxmlformats.org/drawingml/2006/main">
              <a:ext uri="{FF2B5EF4-FFF2-40B4-BE49-F238E27FC236}">
                <a16:creationId xmlns:a16="http://schemas.microsoft.com/office/drawing/2014/main" id="{1C0365DB-DB59-4BA1-9A87-C1E7D3D73DEC}"/>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59F438A3-804C-4745-BB47-71E2ABFB1A4F}"/>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FADBF203-67B8-4CF7-8DA6-8D3FE4A37845}"/>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34.9% better</a:t>
            </a:r>
          </a:p>
        </p:txBody>
      </p:sp>
      <p:sp>
        <p:nvSpPr>
          <p:cNvPr id="30" name="">
            <a:extLst xmlns:a="http://schemas.openxmlformats.org/drawingml/2006/main">
              <a:ext uri="{FF2B5EF4-FFF2-40B4-BE49-F238E27FC236}">
                <a16:creationId xmlns:a16="http://schemas.microsoft.com/office/drawing/2014/main" id="{1F184F44-42A8-4D80-BCE8-917B4E22F91B}"/>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1014.0 s to 659.9 s</a:t>
            </a:r>
          </a:p>
        </p:txBody>
      </p:sp>
      <p:sp>
        <p:nvSpPr>
          <p:cNvPr id="31" name="">
            <a:extLst xmlns:a="http://schemas.openxmlformats.org/drawingml/2006/main">
              <a:ext uri="{FF2B5EF4-FFF2-40B4-BE49-F238E27FC236}">
                <a16:creationId xmlns:a16="http://schemas.microsoft.com/office/drawing/2014/main" id="{F6226B92-2F96-4F82-913D-3B0DCA9DE5B7}"/>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545720C2-F397-4F6F-940B-9D09B0713601}"/>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lateness</a:t>
            </a:r>
          </a:p>
        </p:txBody>
      </p:sp>
      <p:sp>
        <p:nvSpPr>
          <p:cNvPr id="33" name="">
            <a:extLst xmlns:a="http://schemas.openxmlformats.org/drawingml/2006/main">
              <a:ext uri="{FF2B5EF4-FFF2-40B4-BE49-F238E27FC236}">
                <a16:creationId xmlns:a16="http://schemas.microsoft.com/office/drawing/2014/main" id="{A2083FF2-2F29-4D63-9B0D-138C170EF4E8}"/>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11.1 s less late</a:t>
            </a:r>
          </a:p>
        </p:txBody>
      </p:sp>
      <p:sp>
        <p:nvSpPr>
          <p:cNvPr id="34" name="">
            <a:extLst xmlns:a="http://schemas.openxmlformats.org/drawingml/2006/main">
              <a:ext uri="{FF2B5EF4-FFF2-40B4-BE49-F238E27FC236}">
                <a16:creationId xmlns:a16="http://schemas.microsoft.com/office/drawing/2014/main" id="{08317434-8B2C-4CCA-9B5B-85090EC6C992}"/>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31.7 s to 20.6 s</a:t>
            </a:r>
          </a:p>
        </p:txBody>
      </p:sp>
      <p:sp>
        <p:nvSpPr>
          <p:cNvPr id="35" name="">
            <a:extLst xmlns:a="http://schemas.openxmlformats.org/drawingml/2006/main">
              <a:ext uri="{FF2B5EF4-FFF2-40B4-BE49-F238E27FC236}">
                <a16:creationId xmlns:a16="http://schemas.microsoft.com/office/drawing/2014/main" id="{9B87CE4B-A47C-4E6C-9CE5-7FC7492AEEFE}"/>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EEF7F1"/>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3C4B4300-4AB3-4B20-8259-BFB69C589188}"/>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Value alignment</a:t>
            </a:r>
          </a:p>
        </p:txBody>
      </p:sp>
      <p:sp>
        <p:nvSpPr>
          <p:cNvPr id="37" name="">
            <a:extLst xmlns:a="http://schemas.openxmlformats.org/drawingml/2006/main">
              <a:ext uri="{FF2B5EF4-FFF2-40B4-BE49-F238E27FC236}">
                <a16:creationId xmlns:a16="http://schemas.microsoft.com/office/drawing/2014/main" id="{7CF475DD-3C26-4262-85B8-9A699701DBF7}"/>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 mismatches</a:t>
            </a:r>
          </a:p>
        </p:txBody>
      </p:sp>
      <p:sp>
        <p:nvSpPr>
          <p:cNvPr id="38" name="">
            <a:extLst xmlns:a="http://schemas.openxmlformats.org/drawingml/2006/main">
              <a:ext uri="{FF2B5EF4-FFF2-40B4-BE49-F238E27FC236}">
                <a16:creationId xmlns:a16="http://schemas.microsoft.com/office/drawing/2014/main" id="{7A064A3D-2003-4B5F-AB32-C8111520984A}"/>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23 high, 16 normal, 9 low</a:t>
            </a:r>
          </a:p>
        </p:txBody>
      </p:sp>
      <p:sp>
        <p:nvSpPr>
          <p:cNvPr id="39" name="">
            <a:extLst xmlns:a="http://schemas.openxmlformats.org/drawingml/2006/main">
              <a:ext uri="{FF2B5EF4-FFF2-40B4-BE49-F238E27FC236}">
                <a16:creationId xmlns:a16="http://schemas.microsoft.com/office/drawing/2014/main" id="{B5E2CD64-156C-4CFE-9350-E1230062FBBA}"/>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FF1F1"/>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E660AF56-267C-4EA8-AEEC-4A72DE89E8C9}"/>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41A61A73-3719-496B-842B-03A7B7D1B612}"/>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F1D1D"/>
                </a:solidFill>
                <a:latin typeface="Helvetica Neue"/>
                <a:ea typeface="Helvetica Neue"/>
                <a:cs typeface="Helvetica Neue"/>
              </a:defRPr>
            </a:pPr>
            <a:r>
              <a:rPr sz="1725" b="1">
                <a:solidFill>
                  <a:srgbClr val="7F1D1D"/>
                </a:solidFill>
                <a:latin typeface="Helvetica Neue"/>
                <a:ea typeface="Helvetica Neue"/>
                <a:cs typeface="Helvetica Neue"/>
              </a:rPr>
              <a:t>63.1 s longer</a:t>
            </a:r>
          </a:p>
        </p:txBody>
      </p:sp>
      <p:sp>
        <p:nvSpPr>
          <p:cNvPr id="42" name="">
            <a:extLst xmlns:a="http://schemas.openxmlformats.org/drawingml/2006/main">
              <a:ext uri="{FF2B5EF4-FFF2-40B4-BE49-F238E27FC236}">
                <a16:creationId xmlns:a16="http://schemas.microsoft.com/office/drawing/2014/main" id="{0E273248-1537-4495-808A-FD983B8B8D5E}"/>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205.6 s to 268.8 s</a:t>
            </a:r>
          </a:p>
        </p:txBody>
      </p:sp>
      <p:sp>
        <p:nvSpPr>
          <p:cNvPr id="43" name="">
            <a:extLst xmlns:a="http://schemas.openxmlformats.org/drawingml/2006/main">
              <a:ext uri="{FF2B5EF4-FFF2-40B4-BE49-F238E27FC236}">
                <a16:creationId xmlns:a16="http://schemas.microsoft.com/office/drawing/2014/main" id="{6F0AAF2B-D5A5-4D11-939A-3F8CFE9F0950}"/>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B3BB8A4-7D21-430F-A3D9-2234BC686149}"/>
              </a:ext>
            </a:extLst>
          </p:cNvPr>
          <p:cNvSpPr>
            <a:spLocks xmlns:a="http://schemas.openxmlformats.org/drawingml/2006/main" noGrp="1"/>
          </p:cNvSpPr>
          <p:nvPr/>
        </p:nvSpPr>
        <p:spPr>
          <a:xfrm xmlns:a="http://schemas.openxmlformats.org/drawingml/2006/main">
            <a:off x="628650" y="5791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Harness signals</a:t>
            </a:r>
          </a:p>
        </p:txBody>
      </p:sp>
      <p:sp>
        <p:nvSpPr>
          <p:cNvPr id="45" name="">
            <a:extLst xmlns:a="http://schemas.openxmlformats.org/drawingml/2006/main">
              <a:ext uri="{FF2B5EF4-FFF2-40B4-BE49-F238E27FC236}">
                <a16:creationId xmlns:a16="http://schemas.microsoft.com/office/drawing/2014/main" id="{E6E1EB7C-B9A2-4EDD-AF90-604C3FAFB1CB}"/>
              </a:ext>
            </a:extLst>
          </p:cNvPr>
          <p:cNvSpPr>
            <a:spLocks xmlns:a="http://schemas.openxmlformats.org/drawingml/2006/main" noGrp="1"/>
          </p:cNvSpPr>
          <p:nvPr/>
        </p:nvSpPr>
        <p:spPr>
          <a:xfrm xmlns:a="http://schemas.openxmlformats.org/drawingml/2006/main">
            <a:off x="2438400" y="57721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Session ID, prefix ID, expected return time, reuse probability, rebuild cost, replay deadline, work value, cancelable flag.</a:t>
            </a:r>
          </a:p>
        </p:txBody>
      </p:sp>
    </p:spTree>
    <p:extLst>
      <p:ext uri="{BB962C8B-B14F-4D97-AF65-F5344CB8AC3E}">
        <p14:creationId xmlns:p14="http://schemas.microsoft.com/office/powerpoint/2010/main" val="637331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2026-09-17T19:48:38.1620000Z</dcterms:created>
  <dcterms:modified xsi:type="dcterms:W3CDTF">2026-09-17T19:48:38.1620000Z</dcterms:modified>
</coreProperties>
</file>