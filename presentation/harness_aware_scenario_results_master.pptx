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562252dfd142dd" /><Relationship Type="http://schemas.openxmlformats.org/officeDocument/2006/relationships/extended-properties" Target="/docProps/app.xml" Id="R6443976947a44f2c" /><Relationship Type="http://schemas.openxmlformats.org/officeDocument/2006/relationships/officeDocument" Target="/ppt/presentation.xml" Id="Rb557275e4f434ed6" /></Relationships>
</file>

<file path=ppt/presentation.xml><?xml version="1.0" encoding="utf-8"?>
<p:presentation xmlns:p="http://schemas.openxmlformats.org/presentationml/2006/main">
  <p:sldMasterIdLst>
    <p:sldMasterId xmlns:r="http://schemas.openxmlformats.org/officeDocument/2006/relationships" id="2147483648" r:id="R701362693c7740fb"/>
  </p:sldMasterIdLst>
  <p:notesMasterIdLst>
    <p:notesMasterId xmlns:r="http://schemas.openxmlformats.org/officeDocument/2006/relationships" r:id="Rcbcce05344d14244"/>
  </p:notesMasterIdLst>
  <p:sldIdLst>
    <p:sldId xmlns:r="http://schemas.openxmlformats.org/officeDocument/2006/relationships" id="256" r:id="Raa6b3ca4e4ba4d59"/>
    <p:sldId xmlns:r="http://schemas.openxmlformats.org/officeDocument/2006/relationships" id="257" r:id="R7e1c56995e034d3f"/>
    <p:sldId xmlns:r="http://schemas.openxmlformats.org/officeDocument/2006/relationships" id="258" r:id="R0cf8101012a247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ae894552eb4199" /><Relationship Type="http://schemas.openxmlformats.org/officeDocument/2006/relationships/slideMaster" Target="/ppt/slideMasters/slideMaster1.xml" Id="R701362693c7740fb" /><Relationship Type="http://schemas.openxmlformats.org/officeDocument/2006/relationships/notesMaster" Target="/ppt/notesMasters/notesMaster1.xml" Id="Rcbcce05344d14244" /><Relationship Type="http://schemas.openxmlformats.org/officeDocument/2006/relationships/presProps" Target="/ppt/presProps.xml" Id="R289154fa08904613" /><Relationship Type="http://schemas.openxmlformats.org/officeDocument/2006/relationships/tableStyles" Target="/ppt/tableStyles.xml" Id="R5375450d17454a9b" /><Relationship Type="http://schemas.openxmlformats.org/officeDocument/2006/relationships/slide" Target="/ppt/slides/slide1.xml" Id="Raa6b3ca4e4ba4d59" /><Relationship Type="http://schemas.openxmlformats.org/officeDocument/2006/relationships/slide" Target="/ppt/slides/slide2.xml" Id="R7e1c56995e034d3f" /><Relationship Type="http://schemas.openxmlformats.org/officeDocument/2006/relationships/slide" Target="/ppt/slides/slide3.xml" Id="R0cf8101012a247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3bf6bab3c84d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b4f9dbfd0d44b1" /><Relationship Type="http://schemas.openxmlformats.org/officeDocument/2006/relationships/notesMaster" Target="/ppt/notesMasters/notesMaster1.xml" Id="R0cb9648b03bf4d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23fca2a59e4726" /><Relationship Type="http://schemas.openxmlformats.org/officeDocument/2006/relationships/notesMaster" Target="/ppt/notesMasters/notesMaster1.xml" Id="R4bbabf14b47949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5c185b3aa144ee" /><Relationship Type="http://schemas.openxmlformats.org/officeDocument/2006/relationships/notesMaster" Target="/ppt/notesMasters/notesMaster1.xml" Id="R3e5bed7c6b6746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1 source: harness_aware_scenario_tracker.html.</a:t>
            </a:r>
          </a:p>
          <a:p xmlns:a="http://schemas.openxmlformats.org/drawingml/2006/main">
            <a:r>
              <a:t/>
            </a:r>
          </a:p>
          <a:p xmlns:a="http://schemas.openxmlformats.org/drawingml/2006/main">
            <a:r>
              <a:t>Setup: same 32 measured replay requests in baseline and controller modes, using the same generated timeline. Baseline submits replay work in arrival order. Controller mode estimates expected replay timing during tool wait, then releases ready replay requests in deadline order before they enter SGLang. The request payload stays the same; only the release sequence changes.</a:t>
            </a:r>
          </a:p>
          <a:p xmlns:a="http://schemas.openxmlformats.org/drawingml/2006/main">
            <a:r>
              <a:t/>
            </a:r>
          </a:p>
          <a:p xmlns:a="http://schemas.openxmlformats.org/drawingml/2006/main">
            <a:r>
              <a:t>Signals: session_id, phase=tool_wait, expected_tool_return_ms, next_ready_eta_ms, deadline_after_ready_ms, tool_wait_class, task_replay_steps.</a:t>
            </a:r>
          </a:p>
          <a:p xmlns:a="http://schemas.openxmlformats.org/drawingml/2006/main">
            <a:r>
              <a:t/>
            </a:r>
          </a:p>
          <a:p xmlns:a="http://schemas.openxmlformats.org/drawingml/2006/main">
            <a:r>
              <a:t>Results: Total TTFT improved from 101.5 s to 86.2 s, or 15.1%. Average TTFT improved from 3.2 s to 2.7 s per replay request. Total lateness improved from 278.7 s to 217.1 s, or 22.1%. Average replay lateness improved from 8.7 s to 6.8 s. P95 lateness improved from 31.3 s to 19.5 s, or 37.6%. Max lateness improved from 31.6 s to 19.6 s, or 38.0%. Trade-off: full workload window increased from 234.7 s to 257.7 s, or 23.0 s longer.</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2 source: harness_aware_scenario_tracker.html.</a:t>
            </a:r>
          </a:p>
          <a:p xmlns:a="http://schemas.openxmlformats.org/drawingml/2006/main">
            <a:r>
              <a:t/>
            </a:r>
          </a:p>
          <a:p xmlns:a="http://schemas.openxmlformats.org/drawingml/2006/main">
            <a:r>
              <a:t>Setup: same 32 replay requests in both modes using the same generated timeline. Each replay session has its own session_id and prefix_id. Baseline waits until replay arrives. Controller mode uses ETA, reuse probability, and recompute cost during tool wait, then requests SGLang-side KV preparation only when the window is safe enough for the load to finish before replay.</a:t>
            </a:r>
          </a:p>
          <a:p xmlns:a="http://schemas.openxmlformats.org/drawingml/2006/main">
            <a:r>
              <a:t/>
            </a:r>
          </a:p>
          <a:p xmlns:a="http://schemas.openxmlformats.org/drawingml/2006/main">
            <a:r>
              <a:t>Run: proactive_kv_management_selective_admission_20260917_062007 compared no_prefetch against controller_proactive_kv_management.</a:t>
            </a:r>
          </a:p>
          <a:p xmlns:a="http://schemas.openxmlformats.org/drawingml/2006/main">
            <a:r>
              <a:t/>
            </a:r>
          </a:p>
          <a:p xmlns:a="http://schemas.openxmlformats.org/drawingml/2006/main">
            <a:r>
              <a:t>Results: Total TTFT improved from 123.1 s to 116.5 s, or 5.3%. Average replay TTFT improved from 3.8 s to 3.6 s. Total lateness improved from 123.4 s to 116.9 s, or 5.3%. Average replay lateness improved from 3.9 s to 3.7 s. P95 lateness was roughly flat, moving from 7.3 s to 7.4 s. Max lateness improved from 10.5 s to 8.3 s. Full workload window was essentially unchanged, moving from 328.6 s to 328.5 s.</a:t>
            </a:r>
          </a:p>
          <a:p xmlns:a="http://schemas.openxmlformats.org/drawingml/2006/main">
            <a:r>
              <a:t/>
            </a:r>
          </a:p>
          <a:p xmlns:a="http://schemas.openxmlformats.org/drawingml/2006/main">
            <a:r>
              <a:t>Mechanism evidence: 21 prefetch requests, 21 backend actions, direct hook available for 21 of 21, 9 prepare plans would load and 12 were already resident. Selective admission skipped 12 already-resident prefixes and 3 host-resident prefixes that were too small to justify loading. It attempted direct load on 6 prefixes. The proof table observed 111 load-back events plus 560 H2D copy events before replay compute, with 48,889 prepared tokens via load_back.</a:t>
            </a:r>
          </a:p>
          <a:p xmlns:a="http://schemas.openxmlformats.org/drawingml/2006/main">
            <a:r>
              <a:t/>
            </a:r>
          </a:p>
          <a:p xmlns:a="http://schemas.openxmlformats.org/drawingml/2006/main">
            <a:r>
              <a:t>Important caveat: the aggregate timing win is modest. Only 11 of 32 paired requests improved individually, so the next tuning direction is better replay-reuse prediction.</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3 source: harness_aware_scenario_tracker.html.</a:t>
            </a:r>
          </a:p>
          <a:p xmlns:a="http://schemas.openxmlformats.org/drawingml/2006/main">
            <a:r>
              <a:t/>
            </a:r>
          </a:p>
          <a:p xmlns:a="http://schemas.openxmlformats.org/drawingml/2006/main">
            <a:r>
              <a:t>Setup: same 32 replay requests in both modes using the same generated timeline. The load generator creates enough concurrent long-context sessions to force KV eviction decisions. Baseline mode runs without value-aware eviction signals. Controller mode scores every replay-capable prefix as high, normal, or low value from harness signals, and SGLang's native priority radix eviction path performs the real eviction.</a:t>
            </a:r>
          </a:p>
          <a:p xmlns:a="http://schemas.openxmlformats.org/drawingml/2006/main">
            <a:r>
              <a:t/>
            </a:r>
          </a:p>
          <a:p xmlns:a="http://schemas.openxmlformats.org/drawingml/2006/main">
            <a:r>
              <a:t>Run: value_aware_eviction_all_requests_fixed_20260917_163518 compared no_prefetch against controller_value_aware_eviction.</a:t>
            </a:r>
          </a:p>
          <a:p xmlns:a="http://schemas.openxmlformats.org/drawingml/2006/main">
            <a:r>
              <a:t/>
            </a:r>
          </a:p>
          <a:p xmlns:a="http://schemas.openxmlformats.org/drawingml/2006/main">
            <a:r>
              <a:t>Results: Total TTFT improved from 482.3 s to 233.5 s, or 51.6%. Average replay TTFT improved from 15.1 s to 7.3 s. Total lateness improved from 1014.0 s to 659.9 s, or 34.9%. Average replay lateness improved from 31.7 s to 20.6 s. The trade-off is that the overall workload window increased from 205.6 s to 268.8 s, or 63.1 s longer.</a:t>
            </a:r>
          </a:p>
          <a:p xmlns:a="http://schemas.openxmlformats.org/drawingml/2006/main">
            <a:r>
              <a:t/>
            </a:r>
          </a:p>
          <a:p xmlns:a="http://schemas.openxmlformats.org/drawingml/2006/main">
            <a:r>
              <a:t>Mechanism evidence: value classes reached SGLang as 23 high, 16 normal, and 9 low values with zero mismatches. SGLang ran with radix priority eviction. Native SGLang and HiCache eviction events were observed: 324 device eviction events and 77 host eviction events.</a:t>
            </a:r>
          </a:p>
          <a:p xmlns:a="http://schemas.openxmlformats.org/drawingml/2006/main">
            <a:r>
              <a:t/>
            </a:r>
          </a:p>
          <a:p xmlns:a="http://schemas.openxmlformats.org/drawingml/2006/main">
            <a:r>
              <a:t>Important caveat: this produced a strong replay responsiveness win, but not a no-cost system win. The next tuning question is how to keep the TTFT and lateness benefit while reducing the workload-window cost.</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e8c1b3143c42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26c76003254f70" /><Relationship Type="http://schemas.openxmlformats.org/officeDocument/2006/relationships/slideLayout" Target="/ppt/slideLayouts/slideLayout1.xml" Id="R8a016a2352d34d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016a2352d34d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3c7df7b1c140a0" /><Relationship Type="http://schemas.openxmlformats.org/officeDocument/2006/relationships/notesSlide" Target="/ppt/notesSlides/notesSlide1.xml" Id="Rda3de1f4088642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90a866c2454422" /><Relationship Type="http://schemas.openxmlformats.org/officeDocument/2006/relationships/notesSlide" Target="/ppt/notesSlides/notesSlide2.xml" Id="Rb18f9d068c024a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f5e85464514f47" /><Relationship Type="http://schemas.openxmlformats.org/officeDocument/2006/relationships/notesSlide" Target="/ppt/notesSlides/notesSlide3.xml" Id="R1d8753d824184a7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501EFE3A-5D53-49A2-816A-B90BF906D85B}"/>
              </a:ext>
            </a:extLst>
          </p:cNvPr>
          <p:cNvSpPr>
            <a:spLocks xmlns:a="http://schemas.openxmlformats.org/drawingml/2006/main" noGrp="1"/>
          </p:cNvSpPr>
          <p:nvPr/>
        </p:nvSpPr>
        <p:spPr>
          <a:xfrm xmlns:a="http://schemas.openxmlformats.org/drawingml/2006/main">
            <a:off x="533400" y="342900"/>
            <a:ext cx="800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1: Deadline-Aware Replay Ordering</a:t>
            </a:r>
          </a:p>
        </p:txBody>
      </p:sp>
      <p:sp>
        <p:nvSpPr>
          <p:cNvPr id="2" name="">
            <a:extLst xmlns:a="http://schemas.openxmlformats.org/drawingml/2006/main">
              <a:ext uri="{FF2B5EF4-FFF2-40B4-BE49-F238E27FC236}">
                <a16:creationId xmlns:a16="http://schemas.microsoft.com/office/drawing/2014/main" id="{04479EE1-9A1F-43CE-914D-DBFC9B6D6DA8}"/>
              </a:ext>
            </a:extLst>
          </p:cNvPr>
          <p:cNvSpPr>
            <a:spLocks xmlns:a="http://schemas.openxmlformats.org/drawingml/2006/main" noGrp="1"/>
          </p:cNvSpPr>
          <p:nvPr/>
        </p:nvSpPr>
        <p:spPr>
          <a:xfrm xmlns:a="http://schemas.openxmlformats.org/drawingml/2006/main">
            <a:off x="552450" y="8382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Harness timing estimates when agents resume, then releases replay work in deadline order.</a:t>
            </a:r>
          </a:p>
        </p:txBody>
      </p:sp>
      <p:sp>
        <p:nvSpPr>
          <p:cNvPr id="3" name="">
            <a:extLst xmlns:a="http://schemas.openxmlformats.org/drawingml/2006/main">
              <a:ext uri="{FF2B5EF4-FFF2-40B4-BE49-F238E27FC236}">
                <a16:creationId xmlns:a16="http://schemas.microsoft.com/office/drawing/2014/main" id="{B1E08D2C-CAB4-4E15-9DCB-9F12F15DA6BD}"/>
              </a:ext>
            </a:extLst>
          </p:cNvPr>
          <p:cNvSpPr>
            <a:spLocks xmlns:a="http://schemas.openxmlformats.org/drawingml/2006/main" noGrp="1"/>
          </p:cNvSpPr>
          <p:nvPr/>
        </p:nvSpPr>
        <p:spPr>
          <a:xfrm xmlns:a="http://schemas.openxmlformats.org/drawingml/2006/main">
            <a:off x="10287000" y="476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2F6F56"/>
                </a:solidFill>
                <a:latin typeface="Helvetica Neue"/>
                <a:ea typeface="Helvetica Neue"/>
                <a:cs typeface="Helvetica Neue"/>
              </a:defRPr>
            </a:pPr>
            <a:r>
              <a:rPr sz="1350" b="1">
                <a:solidFill>
                  <a:srgbClr val="2F6F56"/>
                </a:solidFill>
                <a:latin typeface="Helvetica Neue"/>
                <a:ea typeface="Helvetica Neue"/>
                <a:cs typeface="Helvetica Neue"/>
              </a:rPr>
              <a:t>Clear win</a:t>
            </a:r>
          </a:p>
        </p:txBody>
      </p:sp>
      <p:sp>
        <p:nvSpPr>
          <p:cNvPr id="4" name="">
            <a:extLst xmlns:a="http://schemas.openxmlformats.org/drawingml/2006/main">
              <a:ext uri="{FF2B5EF4-FFF2-40B4-BE49-F238E27FC236}">
                <a16:creationId xmlns:a16="http://schemas.microsoft.com/office/drawing/2014/main" id="{0BC65DE1-9BA0-45F9-90E0-77277C659F3E}"/>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E85E1AE-D214-46A8-ADAE-465E6EC06442}"/>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6CB4C420-622C-4B0D-9998-5254C12E0E8C}"/>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7" name="">
            <a:extLst xmlns:a="http://schemas.openxmlformats.org/drawingml/2006/main">
              <a:ext uri="{FF2B5EF4-FFF2-40B4-BE49-F238E27FC236}">
                <a16:creationId xmlns:a16="http://schemas.microsoft.com/office/drawing/2014/main" id="{5E61760F-E135-48E1-97ED-78B18C4D9CE4}"/>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8" name="">
            <a:extLst xmlns:a="http://schemas.openxmlformats.org/drawingml/2006/main">
              <a:ext uri="{FF2B5EF4-FFF2-40B4-BE49-F238E27FC236}">
                <a16:creationId xmlns:a16="http://schemas.microsoft.com/office/drawing/2014/main" id="{526CE2D4-8997-42B0-A19F-7D75F35A3785}"/>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9" name="">
            <a:extLst xmlns:a="http://schemas.openxmlformats.org/drawingml/2006/main">
              <a:ext uri="{FF2B5EF4-FFF2-40B4-BE49-F238E27FC236}">
                <a16:creationId xmlns:a16="http://schemas.microsoft.com/office/drawing/2014/main" id="{2C56B02E-AA47-4436-AC78-DC9D07728B7E}"/>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Both modes use the same tool-wait timeline.</a:t>
            </a:r>
          </a:p>
        </p:txBody>
      </p:sp>
      <p:sp>
        <p:nvSpPr>
          <p:cNvPr id="10" name="">
            <a:extLst xmlns:a="http://schemas.openxmlformats.org/drawingml/2006/main">
              <a:ext uri="{FF2B5EF4-FFF2-40B4-BE49-F238E27FC236}">
                <a16:creationId xmlns:a16="http://schemas.microsoft.com/office/drawing/2014/main" id="{23378B31-01F3-4382-A123-93DD8D38A816}"/>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1" name="">
            <a:extLst xmlns:a="http://schemas.openxmlformats.org/drawingml/2006/main">
              <a:ext uri="{FF2B5EF4-FFF2-40B4-BE49-F238E27FC236}">
                <a16:creationId xmlns:a16="http://schemas.microsoft.com/office/drawing/2014/main" id="{26C7D899-243B-4F91-AEC8-83E27F58B088}"/>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Tool waits range from very short to long.</a:t>
            </a:r>
          </a:p>
        </p:txBody>
      </p:sp>
      <p:sp>
        <p:nvSpPr>
          <p:cNvPr id="12" name="">
            <a:extLst xmlns:a="http://schemas.openxmlformats.org/drawingml/2006/main">
              <a:ext uri="{FF2B5EF4-FFF2-40B4-BE49-F238E27FC236}">
                <a16:creationId xmlns:a16="http://schemas.microsoft.com/office/drawing/2014/main" id="{169B31E3-F654-4125-8B7A-5001C5A51C9F}"/>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3" name="">
            <a:extLst xmlns:a="http://schemas.openxmlformats.org/drawingml/2006/main">
              <a:ext uri="{FF2B5EF4-FFF2-40B4-BE49-F238E27FC236}">
                <a16:creationId xmlns:a16="http://schemas.microsoft.com/office/drawing/2014/main" id="{3A7C0F1F-D7C2-40A2-A2C2-303798302BE0}"/>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submits replay work in arrival order.</a:t>
            </a:r>
          </a:p>
        </p:txBody>
      </p:sp>
      <p:sp>
        <p:nvSpPr>
          <p:cNvPr id="14" name="">
            <a:extLst xmlns:a="http://schemas.openxmlformats.org/drawingml/2006/main">
              <a:ext uri="{FF2B5EF4-FFF2-40B4-BE49-F238E27FC236}">
                <a16:creationId xmlns:a16="http://schemas.microsoft.com/office/drawing/2014/main" id="{8F4517CD-017F-49E1-85D6-A17911D81258}"/>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15" name="">
            <a:extLst xmlns:a="http://schemas.openxmlformats.org/drawingml/2006/main">
              <a:ext uri="{FF2B5EF4-FFF2-40B4-BE49-F238E27FC236}">
                <a16:creationId xmlns:a16="http://schemas.microsoft.com/office/drawing/2014/main" id="{B35FBC2F-8D30-464B-8D0D-C0307803441A}"/>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16" name="">
            <a:extLst xmlns:a="http://schemas.openxmlformats.org/drawingml/2006/main">
              <a:ext uri="{FF2B5EF4-FFF2-40B4-BE49-F238E27FC236}">
                <a16:creationId xmlns:a16="http://schemas.microsoft.com/office/drawing/2014/main" id="{E5A9D8C3-8292-4E67-A035-E1E52604F76A}"/>
              </a:ext>
            </a:extLst>
          </p:cNvPr>
          <p:cNvSpPr>
            <a:spLocks xmlns:a="http://schemas.openxmlformats.org/drawingml/2006/main" noGrp="1"/>
          </p:cNvSpPr>
          <p:nvPr/>
        </p:nvSpPr>
        <p:spPr>
          <a:xfrm xmlns:a="http://schemas.openxmlformats.org/drawingml/2006/main">
            <a:off x="838200" y="40767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It estimates when each agent will resume, then releases ready replay requests in deadline order. The request payload stays the same; only the release sequence changes.</a:t>
            </a:r>
          </a:p>
        </p:txBody>
      </p:sp>
      <p:sp>
        <p:nvSpPr>
          <p:cNvPr id="17" name="">
            <a:extLst xmlns:a="http://schemas.openxmlformats.org/drawingml/2006/main">
              <a:ext uri="{FF2B5EF4-FFF2-40B4-BE49-F238E27FC236}">
                <a16:creationId xmlns:a16="http://schemas.microsoft.com/office/drawing/2014/main" id="{3250CB48-971A-404B-BB86-21FE5C624AE3}"/>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18" name="">
            <a:extLst xmlns:a="http://schemas.openxmlformats.org/drawingml/2006/main">
              <a:ext uri="{FF2B5EF4-FFF2-40B4-BE49-F238E27FC236}">
                <a16:creationId xmlns:a16="http://schemas.microsoft.com/office/drawing/2014/main" id="{59A3EDC5-2A41-46B5-A020-523924930411}"/>
              </a:ext>
            </a:extLst>
          </p:cNvPr>
          <p:cNvSpPr>
            <a:spLocks xmlns:a="http://schemas.openxmlformats.org/drawingml/2006/main" noGrp="1"/>
          </p:cNvSpPr>
          <p:nvPr/>
        </p:nvSpPr>
        <p:spPr>
          <a:xfrm xmlns:a="http://schemas.openxmlformats.org/drawingml/2006/main">
            <a:off x="5619750" y="1828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clear-win run: deadline_predictive_queue_submitprio_20260916_221604</a:t>
            </a:r>
          </a:p>
        </p:txBody>
      </p:sp>
      <p:sp>
        <p:nvSpPr>
          <p:cNvPr id="19" name="">
            <a:extLst xmlns:a="http://schemas.openxmlformats.org/drawingml/2006/main">
              <a:ext uri="{FF2B5EF4-FFF2-40B4-BE49-F238E27FC236}">
                <a16:creationId xmlns:a16="http://schemas.microsoft.com/office/drawing/2014/main" id="{EEBFA014-DF7A-484D-B374-5857A4C5F055}"/>
              </a:ext>
            </a:extLst>
          </p:cNvPr>
          <p:cNvSpPr>
            <a:spLocks xmlns:a="http://schemas.openxmlformats.org/drawingml/2006/main" noGrp="1"/>
          </p:cNvSpPr>
          <p:nvPr/>
        </p:nvSpPr>
        <p:spPr>
          <a:xfrm xmlns:a="http://schemas.openxmlformats.org/drawingml/2006/main">
            <a:off x="5619750" y="2171700"/>
            <a:ext cx="257175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0" name="">
            <a:extLst xmlns:a="http://schemas.openxmlformats.org/drawingml/2006/main">
              <a:ext uri="{FF2B5EF4-FFF2-40B4-BE49-F238E27FC236}">
                <a16:creationId xmlns:a16="http://schemas.microsoft.com/office/drawing/2014/main" id="{3776D0A7-5090-476F-B01D-EDEC51A945EE}"/>
              </a:ext>
            </a:extLst>
          </p:cNvPr>
          <p:cNvSpPr>
            <a:spLocks xmlns:a="http://schemas.openxmlformats.org/drawingml/2006/main" noGrp="1"/>
          </p:cNvSpPr>
          <p:nvPr/>
        </p:nvSpPr>
        <p:spPr>
          <a:xfrm xmlns:a="http://schemas.openxmlformats.org/drawingml/2006/main">
            <a:off x="57721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TTFT</a:t>
            </a:r>
          </a:p>
        </p:txBody>
      </p:sp>
      <p:sp>
        <p:nvSpPr>
          <p:cNvPr id="21" name="">
            <a:extLst xmlns:a="http://schemas.openxmlformats.org/drawingml/2006/main">
              <a:ext uri="{FF2B5EF4-FFF2-40B4-BE49-F238E27FC236}">
                <a16:creationId xmlns:a16="http://schemas.microsoft.com/office/drawing/2014/main" id="{FBDCD185-D268-4D40-B9B5-6A8DCBE67EAF}"/>
              </a:ext>
            </a:extLst>
          </p:cNvPr>
          <p:cNvSpPr>
            <a:spLocks xmlns:a="http://schemas.openxmlformats.org/drawingml/2006/main" noGrp="1"/>
          </p:cNvSpPr>
          <p:nvPr/>
        </p:nvSpPr>
        <p:spPr>
          <a:xfrm xmlns:a="http://schemas.openxmlformats.org/drawingml/2006/main">
            <a:off x="57721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15.1% better</a:t>
            </a:r>
          </a:p>
        </p:txBody>
      </p:sp>
      <p:sp>
        <p:nvSpPr>
          <p:cNvPr id="22" name="">
            <a:extLst xmlns:a="http://schemas.openxmlformats.org/drawingml/2006/main">
              <a:ext uri="{FF2B5EF4-FFF2-40B4-BE49-F238E27FC236}">
                <a16:creationId xmlns:a16="http://schemas.microsoft.com/office/drawing/2014/main" id="{53CB441C-0545-42B0-900B-BE61A86C6607}"/>
              </a:ext>
            </a:extLst>
          </p:cNvPr>
          <p:cNvSpPr>
            <a:spLocks xmlns:a="http://schemas.openxmlformats.org/drawingml/2006/main" noGrp="1"/>
          </p:cNvSpPr>
          <p:nvPr/>
        </p:nvSpPr>
        <p:spPr>
          <a:xfrm xmlns:a="http://schemas.openxmlformats.org/drawingml/2006/main">
            <a:off x="57721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101.5 s to 86.2 s</a:t>
            </a:r>
          </a:p>
        </p:txBody>
      </p:sp>
      <p:sp>
        <p:nvSpPr>
          <p:cNvPr id="23" name="">
            <a:extLst xmlns:a="http://schemas.openxmlformats.org/drawingml/2006/main">
              <a:ext uri="{FF2B5EF4-FFF2-40B4-BE49-F238E27FC236}">
                <a16:creationId xmlns:a16="http://schemas.microsoft.com/office/drawing/2014/main" id="{9765193B-260C-4FAE-A962-2D48239E6863}"/>
              </a:ext>
            </a:extLst>
          </p:cNvPr>
          <p:cNvSpPr>
            <a:spLocks xmlns:a="http://schemas.openxmlformats.org/drawingml/2006/main" noGrp="1"/>
          </p:cNvSpPr>
          <p:nvPr/>
        </p:nvSpPr>
        <p:spPr>
          <a:xfrm xmlns:a="http://schemas.openxmlformats.org/drawingml/2006/main">
            <a:off x="8401050" y="2171700"/>
            <a:ext cx="257175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4" name="">
            <a:extLst xmlns:a="http://schemas.openxmlformats.org/drawingml/2006/main">
              <a:ext uri="{FF2B5EF4-FFF2-40B4-BE49-F238E27FC236}">
                <a16:creationId xmlns:a16="http://schemas.microsoft.com/office/drawing/2014/main" id="{57649084-AD29-43C6-A954-0D3CA31BD79B}"/>
              </a:ext>
            </a:extLst>
          </p:cNvPr>
          <p:cNvSpPr>
            <a:spLocks xmlns:a="http://schemas.openxmlformats.org/drawingml/2006/main" noGrp="1"/>
          </p:cNvSpPr>
          <p:nvPr/>
        </p:nvSpPr>
        <p:spPr>
          <a:xfrm xmlns:a="http://schemas.openxmlformats.org/drawingml/2006/main">
            <a:off x="85534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Avg TTFT per request</a:t>
            </a:r>
          </a:p>
        </p:txBody>
      </p:sp>
      <p:sp>
        <p:nvSpPr>
          <p:cNvPr id="25" name="">
            <a:extLst xmlns:a="http://schemas.openxmlformats.org/drawingml/2006/main">
              <a:ext uri="{FF2B5EF4-FFF2-40B4-BE49-F238E27FC236}">
                <a16:creationId xmlns:a16="http://schemas.microsoft.com/office/drawing/2014/main" id="{F26F7CA0-C106-4ABF-A41E-4FA06F101686}"/>
              </a:ext>
            </a:extLst>
          </p:cNvPr>
          <p:cNvSpPr>
            <a:spLocks xmlns:a="http://schemas.openxmlformats.org/drawingml/2006/main" noGrp="1"/>
          </p:cNvSpPr>
          <p:nvPr/>
        </p:nvSpPr>
        <p:spPr>
          <a:xfrm xmlns:a="http://schemas.openxmlformats.org/drawingml/2006/main">
            <a:off x="85534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0.5 s faster</a:t>
            </a:r>
          </a:p>
        </p:txBody>
      </p:sp>
      <p:sp>
        <p:nvSpPr>
          <p:cNvPr id="26" name="">
            <a:extLst xmlns:a="http://schemas.openxmlformats.org/drawingml/2006/main">
              <a:ext uri="{FF2B5EF4-FFF2-40B4-BE49-F238E27FC236}">
                <a16:creationId xmlns:a16="http://schemas.microsoft.com/office/drawing/2014/main" id="{D467DF82-1AD7-4288-A8D0-ACA75B34389F}"/>
              </a:ext>
            </a:extLst>
          </p:cNvPr>
          <p:cNvSpPr>
            <a:spLocks xmlns:a="http://schemas.openxmlformats.org/drawingml/2006/main" noGrp="1"/>
          </p:cNvSpPr>
          <p:nvPr/>
        </p:nvSpPr>
        <p:spPr>
          <a:xfrm xmlns:a="http://schemas.openxmlformats.org/drawingml/2006/main">
            <a:off x="85534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3.2 s to 2.7 s</a:t>
            </a:r>
          </a:p>
        </p:txBody>
      </p:sp>
      <p:sp>
        <p:nvSpPr>
          <p:cNvPr id="27" name="">
            <a:extLst xmlns:a="http://schemas.openxmlformats.org/drawingml/2006/main">
              <a:ext uri="{FF2B5EF4-FFF2-40B4-BE49-F238E27FC236}">
                <a16:creationId xmlns:a16="http://schemas.microsoft.com/office/drawing/2014/main" id="{9C2A938E-8F42-4ECB-87BB-B55E1708B235}"/>
              </a:ext>
            </a:extLst>
          </p:cNvPr>
          <p:cNvSpPr>
            <a:spLocks xmlns:a="http://schemas.openxmlformats.org/drawingml/2006/main" noGrp="1"/>
          </p:cNvSpPr>
          <p:nvPr/>
        </p:nvSpPr>
        <p:spPr>
          <a:xfrm xmlns:a="http://schemas.openxmlformats.org/drawingml/2006/main">
            <a:off x="5619750" y="3238500"/>
            <a:ext cx="257175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8" name="">
            <a:extLst xmlns:a="http://schemas.openxmlformats.org/drawingml/2006/main">
              <a:ext uri="{FF2B5EF4-FFF2-40B4-BE49-F238E27FC236}">
                <a16:creationId xmlns:a16="http://schemas.microsoft.com/office/drawing/2014/main" id="{CECADDB1-2AFB-4FD1-A7CD-907FBDE78105}"/>
              </a:ext>
            </a:extLst>
          </p:cNvPr>
          <p:cNvSpPr>
            <a:spLocks xmlns:a="http://schemas.openxmlformats.org/drawingml/2006/main" noGrp="1"/>
          </p:cNvSpPr>
          <p:nvPr/>
        </p:nvSpPr>
        <p:spPr>
          <a:xfrm xmlns:a="http://schemas.openxmlformats.org/drawingml/2006/main">
            <a:off x="5772150" y="33528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lateness</a:t>
            </a:r>
          </a:p>
        </p:txBody>
      </p:sp>
      <p:sp>
        <p:nvSpPr>
          <p:cNvPr id="29" name="">
            <a:extLst xmlns:a="http://schemas.openxmlformats.org/drawingml/2006/main">
              <a:ext uri="{FF2B5EF4-FFF2-40B4-BE49-F238E27FC236}">
                <a16:creationId xmlns:a16="http://schemas.microsoft.com/office/drawing/2014/main" id="{4D8320EC-2EB6-44C0-8BC2-40FECCC21DF3}"/>
              </a:ext>
            </a:extLst>
          </p:cNvPr>
          <p:cNvSpPr>
            <a:spLocks xmlns:a="http://schemas.openxmlformats.org/drawingml/2006/main" noGrp="1"/>
          </p:cNvSpPr>
          <p:nvPr/>
        </p:nvSpPr>
        <p:spPr>
          <a:xfrm xmlns:a="http://schemas.openxmlformats.org/drawingml/2006/main">
            <a:off x="5772150" y="35814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22.1% better</a:t>
            </a:r>
          </a:p>
        </p:txBody>
      </p:sp>
      <p:sp>
        <p:nvSpPr>
          <p:cNvPr id="30" name="">
            <a:extLst xmlns:a="http://schemas.openxmlformats.org/drawingml/2006/main">
              <a:ext uri="{FF2B5EF4-FFF2-40B4-BE49-F238E27FC236}">
                <a16:creationId xmlns:a16="http://schemas.microsoft.com/office/drawing/2014/main" id="{0EBF8321-D64D-44E1-A1C1-9EB6BB0F6466}"/>
              </a:ext>
            </a:extLst>
          </p:cNvPr>
          <p:cNvSpPr>
            <a:spLocks xmlns:a="http://schemas.openxmlformats.org/drawingml/2006/main" noGrp="1"/>
          </p:cNvSpPr>
          <p:nvPr/>
        </p:nvSpPr>
        <p:spPr>
          <a:xfrm xmlns:a="http://schemas.openxmlformats.org/drawingml/2006/main">
            <a:off x="5772150" y="38671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278.7 s to 217.1 s</a:t>
            </a:r>
          </a:p>
        </p:txBody>
      </p:sp>
      <p:sp>
        <p:nvSpPr>
          <p:cNvPr id="31" name="">
            <a:extLst xmlns:a="http://schemas.openxmlformats.org/drawingml/2006/main">
              <a:ext uri="{FF2B5EF4-FFF2-40B4-BE49-F238E27FC236}">
                <a16:creationId xmlns:a16="http://schemas.microsoft.com/office/drawing/2014/main" id="{CEC83AF0-6B53-4E3C-915E-024BB7A8AEED}"/>
              </a:ext>
            </a:extLst>
          </p:cNvPr>
          <p:cNvSpPr>
            <a:spLocks xmlns:a="http://schemas.openxmlformats.org/drawingml/2006/main" noGrp="1"/>
          </p:cNvSpPr>
          <p:nvPr/>
        </p:nvSpPr>
        <p:spPr>
          <a:xfrm xmlns:a="http://schemas.openxmlformats.org/drawingml/2006/main">
            <a:off x="8401050" y="3238500"/>
            <a:ext cx="257175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32" name="">
            <a:extLst xmlns:a="http://schemas.openxmlformats.org/drawingml/2006/main">
              <a:ext uri="{FF2B5EF4-FFF2-40B4-BE49-F238E27FC236}">
                <a16:creationId xmlns:a16="http://schemas.microsoft.com/office/drawing/2014/main" id="{761673CD-3B24-413A-87ED-024E3A045041}"/>
              </a:ext>
            </a:extLst>
          </p:cNvPr>
          <p:cNvSpPr>
            <a:spLocks xmlns:a="http://schemas.openxmlformats.org/drawingml/2006/main" noGrp="1"/>
          </p:cNvSpPr>
          <p:nvPr/>
        </p:nvSpPr>
        <p:spPr>
          <a:xfrm xmlns:a="http://schemas.openxmlformats.org/drawingml/2006/main">
            <a:off x="8553450" y="33528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P95 lateness</a:t>
            </a:r>
          </a:p>
        </p:txBody>
      </p:sp>
      <p:sp>
        <p:nvSpPr>
          <p:cNvPr id="33" name="">
            <a:extLst xmlns:a="http://schemas.openxmlformats.org/drawingml/2006/main">
              <a:ext uri="{FF2B5EF4-FFF2-40B4-BE49-F238E27FC236}">
                <a16:creationId xmlns:a16="http://schemas.microsoft.com/office/drawing/2014/main" id="{C83F8DE5-CEBE-46FD-ABC1-4D6B9D843D5B}"/>
              </a:ext>
            </a:extLst>
          </p:cNvPr>
          <p:cNvSpPr>
            <a:spLocks xmlns:a="http://schemas.openxmlformats.org/drawingml/2006/main" noGrp="1"/>
          </p:cNvSpPr>
          <p:nvPr/>
        </p:nvSpPr>
        <p:spPr>
          <a:xfrm xmlns:a="http://schemas.openxmlformats.org/drawingml/2006/main">
            <a:off x="8553450" y="35814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37.6% better</a:t>
            </a:r>
          </a:p>
        </p:txBody>
      </p:sp>
      <p:sp>
        <p:nvSpPr>
          <p:cNvPr id="34" name="">
            <a:extLst xmlns:a="http://schemas.openxmlformats.org/drawingml/2006/main">
              <a:ext uri="{FF2B5EF4-FFF2-40B4-BE49-F238E27FC236}">
                <a16:creationId xmlns:a16="http://schemas.microsoft.com/office/drawing/2014/main" id="{B80EDE76-F5C0-443C-9470-7FED337646B9}"/>
              </a:ext>
            </a:extLst>
          </p:cNvPr>
          <p:cNvSpPr>
            <a:spLocks xmlns:a="http://schemas.openxmlformats.org/drawingml/2006/main" noGrp="1"/>
          </p:cNvSpPr>
          <p:nvPr/>
        </p:nvSpPr>
        <p:spPr>
          <a:xfrm xmlns:a="http://schemas.openxmlformats.org/drawingml/2006/main">
            <a:off x="8553450" y="38671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31.3 s to 19.5 s</a:t>
            </a:r>
          </a:p>
        </p:txBody>
      </p:sp>
      <p:sp>
        <p:nvSpPr>
          <p:cNvPr id="35" name="">
            <a:extLst xmlns:a="http://schemas.openxmlformats.org/drawingml/2006/main">
              <a:ext uri="{FF2B5EF4-FFF2-40B4-BE49-F238E27FC236}">
                <a16:creationId xmlns:a16="http://schemas.microsoft.com/office/drawing/2014/main" id="{912FED48-FD68-4DF1-BD57-67CD233509FE}"/>
              </a:ext>
            </a:extLst>
          </p:cNvPr>
          <p:cNvSpPr>
            <a:spLocks xmlns:a="http://schemas.openxmlformats.org/drawingml/2006/main" noGrp="1"/>
          </p:cNvSpPr>
          <p:nvPr/>
        </p:nvSpPr>
        <p:spPr>
          <a:xfrm xmlns:a="http://schemas.openxmlformats.org/drawingml/2006/main">
            <a:off x="5619750" y="4305300"/>
            <a:ext cx="5353050" cy="876300"/>
          </a:xfrm>
          <a:prstGeom xmlns:a="http://schemas.openxmlformats.org/drawingml/2006/main" prst="rect">
            <a:avLst/>
          </a:prstGeom>
          <a:solidFill xmlns:a="http://schemas.openxmlformats.org/drawingml/2006/main">
            <a:srgbClr val="F3F6FA"/>
          </a:solidFill>
          <a:ln xmlns:a="http://schemas.openxmlformats.org/drawingml/2006/main" w="9525">
            <a:solidFill>
              <a:srgbClr val="DBE4EF"/>
            </a:solidFill>
            <a:prstDash val="solid"/>
          </a:ln>
        </p:spPr>
      </p:sp>
      <p:sp>
        <p:nvSpPr>
          <p:cNvPr id="36" name="">
            <a:extLst xmlns:a="http://schemas.openxmlformats.org/drawingml/2006/main">
              <a:ext uri="{FF2B5EF4-FFF2-40B4-BE49-F238E27FC236}">
                <a16:creationId xmlns:a16="http://schemas.microsoft.com/office/drawing/2014/main" id="{FCE79FED-98D5-40FD-BA8F-28310D4A1230}"/>
              </a:ext>
            </a:extLst>
          </p:cNvPr>
          <p:cNvSpPr>
            <a:spLocks xmlns:a="http://schemas.openxmlformats.org/drawingml/2006/main" noGrp="1"/>
          </p:cNvSpPr>
          <p:nvPr/>
        </p:nvSpPr>
        <p:spPr>
          <a:xfrm xmlns:a="http://schemas.openxmlformats.org/drawingml/2006/main">
            <a:off x="5772150" y="4419600"/>
            <a:ext cx="504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Trade-off</a:t>
            </a:r>
          </a:p>
        </p:txBody>
      </p:sp>
      <p:sp>
        <p:nvSpPr>
          <p:cNvPr id="37" name="">
            <a:extLst xmlns:a="http://schemas.openxmlformats.org/drawingml/2006/main">
              <a:ext uri="{FF2B5EF4-FFF2-40B4-BE49-F238E27FC236}">
                <a16:creationId xmlns:a16="http://schemas.microsoft.com/office/drawing/2014/main" id="{09DBB3E3-CD62-44B3-9A13-6E027CB58E30}"/>
              </a:ext>
            </a:extLst>
          </p:cNvPr>
          <p:cNvSpPr>
            <a:spLocks xmlns:a="http://schemas.openxmlformats.org/drawingml/2006/main" noGrp="1"/>
          </p:cNvSpPr>
          <p:nvPr/>
        </p:nvSpPr>
        <p:spPr>
          <a:xfrm xmlns:a="http://schemas.openxmlformats.org/drawingml/2006/main">
            <a:off x="5772150" y="464820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334155"/>
                </a:solidFill>
                <a:latin typeface="Helvetica Neue"/>
                <a:ea typeface="Helvetica Neue"/>
                <a:cs typeface="Helvetica Neue"/>
              </a:defRPr>
            </a:pPr>
            <a:r>
              <a:rPr sz="1725" b="1">
                <a:solidFill>
                  <a:srgbClr val="334155"/>
                </a:solidFill>
                <a:latin typeface="Helvetica Neue"/>
                <a:ea typeface="Helvetica Neue"/>
                <a:cs typeface="Helvetica Neue"/>
              </a:rPr>
              <a:t>23.0 s longer</a:t>
            </a:r>
          </a:p>
        </p:txBody>
      </p:sp>
      <p:sp>
        <p:nvSpPr>
          <p:cNvPr id="38" name="">
            <a:extLst xmlns:a="http://schemas.openxmlformats.org/drawingml/2006/main">
              <a:ext uri="{FF2B5EF4-FFF2-40B4-BE49-F238E27FC236}">
                <a16:creationId xmlns:a16="http://schemas.microsoft.com/office/drawing/2014/main" id="{4B8A5FBA-756A-4BBA-B2C4-96092C6839D3}"/>
              </a:ext>
            </a:extLst>
          </p:cNvPr>
          <p:cNvSpPr>
            <a:spLocks xmlns:a="http://schemas.openxmlformats.org/drawingml/2006/main" noGrp="1"/>
          </p:cNvSpPr>
          <p:nvPr/>
        </p:nvSpPr>
        <p:spPr>
          <a:xfrm xmlns:a="http://schemas.openxmlformats.org/drawingml/2006/main">
            <a:off x="5772150" y="4933950"/>
            <a:ext cx="504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Workload window: 234.7 s to 257.7 s</a:t>
            </a:r>
          </a:p>
        </p:txBody>
      </p:sp>
      <p:sp>
        <p:nvSpPr>
          <p:cNvPr id="39" name="">
            <a:extLst xmlns:a="http://schemas.openxmlformats.org/drawingml/2006/main">
              <a:ext uri="{FF2B5EF4-FFF2-40B4-BE49-F238E27FC236}">
                <a16:creationId xmlns:a16="http://schemas.microsoft.com/office/drawing/2014/main" id="{FDEF2E8B-3ECA-4758-AF8B-ABB588CB2210}"/>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10413AE6-8D9C-44DF-A249-49C9BF511BFC}"/>
              </a:ext>
            </a:extLst>
          </p:cNvPr>
          <p:cNvSpPr>
            <a:spLocks xmlns:a="http://schemas.openxmlformats.org/drawingml/2006/main" noGrp="1"/>
          </p:cNvSpPr>
          <p:nvPr/>
        </p:nvSpPr>
        <p:spPr>
          <a:xfrm xmlns:a="http://schemas.openxmlformats.org/drawingml/2006/main">
            <a:off x="628650" y="57912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Takeaway</a:t>
            </a:r>
          </a:p>
        </p:txBody>
      </p:sp>
      <p:sp>
        <p:nvSpPr>
          <p:cNvPr id="41" name="">
            <a:extLst xmlns:a="http://schemas.openxmlformats.org/drawingml/2006/main">
              <a:ext uri="{FF2B5EF4-FFF2-40B4-BE49-F238E27FC236}">
                <a16:creationId xmlns:a16="http://schemas.microsoft.com/office/drawing/2014/main" id="{68A49374-474D-445C-B46A-E00964FABC07}"/>
              </a:ext>
            </a:extLst>
          </p:cNvPr>
          <p:cNvSpPr>
            <a:spLocks xmlns:a="http://schemas.openxmlformats.org/drawingml/2006/main" noGrp="1"/>
          </p:cNvSpPr>
          <p:nvPr/>
        </p:nvSpPr>
        <p:spPr>
          <a:xfrm xmlns:a="http://schemas.openxmlformats.org/drawingml/2006/main">
            <a:off x="1962150" y="57912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Using harness timing to order replay work reduced replay delay across the full workload.</a:t>
            </a:r>
          </a:p>
        </p:txBody>
      </p:sp>
      <p:sp>
        <p:nvSpPr>
          <p:cNvPr id="42" name="">
            <a:extLst xmlns:a="http://schemas.openxmlformats.org/drawingml/2006/main">
              <a:ext uri="{FF2B5EF4-FFF2-40B4-BE49-F238E27FC236}">
                <a16:creationId xmlns:a16="http://schemas.microsoft.com/office/drawing/2014/main" id="{E685D8DF-0652-4918-A945-4466A34694F9}"/>
              </a:ext>
            </a:extLst>
          </p:cNvPr>
          <p:cNvSpPr>
            <a:spLocks xmlns:a="http://schemas.openxmlformats.org/drawingml/2006/main" noGrp="1"/>
          </p:cNvSpPr>
          <p:nvPr/>
        </p:nvSpPr>
        <p:spPr>
          <a:xfrm xmlns:a="http://schemas.openxmlformats.org/drawingml/2006/main">
            <a:off x="552450" y="64198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Source: Harness-Aware Scenario Tracker</a:t>
            </a:r>
          </a:p>
        </p:txBody>
      </p:sp>
    </p:spTree>
    <p:extLst>
      <p:ext uri="{BB962C8B-B14F-4D97-AF65-F5344CB8AC3E}">
        <p14:creationId xmlns:p14="http://schemas.microsoft.com/office/powerpoint/2010/main" val="318884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E0B451F9-1290-4384-8359-C1FD85E33F64}"/>
              </a:ext>
            </a:extLst>
          </p:cNvPr>
          <p:cNvSpPr>
            <a:spLocks xmlns:a="http://schemas.openxmlformats.org/drawingml/2006/main" noGrp="1"/>
          </p:cNvSpPr>
          <p:nvPr/>
        </p:nvSpPr>
        <p:spPr>
          <a:xfrm xmlns:a="http://schemas.openxmlformats.org/drawingml/2006/main">
            <a:off x="533400" y="342900"/>
            <a:ext cx="781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2: Proactive KV Preparation</a:t>
            </a:r>
          </a:p>
        </p:txBody>
      </p:sp>
      <p:sp>
        <p:nvSpPr>
          <p:cNvPr id="2" name="">
            <a:extLst xmlns:a="http://schemas.openxmlformats.org/drawingml/2006/main">
              <a:ext uri="{FF2B5EF4-FFF2-40B4-BE49-F238E27FC236}">
                <a16:creationId xmlns:a16="http://schemas.microsoft.com/office/drawing/2014/main" id="{564617A7-6086-4EA1-8B9F-A554D076269B}"/>
              </a:ext>
            </a:extLst>
          </p:cNvPr>
          <p:cNvSpPr>
            <a:spLocks xmlns:a="http://schemas.openxmlformats.org/drawingml/2006/main" noGrp="1"/>
          </p:cNvSpPr>
          <p:nvPr/>
        </p:nvSpPr>
        <p:spPr>
          <a:xfrm xmlns:a="http://schemas.openxmlformats.org/drawingml/2006/main">
            <a:off x="552450" y="838200"/>
            <a:ext cx="895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During tool wait, the backend prepares useful host-backed KV before replay arrives.</a:t>
            </a:r>
          </a:p>
        </p:txBody>
      </p:sp>
      <p:sp>
        <p:nvSpPr>
          <p:cNvPr id="3" name="">
            <a:extLst xmlns:a="http://schemas.openxmlformats.org/drawingml/2006/main">
              <a:ext uri="{FF2B5EF4-FFF2-40B4-BE49-F238E27FC236}">
                <a16:creationId xmlns:a16="http://schemas.microsoft.com/office/drawing/2014/main" id="{D6D3DC21-989E-4397-8157-2EC78F5F4394}"/>
              </a:ext>
            </a:extLst>
          </p:cNvPr>
          <p:cNvSpPr>
            <a:spLocks xmlns:a="http://schemas.openxmlformats.org/drawingml/2006/main" noGrp="1"/>
          </p:cNvSpPr>
          <p:nvPr/>
        </p:nvSpPr>
        <p:spPr>
          <a:xfrm xmlns:a="http://schemas.openxmlformats.org/drawingml/2006/main">
            <a:off x="10287000" y="476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2F6F56"/>
                </a:solidFill>
                <a:latin typeface="Helvetica Neue"/>
                <a:ea typeface="Helvetica Neue"/>
                <a:cs typeface="Helvetica Neue"/>
              </a:defRPr>
            </a:pPr>
            <a:r>
              <a:rPr sz="1350" b="1">
                <a:solidFill>
                  <a:srgbClr val="2F6F56"/>
                </a:solidFill>
                <a:latin typeface="Helvetica Neue"/>
                <a:ea typeface="Helvetica Neue"/>
                <a:cs typeface="Helvetica Neue"/>
              </a:rPr>
              <a:t>Modest win</a:t>
            </a:r>
          </a:p>
        </p:txBody>
      </p:sp>
      <p:sp>
        <p:nvSpPr>
          <p:cNvPr id="4" name="">
            <a:extLst xmlns:a="http://schemas.openxmlformats.org/drawingml/2006/main">
              <a:ext uri="{FF2B5EF4-FFF2-40B4-BE49-F238E27FC236}">
                <a16:creationId xmlns:a16="http://schemas.microsoft.com/office/drawing/2014/main" id="{2560B120-1A3E-4142-A536-8D658E27DF94}"/>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A4E957A-7F5B-4038-8B8D-1782AC1B93CE}"/>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5B516D41-B236-436E-A5BD-EEFDBFBC6337}"/>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7" name="">
            <a:extLst xmlns:a="http://schemas.openxmlformats.org/drawingml/2006/main">
              <a:ext uri="{FF2B5EF4-FFF2-40B4-BE49-F238E27FC236}">
                <a16:creationId xmlns:a16="http://schemas.microsoft.com/office/drawing/2014/main" id="{103FFF5D-09AF-419B-BEA6-07A9D6362215}"/>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8" name="">
            <a:extLst xmlns:a="http://schemas.openxmlformats.org/drawingml/2006/main">
              <a:ext uri="{FF2B5EF4-FFF2-40B4-BE49-F238E27FC236}">
                <a16:creationId xmlns:a16="http://schemas.microsoft.com/office/drawing/2014/main" id="{9B369722-A7BB-4C89-BADD-2241D022A2F1}"/>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9" name="">
            <a:extLst xmlns:a="http://schemas.openxmlformats.org/drawingml/2006/main">
              <a:ext uri="{FF2B5EF4-FFF2-40B4-BE49-F238E27FC236}">
                <a16:creationId xmlns:a16="http://schemas.microsoft.com/office/drawing/2014/main" id="{45F4C7CA-D71D-45F3-9297-32A825AAE948}"/>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Both modes use the same long tool-wait timeline.</a:t>
            </a:r>
          </a:p>
        </p:txBody>
      </p:sp>
      <p:sp>
        <p:nvSpPr>
          <p:cNvPr id="10" name="">
            <a:extLst xmlns:a="http://schemas.openxmlformats.org/drawingml/2006/main">
              <a:ext uri="{FF2B5EF4-FFF2-40B4-BE49-F238E27FC236}">
                <a16:creationId xmlns:a16="http://schemas.microsoft.com/office/drawing/2014/main" id="{D2AB9321-9699-4A03-A00D-5F99D3CA4848}"/>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1" name="">
            <a:extLst xmlns:a="http://schemas.openxmlformats.org/drawingml/2006/main">
              <a:ext uri="{FF2B5EF4-FFF2-40B4-BE49-F238E27FC236}">
                <a16:creationId xmlns:a16="http://schemas.microsoft.com/office/drawing/2014/main" id="{6A7F2BD3-E0CD-4ED0-B76E-D0DE12A6EC81}"/>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waits until replay arrives.</a:t>
            </a:r>
          </a:p>
        </p:txBody>
      </p:sp>
      <p:sp>
        <p:nvSpPr>
          <p:cNvPr id="12" name="">
            <a:extLst xmlns:a="http://schemas.openxmlformats.org/drawingml/2006/main">
              <a:ext uri="{FF2B5EF4-FFF2-40B4-BE49-F238E27FC236}">
                <a16:creationId xmlns:a16="http://schemas.microsoft.com/office/drawing/2014/main" id="{324A716E-535E-4904-8148-B3F258E4DBA1}"/>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3" name="">
            <a:extLst xmlns:a="http://schemas.openxmlformats.org/drawingml/2006/main">
              <a:ext uri="{FF2B5EF4-FFF2-40B4-BE49-F238E27FC236}">
                <a16:creationId xmlns:a16="http://schemas.microsoft.com/office/drawing/2014/main" id="{04413196-4E0A-4E84-9D81-92612852B58A}"/>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Controller mode prepares only useful KV.</a:t>
            </a:r>
          </a:p>
        </p:txBody>
      </p:sp>
      <p:sp>
        <p:nvSpPr>
          <p:cNvPr id="14" name="">
            <a:extLst xmlns:a="http://schemas.openxmlformats.org/drawingml/2006/main">
              <a:ext uri="{FF2B5EF4-FFF2-40B4-BE49-F238E27FC236}">
                <a16:creationId xmlns:a16="http://schemas.microsoft.com/office/drawing/2014/main" id="{EDDF3B48-80AC-4450-BAA3-645C3EEA521D}"/>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15" name="">
            <a:extLst xmlns:a="http://schemas.openxmlformats.org/drawingml/2006/main">
              <a:ext uri="{FF2B5EF4-FFF2-40B4-BE49-F238E27FC236}">
                <a16:creationId xmlns:a16="http://schemas.microsoft.com/office/drawing/2014/main" id="{ED2B3D40-69FE-412E-853B-D0B3E0AA606A}"/>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16" name="">
            <a:extLst xmlns:a="http://schemas.openxmlformats.org/drawingml/2006/main">
              <a:ext uri="{FF2B5EF4-FFF2-40B4-BE49-F238E27FC236}">
                <a16:creationId xmlns:a16="http://schemas.microsoft.com/office/drawing/2014/main" id="{6E09F8E4-6B56-4B58-B1B2-296E11B6D2DE}"/>
              </a:ext>
            </a:extLst>
          </p:cNvPr>
          <p:cNvSpPr>
            <a:spLocks xmlns:a="http://schemas.openxmlformats.org/drawingml/2006/main" noGrp="1"/>
          </p:cNvSpPr>
          <p:nvPr/>
        </p:nvSpPr>
        <p:spPr>
          <a:xfrm xmlns:a="http://schemas.openxmlformats.org/drawingml/2006/main">
            <a:off x="838200" y="4076700"/>
            <a:ext cx="3714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38" b="0">
                <a:solidFill>
                  <a:srgbClr val="334155"/>
                </a:solidFill>
                <a:latin typeface="Helvetica Neue"/>
                <a:ea typeface="Helvetica Neue"/>
                <a:cs typeface="Helvetica Neue"/>
              </a:defRPr>
            </a:pPr>
            <a:r>
              <a:rPr sz="1238" b="0">
                <a:solidFill>
                  <a:srgbClr val="334155"/>
                </a:solidFill>
                <a:latin typeface="Helvetica Neue"/>
                <a:ea typeface="Helvetica Neue"/>
                <a:cs typeface="Helvetica Neue"/>
              </a:rPr>
              <a:t>It checks SGLang's live cache state before moving anything. Already-on-GPU prefixes are skipped. Small or unsafe loads are skipped. Useful host-backed KV is prepared through SGLang's own path.</a:t>
            </a:r>
          </a:p>
        </p:txBody>
      </p:sp>
      <p:sp>
        <p:nvSpPr>
          <p:cNvPr id="17" name="">
            <a:extLst xmlns:a="http://schemas.openxmlformats.org/drawingml/2006/main">
              <a:ext uri="{FF2B5EF4-FFF2-40B4-BE49-F238E27FC236}">
                <a16:creationId xmlns:a16="http://schemas.microsoft.com/office/drawing/2014/main" id="{92DACE5B-869D-4AA7-84FA-75AF887FAEEC}"/>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18" name="">
            <a:extLst xmlns:a="http://schemas.openxmlformats.org/drawingml/2006/main">
              <a:ext uri="{FF2B5EF4-FFF2-40B4-BE49-F238E27FC236}">
                <a16:creationId xmlns:a16="http://schemas.microsoft.com/office/drawing/2014/main" id="{EB740B7C-0BA2-459A-B14C-53240872D4B5}"/>
              </a:ext>
            </a:extLst>
          </p:cNvPr>
          <p:cNvSpPr>
            <a:spLocks xmlns:a="http://schemas.openxmlformats.org/drawingml/2006/main" noGrp="1"/>
          </p:cNvSpPr>
          <p:nvPr/>
        </p:nvSpPr>
        <p:spPr>
          <a:xfrm xmlns:a="http://schemas.openxmlformats.org/drawingml/2006/main">
            <a:off x="5619750" y="1828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all-request run: proactive_kv_management_selective_admission_20260917_062007</a:t>
            </a:r>
          </a:p>
        </p:txBody>
      </p:sp>
      <p:sp>
        <p:nvSpPr>
          <p:cNvPr id="19" name="">
            <a:extLst xmlns:a="http://schemas.openxmlformats.org/drawingml/2006/main">
              <a:ext uri="{FF2B5EF4-FFF2-40B4-BE49-F238E27FC236}">
                <a16:creationId xmlns:a16="http://schemas.microsoft.com/office/drawing/2014/main" id="{40EBBC34-D936-4D4B-B559-23EB3B1BD715}"/>
              </a:ext>
            </a:extLst>
          </p:cNvPr>
          <p:cNvSpPr>
            <a:spLocks xmlns:a="http://schemas.openxmlformats.org/drawingml/2006/main" noGrp="1"/>
          </p:cNvSpPr>
          <p:nvPr/>
        </p:nvSpPr>
        <p:spPr>
          <a:xfrm xmlns:a="http://schemas.openxmlformats.org/drawingml/2006/main">
            <a:off x="5619750" y="217170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0" name="">
            <a:extLst xmlns:a="http://schemas.openxmlformats.org/drawingml/2006/main">
              <a:ext uri="{FF2B5EF4-FFF2-40B4-BE49-F238E27FC236}">
                <a16:creationId xmlns:a16="http://schemas.microsoft.com/office/drawing/2014/main" id="{D3937D20-4AA0-46A8-85B8-50EF1FAAADB7}"/>
              </a:ext>
            </a:extLst>
          </p:cNvPr>
          <p:cNvSpPr>
            <a:spLocks xmlns:a="http://schemas.openxmlformats.org/drawingml/2006/main" noGrp="1"/>
          </p:cNvSpPr>
          <p:nvPr/>
        </p:nvSpPr>
        <p:spPr>
          <a:xfrm xmlns:a="http://schemas.openxmlformats.org/drawingml/2006/main">
            <a:off x="57721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TTFT</a:t>
            </a:r>
          </a:p>
        </p:txBody>
      </p:sp>
      <p:sp>
        <p:nvSpPr>
          <p:cNvPr id="21" name="">
            <a:extLst xmlns:a="http://schemas.openxmlformats.org/drawingml/2006/main">
              <a:ext uri="{FF2B5EF4-FFF2-40B4-BE49-F238E27FC236}">
                <a16:creationId xmlns:a16="http://schemas.microsoft.com/office/drawing/2014/main" id="{728CAA82-F920-4F10-B943-43043EB375F1}"/>
              </a:ext>
            </a:extLst>
          </p:cNvPr>
          <p:cNvSpPr>
            <a:spLocks xmlns:a="http://schemas.openxmlformats.org/drawingml/2006/main" noGrp="1"/>
          </p:cNvSpPr>
          <p:nvPr/>
        </p:nvSpPr>
        <p:spPr>
          <a:xfrm xmlns:a="http://schemas.openxmlformats.org/drawingml/2006/main">
            <a:off x="57721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5.3% better</a:t>
            </a:r>
          </a:p>
        </p:txBody>
      </p:sp>
      <p:sp>
        <p:nvSpPr>
          <p:cNvPr id="22" name="">
            <a:extLst xmlns:a="http://schemas.openxmlformats.org/drawingml/2006/main">
              <a:ext uri="{FF2B5EF4-FFF2-40B4-BE49-F238E27FC236}">
                <a16:creationId xmlns:a16="http://schemas.microsoft.com/office/drawing/2014/main" id="{E267F1D1-7DE0-4999-88D8-CBD9A207E8C1}"/>
              </a:ext>
            </a:extLst>
          </p:cNvPr>
          <p:cNvSpPr>
            <a:spLocks xmlns:a="http://schemas.openxmlformats.org/drawingml/2006/main" noGrp="1"/>
          </p:cNvSpPr>
          <p:nvPr/>
        </p:nvSpPr>
        <p:spPr>
          <a:xfrm xmlns:a="http://schemas.openxmlformats.org/drawingml/2006/main">
            <a:off x="57721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123.1 s to 116.5 s</a:t>
            </a:r>
          </a:p>
        </p:txBody>
      </p:sp>
      <p:sp>
        <p:nvSpPr>
          <p:cNvPr id="23" name="">
            <a:extLst xmlns:a="http://schemas.openxmlformats.org/drawingml/2006/main">
              <a:ext uri="{FF2B5EF4-FFF2-40B4-BE49-F238E27FC236}">
                <a16:creationId xmlns:a16="http://schemas.microsoft.com/office/drawing/2014/main" id="{7282BC09-25BC-4D63-86D7-5FA3DCE44071}"/>
              </a:ext>
            </a:extLst>
          </p:cNvPr>
          <p:cNvSpPr>
            <a:spLocks xmlns:a="http://schemas.openxmlformats.org/drawingml/2006/main" noGrp="1"/>
          </p:cNvSpPr>
          <p:nvPr/>
        </p:nvSpPr>
        <p:spPr>
          <a:xfrm xmlns:a="http://schemas.openxmlformats.org/drawingml/2006/main">
            <a:off x="8401050" y="217170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4" name="">
            <a:extLst xmlns:a="http://schemas.openxmlformats.org/drawingml/2006/main">
              <a:ext uri="{FF2B5EF4-FFF2-40B4-BE49-F238E27FC236}">
                <a16:creationId xmlns:a16="http://schemas.microsoft.com/office/drawing/2014/main" id="{350A6106-4EF1-482D-83AC-9F5DD95EFD97}"/>
              </a:ext>
            </a:extLst>
          </p:cNvPr>
          <p:cNvSpPr>
            <a:spLocks xmlns:a="http://schemas.openxmlformats.org/drawingml/2006/main" noGrp="1"/>
          </p:cNvSpPr>
          <p:nvPr/>
        </p:nvSpPr>
        <p:spPr>
          <a:xfrm xmlns:a="http://schemas.openxmlformats.org/drawingml/2006/main">
            <a:off x="85534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Avg TTFT per request</a:t>
            </a:r>
          </a:p>
        </p:txBody>
      </p:sp>
      <p:sp>
        <p:nvSpPr>
          <p:cNvPr id="25" name="">
            <a:extLst xmlns:a="http://schemas.openxmlformats.org/drawingml/2006/main">
              <a:ext uri="{FF2B5EF4-FFF2-40B4-BE49-F238E27FC236}">
                <a16:creationId xmlns:a16="http://schemas.microsoft.com/office/drawing/2014/main" id="{AC127AF4-6B01-4930-B082-6EC492B6517A}"/>
              </a:ext>
            </a:extLst>
          </p:cNvPr>
          <p:cNvSpPr>
            <a:spLocks xmlns:a="http://schemas.openxmlformats.org/drawingml/2006/main" noGrp="1"/>
          </p:cNvSpPr>
          <p:nvPr/>
        </p:nvSpPr>
        <p:spPr>
          <a:xfrm xmlns:a="http://schemas.openxmlformats.org/drawingml/2006/main">
            <a:off x="85534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0.2 s faster</a:t>
            </a:r>
          </a:p>
        </p:txBody>
      </p:sp>
      <p:sp>
        <p:nvSpPr>
          <p:cNvPr id="26" name="">
            <a:extLst xmlns:a="http://schemas.openxmlformats.org/drawingml/2006/main">
              <a:ext uri="{FF2B5EF4-FFF2-40B4-BE49-F238E27FC236}">
                <a16:creationId xmlns:a16="http://schemas.microsoft.com/office/drawing/2014/main" id="{D95CBF56-036F-4239-AFB2-FF844ACB4CEB}"/>
              </a:ext>
            </a:extLst>
          </p:cNvPr>
          <p:cNvSpPr>
            <a:spLocks xmlns:a="http://schemas.openxmlformats.org/drawingml/2006/main" noGrp="1"/>
          </p:cNvSpPr>
          <p:nvPr/>
        </p:nvSpPr>
        <p:spPr>
          <a:xfrm xmlns:a="http://schemas.openxmlformats.org/drawingml/2006/main">
            <a:off x="85534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3.8 s to 3.6 s</a:t>
            </a:r>
          </a:p>
        </p:txBody>
      </p:sp>
      <p:sp>
        <p:nvSpPr>
          <p:cNvPr id="27" name="">
            <a:extLst xmlns:a="http://schemas.openxmlformats.org/drawingml/2006/main">
              <a:ext uri="{FF2B5EF4-FFF2-40B4-BE49-F238E27FC236}">
                <a16:creationId xmlns:a16="http://schemas.microsoft.com/office/drawing/2014/main" id="{BAFE27E6-BBD4-4EFF-9E2F-6EF386382358}"/>
              </a:ext>
            </a:extLst>
          </p:cNvPr>
          <p:cNvSpPr>
            <a:spLocks xmlns:a="http://schemas.openxmlformats.org/drawingml/2006/main" noGrp="1"/>
          </p:cNvSpPr>
          <p:nvPr/>
        </p:nvSpPr>
        <p:spPr>
          <a:xfrm xmlns:a="http://schemas.openxmlformats.org/drawingml/2006/main">
            <a:off x="5619750" y="318135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8" name="">
            <a:extLst xmlns:a="http://schemas.openxmlformats.org/drawingml/2006/main">
              <a:ext uri="{FF2B5EF4-FFF2-40B4-BE49-F238E27FC236}">
                <a16:creationId xmlns:a16="http://schemas.microsoft.com/office/drawing/2014/main" id="{E23D125D-BC87-46F5-A124-2633E763D703}"/>
              </a:ext>
            </a:extLst>
          </p:cNvPr>
          <p:cNvSpPr>
            <a:spLocks xmlns:a="http://schemas.openxmlformats.org/drawingml/2006/main" noGrp="1"/>
          </p:cNvSpPr>
          <p:nvPr/>
        </p:nvSpPr>
        <p:spPr>
          <a:xfrm xmlns:a="http://schemas.openxmlformats.org/drawingml/2006/main">
            <a:off x="57721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lateness</a:t>
            </a:r>
          </a:p>
        </p:txBody>
      </p:sp>
      <p:sp>
        <p:nvSpPr>
          <p:cNvPr id="29" name="">
            <a:extLst xmlns:a="http://schemas.openxmlformats.org/drawingml/2006/main">
              <a:ext uri="{FF2B5EF4-FFF2-40B4-BE49-F238E27FC236}">
                <a16:creationId xmlns:a16="http://schemas.microsoft.com/office/drawing/2014/main" id="{2DF0493C-A7BB-4EF4-82C2-3A91339A9B4D}"/>
              </a:ext>
            </a:extLst>
          </p:cNvPr>
          <p:cNvSpPr>
            <a:spLocks xmlns:a="http://schemas.openxmlformats.org/drawingml/2006/main" noGrp="1"/>
          </p:cNvSpPr>
          <p:nvPr/>
        </p:nvSpPr>
        <p:spPr>
          <a:xfrm xmlns:a="http://schemas.openxmlformats.org/drawingml/2006/main">
            <a:off x="57721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5.3% better</a:t>
            </a:r>
          </a:p>
        </p:txBody>
      </p:sp>
      <p:sp>
        <p:nvSpPr>
          <p:cNvPr id="30" name="">
            <a:extLst xmlns:a="http://schemas.openxmlformats.org/drawingml/2006/main">
              <a:ext uri="{FF2B5EF4-FFF2-40B4-BE49-F238E27FC236}">
                <a16:creationId xmlns:a16="http://schemas.microsoft.com/office/drawing/2014/main" id="{C9999C55-A50E-4A8F-916E-4072ED2916AE}"/>
              </a:ext>
            </a:extLst>
          </p:cNvPr>
          <p:cNvSpPr>
            <a:spLocks xmlns:a="http://schemas.openxmlformats.org/drawingml/2006/main" noGrp="1"/>
          </p:cNvSpPr>
          <p:nvPr/>
        </p:nvSpPr>
        <p:spPr>
          <a:xfrm xmlns:a="http://schemas.openxmlformats.org/drawingml/2006/main">
            <a:off x="57721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123.4 s to 116.9 s</a:t>
            </a:r>
          </a:p>
        </p:txBody>
      </p:sp>
      <p:sp>
        <p:nvSpPr>
          <p:cNvPr id="31" name="">
            <a:extLst xmlns:a="http://schemas.openxmlformats.org/drawingml/2006/main">
              <a:ext uri="{FF2B5EF4-FFF2-40B4-BE49-F238E27FC236}">
                <a16:creationId xmlns:a16="http://schemas.microsoft.com/office/drawing/2014/main" id="{251B1B4E-1263-40E0-A03E-BA9024293965}"/>
              </a:ext>
            </a:extLst>
          </p:cNvPr>
          <p:cNvSpPr>
            <a:spLocks xmlns:a="http://schemas.openxmlformats.org/drawingml/2006/main" noGrp="1"/>
          </p:cNvSpPr>
          <p:nvPr/>
        </p:nvSpPr>
        <p:spPr>
          <a:xfrm xmlns:a="http://schemas.openxmlformats.org/drawingml/2006/main">
            <a:off x="8401050" y="318135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32" name="">
            <a:extLst xmlns:a="http://schemas.openxmlformats.org/drawingml/2006/main">
              <a:ext uri="{FF2B5EF4-FFF2-40B4-BE49-F238E27FC236}">
                <a16:creationId xmlns:a16="http://schemas.microsoft.com/office/drawing/2014/main" id="{7B7BAB0E-77D1-438F-9D20-28DF78EF5937}"/>
              </a:ext>
            </a:extLst>
          </p:cNvPr>
          <p:cNvSpPr>
            <a:spLocks xmlns:a="http://schemas.openxmlformats.org/drawingml/2006/main" noGrp="1"/>
          </p:cNvSpPr>
          <p:nvPr/>
        </p:nvSpPr>
        <p:spPr>
          <a:xfrm xmlns:a="http://schemas.openxmlformats.org/drawingml/2006/main">
            <a:off x="85534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Max lateness</a:t>
            </a:r>
          </a:p>
        </p:txBody>
      </p:sp>
      <p:sp>
        <p:nvSpPr>
          <p:cNvPr id="33" name="">
            <a:extLst xmlns:a="http://schemas.openxmlformats.org/drawingml/2006/main">
              <a:ext uri="{FF2B5EF4-FFF2-40B4-BE49-F238E27FC236}">
                <a16:creationId xmlns:a16="http://schemas.microsoft.com/office/drawing/2014/main" id="{DA6D3C8D-51F2-45CA-B7A1-BC91E40B30A4}"/>
              </a:ext>
            </a:extLst>
          </p:cNvPr>
          <p:cNvSpPr>
            <a:spLocks xmlns:a="http://schemas.openxmlformats.org/drawingml/2006/main" noGrp="1"/>
          </p:cNvSpPr>
          <p:nvPr/>
        </p:nvSpPr>
        <p:spPr>
          <a:xfrm xmlns:a="http://schemas.openxmlformats.org/drawingml/2006/main">
            <a:off x="85534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2.2 s better</a:t>
            </a:r>
          </a:p>
        </p:txBody>
      </p:sp>
      <p:sp>
        <p:nvSpPr>
          <p:cNvPr id="34" name="">
            <a:extLst xmlns:a="http://schemas.openxmlformats.org/drawingml/2006/main">
              <a:ext uri="{FF2B5EF4-FFF2-40B4-BE49-F238E27FC236}">
                <a16:creationId xmlns:a16="http://schemas.microsoft.com/office/drawing/2014/main" id="{E1A13371-9FC4-46FF-A136-685B7134FEDB}"/>
              </a:ext>
            </a:extLst>
          </p:cNvPr>
          <p:cNvSpPr>
            <a:spLocks xmlns:a="http://schemas.openxmlformats.org/drawingml/2006/main" noGrp="1"/>
          </p:cNvSpPr>
          <p:nvPr/>
        </p:nvSpPr>
        <p:spPr>
          <a:xfrm xmlns:a="http://schemas.openxmlformats.org/drawingml/2006/main">
            <a:off x="85534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10.5 s to 8.3 s</a:t>
            </a:r>
          </a:p>
        </p:txBody>
      </p:sp>
      <p:sp>
        <p:nvSpPr>
          <p:cNvPr id="35" name="">
            <a:extLst xmlns:a="http://schemas.openxmlformats.org/drawingml/2006/main">
              <a:ext uri="{FF2B5EF4-FFF2-40B4-BE49-F238E27FC236}">
                <a16:creationId xmlns:a16="http://schemas.microsoft.com/office/drawing/2014/main" id="{16F8354C-9401-4233-AC5B-ACCF27992E69}"/>
              </a:ext>
            </a:extLst>
          </p:cNvPr>
          <p:cNvSpPr>
            <a:spLocks xmlns:a="http://schemas.openxmlformats.org/drawingml/2006/main" noGrp="1"/>
          </p:cNvSpPr>
          <p:nvPr/>
        </p:nvSpPr>
        <p:spPr>
          <a:xfrm xmlns:a="http://schemas.openxmlformats.org/drawingml/2006/main">
            <a:off x="5619750" y="4191000"/>
            <a:ext cx="2571750" cy="838200"/>
          </a:xfrm>
          <a:prstGeom xmlns:a="http://schemas.openxmlformats.org/drawingml/2006/main" prst="rect">
            <a:avLst/>
          </a:prstGeom>
          <a:solidFill xmlns:a="http://schemas.openxmlformats.org/drawingml/2006/main">
            <a:srgbClr val="F3F6FA"/>
          </a:solidFill>
          <a:ln xmlns:a="http://schemas.openxmlformats.org/drawingml/2006/main" w="9525">
            <a:solidFill>
              <a:srgbClr val="DBE4EF"/>
            </a:solidFill>
            <a:prstDash val="solid"/>
          </a:ln>
        </p:spPr>
      </p:sp>
      <p:sp>
        <p:nvSpPr>
          <p:cNvPr id="36" name="">
            <a:extLst xmlns:a="http://schemas.openxmlformats.org/drawingml/2006/main">
              <a:ext uri="{FF2B5EF4-FFF2-40B4-BE49-F238E27FC236}">
                <a16:creationId xmlns:a16="http://schemas.microsoft.com/office/drawing/2014/main" id="{51B35289-4817-48D0-B5C0-64E4ED12EA74}"/>
              </a:ext>
            </a:extLst>
          </p:cNvPr>
          <p:cNvSpPr>
            <a:spLocks xmlns:a="http://schemas.openxmlformats.org/drawingml/2006/main" noGrp="1"/>
          </p:cNvSpPr>
          <p:nvPr/>
        </p:nvSpPr>
        <p:spPr>
          <a:xfrm xmlns:a="http://schemas.openxmlformats.org/drawingml/2006/main">
            <a:off x="57721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P95 lateness</a:t>
            </a:r>
          </a:p>
        </p:txBody>
      </p:sp>
      <p:sp>
        <p:nvSpPr>
          <p:cNvPr id="37" name="">
            <a:extLst xmlns:a="http://schemas.openxmlformats.org/drawingml/2006/main">
              <a:ext uri="{FF2B5EF4-FFF2-40B4-BE49-F238E27FC236}">
                <a16:creationId xmlns:a16="http://schemas.microsoft.com/office/drawing/2014/main" id="{9601D6C2-08B6-4664-8837-326C94A96627}"/>
              </a:ext>
            </a:extLst>
          </p:cNvPr>
          <p:cNvSpPr>
            <a:spLocks xmlns:a="http://schemas.openxmlformats.org/drawingml/2006/main" noGrp="1"/>
          </p:cNvSpPr>
          <p:nvPr/>
        </p:nvSpPr>
        <p:spPr>
          <a:xfrm xmlns:a="http://schemas.openxmlformats.org/drawingml/2006/main">
            <a:off x="57721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334155"/>
                </a:solidFill>
                <a:latin typeface="Helvetica Neue"/>
                <a:ea typeface="Helvetica Neue"/>
                <a:cs typeface="Helvetica Neue"/>
              </a:defRPr>
            </a:pPr>
            <a:r>
              <a:rPr sz="1725" b="1">
                <a:solidFill>
                  <a:srgbClr val="334155"/>
                </a:solidFill>
                <a:latin typeface="Helvetica Neue"/>
                <a:ea typeface="Helvetica Neue"/>
                <a:cs typeface="Helvetica Neue"/>
              </a:rPr>
              <a:t>0.1 s worse</a:t>
            </a:r>
          </a:p>
        </p:txBody>
      </p:sp>
      <p:sp>
        <p:nvSpPr>
          <p:cNvPr id="38" name="">
            <a:extLst xmlns:a="http://schemas.openxmlformats.org/drawingml/2006/main">
              <a:ext uri="{FF2B5EF4-FFF2-40B4-BE49-F238E27FC236}">
                <a16:creationId xmlns:a16="http://schemas.microsoft.com/office/drawing/2014/main" id="{5C5EFAAE-CBA4-4C28-8A57-3B664817D913}"/>
              </a:ext>
            </a:extLst>
          </p:cNvPr>
          <p:cNvSpPr>
            <a:spLocks xmlns:a="http://schemas.openxmlformats.org/drawingml/2006/main" noGrp="1"/>
          </p:cNvSpPr>
          <p:nvPr/>
        </p:nvSpPr>
        <p:spPr>
          <a:xfrm xmlns:a="http://schemas.openxmlformats.org/drawingml/2006/main">
            <a:off x="57721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Roughly flat: 7.3 s to 7.4 s</a:t>
            </a:r>
          </a:p>
        </p:txBody>
      </p:sp>
      <p:sp>
        <p:nvSpPr>
          <p:cNvPr id="39" name="">
            <a:extLst xmlns:a="http://schemas.openxmlformats.org/drawingml/2006/main">
              <a:ext uri="{FF2B5EF4-FFF2-40B4-BE49-F238E27FC236}">
                <a16:creationId xmlns:a16="http://schemas.microsoft.com/office/drawing/2014/main" id="{C66ACD67-F634-49B0-8D7C-AFAC27C33633}"/>
              </a:ext>
            </a:extLst>
          </p:cNvPr>
          <p:cNvSpPr>
            <a:spLocks xmlns:a="http://schemas.openxmlformats.org/drawingml/2006/main" noGrp="1"/>
          </p:cNvSpPr>
          <p:nvPr/>
        </p:nvSpPr>
        <p:spPr>
          <a:xfrm xmlns:a="http://schemas.openxmlformats.org/drawingml/2006/main">
            <a:off x="8401050" y="4191000"/>
            <a:ext cx="2571750" cy="838200"/>
          </a:xfrm>
          <a:prstGeom xmlns:a="http://schemas.openxmlformats.org/drawingml/2006/main" prst="rect">
            <a:avLst/>
          </a:prstGeom>
          <a:solidFill xmlns:a="http://schemas.openxmlformats.org/drawingml/2006/main">
            <a:srgbClr val="F3F6FA"/>
          </a:solidFill>
          <a:ln xmlns:a="http://schemas.openxmlformats.org/drawingml/2006/main" w="9525">
            <a:solidFill>
              <a:srgbClr val="DBE4EF"/>
            </a:solidFill>
            <a:prstDash val="solid"/>
          </a:ln>
        </p:spPr>
      </p:sp>
      <p:sp>
        <p:nvSpPr>
          <p:cNvPr id="40" name="">
            <a:extLst xmlns:a="http://schemas.openxmlformats.org/drawingml/2006/main">
              <a:ext uri="{FF2B5EF4-FFF2-40B4-BE49-F238E27FC236}">
                <a16:creationId xmlns:a16="http://schemas.microsoft.com/office/drawing/2014/main" id="{92EAAD83-2336-4D62-8F5A-ADE2D74C7E7A}"/>
              </a:ext>
            </a:extLst>
          </p:cNvPr>
          <p:cNvSpPr>
            <a:spLocks xmlns:a="http://schemas.openxmlformats.org/drawingml/2006/main" noGrp="1"/>
          </p:cNvSpPr>
          <p:nvPr/>
        </p:nvSpPr>
        <p:spPr>
          <a:xfrm xmlns:a="http://schemas.openxmlformats.org/drawingml/2006/main">
            <a:off x="85534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Workload window</a:t>
            </a:r>
          </a:p>
        </p:txBody>
      </p:sp>
      <p:sp>
        <p:nvSpPr>
          <p:cNvPr id="41" name="">
            <a:extLst xmlns:a="http://schemas.openxmlformats.org/drawingml/2006/main">
              <a:ext uri="{FF2B5EF4-FFF2-40B4-BE49-F238E27FC236}">
                <a16:creationId xmlns:a16="http://schemas.microsoft.com/office/drawing/2014/main" id="{9015CA9E-1843-42B8-84F6-4D1773BAE562}"/>
              </a:ext>
            </a:extLst>
          </p:cNvPr>
          <p:cNvSpPr>
            <a:spLocks xmlns:a="http://schemas.openxmlformats.org/drawingml/2006/main" noGrp="1"/>
          </p:cNvSpPr>
          <p:nvPr/>
        </p:nvSpPr>
        <p:spPr>
          <a:xfrm xmlns:a="http://schemas.openxmlformats.org/drawingml/2006/main">
            <a:off x="85534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334155"/>
                </a:solidFill>
                <a:latin typeface="Helvetica Neue"/>
                <a:ea typeface="Helvetica Neue"/>
                <a:cs typeface="Helvetica Neue"/>
              </a:defRPr>
            </a:pPr>
            <a:r>
              <a:rPr sz="1725" b="1">
                <a:solidFill>
                  <a:srgbClr val="334155"/>
                </a:solidFill>
                <a:latin typeface="Helvetica Neue"/>
                <a:ea typeface="Helvetica Neue"/>
                <a:cs typeface="Helvetica Neue"/>
              </a:rPr>
              <a:t>about same</a:t>
            </a:r>
          </a:p>
        </p:txBody>
      </p:sp>
      <p:sp>
        <p:nvSpPr>
          <p:cNvPr id="42" name="">
            <a:extLst xmlns:a="http://schemas.openxmlformats.org/drawingml/2006/main">
              <a:ext uri="{FF2B5EF4-FFF2-40B4-BE49-F238E27FC236}">
                <a16:creationId xmlns:a16="http://schemas.microsoft.com/office/drawing/2014/main" id="{150714F6-0EE1-44F5-9CA7-1A3C42FF20E4}"/>
              </a:ext>
            </a:extLst>
          </p:cNvPr>
          <p:cNvSpPr>
            <a:spLocks xmlns:a="http://schemas.openxmlformats.org/drawingml/2006/main" noGrp="1"/>
          </p:cNvSpPr>
          <p:nvPr/>
        </p:nvSpPr>
        <p:spPr>
          <a:xfrm xmlns:a="http://schemas.openxmlformats.org/drawingml/2006/main">
            <a:off x="85534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328.6 s to 328.5 s</a:t>
            </a:r>
          </a:p>
        </p:txBody>
      </p:sp>
      <p:sp>
        <p:nvSpPr>
          <p:cNvPr id="43" name="">
            <a:extLst xmlns:a="http://schemas.openxmlformats.org/drawingml/2006/main">
              <a:ext uri="{FF2B5EF4-FFF2-40B4-BE49-F238E27FC236}">
                <a16:creationId xmlns:a16="http://schemas.microsoft.com/office/drawing/2014/main" id="{F62F65FB-97BA-4903-B79C-4F77468A6171}"/>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FE18C21-9738-4909-A88B-8148C8EC970F}"/>
              </a:ext>
            </a:extLst>
          </p:cNvPr>
          <p:cNvSpPr>
            <a:spLocks xmlns:a="http://schemas.openxmlformats.org/drawingml/2006/main" noGrp="1"/>
          </p:cNvSpPr>
          <p:nvPr/>
        </p:nvSpPr>
        <p:spPr>
          <a:xfrm xmlns:a="http://schemas.openxmlformats.org/drawingml/2006/main">
            <a:off x="628650" y="5753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Mechanism proof</a:t>
            </a:r>
          </a:p>
        </p:txBody>
      </p:sp>
      <p:sp>
        <p:nvSpPr>
          <p:cNvPr id="45" name="">
            <a:extLst xmlns:a="http://schemas.openxmlformats.org/drawingml/2006/main">
              <a:ext uri="{FF2B5EF4-FFF2-40B4-BE49-F238E27FC236}">
                <a16:creationId xmlns:a16="http://schemas.microsoft.com/office/drawing/2014/main" id="{44BC5EF3-39D8-465A-A2D3-ED7416D1B648}"/>
              </a:ext>
            </a:extLst>
          </p:cNvPr>
          <p:cNvSpPr>
            <a:spLocks xmlns:a="http://schemas.openxmlformats.org/drawingml/2006/main" noGrp="1"/>
          </p:cNvSpPr>
          <p:nvPr/>
        </p:nvSpPr>
        <p:spPr>
          <a:xfrm xmlns:a="http://schemas.openxmlformats.org/drawingml/2006/main">
            <a:off x="2438400" y="5753100"/>
            <a:ext cx="819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21 cache checks, 6 admitted direct loads, 48,889 prepared tokens, and 560 H2D copy events before replay compute.</a:t>
            </a:r>
          </a:p>
        </p:txBody>
      </p:sp>
      <p:sp>
        <p:nvSpPr>
          <p:cNvPr id="46" name="">
            <a:extLst xmlns:a="http://schemas.openxmlformats.org/drawingml/2006/main">
              <a:ext uri="{FF2B5EF4-FFF2-40B4-BE49-F238E27FC236}">
                <a16:creationId xmlns:a16="http://schemas.microsoft.com/office/drawing/2014/main" id="{03FA132B-002D-46D9-B237-C4F32387EFB2}"/>
              </a:ext>
            </a:extLst>
          </p:cNvPr>
          <p:cNvSpPr>
            <a:spLocks xmlns:a="http://schemas.openxmlformats.org/drawingml/2006/main" noGrp="1"/>
          </p:cNvSpPr>
          <p:nvPr/>
        </p:nvSpPr>
        <p:spPr>
          <a:xfrm xmlns:a="http://schemas.openxmlformats.org/drawingml/2006/main">
            <a:off x="552450" y="64198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Source: Harness-Aware Scenario Tracker</a:t>
            </a:r>
          </a:p>
        </p:txBody>
      </p:sp>
    </p:spTree>
    <p:extLst>
      <p:ext uri="{BB962C8B-B14F-4D97-AF65-F5344CB8AC3E}">
        <p14:creationId xmlns:p14="http://schemas.microsoft.com/office/powerpoint/2010/main" val="7982502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157EFF41-C480-426F-94FB-CEA1E2ACEFB2}"/>
              </a:ext>
            </a:extLst>
          </p:cNvPr>
          <p:cNvSpPr>
            <a:spLocks xmlns:a="http://schemas.openxmlformats.org/drawingml/2006/main" noGrp="1"/>
          </p:cNvSpPr>
          <p:nvPr/>
        </p:nvSpPr>
        <p:spPr>
          <a:xfrm xmlns:a="http://schemas.openxmlformats.org/drawingml/2006/main">
            <a:off x="533400" y="342900"/>
            <a:ext cx="781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3: Value-Aware KV Eviction</a:t>
            </a:r>
          </a:p>
        </p:txBody>
      </p:sp>
      <p:sp>
        <p:nvSpPr>
          <p:cNvPr id="2" name="">
            <a:extLst xmlns:a="http://schemas.openxmlformats.org/drawingml/2006/main">
              <a:ext uri="{FF2B5EF4-FFF2-40B4-BE49-F238E27FC236}">
                <a16:creationId xmlns:a16="http://schemas.microsoft.com/office/drawing/2014/main" id="{A4C919E6-E349-43BF-8259-CE8456A8C737}"/>
              </a:ext>
            </a:extLst>
          </p:cNvPr>
          <p:cNvSpPr>
            <a:spLocks xmlns:a="http://schemas.openxmlformats.org/drawingml/2006/main" noGrp="1"/>
          </p:cNvSpPr>
          <p:nvPr/>
        </p:nvSpPr>
        <p:spPr>
          <a:xfrm xmlns:a="http://schemas.openxmlformats.org/drawingml/2006/main">
            <a:off x="552450" y="838200"/>
            <a:ext cx="895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When memory pressure forces evictions, SGLang keeps KV that is more likely to matter soon.</a:t>
            </a:r>
          </a:p>
        </p:txBody>
      </p:sp>
      <p:sp>
        <p:nvSpPr>
          <p:cNvPr id="3" name="">
            <a:extLst xmlns:a="http://schemas.openxmlformats.org/drawingml/2006/main">
              <a:ext uri="{FF2B5EF4-FFF2-40B4-BE49-F238E27FC236}">
                <a16:creationId xmlns:a16="http://schemas.microsoft.com/office/drawing/2014/main" id="{1A758981-2021-46E9-9A89-D7949DC12A82}"/>
              </a:ext>
            </a:extLst>
          </p:cNvPr>
          <p:cNvSpPr>
            <a:spLocks xmlns:a="http://schemas.openxmlformats.org/drawingml/2006/main" noGrp="1"/>
          </p:cNvSpPr>
          <p:nvPr/>
        </p:nvSpPr>
        <p:spPr>
          <a:xfrm xmlns:a="http://schemas.openxmlformats.org/drawingml/2006/main">
            <a:off x="9429750" y="4762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2F6F56"/>
                </a:solidFill>
                <a:latin typeface="Helvetica Neue"/>
                <a:ea typeface="Helvetica Neue"/>
                <a:cs typeface="Helvetica Neue"/>
              </a:defRPr>
            </a:pPr>
            <a:r>
              <a:rPr sz="1350" b="1">
                <a:solidFill>
                  <a:srgbClr val="2F6F56"/>
                </a:solidFill>
                <a:latin typeface="Helvetica Neue"/>
                <a:ea typeface="Helvetica Neue"/>
                <a:cs typeface="Helvetica Neue"/>
              </a:rPr>
              <a:t>Request win + trade-off</a:t>
            </a:r>
          </a:p>
        </p:txBody>
      </p:sp>
      <p:sp>
        <p:nvSpPr>
          <p:cNvPr id="4" name="">
            <a:extLst xmlns:a="http://schemas.openxmlformats.org/drawingml/2006/main">
              <a:ext uri="{FF2B5EF4-FFF2-40B4-BE49-F238E27FC236}">
                <a16:creationId xmlns:a16="http://schemas.microsoft.com/office/drawing/2014/main" id="{87922529-8659-48B1-8657-AFED10BEDCF7}"/>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6B6110B-3B5C-4863-9425-77A97525E9B0}"/>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84335AB3-5DFB-4083-A97B-4350173768F4}"/>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7" name="">
            <a:extLst xmlns:a="http://schemas.openxmlformats.org/drawingml/2006/main">
              <a:ext uri="{FF2B5EF4-FFF2-40B4-BE49-F238E27FC236}">
                <a16:creationId xmlns:a16="http://schemas.microsoft.com/office/drawing/2014/main" id="{85AD5607-C693-4118-951C-31EB552128E1}"/>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8" name="">
            <a:extLst xmlns:a="http://schemas.openxmlformats.org/drawingml/2006/main">
              <a:ext uri="{FF2B5EF4-FFF2-40B4-BE49-F238E27FC236}">
                <a16:creationId xmlns:a16="http://schemas.microsoft.com/office/drawing/2014/main" id="{EC562871-667D-4772-9F45-3EAE37FE5BD7}"/>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9" name="">
            <a:extLst xmlns:a="http://schemas.openxmlformats.org/drawingml/2006/main">
              <a:ext uri="{FF2B5EF4-FFF2-40B4-BE49-F238E27FC236}">
                <a16:creationId xmlns:a16="http://schemas.microsoft.com/office/drawing/2014/main" id="{6C1E400C-3F53-4462-9525-D15D5D9A808C}"/>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Concurrent long-context sessions force KV eviction.</a:t>
            </a:r>
          </a:p>
        </p:txBody>
      </p:sp>
      <p:sp>
        <p:nvSpPr>
          <p:cNvPr id="10" name="">
            <a:extLst xmlns:a="http://schemas.openxmlformats.org/drawingml/2006/main">
              <a:ext uri="{FF2B5EF4-FFF2-40B4-BE49-F238E27FC236}">
                <a16:creationId xmlns:a16="http://schemas.microsoft.com/office/drawing/2014/main" id="{E19125B7-D6D7-42C1-BD84-784FAB1B687D}"/>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1" name="">
            <a:extLst xmlns:a="http://schemas.openxmlformats.org/drawingml/2006/main">
              <a:ext uri="{FF2B5EF4-FFF2-40B4-BE49-F238E27FC236}">
                <a16:creationId xmlns:a16="http://schemas.microsoft.com/office/drawing/2014/main" id="{D8EB7E6B-1E1D-44A3-A5DB-568FE7DC6E53}"/>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uses ordinary eviction behavior.</a:t>
            </a:r>
          </a:p>
        </p:txBody>
      </p:sp>
      <p:sp>
        <p:nvSpPr>
          <p:cNvPr id="12" name="">
            <a:extLst xmlns:a="http://schemas.openxmlformats.org/drawingml/2006/main">
              <a:ext uri="{FF2B5EF4-FFF2-40B4-BE49-F238E27FC236}">
                <a16:creationId xmlns:a16="http://schemas.microsoft.com/office/drawing/2014/main" id="{6E86DF83-A7D4-4B4F-AEF3-346AF071D143}"/>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3" name="">
            <a:extLst xmlns:a="http://schemas.openxmlformats.org/drawingml/2006/main">
              <a:ext uri="{FF2B5EF4-FFF2-40B4-BE49-F238E27FC236}">
                <a16:creationId xmlns:a16="http://schemas.microsoft.com/office/drawing/2014/main" id="{157F42BD-60F6-4361-ABB4-0808BC272650}"/>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Controller mode marks cached prefixes by value.</a:t>
            </a:r>
          </a:p>
        </p:txBody>
      </p:sp>
      <p:sp>
        <p:nvSpPr>
          <p:cNvPr id="14" name="">
            <a:extLst xmlns:a="http://schemas.openxmlformats.org/drawingml/2006/main">
              <a:ext uri="{FF2B5EF4-FFF2-40B4-BE49-F238E27FC236}">
                <a16:creationId xmlns:a16="http://schemas.microsoft.com/office/drawing/2014/main" id="{5C137647-0680-40B0-A9C2-2FBA1277778A}"/>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15" name="">
            <a:extLst xmlns:a="http://schemas.openxmlformats.org/drawingml/2006/main">
              <a:ext uri="{FF2B5EF4-FFF2-40B4-BE49-F238E27FC236}">
                <a16:creationId xmlns:a16="http://schemas.microsoft.com/office/drawing/2014/main" id="{72798870-6222-426B-9098-927B309A597E}"/>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16" name="">
            <a:extLst xmlns:a="http://schemas.openxmlformats.org/drawingml/2006/main">
              <a:ext uri="{FF2B5EF4-FFF2-40B4-BE49-F238E27FC236}">
                <a16:creationId xmlns:a16="http://schemas.microsoft.com/office/drawing/2014/main" id="{93947A90-3215-418F-8941-B0C540C08F82}"/>
              </a:ext>
            </a:extLst>
          </p:cNvPr>
          <p:cNvSpPr>
            <a:spLocks xmlns:a="http://schemas.openxmlformats.org/drawingml/2006/main" noGrp="1"/>
          </p:cNvSpPr>
          <p:nvPr/>
        </p:nvSpPr>
        <p:spPr>
          <a:xfrm xmlns:a="http://schemas.openxmlformats.org/drawingml/2006/main">
            <a:off x="838200" y="40767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It scores cached prefixes using reuse likelihood, rebuild cost, and expected replay timing. SGLang's native radix eviction path then chooses what to evict.</a:t>
            </a:r>
          </a:p>
        </p:txBody>
      </p:sp>
      <p:sp>
        <p:nvSpPr>
          <p:cNvPr id="17" name="">
            <a:extLst xmlns:a="http://schemas.openxmlformats.org/drawingml/2006/main">
              <a:ext uri="{FF2B5EF4-FFF2-40B4-BE49-F238E27FC236}">
                <a16:creationId xmlns:a16="http://schemas.microsoft.com/office/drawing/2014/main" id="{7697BA95-4842-449B-9880-5ABC358A879E}"/>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18" name="">
            <a:extLst xmlns:a="http://schemas.openxmlformats.org/drawingml/2006/main">
              <a:ext uri="{FF2B5EF4-FFF2-40B4-BE49-F238E27FC236}">
                <a16:creationId xmlns:a16="http://schemas.microsoft.com/office/drawing/2014/main" id="{A8DDD8C4-6A97-4297-A1CA-B4F90612DD14}"/>
              </a:ext>
            </a:extLst>
          </p:cNvPr>
          <p:cNvSpPr>
            <a:spLocks xmlns:a="http://schemas.openxmlformats.org/drawingml/2006/main" noGrp="1"/>
          </p:cNvSpPr>
          <p:nvPr/>
        </p:nvSpPr>
        <p:spPr>
          <a:xfrm xmlns:a="http://schemas.openxmlformats.org/drawingml/2006/main">
            <a:off x="5619750" y="1828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all-request run: value_aware_eviction_all_requests_fixed_20260917_163518</a:t>
            </a:r>
          </a:p>
        </p:txBody>
      </p:sp>
      <p:sp>
        <p:nvSpPr>
          <p:cNvPr id="19" name="">
            <a:extLst xmlns:a="http://schemas.openxmlformats.org/drawingml/2006/main">
              <a:ext uri="{FF2B5EF4-FFF2-40B4-BE49-F238E27FC236}">
                <a16:creationId xmlns:a16="http://schemas.microsoft.com/office/drawing/2014/main" id="{DE8B9931-788F-425D-8D4B-83B5BC2167DA}"/>
              </a:ext>
            </a:extLst>
          </p:cNvPr>
          <p:cNvSpPr>
            <a:spLocks xmlns:a="http://schemas.openxmlformats.org/drawingml/2006/main" noGrp="1"/>
          </p:cNvSpPr>
          <p:nvPr/>
        </p:nvSpPr>
        <p:spPr>
          <a:xfrm xmlns:a="http://schemas.openxmlformats.org/drawingml/2006/main">
            <a:off x="5619750" y="217170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0" name="">
            <a:extLst xmlns:a="http://schemas.openxmlformats.org/drawingml/2006/main">
              <a:ext uri="{FF2B5EF4-FFF2-40B4-BE49-F238E27FC236}">
                <a16:creationId xmlns:a16="http://schemas.microsoft.com/office/drawing/2014/main" id="{CAD07384-0548-489F-8F03-1808A75A0882}"/>
              </a:ext>
            </a:extLst>
          </p:cNvPr>
          <p:cNvSpPr>
            <a:spLocks xmlns:a="http://schemas.openxmlformats.org/drawingml/2006/main" noGrp="1"/>
          </p:cNvSpPr>
          <p:nvPr/>
        </p:nvSpPr>
        <p:spPr>
          <a:xfrm xmlns:a="http://schemas.openxmlformats.org/drawingml/2006/main">
            <a:off x="57721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TTFT</a:t>
            </a:r>
          </a:p>
        </p:txBody>
      </p:sp>
      <p:sp>
        <p:nvSpPr>
          <p:cNvPr id="21" name="">
            <a:extLst xmlns:a="http://schemas.openxmlformats.org/drawingml/2006/main">
              <a:ext uri="{FF2B5EF4-FFF2-40B4-BE49-F238E27FC236}">
                <a16:creationId xmlns:a16="http://schemas.microsoft.com/office/drawing/2014/main" id="{B77DE799-1EF8-4ADA-9282-59528F257143}"/>
              </a:ext>
            </a:extLst>
          </p:cNvPr>
          <p:cNvSpPr>
            <a:spLocks xmlns:a="http://schemas.openxmlformats.org/drawingml/2006/main" noGrp="1"/>
          </p:cNvSpPr>
          <p:nvPr/>
        </p:nvSpPr>
        <p:spPr>
          <a:xfrm xmlns:a="http://schemas.openxmlformats.org/drawingml/2006/main">
            <a:off x="57721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51.6% better</a:t>
            </a:r>
          </a:p>
        </p:txBody>
      </p:sp>
      <p:sp>
        <p:nvSpPr>
          <p:cNvPr id="22" name="">
            <a:extLst xmlns:a="http://schemas.openxmlformats.org/drawingml/2006/main">
              <a:ext uri="{FF2B5EF4-FFF2-40B4-BE49-F238E27FC236}">
                <a16:creationId xmlns:a16="http://schemas.microsoft.com/office/drawing/2014/main" id="{DAA67374-DBEE-42E1-9608-881070C58FB7}"/>
              </a:ext>
            </a:extLst>
          </p:cNvPr>
          <p:cNvSpPr>
            <a:spLocks xmlns:a="http://schemas.openxmlformats.org/drawingml/2006/main" noGrp="1"/>
          </p:cNvSpPr>
          <p:nvPr/>
        </p:nvSpPr>
        <p:spPr>
          <a:xfrm xmlns:a="http://schemas.openxmlformats.org/drawingml/2006/main">
            <a:off x="57721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482.3 s to 233.5 s</a:t>
            </a:r>
          </a:p>
        </p:txBody>
      </p:sp>
      <p:sp>
        <p:nvSpPr>
          <p:cNvPr id="23" name="">
            <a:extLst xmlns:a="http://schemas.openxmlformats.org/drawingml/2006/main">
              <a:ext uri="{FF2B5EF4-FFF2-40B4-BE49-F238E27FC236}">
                <a16:creationId xmlns:a16="http://schemas.microsoft.com/office/drawing/2014/main" id="{0610C4E4-89E4-4D13-B108-5272E9E4E32E}"/>
              </a:ext>
            </a:extLst>
          </p:cNvPr>
          <p:cNvSpPr>
            <a:spLocks xmlns:a="http://schemas.openxmlformats.org/drawingml/2006/main" noGrp="1"/>
          </p:cNvSpPr>
          <p:nvPr/>
        </p:nvSpPr>
        <p:spPr>
          <a:xfrm xmlns:a="http://schemas.openxmlformats.org/drawingml/2006/main">
            <a:off x="8401050" y="217170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4" name="">
            <a:extLst xmlns:a="http://schemas.openxmlformats.org/drawingml/2006/main">
              <a:ext uri="{FF2B5EF4-FFF2-40B4-BE49-F238E27FC236}">
                <a16:creationId xmlns:a16="http://schemas.microsoft.com/office/drawing/2014/main" id="{EB1557D0-9D75-440E-9F83-AF35BAD05D68}"/>
              </a:ext>
            </a:extLst>
          </p:cNvPr>
          <p:cNvSpPr>
            <a:spLocks xmlns:a="http://schemas.openxmlformats.org/drawingml/2006/main" noGrp="1"/>
          </p:cNvSpPr>
          <p:nvPr/>
        </p:nvSpPr>
        <p:spPr>
          <a:xfrm xmlns:a="http://schemas.openxmlformats.org/drawingml/2006/main">
            <a:off x="85534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Avg TTFT per request</a:t>
            </a:r>
          </a:p>
        </p:txBody>
      </p:sp>
      <p:sp>
        <p:nvSpPr>
          <p:cNvPr id="25" name="">
            <a:extLst xmlns:a="http://schemas.openxmlformats.org/drawingml/2006/main">
              <a:ext uri="{FF2B5EF4-FFF2-40B4-BE49-F238E27FC236}">
                <a16:creationId xmlns:a16="http://schemas.microsoft.com/office/drawing/2014/main" id="{FD76D413-3275-4DA3-A6C3-480CCCE2ED08}"/>
              </a:ext>
            </a:extLst>
          </p:cNvPr>
          <p:cNvSpPr>
            <a:spLocks xmlns:a="http://schemas.openxmlformats.org/drawingml/2006/main" noGrp="1"/>
          </p:cNvSpPr>
          <p:nvPr/>
        </p:nvSpPr>
        <p:spPr>
          <a:xfrm xmlns:a="http://schemas.openxmlformats.org/drawingml/2006/main">
            <a:off x="85534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7.8 s faster</a:t>
            </a:r>
          </a:p>
        </p:txBody>
      </p:sp>
      <p:sp>
        <p:nvSpPr>
          <p:cNvPr id="26" name="">
            <a:extLst xmlns:a="http://schemas.openxmlformats.org/drawingml/2006/main">
              <a:ext uri="{FF2B5EF4-FFF2-40B4-BE49-F238E27FC236}">
                <a16:creationId xmlns:a16="http://schemas.microsoft.com/office/drawing/2014/main" id="{1282039E-9247-42E1-8B7F-6C0E03DA2B11}"/>
              </a:ext>
            </a:extLst>
          </p:cNvPr>
          <p:cNvSpPr>
            <a:spLocks xmlns:a="http://schemas.openxmlformats.org/drawingml/2006/main" noGrp="1"/>
          </p:cNvSpPr>
          <p:nvPr/>
        </p:nvSpPr>
        <p:spPr>
          <a:xfrm xmlns:a="http://schemas.openxmlformats.org/drawingml/2006/main">
            <a:off x="85534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15.1 s to 7.3 s</a:t>
            </a:r>
          </a:p>
        </p:txBody>
      </p:sp>
      <p:sp>
        <p:nvSpPr>
          <p:cNvPr id="27" name="">
            <a:extLst xmlns:a="http://schemas.openxmlformats.org/drawingml/2006/main">
              <a:ext uri="{FF2B5EF4-FFF2-40B4-BE49-F238E27FC236}">
                <a16:creationId xmlns:a16="http://schemas.microsoft.com/office/drawing/2014/main" id="{AFAA961E-34FF-4851-A27D-39E29FBD8A9F}"/>
              </a:ext>
            </a:extLst>
          </p:cNvPr>
          <p:cNvSpPr>
            <a:spLocks xmlns:a="http://schemas.openxmlformats.org/drawingml/2006/main" noGrp="1"/>
          </p:cNvSpPr>
          <p:nvPr/>
        </p:nvSpPr>
        <p:spPr>
          <a:xfrm xmlns:a="http://schemas.openxmlformats.org/drawingml/2006/main">
            <a:off x="5619750" y="318135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8" name="">
            <a:extLst xmlns:a="http://schemas.openxmlformats.org/drawingml/2006/main">
              <a:ext uri="{FF2B5EF4-FFF2-40B4-BE49-F238E27FC236}">
                <a16:creationId xmlns:a16="http://schemas.microsoft.com/office/drawing/2014/main" id="{6FD8BF38-AB7C-4F34-A188-4772585E61DF}"/>
              </a:ext>
            </a:extLst>
          </p:cNvPr>
          <p:cNvSpPr>
            <a:spLocks xmlns:a="http://schemas.openxmlformats.org/drawingml/2006/main" noGrp="1"/>
          </p:cNvSpPr>
          <p:nvPr/>
        </p:nvSpPr>
        <p:spPr>
          <a:xfrm xmlns:a="http://schemas.openxmlformats.org/drawingml/2006/main">
            <a:off x="57721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lateness</a:t>
            </a:r>
          </a:p>
        </p:txBody>
      </p:sp>
      <p:sp>
        <p:nvSpPr>
          <p:cNvPr id="29" name="">
            <a:extLst xmlns:a="http://schemas.openxmlformats.org/drawingml/2006/main">
              <a:ext uri="{FF2B5EF4-FFF2-40B4-BE49-F238E27FC236}">
                <a16:creationId xmlns:a16="http://schemas.microsoft.com/office/drawing/2014/main" id="{762B32F7-029C-47C4-9908-CDDB0BBDFF06}"/>
              </a:ext>
            </a:extLst>
          </p:cNvPr>
          <p:cNvSpPr>
            <a:spLocks xmlns:a="http://schemas.openxmlformats.org/drawingml/2006/main" noGrp="1"/>
          </p:cNvSpPr>
          <p:nvPr/>
        </p:nvSpPr>
        <p:spPr>
          <a:xfrm xmlns:a="http://schemas.openxmlformats.org/drawingml/2006/main">
            <a:off x="57721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34.9% better</a:t>
            </a:r>
          </a:p>
        </p:txBody>
      </p:sp>
      <p:sp>
        <p:nvSpPr>
          <p:cNvPr id="30" name="">
            <a:extLst xmlns:a="http://schemas.openxmlformats.org/drawingml/2006/main">
              <a:ext uri="{FF2B5EF4-FFF2-40B4-BE49-F238E27FC236}">
                <a16:creationId xmlns:a16="http://schemas.microsoft.com/office/drawing/2014/main" id="{CE742687-7808-4E35-ABE5-E298740861BD}"/>
              </a:ext>
            </a:extLst>
          </p:cNvPr>
          <p:cNvSpPr>
            <a:spLocks xmlns:a="http://schemas.openxmlformats.org/drawingml/2006/main" noGrp="1"/>
          </p:cNvSpPr>
          <p:nvPr/>
        </p:nvSpPr>
        <p:spPr>
          <a:xfrm xmlns:a="http://schemas.openxmlformats.org/drawingml/2006/main">
            <a:off x="57721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1014.0 s to 659.9 s</a:t>
            </a:r>
          </a:p>
        </p:txBody>
      </p:sp>
      <p:sp>
        <p:nvSpPr>
          <p:cNvPr id="31" name="">
            <a:extLst xmlns:a="http://schemas.openxmlformats.org/drawingml/2006/main">
              <a:ext uri="{FF2B5EF4-FFF2-40B4-BE49-F238E27FC236}">
                <a16:creationId xmlns:a16="http://schemas.microsoft.com/office/drawing/2014/main" id="{814EA06F-7EBE-4240-B7A5-0E403049D78B}"/>
              </a:ext>
            </a:extLst>
          </p:cNvPr>
          <p:cNvSpPr>
            <a:spLocks xmlns:a="http://schemas.openxmlformats.org/drawingml/2006/main" noGrp="1"/>
          </p:cNvSpPr>
          <p:nvPr/>
        </p:nvSpPr>
        <p:spPr>
          <a:xfrm xmlns:a="http://schemas.openxmlformats.org/drawingml/2006/main">
            <a:off x="8401050" y="318135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32" name="">
            <a:extLst xmlns:a="http://schemas.openxmlformats.org/drawingml/2006/main">
              <a:ext uri="{FF2B5EF4-FFF2-40B4-BE49-F238E27FC236}">
                <a16:creationId xmlns:a16="http://schemas.microsoft.com/office/drawing/2014/main" id="{45AC1C30-A9D3-4BE5-B45B-A8778AAA151B}"/>
              </a:ext>
            </a:extLst>
          </p:cNvPr>
          <p:cNvSpPr>
            <a:spLocks xmlns:a="http://schemas.openxmlformats.org/drawingml/2006/main" noGrp="1"/>
          </p:cNvSpPr>
          <p:nvPr/>
        </p:nvSpPr>
        <p:spPr>
          <a:xfrm xmlns:a="http://schemas.openxmlformats.org/drawingml/2006/main">
            <a:off x="85534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Avg lateness</a:t>
            </a:r>
          </a:p>
        </p:txBody>
      </p:sp>
      <p:sp>
        <p:nvSpPr>
          <p:cNvPr id="33" name="">
            <a:extLst xmlns:a="http://schemas.openxmlformats.org/drawingml/2006/main">
              <a:ext uri="{FF2B5EF4-FFF2-40B4-BE49-F238E27FC236}">
                <a16:creationId xmlns:a16="http://schemas.microsoft.com/office/drawing/2014/main" id="{CB8D7A2A-840D-4DF3-B07F-50A85CD38D20}"/>
              </a:ext>
            </a:extLst>
          </p:cNvPr>
          <p:cNvSpPr>
            <a:spLocks xmlns:a="http://schemas.openxmlformats.org/drawingml/2006/main" noGrp="1"/>
          </p:cNvSpPr>
          <p:nvPr/>
        </p:nvSpPr>
        <p:spPr>
          <a:xfrm xmlns:a="http://schemas.openxmlformats.org/drawingml/2006/main">
            <a:off x="85534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11.1 s less late</a:t>
            </a:r>
          </a:p>
        </p:txBody>
      </p:sp>
      <p:sp>
        <p:nvSpPr>
          <p:cNvPr id="34" name="">
            <a:extLst xmlns:a="http://schemas.openxmlformats.org/drawingml/2006/main">
              <a:ext uri="{FF2B5EF4-FFF2-40B4-BE49-F238E27FC236}">
                <a16:creationId xmlns:a16="http://schemas.microsoft.com/office/drawing/2014/main" id="{EE8F60F8-8B90-4454-95A4-8205EE6BC092}"/>
              </a:ext>
            </a:extLst>
          </p:cNvPr>
          <p:cNvSpPr>
            <a:spLocks xmlns:a="http://schemas.openxmlformats.org/drawingml/2006/main" noGrp="1"/>
          </p:cNvSpPr>
          <p:nvPr/>
        </p:nvSpPr>
        <p:spPr>
          <a:xfrm xmlns:a="http://schemas.openxmlformats.org/drawingml/2006/main">
            <a:off x="85534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31.7 s to 20.6 s</a:t>
            </a:r>
          </a:p>
        </p:txBody>
      </p:sp>
      <p:sp>
        <p:nvSpPr>
          <p:cNvPr id="35" name="">
            <a:extLst xmlns:a="http://schemas.openxmlformats.org/drawingml/2006/main">
              <a:ext uri="{FF2B5EF4-FFF2-40B4-BE49-F238E27FC236}">
                <a16:creationId xmlns:a16="http://schemas.microsoft.com/office/drawing/2014/main" id="{7544E251-D6B3-43CD-A363-D3E6E4B7E06E}"/>
              </a:ext>
            </a:extLst>
          </p:cNvPr>
          <p:cNvSpPr>
            <a:spLocks xmlns:a="http://schemas.openxmlformats.org/drawingml/2006/main" noGrp="1"/>
          </p:cNvSpPr>
          <p:nvPr/>
        </p:nvSpPr>
        <p:spPr>
          <a:xfrm xmlns:a="http://schemas.openxmlformats.org/drawingml/2006/main">
            <a:off x="5619750" y="419100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36" name="">
            <a:extLst xmlns:a="http://schemas.openxmlformats.org/drawingml/2006/main">
              <a:ext uri="{FF2B5EF4-FFF2-40B4-BE49-F238E27FC236}">
                <a16:creationId xmlns:a16="http://schemas.microsoft.com/office/drawing/2014/main" id="{886472C4-A6DB-4378-B67C-104B943900C0}"/>
              </a:ext>
            </a:extLst>
          </p:cNvPr>
          <p:cNvSpPr>
            <a:spLocks xmlns:a="http://schemas.openxmlformats.org/drawingml/2006/main" noGrp="1"/>
          </p:cNvSpPr>
          <p:nvPr/>
        </p:nvSpPr>
        <p:spPr>
          <a:xfrm xmlns:a="http://schemas.openxmlformats.org/drawingml/2006/main">
            <a:off x="57721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Value alignment</a:t>
            </a:r>
          </a:p>
        </p:txBody>
      </p:sp>
      <p:sp>
        <p:nvSpPr>
          <p:cNvPr id="37" name="">
            <a:extLst xmlns:a="http://schemas.openxmlformats.org/drawingml/2006/main">
              <a:ext uri="{FF2B5EF4-FFF2-40B4-BE49-F238E27FC236}">
                <a16:creationId xmlns:a16="http://schemas.microsoft.com/office/drawing/2014/main" id="{9FFA927D-9D01-4DBC-97FE-CB4A56222053}"/>
              </a:ext>
            </a:extLst>
          </p:cNvPr>
          <p:cNvSpPr>
            <a:spLocks xmlns:a="http://schemas.openxmlformats.org/drawingml/2006/main" noGrp="1"/>
          </p:cNvSpPr>
          <p:nvPr/>
        </p:nvSpPr>
        <p:spPr>
          <a:xfrm xmlns:a="http://schemas.openxmlformats.org/drawingml/2006/main">
            <a:off x="57721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0 mismatches</a:t>
            </a:r>
          </a:p>
        </p:txBody>
      </p:sp>
      <p:sp>
        <p:nvSpPr>
          <p:cNvPr id="38" name="">
            <a:extLst xmlns:a="http://schemas.openxmlformats.org/drawingml/2006/main">
              <a:ext uri="{FF2B5EF4-FFF2-40B4-BE49-F238E27FC236}">
                <a16:creationId xmlns:a16="http://schemas.microsoft.com/office/drawing/2014/main" id="{E8ECD6AD-DF55-4DB9-B7D3-2EDE05A1C62E}"/>
              </a:ext>
            </a:extLst>
          </p:cNvPr>
          <p:cNvSpPr>
            <a:spLocks xmlns:a="http://schemas.openxmlformats.org/drawingml/2006/main" noGrp="1"/>
          </p:cNvSpPr>
          <p:nvPr/>
        </p:nvSpPr>
        <p:spPr>
          <a:xfrm xmlns:a="http://schemas.openxmlformats.org/drawingml/2006/main">
            <a:off x="57721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23 high, 16 normal, 9 low</a:t>
            </a:r>
          </a:p>
        </p:txBody>
      </p:sp>
      <p:sp>
        <p:nvSpPr>
          <p:cNvPr id="39" name="">
            <a:extLst xmlns:a="http://schemas.openxmlformats.org/drawingml/2006/main">
              <a:ext uri="{FF2B5EF4-FFF2-40B4-BE49-F238E27FC236}">
                <a16:creationId xmlns:a16="http://schemas.microsoft.com/office/drawing/2014/main" id="{BB18FF7F-AA02-423C-A20B-1AA8F07C030B}"/>
              </a:ext>
            </a:extLst>
          </p:cNvPr>
          <p:cNvSpPr>
            <a:spLocks xmlns:a="http://schemas.openxmlformats.org/drawingml/2006/main" noGrp="1"/>
          </p:cNvSpPr>
          <p:nvPr/>
        </p:nvSpPr>
        <p:spPr>
          <a:xfrm xmlns:a="http://schemas.openxmlformats.org/drawingml/2006/main">
            <a:off x="8401050" y="4191000"/>
            <a:ext cx="2571750" cy="838200"/>
          </a:xfrm>
          <a:prstGeom xmlns:a="http://schemas.openxmlformats.org/drawingml/2006/main" prst="rect">
            <a:avLst/>
          </a:prstGeom>
          <a:solidFill xmlns:a="http://schemas.openxmlformats.org/drawingml/2006/main">
            <a:srgbClr val="F3F6FA"/>
          </a:solidFill>
          <a:ln xmlns:a="http://schemas.openxmlformats.org/drawingml/2006/main" w="9525">
            <a:solidFill>
              <a:srgbClr val="DBE4EF"/>
            </a:solidFill>
            <a:prstDash val="solid"/>
          </a:ln>
        </p:spPr>
      </p:sp>
      <p:sp>
        <p:nvSpPr>
          <p:cNvPr id="40" name="">
            <a:extLst xmlns:a="http://schemas.openxmlformats.org/drawingml/2006/main">
              <a:ext uri="{FF2B5EF4-FFF2-40B4-BE49-F238E27FC236}">
                <a16:creationId xmlns:a16="http://schemas.microsoft.com/office/drawing/2014/main" id="{E2BABE59-ACD5-427A-9E70-9EE6CF96930C}"/>
              </a:ext>
            </a:extLst>
          </p:cNvPr>
          <p:cNvSpPr>
            <a:spLocks xmlns:a="http://schemas.openxmlformats.org/drawingml/2006/main" noGrp="1"/>
          </p:cNvSpPr>
          <p:nvPr/>
        </p:nvSpPr>
        <p:spPr>
          <a:xfrm xmlns:a="http://schemas.openxmlformats.org/drawingml/2006/main">
            <a:off x="85534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Workload window</a:t>
            </a:r>
          </a:p>
        </p:txBody>
      </p:sp>
      <p:sp>
        <p:nvSpPr>
          <p:cNvPr id="41" name="">
            <a:extLst xmlns:a="http://schemas.openxmlformats.org/drawingml/2006/main">
              <a:ext uri="{FF2B5EF4-FFF2-40B4-BE49-F238E27FC236}">
                <a16:creationId xmlns:a16="http://schemas.microsoft.com/office/drawing/2014/main" id="{5E8E2AC0-BED7-469F-AE13-CB4A8A59C9FB}"/>
              </a:ext>
            </a:extLst>
          </p:cNvPr>
          <p:cNvSpPr>
            <a:spLocks xmlns:a="http://schemas.openxmlformats.org/drawingml/2006/main" noGrp="1"/>
          </p:cNvSpPr>
          <p:nvPr/>
        </p:nvSpPr>
        <p:spPr>
          <a:xfrm xmlns:a="http://schemas.openxmlformats.org/drawingml/2006/main">
            <a:off x="85534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334155"/>
                </a:solidFill>
                <a:latin typeface="Helvetica Neue"/>
                <a:ea typeface="Helvetica Neue"/>
                <a:cs typeface="Helvetica Neue"/>
              </a:defRPr>
            </a:pPr>
            <a:r>
              <a:rPr sz="1725" b="1">
                <a:solidFill>
                  <a:srgbClr val="334155"/>
                </a:solidFill>
                <a:latin typeface="Helvetica Neue"/>
                <a:ea typeface="Helvetica Neue"/>
                <a:cs typeface="Helvetica Neue"/>
              </a:rPr>
              <a:t>63.1 s longer</a:t>
            </a:r>
          </a:p>
        </p:txBody>
      </p:sp>
      <p:sp>
        <p:nvSpPr>
          <p:cNvPr id="42" name="">
            <a:extLst xmlns:a="http://schemas.openxmlformats.org/drawingml/2006/main">
              <a:ext uri="{FF2B5EF4-FFF2-40B4-BE49-F238E27FC236}">
                <a16:creationId xmlns:a16="http://schemas.microsoft.com/office/drawing/2014/main" id="{1BE9BD20-1615-42B2-8839-709F291438CA}"/>
              </a:ext>
            </a:extLst>
          </p:cNvPr>
          <p:cNvSpPr>
            <a:spLocks xmlns:a="http://schemas.openxmlformats.org/drawingml/2006/main" noGrp="1"/>
          </p:cNvSpPr>
          <p:nvPr/>
        </p:nvSpPr>
        <p:spPr>
          <a:xfrm xmlns:a="http://schemas.openxmlformats.org/drawingml/2006/main">
            <a:off x="85534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205.6 s to 268.8 s</a:t>
            </a:r>
          </a:p>
        </p:txBody>
      </p:sp>
      <p:sp>
        <p:nvSpPr>
          <p:cNvPr id="43" name="">
            <a:extLst xmlns:a="http://schemas.openxmlformats.org/drawingml/2006/main">
              <a:ext uri="{FF2B5EF4-FFF2-40B4-BE49-F238E27FC236}">
                <a16:creationId xmlns:a16="http://schemas.microsoft.com/office/drawing/2014/main" id="{77406B22-02D6-4E1A-83F6-5DE2CD9BCE71}"/>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2FCB5BCC-464C-4951-9873-C4C01EA46015}"/>
              </a:ext>
            </a:extLst>
          </p:cNvPr>
          <p:cNvSpPr>
            <a:spLocks xmlns:a="http://schemas.openxmlformats.org/drawingml/2006/main" noGrp="1"/>
          </p:cNvSpPr>
          <p:nvPr/>
        </p:nvSpPr>
        <p:spPr>
          <a:xfrm xmlns:a="http://schemas.openxmlformats.org/drawingml/2006/main">
            <a:off x="628650" y="5753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Mechanism proof</a:t>
            </a:r>
          </a:p>
        </p:txBody>
      </p:sp>
      <p:sp>
        <p:nvSpPr>
          <p:cNvPr id="45" name="">
            <a:extLst xmlns:a="http://schemas.openxmlformats.org/drawingml/2006/main">
              <a:ext uri="{FF2B5EF4-FFF2-40B4-BE49-F238E27FC236}">
                <a16:creationId xmlns:a16="http://schemas.microsoft.com/office/drawing/2014/main" id="{A693DF3D-3AAB-4A35-8991-185295377983}"/>
              </a:ext>
            </a:extLst>
          </p:cNvPr>
          <p:cNvSpPr>
            <a:spLocks xmlns:a="http://schemas.openxmlformats.org/drawingml/2006/main" noGrp="1"/>
          </p:cNvSpPr>
          <p:nvPr/>
        </p:nvSpPr>
        <p:spPr>
          <a:xfrm xmlns:a="http://schemas.openxmlformats.org/drawingml/2006/main">
            <a:off x="2438400" y="5753100"/>
            <a:ext cx="819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Value classes reached SGLang with zero mismatches, and native HiCache eviction events were observed.</a:t>
            </a:r>
          </a:p>
        </p:txBody>
      </p:sp>
      <p:sp>
        <p:nvSpPr>
          <p:cNvPr id="46" name="">
            <a:extLst xmlns:a="http://schemas.openxmlformats.org/drawingml/2006/main">
              <a:ext uri="{FF2B5EF4-FFF2-40B4-BE49-F238E27FC236}">
                <a16:creationId xmlns:a16="http://schemas.microsoft.com/office/drawing/2014/main" id="{5E6F8568-07F9-4366-B2AC-3790A3BFF37D}"/>
              </a:ext>
            </a:extLst>
          </p:cNvPr>
          <p:cNvSpPr>
            <a:spLocks xmlns:a="http://schemas.openxmlformats.org/drawingml/2006/main" noGrp="1"/>
          </p:cNvSpPr>
          <p:nvPr/>
        </p:nvSpPr>
        <p:spPr>
          <a:xfrm xmlns:a="http://schemas.openxmlformats.org/drawingml/2006/main">
            <a:off x="552450" y="64198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Source: Harness-Aware Scenario Tracker</a:t>
            </a:r>
          </a:p>
        </p:txBody>
      </p:sp>
    </p:spTree>
    <p:extLst>
      <p:ext uri="{BB962C8B-B14F-4D97-AF65-F5344CB8AC3E}">
        <p14:creationId xmlns:p14="http://schemas.microsoft.com/office/powerpoint/2010/main" val="12270816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2026-09-17T17:55:56.7790000Z</dcterms:created>
  <dcterms:modified xsi:type="dcterms:W3CDTF">2026-09-17T17:55:56.7790000Z</dcterms:modified>
</coreProperties>
</file>