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9472fea54543cd" /><Relationship Type="http://schemas.openxmlformats.org/officeDocument/2006/relationships/extended-properties" Target="/docProps/app.xml" Id="R87511af6c8534942" /><Relationship Type="http://schemas.openxmlformats.org/officeDocument/2006/relationships/officeDocument" Target="/ppt/presentation.xml" Id="R350006f45da34e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17083133804de0"/>
  </p:sldMasterIdLst>
  <p:notesMasterIdLst>
    <p:notesMasterId xmlns:r="http://schemas.openxmlformats.org/officeDocument/2006/relationships" r:id="Rdde161872664450b"/>
  </p:notesMasterIdLst>
  <p:sldIdLst>
    <p:sldId xmlns:r="http://schemas.openxmlformats.org/officeDocument/2006/relationships" id="256" r:id="R678215361e754ed4"/>
    <p:sldId xmlns:r="http://schemas.openxmlformats.org/officeDocument/2006/relationships" id="257" r:id="R602200ff6a384adf"/>
    <p:sldId xmlns:r="http://schemas.openxmlformats.org/officeDocument/2006/relationships" id="258" r:id="R1c725876cb7148a7"/>
    <p:sldId xmlns:r="http://schemas.openxmlformats.org/officeDocument/2006/relationships" id="259" r:id="R9b47148e11c542cb"/>
    <p:sldId xmlns:r="http://schemas.openxmlformats.org/officeDocument/2006/relationships" id="260" r:id="R25040987df074f94"/>
    <p:sldId xmlns:r="http://schemas.openxmlformats.org/officeDocument/2006/relationships" id="261" r:id="R00a78b909ae84240"/>
    <p:sldId xmlns:r="http://schemas.openxmlformats.org/officeDocument/2006/relationships" id="262" r:id="R4bc0b97b392a4895"/>
    <p:sldId xmlns:r="http://schemas.openxmlformats.org/officeDocument/2006/relationships" id="263" r:id="R1e7784fc405c4d8d"/>
    <p:sldId xmlns:r="http://schemas.openxmlformats.org/officeDocument/2006/relationships" id="264" r:id="R061333d07ec44676"/>
    <p:sldId xmlns:r="http://schemas.openxmlformats.org/officeDocument/2006/relationships" id="265" r:id="Rad04ad3d881241ee"/>
    <p:sldId xmlns:r="http://schemas.openxmlformats.org/officeDocument/2006/relationships" id="266" r:id="R3ad53a83b10d483d"/>
    <p:sldId xmlns:r="http://schemas.openxmlformats.org/officeDocument/2006/relationships" id="267" r:id="Rb137ee488179412f"/>
    <p:sldId xmlns:r="http://schemas.openxmlformats.org/officeDocument/2006/relationships" id="268" r:id="R9466ba8eaf0c4471"/>
    <p:sldId xmlns:r="http://schemas.openxmlformats.org/officeDocument/2006/relationships" id="269" r:id="R79c77eb9a36e4a6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203332dd634af6" /><Relationship Type="http://schemas.openxmlformats.org/officeDocument/2006/relationships/slideMaster" Target="/ppt/slideMasters/slideMaster1.xml" Id="R3117083133804de0" /><Relationship Type="http://schemas.openxmlformats.org/officeDocument/2006/relationships/notesMaster" Target="/ppt/notesMasters/notesMaster1.xml" Id="Rdde161872664450b" /><Relationship Type="http://schemas.openxmlformats.org/officeDocument/2006/relationships/presProps" Target="/ppt/presProps.xml" Id="R100dc3c28d584afd" /><Relationship Type="http://schemas.openxmlformats.org/officeDocument/2006/relationships/tableStyles" Target="/ppt/tableStyles.xml" Id="R5a97399cfdfd4fe7" /><Relationship Type="http://schemas.openxmlformats.org/officeDocument/2006/relationships/slide" Target="/ppt/slides/slide1.xml" Id="R678215361e754ed4" /><Relationship Type="http://schemas.openxmlformats.org/officeDocument/2006/relationships/slide" Target="/ppt/slides/slide2.xml" Id="R602200ff6a384adf" /><Relationship Type="http://schemas.openxmlformats.org/officeDocument/2006/relationships/slide" Target="/ppt/slides/slide3.xml" Id="R1c725876cb7148a7" /><Relationship Type="http://schemas.openxmlformats.org/officeDocument/2006/relationships/slide" Target="/ppt/slides/slide4.xml" Id="R9b47148e11c542cb" /><Relationship Type="http://schemas.openxmlformats.org/officeDocument/2006/relationships/slide" Target="/ppt/slides/slide5.xml" Id="R25040987df074f94" /><Relationship Type="http://schemas.openxmlformats.org/officeDocument/2006/relationships/slide" Target="/ppt/slides/slide6.xml" Id="R00a78b909ae84240" /><Relationship Type="http://schemas.openxmlformats.org/officeDocument/2006/relationships/slide" Target="/ppt/slides/slide7.xml" Id="R4bc0b97b392a4895" /><Relationship Type="http://schemas.openxmlformats.org/officeDocument/2006/relationships/slide" Target="/ppt/slides/slide8.xml" Id="R1e7784fc405c4d8d" /><Relationship Type="http://schemas.openxmlformats.org/officeDocument/2006/relationships/slide" Target="/ppt/slides/slide9.xml" Id="R061333d07ec44676" /><Relationship Type="http://schemas.openxmlformats.org/officeDocument/2006/relationships/slide" Target="/ppt/slides/slide10.xml" Id="Rad04ad3d881241ee" /><Relationship Type="http://schemas.openxmlformats.org/officeDocument/2006/relationships/slide" Target="/ppt/slides/slide11.xml" Id="R3ad53a83b10d483d" /><Relationship Type="http://schemas.openxmlformats.org/officeDocument/2006/relationships/slide" Target="/ppt/slides/slide12.xml" Id="Rb137ee488179412f" /><Relationship Type="http://schemas.openxmlformats.org/officeDocument/2006/relationships/slide" Target="/ppt/slides/slide13.xml" Id="R9466ba8eaf0c4471" /><Relationship Type="http://schemas.openxmlformats.org/officeDocument/2006/relationships/slide" Target="/ppt/slides/slide14.xml" Id="R79c77eb9a36e4a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df81e637ea49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e961fb68864105" /><Relationship Type="http://schemas.openxmlformats.org/officeDocument/2006/relationships/notesMaster" Target="/ppt/notesMasters/notesMaster1.xml" Id="R5d88b5c1d10f46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a2aac31264a2e" /><Relationship Type="http://schemas.openxmlformats.org/officeDocument/2006/relationships/notesMaster" Target="/ppt/notesMasters/notesMaster1.xml" Id="Ra5d6f2e804a24c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f78de22fb14521" /><Relationship Type="http://schemas.openxmlformats.org/officeDocument/2006/relationships/notesMaster" Target="/ppt/notesMasters/notesMaster1.xml" Id="R755d0585d91544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2cb7b3e4cd4f3f" /><Relationship Type="http://schemas.openxmlformats.org/officeDocument/2006/relationships/notesMaster" Target="/ppt/notesMasters/notesMaster1.xml" Id="Re1e08bceabad4e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40a8f07cc541e2" /><Relationship Type="http://schemas.openxmlformats.org/officeDocument/2006/relationships/notesMaster" Target="/ppt/notesMasters/notesMaster1.xml" Id="R2099c847f4b64a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97982f77214a49" /><Relationship Type="http://schemas.openxmlformats.org/officeDocument/2006/relationships/notesMaster" Target="/ppt/notesMasters/notesMaster1.xml" Id="R2955cca289694b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d6831595e648a1" /><Relationship Type="http://schemas.openxmlformats.org/officeDocument/2006/relationships/notesMaster" Target="/ppt/notesMasters/notesMaster1.xml" Id="Ra39bf87d09894a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27d1e89c9149fd" /><Relationship Type="http://schemas.openxmlformats.org/officeDocument/2006/relationships/notesMaster" Target="/ppt/notesMasters/notesMaster1.xml" Id="Rb5ebae2927a54b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f0d0c3c86b4af0" /><Relationship Type="http://schemas.openxmlformats.org/officeDocument/2006/relationships/notesMaster" Target="/ppt/notesMasters/notesMaster1.xml" Id="R3a76877ff7a540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5f26f918f548d6" /><Relationship Type="http://schemas.openxmlformats.org/officeDocument/2006/relationships/notesMaster" Target="/ppt/notesMasters/notesMaster1.xml" Id="R7b4fc2beff084a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8f388215d44137" /><Relationship Type="http://schemas.openxmlformats.org/officeDocument/2006/relationships/notesMaster" Target="/ppt/notesMasters/notesMaster1.xml" Id="Rca960dbba5d348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e10aa4825e4046" /><Relationship Type="http://schemas.openxmlformats.org/officeDocument/2006/relationships/notesMaster" Target="/ppt/notesMasters/notesMaster1.xml" Id="R3068e5577b044e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a0b02fe45e4d02" /><Relationship Type="http://schemas.openxmlformats.org/officeDocument/2006/relationships/notesMaster" Target="/ppt/notesMasters/notesMaster1.xml" Id="R5a7d9b6a2ed84a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9f331e4af14f80" /><Relationship Type="http://schemas.openxmlformats.org/officeDocument/2006/relationships/notesMaster" Target="/ppt/notesMasters/notesMaster1.xml" Id="R239bf855fa7f41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legend text in chat.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to narrow to KV cache handling and scheduling/workload prediction hints.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https://pi.dev/</a:t>
            </a:r>
          </a:p>
          <a:p xmlns:a="http://schemas.openxmlformats.org/drawingml/2006/main">
            <a:r>
              <a:t>- https://github.com/earendil-works/pi</a:t>
            </a:r>
          </a:p>
          <a:p xmlns:a="http://schemas.openxmlformats.org/drawingml/2006/main">
            <a:r>
              <a:t>- https://opencode.ai/</a:t>
            </a:r>
          </a:p>
          <a:p xmlns:a="http://schemas.openxmlformats.org/drawingml/2006/main">
            <a:r>
              <a:t>- https://opencode.ai/docs/</a:t>
            </a:r>
          </a:p>
          <a:p xmlns:a="http://schemas.openxmlformats.org/drawingml/2006/main">
            <a:r>
              <a:t>- https://docs.openclaw.ai/plugins/sdk-agent-harness</a:t>
            </a:r>
          </a:p>
          <a:p xmlns:a="http://schemas.openxmlformats.org/drawingml/2006/main">
            <a:r>
              <a:t>- https://docs.openclaw.ai/tools/plugin</a:t>
            </a:r>
          </a:p>
          <a:p xmlns:a="http://schemas.openxmlformats.org/drawingml/2006/main">
            <a:r>
              <a:t>- https://hermes-agent.nousresearch.com/docs/</a:t>
            </a:r>
          </a:p>
          <a:p xmlns:a="http://schemas.openxmlformats.org/drawingml/2006/main">
            <a:r>
              <a:t>- https://github.com/NousResearch/hermes-agent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to explain the focused serving-plane signals in simple English.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/Users/oluwolejaiyeoba/Desktop/Screenshot 2026-08-25 at 12.15.33 PM.png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/Users/oluwolejaiyeoba/Desktop/Screenshot 2026-08-25 at 12.15.33 PM.png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https://pi.dev/; https://github.com/earendil-works/pi; https://opencode.ai/; https://opencode.ai/docs/; https://docs.openclaw.ai/plugins/sdk-agent-harness; https://docs.openclaw.ai/tools/plugin; https://hermes-agent.nousresearch.com/docs/; https://github.com/NousResearch/hermes-agent; https://pi.dev/docs/latest/providers; https://pi.dev/docs/latest/extensions; https://pi.dev/docs/latest/models; https://pi.dev/docs/latest/compaction; https://opencode.ai/docs/cli/; https://opencode.ai/docs/plugins/; https://opencode.ai/docs/providers/; https://docs.openclaw.ai/providers/openai; https://docs.openclaw.ai/concepts/model-providers; https://docs.openclaw.ai/plugins/sdk-agent-harness; https://hermes-agent.nousresearch.com/docs/integrations/providers; https://hermes-agent.nousresearch.com/docs/developer-guide/context-compression-and-caching; https://hermes-agent.nousresearch.com/docs/user-guide/features/delegation; https://hermes-agent.nousresearch.com/docs/developer-guide/agent-loop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https://pi.dev/; https://github.com/earendil-works/pi; https://opencode.ai/; https://opencode.ai/docs/; https://docs.openclaw.ai/plugins/sdk-agent-harness; https://docs.openclaw.ai/tools/plugin; https://hermes-agent.nousresearch.com/docs/; https://github.com/NousResearch/hermes-agent; https://pi.dev/docs/latest/providers; https://pi.dev/docs/latest/extensions; https://pi.dev/docs/latest/models; https://pi.dev/docs/latest/compaction; https://opencode.ai/docs/cli/; https://opencode.ai/docs/plugins/; https://opencode.ai/docs/providers/; https://docs.openclaw.ai/providers/openai; https://docs.openclaw.ai/concepts/model-providers; https://docs.openclaw.ai/plugins/sdk-agent-harness; https://hermes-agent.nousresearch.com/docs/integrations/providers; https://hermes-agent.nousresearch.com/docs/developer-guide/context-compression-and-caching; https://hermes-agent.nousresearch.com/docs/user-guide/features/delegation; https://hermes-agent.nousresearch.com/docs/developer-guide/agent-loop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to explain the focused serving-plane signals in simple English.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/Users/oluwolejaiyeoba/Desktop/Screenshot 2026-08-25 at 12.16.08 PM.png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/Users/oluwolejaiyeoba/Desktop/Screenshot 2026-08-25 at 12.16.08 PM.png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https://pi.dev/; https://github.com/earendil-works/pi; https://opencode.ai/; https://opencode.ai/docs/; https://docs.openclaw.ai/plugins/sdk-agent-harness; https://docs.openclaw.ai/tools/plugin; https://hermes-agent.nousresearch.com/docs/; https://github.com/NousResearch/hermes-agent; https://pi.dev/docs/latest/providers; https://pi.dev/docs/latest/extensions; https://pi.dev/docs/latest/models; https://pi.dev/docs/latest/compaction; https://opencode.ai/docs/cli/; https://opencode.ai/docs/plugins/; https://opencode.ai/docs/providers/; https://docs.openclaw.ai/providers/openai; https://docs.openclaw.ai/concepts/model-providers; https://docs.openclaw.ai/plugins/sdk-agent-harness; https://hermes-agent.nousresearch.com/docs/integrations/providers; https://hermes-agent.nousresearch.com/docs/developer-guide/context-compression-and-caching; https://hermes-agent.nousresearch.com/docs/user-guide/features/delegation; https://hermes-agent.nousresearch.com/docs/developer-guide/agent-loop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https://pi.dev/; https://github.com/earendil-works/pi; https://opencode.ai/; https://opencode.ai/docs/; https://docs.openclaw.ai/plugins/sdk-agent-harness; https://docs.openclaw.ai/tools/plugin; https://hermes-agent.nousresearch.com/docs/; https://github.com/NousResearch/hermes-agent; https://pi.dev/docs/latest/providers; https://pi.dev/docs/latest/extensions; https://pi.dev/docs/latest/models; https://pi.dev/docs/latest/compaction; https://opencode.ai/docs/cli/; https://opencode.ai/docs/plugins/; https://opencode.ai/docs/providers/; https://docs.openclaw.ai/providers/openai; https://docs.openclaw.ai/concepts/model-providers; https://docs.openclaw.ai/plugins/sdk-agent-harness; https://hermes-agent.nousresearch.com/docs/integrations/providers; https://hermes-agent.nousresearch.com/docs/developer-guide/context-compression-and-caching; https://hermes-agent.nousresearch.com/docs/user-guide/features/delegation; https://hermes-agent.nousresearch.com/docs/developer-guide/agent-loop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and previously generated signal tables.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c2d06a8af42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768307b9564882" /><Relationship Type="http://schemas.openxmlformats.org/officeDocument/2006/relationships/slideLayout" Target="/ppt/slideLayouts/slideLayout1.xml" Id="R2a65f1c33b4246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65f1c33b4246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12774badb43a8" /><Relationship Type="http://schemas.openxmlformats.org/officeDocument/2006/relationships/notesSlide" Target="/ppt/notesSlides/notesSlide1.xml" Id="R71508e3cb5ef40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bef98f61e4a3e" /><Relationship Type="http://schemas.openxmlformats.org/officeDocument/2006/relationships/notesSlide" Target="/ppt/notesSlides/notesSlide2.xml" Id="Re6b7cecc2d4846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9689b510241d4" /><Relationship Type="http://schemas.openxmlformats.org/officeDocument/2006/relationships/notesSlide" Target="/ppt/notesSlides/notesSlide3.xml" Id="Rfe36bc9028544a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ef95490bc41a0" /><Relationship Type="http://schemas.openxmlformats.org/officeDocument/2006/relationships/notesSlide" Target="/ppt/notesSlides/notesSlide4.xml" Id="R4196e6e16bb041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36f1838b946d4" /><Relationship Type="http://schemas.openxmlformats.org/officeDocument/2006/relationships/notesSlide" Target="/ppt/notesSlides/notesSlide5.xml" Id="R4b578898fd3e42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fe994e6244797" /><Relationship Type="http://schemas.openxmlformats.org/officeDocument/2006/relationships/notesSlide" Target="/ppt/notesSlides/notesSlide6.xml" Id="Rff6642886c7d44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2e8a55b454719" /><Relationship Type="http://schemas.openxmlformats.org/officeDocument/2006/relationships/notesSlide" Target="/ppt/notesSlides/notesSlide7.xml" Id="Ra0cc085f8e8442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82d1441f84c59" /><Relationship Type="http://schemas.openxmlformats.org/officeDocument/2006/relationships/notesSlide" Target="/ppt/notesSlides/notesSlide8.xml" Id="R82b91031f3ba45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0c8485ecc48f0" /><Relationship Type="http://schemas.openxmlformats.org/officeDocument/2006/relationships/notesSlide" Target="/ppt/notesSlides/notesSlide9.xml" Id="R6b65f7f9c8e045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536c177aa46a2" /><Relationship Type="http://schemas.openxmlformats.org/officeDocument/2006/relationships/notesSlide" Target="/ppt/notesSlides/notesSlide10.xml" Id="Rb613bf0b935446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265330f4d4a98" /><Relationship Type="http://schemas.openxmlformats.org/officeDocument/2006/relationships/notesSlide" Target="/ppt/notesSlides/notesSlide11.xml" Id="R9e8dd5e884d042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1a98f9c334e34" /><Relationship Type="http://schemas.openxmlformats.org/officeDocument/2006/relationships/notesSlide" Target="/ppt/notesSlides/notesSlide12.xml" Id="Rc9e49fdd70064d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2d447c91b483f" /><Relationship Type="http://schemas.openxmlformats.org/officeDocument/2006/relationships/notesSlide" Target="/ppt/notesSlides/notesSlide13.xml" Id="R4d64302c8a414a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b1337f1b24a0a" /><Relationship Type="http://schemas.openxmlformats.org/officeDocument/2006/relationships/notesSlide" Target="/ppt/notesSlides/notesSlide14.xml" Id="R80b1493fbfca48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9A5367-DB97-4A13-B1C8-6CA0BA31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Legend — How to interpret support labels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533400" y="116205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86B5E-7C03-48CB-B104-13B8C5E6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48853-56E3-44E9-BB1D-88E98F6F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Native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11FC8-BFF6-4486-91E9-98972E60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5811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Built-in, documented support in the named platform or component.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0A992-7803-4E97-BE2E-80F622AA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9A4E1-2FE2-494F-9AAB-02D70ECD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647C8-27CE-4080-8788-5C77789C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336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779"/>
          </a:bodyPr>
          <a:lstStyle xmlns:a="http://schemas.openxmlformats.org/drawingml/2006/main"/>
          <a:p xmlns:a="http://schemas.openxmlformats.org/drawingml/2006/main">
            <a:pPr algn="l">
              <a:def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harness automatically sends the signal; a compatible backend must still consume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96EAD-B34E-462B-8463-6766EEA5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6601C-AB19-49FB-9096-619636AA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 / Custom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5E16D-C3A7-4312-8ED7-6B640F7D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860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Developer-written code, an adapter, or middleware is required.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CCD6A-0AB2-4528-9D32-6A8DCB98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153EE-CE30-4A22-AAFD-2833420A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Pass-through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B3230-2E98-4140-A8F6-17C6759C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385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79"/>
          </a:bodyPr>
          <a:lstStyle xmlns:a="http://schemas.openxmlformats.org/drawingml/2006/main"/>
          <a:p xmlns:a="http://schemas.openxmlformats.org/drawingml/2006/main">
            <a:pPr algn="l">
              <a:def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Forwards a user-supplied field unchanged; it does not create, validate, or act on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38A3B-3958-439B-A6BD-57372302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C67EA-995D-41E4-9365-4031FDF6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Could pass through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C52B9-761E-489D-B19D-4B30737E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Generic forwarding appears possible, but no standard mapping is verified.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F532F1-BB6E-459E-8F5E-7ADACC09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5C11B-51F3-49BA-B57D-3527E034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Provider-dependent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1F333-89CF-466B-B57D-E5ED53DE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434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47"/>
          </a:bodyPr>
          <a:lstStyle xmlns:a="http://schemas.openxmlformats.org/drawingml/2006/main"/>
          <a:p xmlns:a="http://schemas.openxmlformats.org/drawingml/2006/main">
            <a:pPr algn="l">
              <a:def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Support comes from the selected model provider, not consistently from the harness.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80285-E543-45DC-BBCA-6C48B236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859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A579AE-A8C5-4950-AA8C-9CA3EF2A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811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Internal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548A9-1EB5-4BC5-AA75-BF95A0BE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5811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Known or used internally, but not exposed as a stable outbound signal.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ED6E1D-9F2E-4363-9B29-C3A8AC55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7BB469-D25F-4375-AEA7-3E6E692C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33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Automatic / provider-managed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1C7C2-FB74-47F3-B932-B15C156B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21336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Capability exists, but the provider controls it automatically.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326BA8-4F53-4E33-8FBB-8E7ADA30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0ADB5-268B-472A-9AF5-D628768A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Experimental / version-bound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598F28-D8B7-40DC-AD98-37016ECE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26860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Integration-specific and not a stable portable contract.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3B06A2-D9C8-403C-9D6D-C922801B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C07737-CCD9-47A8-9FE1-AFC75E86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Legacy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B64EC-B3C4-443D-82FF-EC68C307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2385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Previously supported but deprecated or removed from the current interface.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8ECC14-F413-4D01-A787-876D9AA6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957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DD96C5-6AD5-43C2-AF15-07728AC2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None / '-' / N/A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975A1F-EE1D-45E7-8C4B-5F719A45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7909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 documented equivalent or applicable support was found.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270CB2-1D6C-4263-BE78-0DDEE185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481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9F5137-B505-4BAA-A219-B98CD1DC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Profiler / metrics / tracing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A2A703-1338-407D-A4DB-268B09ED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3434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22"/>
          </a:bodyPr>
          <a:lstStyle xmlns:a="http://schemas.openxmlformats.org/drawingml/2006/main"/>
          <a:p xmlns:a="http://schemas.openxmlformats.org/drawingml/2006/main">
            <a:pPr algn="l">
              <a:def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Observability only; reports what happened rather than controlling inference behavior.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502269-EA2D-4656-A342-2E49A2E8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Strict comparison rule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C9002A-4CC5-46A7-97FB-67754EE1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3695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BFFF35-8384-4ACB-82F6-724A0984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626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Supported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522F6E-EF65-451F-BFFC-22A2D0BC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29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90"/>
          </a:bodyPr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1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Native; Emits when compatible downstream consumption is verified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4825B8-CFD2-422D-929B-A66B44A2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867400"/>
            <a:ext cx="3695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8FA0CD-54B5-4A09-9904-3A349504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9626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Conditional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BFECA8-2511-47DC-9EB4-DFC9DFAB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229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1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Provider-dependent, automatic, experimental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CB9463-6D1E-42C4-BE54-393B2038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867400"/>
            <a:ext cx="3695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E8FFED-E470-4E26-B864-42412554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9626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Not natively supported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A97F75-4484-416F-AF86-5E25A2FB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29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1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Custom, pass-through, internal, middleware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59EE54-0768-4505-A443-F8D755C5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867400"/>
            <a:ext cx="3695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53F82A-0253-4559-BC09-59574C9A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9626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Unsupported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FFFC05-AFC0-4C25-B478-0C815743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6229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1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None, '-', N/A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62B1D2-96D7-44DD-AAD3-A81FE6E0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Most important distinction: Native is built in; Custom must be built; Pass-through only carries the field; '-' means no native equivalent.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B364EF-17AD-4C04-8988-C0CD606F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Cell format: human-readable description on top, compact JSON wire shape below.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0FD5B1-1007-4FE5-BCCA-EE64834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819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Example: Pass-through only  {"via":"pass_through"}</a:t>
            </a:r>
          </a:p>
        </p:txBody>
      </p:sp>
      <p:cxnSp>
        <p:nvCxnSpPr>
          <p:cNvPr id="112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969515-0964-4E53-80A6-C74929B6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Source: user-provided legend text in chat.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A5036B-F38D-4663-BBCD-19290B22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01818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83A11-92C6-49EE-AAEA-9940895E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428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Focused scope — serving-plane control signals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533400" y="116205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0B491-B67D-4791-B520-8CED5E67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35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deck keeps only signals that can plausibly affect when a request runs, how serving load is predicted, or how KV/cache state is reused.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84DF2-28ED-44EE-A5F1-0543CB4B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7239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607EF-C8F1-4621-9143-E96ECB39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Scheduling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CAAED-D6F2-47A8-8C7F-8EAAF7D8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575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Queue order, QoS tier, latency sensitivity, output-length and arrival predictions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0FF7C-1FFE-4669-8D2A-A395CC5A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 priority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 latency_sensitivity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 osl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 prefix_id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 total_requests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 iat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64A8B-DCC3-45E3-8328-4106B63F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7239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A91B8-11F5-4926-8549-557C9476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KV / Cache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B22DB-9C00-4130-BA49-8D95662E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575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Cache keying, namespace, TTL, entry type, eviction priority, prefill, hit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602FE-1460-4221-9BFA-F16ED967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672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 prompt_cache_key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 cache_control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 cache_salt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 speculative_prefill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B618D-D856-4BA2-AEF6-8B8C215D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38900"/>
            <a:ext cx="1466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Out of scope for this research pass: routing, placement, worker selection, affinity identity, general reasoning controls, lifecycle metadata, and broad observability fields.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8F182-D5ED-49A6-8FDA-EBCC57A3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24700"/>
            <a:ext cx="1466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NeMo/NAT NVIDIA-extension hint bundle: priority, latency_sensitivity, osl, prefix_id, total_requests, iat.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64359-5653-4CD0-9A9D-D09F73D7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181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Scope rule: keep signals that affect scheduling/workload prediction or KV/prompt-cache handling.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A7E2D-0476-4D19-A359-D1DE3DB7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79374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B28E5A-9677-48F9-8FB8-7BF37F42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428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New harnesses added to the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BF83A-C412-4021-B757-76A1DE63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466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additions are distinct agent harnesses, but they are evaluated only for scheduling/workload and KV/prompt-cache signals.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533400" y="150495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DB7D1-1829-4DBC-91B4-6ECC2E5D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2C99D-9493-4F33-BBA0-3FC68B4A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7BDC4-D888-47B6-80F2-94A41C1D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6E507-6C07-470C-B33F-E049D73F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764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82148-5EFB-43C3-B1D3-EA27EB83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F5E2B-CA26-4585-9848-6E15D6DD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764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included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911B2-3BE2-49BA-B3AD-22302DF5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1790700"/>
            <a:ext cx="3733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1032F-0964-4A87-85A3-ABC5CF72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1876425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Verified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F1AD2-E923-42DE-8F77-7605336F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87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C10BC-7DA9-4DB0-9DD4-42F24E70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647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EC9F4-5EC0-4FEC-BA44-AF62372E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47160-A0C5-4F6B-A510-698932F0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2438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Pi Agent Harness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466ED-ADB3-40DB-ABAF-1165AD9F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971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74AF7-E5EE-4C39-8AFC-62D1CEE7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9486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Distinct lightweight agent harness; worth evaluating separately. Pi describes itself as a minimal agent harness, and its repo identifies Pi Agent Harness components.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AC38F-85BF-416A-99D3-D3D08736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343150"/>
            <a:ext cx="3733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06D01-8939-4923-BB6F-2581C56C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476500"/>
            <a:ext cx="3505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pi.dev; GitHub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1C73F-1C60-4E70-8FF9-DA7C05E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87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485AA3-538D-409F-A460-FF3E3FEA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647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AE560-8D08-41EA-A31D-EA244CEE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C13AE-BE0C-48CF-A52F-CC514451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2438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OpenCode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5312C-122E-49FF-934D-E079E882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95700"/>
            <a:ext cx="971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F97F2-14D4-4BCB-AA7C-9A9B5C56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9486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Distinct open-source coding agent/harness with terminal, desktop, and IDE surfaces.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ACF67-7F00-45A8-9324-C3183FC5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695700"/>
            <a:ext cx="3733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4BC84C-8FA5-4877-8A93-8E9F83E5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829050"/>
            <a:ext cx="3505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opencode.ai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A066E3-002A-4804-B95E-C4787C28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87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1D20FD-1C92-41B3-90BC-2B80886E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647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E16E8F-B1BF-4356-B9F3-F2581B67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4825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C058DA-A484-480F-A74F-4B65793F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81600"/>
            <a:ext cx="2438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OpenClaw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DE6D0C-25E6-4454-B04E-A94A458E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48250"/>
            <a:ext cx="971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756325-AD9D-4F4F-9F89-2BAF7A5A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81600"/>
            <a:ext cx="9486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Distinct agent runtime and plugin harness ecosystem. It has explicit agent harness plugin docs, so it fits this comparison.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812292-F239-4E1F-8F5C-A8B40E37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5048250"/>
            <a:ext cx="3733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3895BA-A94D-4E36-8C81-E806DB23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5181600"/>
            <a:ext cx="3505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OpenClaw docs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92E301-692F-4BA3-99FB-E3F4E5E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87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CA33BA-FDF8-4DD2-AD81-5592A0AE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647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90AC5E-D63F-423D-A220-A4E822ED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008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31B783-966B-489A-B014-897DA665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34150"/>
            <a:ext cx="2438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Hermes Agent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174992-7FC1-48C8-AC22-AA64598F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00800"/>
            <a:ext cx="971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2CBE5F-346B-4B31-AD22-37C94C83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34150"/>
            <a:ext cx="9486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Distinct Nous Research agent harness with memory, skills, messaging, and long-running behavior.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9BACD5-85D6-4AA3-81E8-E7E4340E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6400800"/>
            <a:ext cx="3733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2FCB82-E2C9-4D3C-9596-D8E23B90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6534150"/>
            <a:ext cx="3505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Hermes docs; GitHub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945320-3C91-436A-BE65-196B4F50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Excluded as already covered: NeMo/NAT, Qwen Code, Codex, Claude Code, Dynamo, and Deep Agents.</a:t>
            </a:r>
          </a:p>
        </p:txBody>
      </p:sp>
      <p:cxnSp>
        <p:nvCxnSpPr>
          <p:cNvPr id="92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3AD3FB-7D9D-4E24-97D9-72A3C049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181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New additions verified against official docs and repositories.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B9520A-0DBF-4677-AD10-D8B5AB62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65703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3E8C49-916B-44A1-BC01-D5A3241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428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Scheduling signals in simple English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242AF-D0F8-4D6C-81BA-586FB753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466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hints help the serving system decide when a request should run and how much capacity it may need.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33400" y="150495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4C855-7543-49C0-B7E4-75B8F043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691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DC752-4183-4097-A615-59E65826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4A2BF-A9A0-48B6-B5EF-0CAD0936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33575"/>
            <a:ext cx="1331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Meaning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A6409-6670-404C-B84A-DE391381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916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1FC7A-C883-43F1-8FD0-06123B83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3067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priority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2C975-3C21-42EB-B43B-8F4A8A8D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00300"/>
            <a:ext cx="13315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Tells the serving system how important a request is. Higher-priority requests may be run before lower-priority 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DB442-1811-4A2C-84E0-F3AE3340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6916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89DF4-F761-4E76-8064-57784A46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3067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latency_sensitivity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AD2A0-F8B5-463E-89DA-5F857761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71875"/>
            <a:ext cx="13315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Tells the system how much the request cares about speed. A highly latency-sensitive request should avoid waiting if possible.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4D279-8A3F-4454-BB4A-6BCFC972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6916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D66F5-BF41-4492-9F9B-7C7C3925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3067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osl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0B1F9-D604-47A9-BBB8-5DDAC76B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43450"/>
            <a:ext cx="13315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Usually means output sequence length or expected output length. It tells the system roughly how many tokens the model may generate, so the scheduler can plan capacity.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0855C-24AE-4604-8529-3BFE775F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6916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F77CD-C32D-4107-A003-34DE0258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34075"/>
            <a:ext cx="3067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prefix_id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6E017-2FA5-4FF7-9085-56F1ED30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915025"/>
            <a:ext cx="13315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label for a shared prompt prefix or workflow. If multiple requests share the same beginning, this helps the system reuse cached KV state.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5A0E7-4D00-49CF-928E-83BA85AC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72300"/>
            <a:ext cx="16916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13FC8-89B2-47F8-BB28-44982E89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05650"/>
            <a:ext cx="3067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total_requests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88E44-2C4E-41BE-9271-1EBA9ED8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086600"/>
            <a:ext cx="13315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hint about how many related requests are expected in the workflow. This helps the system predict future load.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8C75C-5267-4267-B42B-E0407609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43875"/>
            <a:ext cx="16916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C160F-3895-441D-9674-09FD5F7F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277225"/>
            <a:ext cx="3067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iat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B50A40-7E0B-4D80-8EE2-C18DCB81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8258175"/>
            <a:ext cx="13315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Usually means inter-arrival time. It hints how much time may pass between related requests, helping the scheduler anticipate bursts or gaps.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EF6A03-5B84-4C50-8D89-4C762ADB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181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Simple-English definitions generated from the focused signal overview.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C16758-B674-4206-89DE-EFC7AED3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5563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5414F43-90B7-4294-B2D0-4855A629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Scheduling hints — Dynamo, NAT, Claude, Codex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619C1-5C3E-4E19-893C-61E88160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Signals that can influence queue order, service tier, latency treatment, or predicted serving load.</a:t>
            </a:r>
          </a:p>
        </p:txBody>
      </p:sp>
      <p:cxnSp>
        <p:nvCxnSpPr>
          <p:cNvPr id="115" name=""/>
          <p:cNvCxnSpPr/>
          <p:nvPr/>
        </p:nvCxnSpPr>
        <p:spPr>
          <a:xfrm xmlns:a="http://schemas.openxmlformats.org/drawingml/2006/main">
            <a:off x="533400" y="148590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BA587-B098-4709-AFE3-B3439920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524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37A13-854C-4B95-93BF-1EBC7BA5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F9418-7DCF-4694-BE76-CAD1ABB2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695450"/>
            <a:ext cx="3669506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C2F16-D6B2-4135-85EE-CE09148B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81175"/>
            <a:ext cx="347900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Dynamo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EFAA1-4E43-4E5C-8041-115EA9D7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1695450"/>
            <a:ext cx="3669506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26184-399C-4BA7-A52F-143C7E77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1781175"/>
            <a:ext cx="347900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NeMo Agent Toolkit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74138-D30B-4730-BD32-9CE72F5F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1695450"/>
            <a:ext cx="3669506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FAF4B-A185-4E18-B752-B4964C0A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1781175"/>
            <a:ext cx="347900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Claude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6EBD2-8EE5-4C6C-B097-0F40C9D6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1695450"/>
            <a:ext cx="3669506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0F390-5EEE-46E5-94E2-3C89774F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1781175"/>
            <a:ext cx="347900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794B6-6628-4A20-9240-39884733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54973-FB25-4814-A247-13B4725A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Soft priority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E60AC-9FCB-4A7A-B23C-CD9A9240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050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D1FB1C-88CD-4F69-B4F3-47E5915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8125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nvext.agent_hints.priority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E4E9C-99DE-4CD5-B539-D035012E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2129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{"nvext.agent_hints":["priority"]}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122EF-E9FB-4DA7-B949-B99805E9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23050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7C5B3-C47C-4821-A85B-FB509BD1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238125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Emits priority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746FF-4C7B-4F19-9CB8-1BDF04B9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272129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{"priority":"priority"}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A0B2B-6312-4E03-BC48-C8E1415C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23050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7D61F-2318-49E4-8D49-9F33AD01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2390775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071B4-7906-433A-9896-6F72F320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23050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8A20B-0CE5-4B8A-ADF0-6A84EDDD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2390775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E7BAE2-2FF5-44FA-8BDA-0B23E19C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A11AB1-0E0E-4F33-8E3C-B23C93E6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Strict priority tier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6454B-5B26-4576-9A6C-D47D264D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99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069A34-A9D3-4C53-BD18-69067BFE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8612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strict_priority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D4238-4C3C-4B6A-99FD-1FE94CF3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2616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{"strict_priority":"strict_priority"}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058187-F329-4B71-887B-43E667D5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32099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090B5F-D3B7-4997-892B-15786DB6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329565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3FCC56-C586-47F8-8282-D2BFCE00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2099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0F5426-F25E-4EAC-B3CD-FBC42BB6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329565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1DBD37-D050-475F-9333-8434872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32099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7675E5-73E5-44F5-9AFA-385FEDCA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329565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649FB7-ABAB-422F-8E6C-5F42FB24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E1BCE5-40E8-4597-8CD5-CA52020B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Latency sensitivity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87BE4C-674E-45D4-9120-DE26F776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1148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0D49F2-7A29-4E64-90CE-DFAFBDAC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9100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Legacy field; removed from current schema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FFE738-1326-420F-AED1-44AC9A37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53104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{"legacy":"latency_sensitivity"}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9A3C78-7DE2-4F18-A620-334A86C9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41148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E2D0A5-119E-4978-A5CC-A82A1D02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419100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Experimental latency_sensitivity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1DCBDF-E843-4D33-8461-E9C681E7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453104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{"latency_sensitivity":"latency_sensitivity"}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5CD541-4A99-4411-942C-F3A7A9FF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41148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AB0F6C-AD22-42F2-9105-69FC4449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4200525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344EB2-9C2E-4086-A0DF-2E9F22E5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41148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177AD4-1D68-4905-8DA6-27530AD7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4200525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E49E1D-F82E-4845-B785-7327FAB7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967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2B6280-B1DA-4633-9192-9AC22B10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 speed/QoS tier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CF3CA8-D71C-4917-B1C7-BFE13ABF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0196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E12757-BF05-4FE7-8B2B-49BBD4E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10540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EB4A1A-C51B-4FC0-B60A-422BEA6F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50196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03A9FD-3E1E-41F7-B1DE-A9C127AF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509587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Provider-dependent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44C870-B710-48FB-80A4-6902B49B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543591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47536A-EA07-4F87-A101-00EB690B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50196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A14494-7553-4A42-9322-D44E76FD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509587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Fast mode / speed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958A96-CA6B-407D-AE32-EEA9A0E7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543591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{"qos_tier":["fast","speed"]}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43EB6E-51F9-48F0-892D-28A5472F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50196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3C9299-D5B6-4C0B-AEE3-9504A498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509587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service_tier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56C1B5-ED52-4870-B24E-BCEAB317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543591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{"qos_tier":"service_tier"}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06BEE5-46D0-4D19-B3E6-50B79D3C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9C4B6A-08B2-4ED7-910C-9F8C784B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output length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2377DE-BDF5-40D4-8C26-6C929226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9245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89CBF6-0C37-47DA-BD53-BD9E5905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00075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osl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EE9D65-3955-4C73-B991-4E78E4AB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34079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{"output_length":"osl"}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C39B7E-4549-4B1F-A498-C6328B07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59245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E8DDB49-D229-4077-8D4B-8CA8ADC5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600075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Emits osl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29F300-1849-40FB-9E97-D2985E54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634079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{"output_length":"osl"}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C4B437-1509-4FC3-BFBD-8D9D3B4A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59245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4A0AA7-A2D4-4561-AF62-2A2ECFDB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6010275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416F72-53F6-46A4-BBB1-6448C248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59245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0F3051-DB61-4695-9E8A-BB79B591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6010275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26DD71-5281-484A-A8C6-2DE8BE10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2942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D47BAE3-D0EC-45DC-93BF-061DEC9E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1515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interarrival time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3DFBF85-0DFA-48C7-92FA-9D0B53E0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68294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8B3EF36-3453-4689-BAD6-39E7883C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91515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EB9C8DA-3EFC-4E4E-9B94-9C4AF9F0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68294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A1A4011-5A43-4EF4-842A-A356C44E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690562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 iat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3B27122-C843-40C7-8FDD-B9BC9383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724566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{"interarrival_time":"iat"}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F274FC7-4CCD-4A2E-874D-000C6AE6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68294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9A03411-4507-424B-9F57-083DC2E8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691515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DE8C681-C5BB-4006-A63F-59065A87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68294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0B0DB4-653A-421A-850B-F404230A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691515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9565F18-B1A2-46CC-8446-10B80943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3430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799DCA4-1B83-4C3A-A681-5B036E93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2002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Predicted remaining calls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31EFD98-2A7C-4B10-A74B-E59C0C3B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77343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4EE52A7-ABE0-4EC5-A27C-82BB1F04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820025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152FC01-ED84-485B-85DD-FD1DA704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77343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9E98DFE-DFF3-4D4B-A002-C9EE0D81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781050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 total_requests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B61B797-FEFF-4C49-A0F4-644B312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815054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{"remaining_calls":"total_requests"}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17E108C-8148-4D13-81C9-6721D1E2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77343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DF09F99-52FB-4D6C-B606-D9A56C4F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7820025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1699D8-F809-48EA-8EBB-4136087C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77343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FF59A2-62B6-4964-9DD1-B7425D19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7820025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638F78-5E7C-498E-AF5C-B715E6AC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3917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453542B-E268-48FB-AC5A-D3C2AE92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2490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Prefix/workflow reuse ID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AB7CB58-A883-4A11-A302-8B759CCF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86391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9FE1449-613E-41E3-97D2-91D9CFC0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871537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Session ID is closest current concept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107F836-61A8-4A7E-A834-3B85108D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905541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{"prefix_id":"X-Dynamo-Session-ID"}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7D9CBCA-A286-421B-B092-FCBEEC8A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86391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9B727FE-E449-4A66-B441-CAB60DED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871537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 prefix_id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3A77620-AE36-4B33-91D0-0EACDACD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905541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{"prefix_id":"prefix_id"}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024ABDA-EE41-4D7D-9E1A-D790B968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86391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C971D03-0BB7-402B-AF8D-5B73FFD3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871537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Session/agent IDs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7D492B9-C13E-42CD-9A75-9D3FE891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905541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{"prefix_id":["session_id","agent_id"]}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EC59F37-CA19-490B-A872-39423A41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86391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A19ADAA-81A1-4D93-890F-5005A044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871537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Thread/cache key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D64A521-EA89-468B-A400-F690BB1A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905541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{"prefix_id":["thread_id","cache_key"]}</a:t>
            </a:r>
          </a:p>
        </p:txBody>
      </p:sp>
      <p:cxnSp>
        <p:nvCxnSpPr>
          <p:cNvPr id="222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66C26F8-CF35-4FE7-AC07-285482F8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381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Sources: user screenshots and public docs in speaker notes; each populated cell shows description plus compact JSON; '-' indicates unsupported.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7C7917A-A935-4777-AD51-468CF824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75357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985DF5-83F9-4FF6-9780-EB42F0D0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Scheduling hints — DeepSeek, Deep Agents, Qwen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8F99A-9725-4274-A002-79FCDED4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Signals that can influence queue order, service tier, latency treatment, or predicted serving load.</a:t>
            </a:r>
          </a:p>
        </p:txBody>
      </p:sp>
      <p:cxnSp>
        <p:nvCxnSpPr>
          <p:cNvPr id="97" name=""/>
          <p:cNvCxnSpPr/>
          <p:nvPr/>
        </p:nvCxnSpPr>
        <p:spPr>
          <a:xfrm xmlns:a="http://schemas.openxmlformats.org/drawingml/2006/main">
            <a:off x="533400" y="148590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D2614-4EE3-492C-B1E2-4AFA73DC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524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DB07E-36DB-44DB-9971-784AC6F8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80118-5A84-438E-B87B-E3C8A190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695450"/>
            <a:ext cx="489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2E879-9435-4ACA-986D-15D5C7C5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81175"/>
            <a:ext cx="4702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DeepSeek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E87A-8FF1-4A4C-8F14-1144A0C2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695450"/>
            <a:ext cx="489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47EED-CCCB-4CA2-ABC0-BD29ACBE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1781175"/>
            <a:ext cx="4702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ECCA0-938D-415A-ABC2-2341575E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1695450"/>
            <a:ext cx="489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CF5B9-8C05-4AA9-B664-B8A6A3C7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1781175"/>
            <a:ext cx="4702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Qwen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AFA76-A810-40B7-8E6D-06D70818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96321-27D7-4DEB-BCF7-7DFE9DD2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Soft priority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27A91-5D6A-4F69-AAA4-AD0AC70B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0505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31742-EC1F-472D-8C1D-C40AE9E0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90775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26CBB-E721-44E6-98FA-EC70F86F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30505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06B7D-9F05-49C7-84C4-A976E3A5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38125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 middleware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31DA1-6607-4514-B0F4-56163A2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72129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F10BE-1BAB-407A-96FE-0DFBA507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230505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86C21-2562-4861-92C4-4AB7D875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238125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extra_body pass-through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18D9F-4FD8-4CD3-A44D-E427DCB1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272129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{"via":"pass_through","priority":"extra_body"}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3C367-CC18-46EE-A722-F1797A72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DE101-6AF8-4CD5-AE29-9D9E06CE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Strict priority tier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E6BC2-A70D-497A-80B1-6C3ABE67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992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7D3B76-F55D-447C-BBFF-5A72C6AB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95650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6DF69D-F3A1-4CE6-A831-BE181BAB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20992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FDE8DC-63AF-4A8A-AB7C-458C382A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28612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8A5D9-A7B6-47E6-AA0C-EAA628D3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62616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E683E1-7FE9-4D85-9B5F-0828292C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320992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95C9F5-A634-4A8B-A3F3-167D899F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328612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Pass-through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FA89FF-B477-4EF9-989C-D09D3DAF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362616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45DD94-7200-433D-8984-272AC4F8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FB90CA-2814-4981-AC9B-410D24CE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Latency sensitivity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C5B961-CAEF-4B68-A82F-5ADC2033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11480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EAC483-A004-43C0-906E-14647BA0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00525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F9FD51-A382-4B1D-A88B-F31D97C4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411480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0395F3-50C1-4A0D-A601-D7F963E1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9100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 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E2B626-5E7C-4D25-9E87-E4913311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53104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D772B0-A728-49C2-B70B-74025ACC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411480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6EF0BE-535A-412E-9D06-D894A53F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419100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Pass-through only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3D1A00-260C-4446-B362-395D368D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453104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016E66-8559-4243-9768-645CD955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967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EA05BC-48A3-486B-82D8-ED43C3FB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 speed/QoS tier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AEC5DB-2AD0-4A9E-BB07-AB75B4F4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01967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0585CD-A6E4-4A02-B08B-E3013C53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105400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33FD61-2D07-41E8-BA01-D753F9D1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501967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BBE866-73CB-414D-BE7B-DF97256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509587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Provider-dependent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653075-460E-4712-A4A0-5CF428A1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543591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AF2ECA-5B4B-466E-88BA-75FA23E1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501967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015103-89C0-43E0-B4DD-0260F0C0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509587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Provider-specific extra_body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52C3BA-7E61-4A49-ACB4-BC349F3E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543591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{"via":"extra_body","qos_tier":"extra_body"}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13E525-FAE5-49D1-8295-D717A087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6E477C-BF9B-4C06-91F1-04FAAC51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output length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DCB2C7-A429-4DF4-9395-C019942E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92455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CFA64D-7879-49B0-9249-CDCAA14B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010275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B7A2B4-6198-4A38-855A-7D721228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592455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7C7C3C-7376-4F27-8CE0-579A9A49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600075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Could infer internally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76CAC7-C503-4343-8D5D-BC62E47F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634079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E78A35-7DA0-4D86-9A53-6761B06A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592455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A8E004-EF7A-41E9-B005-44E3F161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600075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Pass-through only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B8B4F6-1692-4443-9DFD-F3A9E642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634079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AF5B6D-FEDC-46CB-B1FB-7357F7EC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2942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AE5200-F7C2-4458-8B74-D969E936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1515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interarrival time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F40E83-EC43-4EEB-BA14-3CE36683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682942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7CF518-3744-4EC7-8CE8-1F8C4323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915150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C23609-86FA-467D-9D6A-A78B0DF6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682942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772B12-CB92-4EC4-88EF-8BEFA21D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6915150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65BC0A6-740B-497B-829A-FE779A83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682942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BB5D3A3-C76B-4396-9F39-83C20513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690562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Pass-through only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9896DCE-B537-465B-BDD4-2453F06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724566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7B648C3-C5C1-4315-B69B-9E53C531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3430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E76AC30-FD35-4433-8DA0-3AE8669E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2002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Predicted remaining calls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5B1D398-9B01-4363-8580-9005F926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773430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4F287F-BCF2-4617-92A8-D4ECA3F0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820025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AEB9B95-58BF-4002-B364-94EE14EE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773430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8E92FE6-08AB-418B-BD34-8CF5A689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781050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Workflow may know internally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FEDCAAE-7833-452E-A2F5-9E9F1B81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815054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B822A6A-FBEF-4686-AFDC-F4634D2C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773430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0E4F239-B6D0-4A73-928E-89BFE051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781050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Pass-through only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A066FD1-A985-4803-8B3E-172A684D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815054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2C20C5A-2219-47AB-9BEE-4C572BAF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3917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8C2C903-A076-4DDF-B90A-6FD511FF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2490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Prefix/workflow reuse ID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ABDC436-5237-42A7-9A27-900AA17C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863917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FF8F027-1CB2-4227-A671-CBF2B2AB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871537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Session ID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F8F23BA-080F-4697-A8AA-F51AD989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905541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{"prefix_id":"session_id"}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6FB344D-0831-45CE-B032-59C75761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863917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ABCC80B-FE6A-475A-BCBE-4D92268A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871537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thread_id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D682FE7-2FE2-41C4-8FA1-A853745B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905541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{"prefix_id":"thread_id"}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777F0DE-88A8-4258-8B15-DA900D2F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863917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0610C92-25E1-43AD-BE55-5A0D40B3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871537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Internal session only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E9E7938-4523-4779-8E93-D4DF7076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905541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cxnSp>
        <p:nvCxnSpPr>
          <p:cNvPr id="186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22AF21A-2139-4199-95A3-D31D38FB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381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Sources: user screenshots and public docs in speaker notes; each populated cell shows description plus compact JSON; '-' indicates unsupported.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1C8D4EF-E127-48C8-B670-AB1813FC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3559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0B706D3-5547-4876-A6E2-9A709F6E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Additional scheduling hints — Pi and OpenCode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83AB6-4AFB-47E5-9ABD-3DAED97A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Agent harnesses generally expose provider or extension hooks, not native Dynamo-style scheduler hints.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533400" y="148590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DE0C3-37E7-4E6E-95A2-598E7065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6F3C6-EFB3-4B1E-AC6C-A2178F30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CB5BD-D39F-4D81-9AF9-CA06562C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95450"/>
            <a:ext cx="7124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58791-04FD-4F4B-AF0B-CD673558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81175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Pi Agent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45CF8-6646-451F-B7BA-47C09F79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695450"/>
            <a:ext cx="7124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1AEBB-6F62-48D5-AB61-AB4D590A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81175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OpenCode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A4EC1-9D7C-4500-9F5F-F0C8F5C2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18F9B-3101-4AF8-AE1F-C3B571A6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Soft priority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27A92-6D36-43D7-A4AC-AD0FF057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CC26A-A7C2-4FE9-9693-E3501632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 extension/provider hook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F8565-777E-46C7-8D3A-47966387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129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7AD98-B1B7-4E6D-8A5E-44AD2CCD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050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9313A-B01F-4AB4-BFD7-FD9052CA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8125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 plugin/provider hook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D5D88-4B75-4704-BF80-F4FA940E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72129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3BC7F-7F81-419B-B4C5-6E2DD589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0CCF7-0D88-41AE-9F8C-705807BD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Strict priority tier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CEC13-9C75-40B7-AE37-89A8F540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099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8D4B9-3E1A-451D-BBEF-F92C6E23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9565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9A442-EDE8-4E3A-9CE5-0F2EE075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E136B-E092-4E43-BFB2-A874D7D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9565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EB1ED-6E1B-4921-8B41-7B816DDA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E4F8F-5AEC-4050-9142-F374EA64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Latency sensitivity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1D957C-A6FA-4910-B7B2-5F86ADB0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148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35B96E-AD2F-44DA-B381-8FF8E65B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0052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6317DE-38FD-4C5A-8206-A997294A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1148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D99B9A-B1A9-4EC7-BB08-032937B9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0052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24083F-7702-456E-9BA5-74AABEE5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967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EA9204-1D52-402F-8D94-B273B20C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 speed/QoS tier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D9110D-6DF2-4FC1-8F29-9907595B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196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C06474-1F94-44DF-B146-66EA1EDD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958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Provider-specific; before_provider_request can add service_tier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D8D801-596C-4115-B8DF-9924F038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359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{"qos_tier":["before_provider_request","service_tier"]}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31C7C0-B927-4C9F-960E-FE01C9A0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0196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24DEF4-C415-46AD-89FD-3385B4F7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0958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Provider/plugin-dependent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BB8A34-B655-4EE0-8E85-BC40C635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4359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{"qos_tier":"provider_or_plugin"}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00C38F-A384-424A-A4E4-111DBB09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4EC71E-C650-4DF3-88C1-6C373165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output length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729905-623A-4D41-BF5D-CF55C4E1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245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F85F92-37BA-4E05-80C7-D132697F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0075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 max_tokens only; no OSL hint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0E5429-A0B4-4851-A1F3-E67B1302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34079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{"output_length":"max_tokens"}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877712-1F2E-4B5F-B2B4-730F1744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9245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137AD9-52FD-4FE1-8D40-54B55E96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00075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 model/output limits only; no OSL hint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E4A315-4737-44D2-A6F9-EB1CFC26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079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{"output_length":"provider_limits"}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590BC5-085B-41E7-859C-681ACC0C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294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E80A55-E550-4CAE-97E6-864ACAFB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1515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interarrival time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2D2CCF-B572-4659-841B-BFCCF933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8294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A49C46-B7C5-4B19-8CB7-505A9001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91515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FBFBCA-7406-4B6B-93D0-D6C7EDBC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8294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3CE727-1A55-4872-AB0E-583516B0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91515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361673-3AA5-4A7B-9A6B-EBB7E383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3430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427194-BF4B-4462-B0B2-8E0B9DC8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2002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Predicted remaining calls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100EF0-4A1F-49A9-87A9-8E6BB909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77343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3AAC94-EB86-4B4F-8E90-5045F47D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782002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F0B25D-B77C-4EFB-B8D2-1F3D1156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7343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16EAAB-311C-4053-BC6F-BADE6BA1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82002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21CAB8-70D1-4247-8DDA-ADA9315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3917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FDE96B-D8C5-4816-A498-AFE0350B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2490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Prefix/workflow reuse ID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42D121-0DA4-4817-8D86-2C9DF1F8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86391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0BF0FB-2095-45FC-A201-068C749F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87153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Internal session/tree context only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AFEA9D-7C7B-4E74-A65E-E48DD05E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90554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9434D0-8B85-4E5A-BA7B-B9C1B552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86391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923136-8E30-4644-BFFE-A1DB8028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7153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Internal session ID only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811D99-A86F-4DA4-9678-11C6A73F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90554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cxnSp>
        <p:nvCxnSpPr>
          <p:cNvPr id="134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86A8AC-DC97-42C5-96B3-A8F2F9F2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381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Sources: user screenshots and public docs in speaker notes; each populated cell shows description plus compact JSON; '-' indicates unsupported.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5982E0-FD4D-45E2-9D3A-3548FD84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82268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DC6F60-61C9-430D-9D39-8824EA05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Additional scheduling hints — OpenClaw and Hermes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96506-5B8B-4AB7-BD5B-42FA8579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Agent harnesses generally expose provider or extension hooks, not native Dynamo-style scheduler hints.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533400" y="148590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92C50-1C10-4EBE-A9F1-09835051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2CD78-30EA-4935-A639-218F2443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E781C-89EF-4CF1-8030-76588FF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95450"/>
            <a:ext cx="7124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5C1EE-31DC-4706-93AF-48D8ED56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81175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OpenClaw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2498A-1311-4F4D-8BA7-7E580ABA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695450"/>
            <a:ext cx="7124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A246F-3077-4888-89D8-EDAF2FE5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81175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Hermes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A8E8A-2343-40E7-B94E-BA44FA62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6E9D6-0FEE-4BA5-BBD7-41E469AE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Soft priority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9D4D3-0F87-47BB-A597-75C5E08D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4B2EB-10FA-4A76-9D1E-F86F5A9C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Workboard priority is task metadata, not inference queue priority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18BFB-6E08-4335-BC5D-25796C58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129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{"via":"orchestration_metadata"}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758CB-6FC3-4571-8ED3-041F1648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050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E15CF-45BD-4FFE-ACA2-A3A51E4E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8125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Task/delegation priority is orchestration metadata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4AE40-C14A-4B86-8E1D-36C07BF5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72129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{"via":"orchestration_metadata"}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743D0-15F3-4C22-A538-988C32B5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5EB2F-F840-48D3-9190-F3FE5322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Strict priority tier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0E464-FDC7-4C96-8D06-370C8466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099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B71F6-C673-400B-9C4A-D4B520AF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9565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0B5A15-4D87-42B6-B84F-CD63B7ED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BB467-9F3A-40F2-9A39-6F5151E1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9565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F25B0-B4B2-4E5A-BEBE-B6DC3A90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EC3154-D031-44D0-A7D7-051C5A8F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Latency sensitivity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826DB-6C65-4CC4-8DCF-2D68C172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148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461169-F4DA-4831-B8F3-E83158C4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0052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D17A92-8708-48C2-BA56-D4EC17E9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1148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F3419B-41D4-45F2-A285-D08BFECB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0052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6F2898-5679-4AD4-BC5A-F2AAF5D7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967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01E492-1263-4CA0-A8E8-85361C44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 speed/QoS tier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9FBF39-9525-4E8F-A6EF-3CAF9E00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196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BB470E-8FF7-4AF2-A751-7CEB8F7F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958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Fast mode maps to service_tier=priority on supported OpenAI requests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F83FB1-5AA2-475E-908C-EA7C4255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359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{"qos_tier":["service_tier","penAI"]}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4326C2-A174-4284-BD9E-6086A3AF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0196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D30A2F-CD07-49EA-983B-E78921BE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0958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request_overrides can set service_tier; /fast can layer service_tier/speed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54D472-1832-4A31-8083-DE213D89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4359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{"qos_tier":["request_overrides","service_tier"]}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E8FC61-9B08-4B3D-959A-1A724A1B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D5C282-31E3-4822-BC7E-42B15FBC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output length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739706-EC9A-4B4B-87EA-E59175B5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245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638599-38DF-4879-999E-299D0C4D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1027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EB5B01-E3FD-47CF-8AFD-E27735A0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9245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AA2FDB-7028-48BC-B3BD-107F0878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01027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D72167-78D8-44F5-9093-93EC2657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294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05C5AB-7F80-4F1B-93EE-FC2186C2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1515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interarrival 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1B561B-E19F-467B-AD5A-D9673E73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8294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975688-DD4E-406B-AB33-280EF585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91515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D93A7D-B44B-45DE-A5B9-8C41BE0B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8294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11B36B-628B-4D04-B9DE-BA01BDC9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91515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206FBC-FD2B-46EB-AA0C-548F2A4A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3430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59CFE5-35BA-4746-86E4-3622D8B0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2002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Predicted remaining calls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15E610-B304-43FB-A3A6-BABC97C5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77343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BDE77C-6683-4092-ACD6-61AC08BB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782002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4E6721-E138-4088-B4FA-7A2C1D9C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7343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D89C92-1B05-464C-A2F7-78E4930B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82002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5E46FE-01DE-4FDC-A597-3A6314C7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3917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CA5001E-E158-4885-9D01-0E41EE90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2490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Prefix/workflow reuse ID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B78B25-57DC-4323-BAA3-A8E94ED6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86391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5818FD-22A5-4BAE-8C28-275A4728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87153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Session/model route context only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FEC454-5D84-424D-83E9-CD89DA62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90554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0C8C94-E633-4AB5-97AA-E8C48D9A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86391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969DD3-F1BB-403C-A57B-E90BF7C8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7153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 tiers and session context only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4F1FCB-C338-4488-9570-709DBD52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90554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{"via":"internal"}</a:t>
            </a:r>
          </a:p>
        </p:txBody>
      </p:sp>
      <p:cxnSp>
        <p:nvCxnSpPr>
          <p:cNvPr id="130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2E802C-91B5-4698-9439-317C4F4A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381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Sources: user screenshots and public docs in speaker notes; each populated cell shows description plus compact JSON; '-' indicates unsupported.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668B60-3575-4886-B2D7-1BF185A9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43340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CC58B-08F5-427F-9E1F-C46CDC8A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428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KV and cache signals in simple English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9B774-7EF3-472A-95D0-E95E1BE5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466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hints help the serving system decide what prompt or KV work can be reused and how cache entries should be separated or retained.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533400" y="150495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492D5-EEF5-4B0D-A36A-BB5A902C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691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0872B-0BDA-4620-8CAC-0C70C0C2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03DA5-8FC7-45BB-B7D5-329BF4B0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33575"/>
            <a:ext cx="1331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Meaning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989AD-8E78-40C1-93E2-AC09D4FB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9164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8DCC5-662A-42B3-AB14-9EDABC69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30670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prompt_cache_key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72293-FF20-4D98-8484-19E042D8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00300"/>
            <a:ext cx="133159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stable key for identifying a reusable prompt prefix. If the same key appears again, the system may reuse cached prompt/KV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1D94B-FE29-4222-A933-AB52439D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69164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2C368-349D-417E-9AD2-FBFCBAAC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30670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cache_control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674AD-6817-4386-A192-196DE96A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62425"/>
            <a:ext cx="133159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Instructions about how cache should behave. For example: whether to cache, how long to keep it, or what kind of cache entry it 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EC7EE-1C47-45F5-B3DE-9CB81E48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69164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2920D-BE26-49C6-B1AA-F1EEDDFE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30670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cache_salt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7A793-6D97-4396-BE0A-9F6B3E43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924550"/>
            <a:ext cx="133159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namespace separator for cache entries. It prevents two users, tenants, or workloads from accidentally sharing the same cache entry even if their prompt text looks similar.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09D71-666B-450E-A728-8DB29CAC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72375"/>
            <a:ext cx="169164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695DB-4E31-401E-A47D-00468BA2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05725"/>
            <a:ext cx="30670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speculative_prefill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C1435-CFDC-4B7E-99A2-6E270F06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686675"/>
            <a:ext cx="133159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hint to prepare or precompute part of the prompt before it is definitely needed. It can reduce latency if the prediction is right.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B7829-8A74-4379-AD7A-5F9273B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181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Simple-English definitions generated from the focused signal overview.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3D660-62E9-4C16-B0A7-C508170C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92039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A5FA28F-2B07-49CD-8273-BC23B62B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KV / prompt cache — Dynamo, NAT, Claude, Codex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810B4-2D3F-4E00-B6D7-A8DBDE6A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Signals that can influence cache reuse, cache isolation, retention, eviction, prefill, or cache feedback.</a:t>
            </a:r>
          </a:p>
        </p:txBody>
      </p:sp>
      <p:cxnSp>
        <p:nvCxnSpPr>
          <p:cNvPr id="121" name=""/>
          <p:cNvCxnSpPr/>
          <p:nvPr/>
        </p:nvCxnSpPr>
        <p:spPr>
          <a:xfrm xmlns:a="http://schemas.openxmlformats.org/drawingml/2006/main">
            <a:off x="533400" y="148590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7B161-3249-4D65-9374-32B964A6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524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4CF64-AAB9-4A85-8782-B7336C1A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6C4F4-504A-4389-89AB-951EC1BE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695450"/>
            <a:ext cx="3669506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59F0C-120C-4598-A9BF-0E5A2077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81175"/>
            <a:ext cx="347900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Dynamo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C66B4-B94B-4BEC-98B7-0C20451D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1695450"/>
            <a:ext cx="3669506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0F9DD-5F6F-424F-A3AC-4FB803D2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1781175"/>
            <a:ext cx="347900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NeMo Agent Toolkit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0EC37-21D5-4D08-BEA0-C504ABE0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1695450"/>
            <a:ext cx="3669506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CB2DF-211C-4480-9B32-CDDA8A23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1781175"/>
            <a:ext cx="347900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Claude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C5DAF-CE6C-4906-B8AC-6303ED9C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1695450"/>
            <a:ext cx="3669506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72402-5EE4-43D5-B1CD-FEF0C61A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1781175"/>
            <a:ext cx="347900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550DA-CCD5-4A58-B6C7-EB0F1AFE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53CBE-812A-4F4D-B61D-37C861EF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key/bucket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3CE92-4E7B-4195-82D4-36F27AF3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050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07C46-927F-4792-85A2-BAC7DD57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8125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Automatic prompt hash; no client cache key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FEC76-F7B6-4DD6-B3BA-CD630697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2129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{"cache_key":"Automatic prompt hash; no client cache key"}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F52B9-B6D4-4F6A-9D41-8BA82F0B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23050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31231-8780-40CA-838F-C00D14FE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238125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 prefix_id, but not equivalent to a cache key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9EB05-6F8C-4C9A-BCE7-32C915AD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272129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{"cache_key":"prefix_id"}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28556-C9CD-45D8-9CE2-2D046A04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23050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C965A-2F15-4BC2-887C-200748A4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238125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Exact-prefix matching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BE253-F922-4DE6-B32E-68D54DC6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272129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{"cache_key":"prefix_hash"}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F541A0-EC40-4C6B-BB47-B0DF4D22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23050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647FB-0558-4ED8-B329-E76AFC78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238125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prompt_cache_key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26F2E-66EC-446F-ADFE-4B7ED6BB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272129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{"cache_key":"prompt_cache_key"}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37867D-260F-4DF9-AA99-575EE1FA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9B9B0-737A-43FF-8591-2A956FBA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namespace/isolation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791A11-4F10-4175-8426-1D9B3E48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99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090AB5-191F-4BC7-A81D-956FB538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8612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nvext.cache_salt or x-tenant-id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0205BA-5FBA-432F-8AFF-098C318C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2616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{"nvext":["cache_salt"]}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9D2A23-6D59-408E-9F2E-2B859830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32099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25F042-33A0-45BC-B161-3886C962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328612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Could pass Dynamo salt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392A87-200E-4463-BD2F-8F9EFFA3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362616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{"cache_namespace":"nvext.cache_salt"}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BAF4C3-2665-4B8F-8571-B8F56E66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2099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C9934F-7962-4049-8597-5941DA16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329565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E19FA6-A11E-4C09-B347-52E7C7D9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32099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E7C803-67D6-4D13-BA96-72314AD2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328612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key provides bucketing, not tenant isolation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E1D806-1B56-4A63-8602-9DB046A3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362616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{"cache_namespace":"prompt_cache_key"}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72BD30-CB75-4A23-A898-ECE63140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9B7D10-41D8-4BE1-9ACF-595CB778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TTL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98B31B-58F2-4C9F-9A63-96CCDB26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1148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824C5C-F107-4119-A6BA-7367FC7B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00525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D40E9D-25F8-42EB-9060-264715E5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41148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FB1D27-2D33-4FA5-BC86-CD2EB43C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419100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Experimental nvext.cache_control.ttl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6DF0EA-C248-41CA-88A0-C372B90B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453104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{"cache_ttl":"nvext.cache_control.ttl"}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959C8B-AEC5-47A8-956E-CFF6C5AA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41148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F90486-4D11-4782-89D3-633D0B41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419100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cache_control; 5-minute or 1-hour TTL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1C4D8F-336F-4916-9585-9AE2EB5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453104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{"cache_ttl":["5m","1h"]}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015C76-F019-4F81-B3B5-BCF2504F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41148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9A516B-EE23-49D4-A193-FC9C1FAB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419100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explicit TTL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CD2566-B5C9-462C-87DA-1F72FFC4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453104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{"cache_ttl":"No explicit TTL"}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D968DE-6E6F-4956-86CB-94A7594B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967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3FF10B-2703-4C8E-B218-0B49933F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entry type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761C18-F1FB-4626-BC76-4D8E03FA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0196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5865CF-9877-443F-90A9-70D689D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10540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1CEAEB-D16A-4E4C-BFD3-57C01F3D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50196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F1D5DE-48C1-481C-8B2E-062EC719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509587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type:"ephemeral" experimentally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462612-616F-4E55-88C9-396F6A7A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543591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{"cache_type":"type:\"ephemeral\" experimentally"}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B105CB-3A74-43AB-A27E-F589732F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50196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95E6A7-65A0-4C87-BFAD-AD2AA060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509587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type:"ephemeral"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65C3366-2C51-4F33-B3B9-6F300783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543591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{"cache_type":"type:\"ephemeral\""}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394ACB-8614-4D4D-B529-D9D2B711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50196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56FEA6-B440-42F1-B089-AA369464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510540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4B1186-0979-4270-98F8-C8D2DE87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435A6F-4EBD-49C1-BB4D-5C57D021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Eviction priority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75D5C6F-DCB6-4B93-9520-B76900B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9245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EDD7BF3-4063-47B5-8ABD-650D7A65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00075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priority; currently effective with priority-aware SGLang cache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044CB0-D4F7-4A71-AFEE-203791F3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34079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{"eviction_priority":"priority-aware"}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9E4BB9-850F-4AE5-A8E0-970589AA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59245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6AA390-C927-42DA-95B7-2E91C685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600075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Emits priority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FAC40CE-BA40-45F4-A0BE-EE9AC07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634079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{"eviction_priority":"priority"}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033DC7A-8D22-4FD3-9676-DC94DC02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59245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8E457D-54F2-471B-8314-470D9D48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6010275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14FA7CA-2039-46C6-ACD0-9F98EEC6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592455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EF75AF-AD9B-48D9-8E60-2EB7C734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6010275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39E4F6-3E1B-4E5E-9F59-C39070F0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2942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61DDC4-7DD9-4E54-9764-A8D0A283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1515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Speculative prefill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6937ECF-AA0D-445C-9031-E759B940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68294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A9F4C77-9FE0-4904-A40F-0B5660B9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90562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speculative_prefill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03FB463-4D65-4242-BC4C-F95AD803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24566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{"speculative_prefill":"speculative_prefill"}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4A8EC7B-B217-46F4-B51E-954D7707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68294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13E6548-0C5B-4555-AE14-A1BD4B2B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691515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DA3F9B-8B65-4FF1-8A73-7EBB753C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68294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BF7D15D-8702-4E77-AE30-F15B304D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691515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E808E98-F723-40E8-A5C3-D87B0360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682942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776508C-DA41-4ED0-967F-C0101C6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690562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WebSocket prewarm, but different mechanism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138417B-1B20-48ED-AE25-EF0CC346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724566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{"speculative_prefill":"websocket_prewarm"}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FAB2D90-F053-4734-AD41-A9681E38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3430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CB93A65-56B2-41E3-AF89-AFBBD4B1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2002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Cache-hit feedback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BBD677B-31F3-4A1F-B6D8-81D843EA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77343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4BD18B-DDA7-43E5-8A54-76EF7BE3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81050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Metrics and response extensions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72EC012-A2AE-487E-BB0C-A1A7BBD2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815054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BCBC390-D7AD-4362-936A-1C58FE32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77343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1C31A5E-2327-4DC2-92A9-6B29D17A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781050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Profiler/metrics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AD2430E-73D3-4F24-A656-71D83161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815054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9748244-28EB-49DC-B1E3-113D990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77343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0DA01EC-3D71-4357-AB07-C83AC9CF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781050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Cache-read and cache-creation usage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B75CC50-4EC9-4179-B68D-11957B4C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815054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{"cache_hit_feedback":["cache_read","cache_creation"]}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5A828B3-FD39-437A-B474-C78D7BE1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7734300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5EA5F1D-5E66-4C9E-BC55-FA0F379C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7810500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Cached input-token usage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6B54552-2118-41D9-8CE8-746E0A47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8150543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{"cache_hit_feedback":"cached_input_tokens"}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2E3574F-3D66-4548-873F-57C02451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3917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6E87944-75E1-4E73-A6C3-6136EF9A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2490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pinning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911D0C1-050E-4A5B-B9B0-36F5B1F3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86391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7272D1C-6A8E-4315-9977-749657C6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872490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70AE232-F297-40B5-AF85-A755DD43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86391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82C8A4D-7F14-454F-9DAD-EBBAEA08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871537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Experimental/version-bound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97703EF-052F-4184-B994-D7056A1E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1" y="905541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{"cache_pinning":"version-bound"}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8E2E9C7-E6D9-4C26-89EB-8D8FEBFF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86391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9239F0E-FCBB-4566-AE0D-298CD571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8715375"/>
            <a:ext cx="3479006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Provider-managed TTL retention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B249CE1-AE8F-430A-9528-DF6C23DF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9055418"/>
            <a:ext cx="3479006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A117077-A90B-4C96-9EBA-C9E53CDC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044" y="8639175"/>
            <a:ext cx="3669506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3E0CA94-7897-4C5D-9BEE-CC6B3F4B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94" y="8724900"/>
            <a:ext cx="3479006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cxnSp>
        <p:nvCxnSpPr>
          <p:cNvPr id="234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042AD07-41D0-40A9-A576-F170D3BE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381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Sources: user screenshots and public docs in speaker notes; each populated cell shows description plus compact JSON; '-' indicates unsupported.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B3096CB-31A7-4D3F-8FEC-1CE4A381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72564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38E07D2-CD0E-4549-B483-FF7B2CB0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KV / prompt cache — DeepSeek, Deep Agents, Qwen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57925-A843-4D20-9E57-8747AB2B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Signals that can influence cache reuse, cache isolation, retention, eviction, prefill, or cache feedback.</a:t>
            </a:r>
          </a:p>
        </p:txBody>
      </p:sp>
      <p:cxnSp>
        <p:nvCxnSpPr>
          <p:cNvPr id="100" name=""/>
          <p:cNvCxnSpPr/>
          <p:nvPr/>
        </p:nvCxnSpPr>
        <p:spPr>
          <a:xfrm xmlns:a="http://schemas.openxmlformats.org/drawingml/2006/main">
            <a:off x="533400" y="148590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61AF8-A3B6-4E3A-9CAA-020CCF52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524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7B26E-6E8E-4429-8E24-CFA9F156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1C609-66BC-4B1B-98A2-BF2051A3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695450"/>
            <a:ext cx="489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980D2-9E3E-4685-8AD3-68694A54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81175"/>
            <a:ext cx="4702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DeepSeek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6519D-9A11-434A-9CD1-0E0D4A9B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695450"/>
            <a:ext cx="489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533DC-9B3C-4779-8C46-93EF66CE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1781175"/>
            <a:ext cx="4702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30C91-4F1F-4414-A3E8-32009EF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1695450"/>
            <a:ext cx="489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BE86D-EB1B-49D2-925E-78F8B7CB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1781175"/>
            <a:ext cx="4702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Qwen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47371-FDAA-4091-A85E-D83B6987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0B4B3-666F-48DC-8E62-52135E16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key/bucket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55BD3-5921-424D-8B26-23CA1E4C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0505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73486-D4CF-414B-824D-C7A4F155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8125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Automatic prefix matching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02DA1-FABC-448E-AF93-44D03026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2129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{"cache_key":"prefix_hash"}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1BEFA-0338-4AE6-8760-51C8E0D1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30505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61A5F-513C-4F76-8CC8-0D2A5F76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38125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 middleware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B51B4-27F6-4DB1-BB80-896098EA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72129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173F8-E6D0-4EFD-AB26-A4D84D5A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230505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4DB27-3A65-487A-B543-3CB34993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238125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Automatic prefix matching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29ED6-BD3F-49A8-82E6-A5DFF98F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272129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{"cache_key":"prefix_hash"}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00D69-E2A9-4CBA-A12B-9D47581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86578-7FB7-42CC-AF70-E65B2848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namespace/isolation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391092-8037-4890-B758-2F52F336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992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D4837F-886C-4713-A8CA-C6A79A4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95650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DBB24A-3ADF-45C4-BB47-93425BE8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20992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81AC1-8C58-4208-AB48-551F6B76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28612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Provider-dependent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62CA19-24A2-4D16-8A4E-593CF273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62616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892B80-EDB3-4B0C-813F-3C233C78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320992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28D76E-D833-4E4C-9129-2C77239B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328612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Static header/body pass-through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ED12F0-A70E-4A18-ACDC-611C5E00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362616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13B34B-00F6-4A7F-8446-6F55C0C6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696D3C-783D-42A9-9A4F-074BF439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TTL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F80DBE-0E82-45B6-B9F9-61CC4961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11480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F1257E-0EB6-47EA-9CEA-594B87B1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9100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Provider-managed automatic TTL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69D607-0E65-42D4-BE84-C2BD59A2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53104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B5A1BD-AC1E-4D34-ADF2-F7E080ED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411480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514C68-AABC-4AF5-9FD8-A350A5F6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9100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Anthropic/Bedrock middleware; 5-minute/1-hour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DC09CB-4E76-429E-AC07-A8F4B614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53104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0CF6A6-2DF5-4C12-B321-337B57F3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411480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8C6DCE-B639-4B39-9623-77460F95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419100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cacheRetention / provider cache control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FDC7B0-1C25-444B-BDA6-ED9CA0C1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453104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5ADA1B-80B7-423B-84B1-7BBF618F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967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6065A1-5CFC-4B96-81BE-7C24FAE5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entry type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C65ED3-6907-4261-9220-A24C7D0F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01967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933438-04F2-4180-A8DC-3F768494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105400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AF27D7-7278-412F-BE02-A6C3BE7C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501967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1306D1-616D-42A4-9A3F-00BAD2BA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509587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Provider-dependent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C9C81A-0E7B-4370-80FA-FC611F9B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543591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AD50B3-8139-49A1-862C-158AF66D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501967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6F5EEA-D452-4726-96F1-2C1C5706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509587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Provider-dependent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13E38A-28A5-41B3-9E70-223FE077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543591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9904E1-708E-4497-AF2D-16FE3291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ED452D-AC96-4A00-913D-F4B04E56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Eviction priority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90E052-0A85-496C-B3A3-46EAD569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92455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0F728B-9515-4AA4-87E0-B1372918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010275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C7B41B-123F-4AF7-B3C1-0784AEA7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592455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0A639A-D68C-4D73-90E1-E7893C2D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600075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None unless custom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E81F7EF-7F88-4225-BE34-CBEDAE76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634079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{"eviction_priority":"None unless custom"}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2E6E66-81CC-408F-9BD1-7FF9AF39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592455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8D691E-94FA-4A1E-BED6-ADEB7FDC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600075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Pass-through only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5F3387-334D-4F79-A73A-B2FE60F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634079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{"via":"pass_through"}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B1CA7D0-4C34-4F4C-9C76-8E5DA7FD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2942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4A12BC-CB76-4865-892C-EFBD404B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1515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Speculative prefill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FA79E0-0988-472A-946C-EF2D7C14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682942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95158E-93C4-44E0-879E-79942F90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915150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F1AA5BA-778F-40DE-BF06-73B26E41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682942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F715E0-40F2-4EA4-8D3F-3D686255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6915150"/>
            <a:ext cx="4702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6A584C5-3D61-4064-806D-DCAC3C0F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682942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692DB59-724D-410A-B462-07E6A0F6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690562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UI speculation, but not KV prefill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22A069-01A6-4967-8C07-BA061797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724566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{"via":"different_mechanism"}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213AC8-9227-4423-BDA8-B7FFC744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34300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A3177B2-E233-475F-8808-D90F1A36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20025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Cache-hit feedback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9407EBF-D946-42C3-902A-4A101E72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773430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8DDABC8-5570-44F2-B74E-DE1799D5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81050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cacheReadTokens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1F9688-00C8-4CC4-A730-9293CDBA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815054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{"cache_hit_feedback":"cacheReadTokens"}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CACBED6-BA70-4415-BCA5-6C5E5892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773430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44E1299-FA8D-4E64-9375-23120440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781050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 trace data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63C96CC-B8C6-49E0-981A-16C2E729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815054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A93105-6F0C-4891-BFC8-71CF27F7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7734300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22772AD-FF81-44CF-B424-EC984147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7810500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Cache-hit metrics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75E3790-F6FE-4833-A5A3-9C2ADF7E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8150543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5017935-1E8D-4A35-A611-DBA112F1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39175"/>
            <a:ext cx="2524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6EE7DF-55F3-49AE-97C8-9CFED025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2490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pinning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594D19C-A31C-48EC-B1E2-EAC89D5C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863917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B78C542-AA30-4235-B253-F1454113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871537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Provider-managed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B04D119-70C5-4D99-88AC-B1261A30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905541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DBA36B-04FC-4F33-BB7C-18A84EC2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863917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7244B92-13D8-4F28-9C80-77F296A6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871537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 middleware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BC8A921-BA88-4404-B85D-F616FBA1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905541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{"via":"middleware"}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A433EF2-F318-43A3-B5C2-45EBB20C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75" y="8639175"/>
            <a:ext cx="4892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E9B52A9-6569-4106-B784-EA1D44DA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8715375"/>
            <a:ext cx="4702175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Provider-dependent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5377C4F-06CC-44D8-B750-17C11DC2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5" y="9055418"/>
            <a:ext cx="47021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cxnSp>
        <p:nvCxnSpPr>
          <p:cNvPr id="192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426EE79-8FF2-4B17-9E43-7F653B5C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381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Sources: user screenshots and public docs in speaker notes; each populated cell shows description plus compact JSON; '-' indicates unsupported.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68A9039-57A3-433F-8E48-1A2CD780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1822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688C2A-BADF-4740-ABDD-2EDB14E3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Additional KV / prompt cache — Pi and OpenCode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2C6D3-A6FB-41BB-91AC-DE6BD34D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04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harnesses mostly preserve or configure provider prompt caching rather than controlling KV cache placement directly.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533400" y="148590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120A5-919D-4504-ACC3-9EA553DF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255B9-5D27-4E82-930B-192C3EC4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4ED60-E6DA-4A1D-8731-F7DB6239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95450"/>
            <a:ext cx="7124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0B966-E9A2-4A4C-BD7A-4F5B3997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81175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Pi Agent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52256-BEA2-44D2-A66A-18B626C7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695450"/>
            <a:ext cx="7124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811CB-1C8A-46A8-A398-940FBD0C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81175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OpenCode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211ED-43A1-40EB-99B8-EF4C49F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677DD-8612-4413-B2D8-14363F51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key/bucket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4BDCD-E328-494A-BE0A-FC750750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EDFE8-2491-402C-83C5-ECEEAA54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Automatic provider prompt caching; no client cache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B0EA5-E5CD-49BA-9474-78D267F2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129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{"cache_key":"provider_prompt_cache"}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EE4AB-F0B0-4916-AD16-C9C5BEAA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050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86CED-322B-4F4D-8473-859EA3D2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8125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Provider-managed; optional Helicone response-cache headers via plugin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2A997-9B37-41C7-84AA-9B451D1B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72129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6AC3C-6787-44C7-8DC2-E20382CC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3230E-D8C4-4F2A-A213-DFD69057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namespace/isolation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31FFE-CF8C-4CEA-9270-FEA33394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099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F1D23-D63F-44E7-8BB4-4B41E827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8612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Provider/account isolation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3593C-B481-43D4-85E3-C7122C64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2616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{"cache_namespace":"provider_account"}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6F9E3-15F4-4B4B-BCCB-F69955A3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430AE-F954-4697-8CA5-10B77503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8612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Provider/plugin-dependent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256BEF-64F4-4720-B8CD-8970AA94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2616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{"cache_namespace":"provider_or_plugin"}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E84509-D8BE-4A2B-BBC1-51CEF6A5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01E189-6088-4214-9347-E72C21BD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TTL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FB05A0-1A68-43F9-9ABA-9E38850F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148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B05679-91CC-4CCA-A89C-6C49406E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9100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prompt_cache_retention or cache_control.ttl in custom model/provider settings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78007-7306-4875-958A-86BF5195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3104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{"cache_ttl":["prompt_cache_retention","cache_control.ttl"]}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FDF587-F362-453C-96F8-9B904A9D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1148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EC5265-116E-44EA-A8ED-39987087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0052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CDFB55-3551-4E66-AAB2-32F7B4AA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967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51DB-A1AC-405D-9D8C-3F08DB7A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entry type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682909-73E8-4739-BD47-EDECF38F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196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8176E2-159B-47A3-AF45-708B432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958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Provider-specific cache_control format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76B8CA-C981-4720-BEE0-DF658E5B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359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{"cache_type":["Provider-specific","cache_control"]}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8BB3A1-E764-4272-83C9-7E5F841B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0196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6221B1-19FA-4501-BDB6-748AF008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0540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5CDA86-560E-490B-BB0F-683AE33C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56B0FD-97B2-4C7B-AF41-7F359945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Eviction priority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07C869-E32F-47A6-A2EA-4BCF87B3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245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1DF295-0A77-4517-8958-AA6C3CAE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1027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8E49B1-D013-4E3B-BC14-7E3F96A3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9245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B745F9-663A-4510-A04A-5CA42085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01027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9279A7-8C0A-4881-96AE-BC9D0BEE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294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5A0269-25E2-4CED-8D6B-0D84E811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1515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Speculative prefill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0CF3DB-D878-43A8-BEC7-50CA1449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8294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176D31-F9B3-4884-84F1-30801D38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91515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F03A99-CB3D-4C2C-8242-711B68DC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8294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F21522-63B3-4902-8CD5-87AF39A7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91515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55850F-3786-4E6D-A977-3EC537EA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3430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71E01B-149D-4B48-913D-B887303F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2002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Cache-hit feedback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210423-7E69-4924-8CF6-0E806A98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77343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46562F-AC30-44EB-B236-B37D3760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781050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Footer shows token/cache usage and cost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BD9233-C185-45DF-9E91-706A4454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815054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{"cache_hit_feedback":"Footer shows token/cache usage and cost"}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08F1D6-85A1-474C-8BDA-410DF6E7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7343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E8DBF1-82BB-47E9-B51A-C7B079C9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81050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Stats/provider usage; cache feedback depends on provider/plugin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9A89AC-6BF1-4E40-A556-8F26EDC6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15054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524506-36B9-4379-B3DE-9034AE54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3917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BBB34A-A484-438E-A679-5765C68D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2490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pinning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173AE8-48A9-4462-AF0F-06C96E00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86391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4C1940-5C30-4FA7-88BD-2D01E5C0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87153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Long retention where provider supports it; not pinning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6C3EA0-705E-4010-B253-468C4D70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90554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{"cache_pinning":"Long retention where provider supports it; not pinning"}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46F545-9704-4F9B-BEA7-C1B81B58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86391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0FA1E6-178A-448A-967C-F92657AA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72490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cxnSp>
        <p:nvCxnSpPr>
          <p:cNvPr id="136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D8163E-D527-427D-A292-A40FE360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381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Sources: user screenshots and public docs in speaker notes; each populated cell shows description plus compact JSON; '-' indicates unsupported.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8EE8F9-FA24-425C-A213-96CAC05D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567473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A23EA9D-A435-4BA6-A792-8313D539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52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Additional KV / prompt cache — OpenClaw and Hermes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55E33-B8B6-4466-8632-FE4F7E99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04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harnesses mostly preserve or configure provider prompt caching rather than controlling KV cache placement directly.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533400" y="148590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F8D38-9F92-4266-9750-17A82951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F36C1-B018-4498-96A9-948ABF8D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3F983-0323-47C5-811D-D602B82C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95450"/>
            <a:ext cx="7124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A783A-40E2-4825-A91C-E60C8C1D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81175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OpenClaw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CC6EF-1538-4496-93DD-7931051A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695450"/>
            <a:ext cx="7124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D9134-7460-4A42-A2B7-109EC1AE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81175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Hermes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97732-AD87-4C1C-A4F0-B0FAC1F4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4BF5F-D167-40AF-A507-6BA9CE79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key/bucket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7943C-F3F9-4A95-A88C-097429B6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C9EFF-C752-44A6-B86F-FA4BF264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Provider-managed; cached WebSocket can reuse prior response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013B2-B803-4039-801F-300BAC20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129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9EB1E-5968-482F-801B-83883A1D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050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736B2-E81B-4BAC-8536-F8391BD8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8125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 tiers/cache boundaries; model participates in cache 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2E945-488A-4F1A-8409-4CDA6582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72129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{"cache_key":["prompt_tiers","model"]}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3EA8F-EB75-4F29-B5E9-61A5BE0E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26C33-C46A-4E80-AAB1-8341A3A6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namespace/isolation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86944-8B59-4983-8513-8451029D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099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0304A-0BF7-4280-824C-57726DD3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8612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Provider/session isolation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6CC7E-B9D9-4690-AFEC-A7F122C1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2616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{"cache_namespace":"provider_session"}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3DBFD6-EAA8-46EC-84F9-8A212002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A3307C-9A48-4F04-A6A3-4F0D8C84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8612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Provider/session/model isolation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A84664-8E32-454D-9C4C-AF5088D8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2616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{"cache_namespace":"provider_session_model"}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B2852-40AB-4B45-848E-9620175D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B2DC9B-FF17-497C-A706-D5D3D8E7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TTL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0F9FA-D508-43AB-9D11-5C496AA3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148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004193-EF46-41B8-8AB9-30471C31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9100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Provider-managed TTL; no generic TTL hint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4D0A80-6D04-4728-AC1A-C5196CF3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3104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5CE625-C80D-4AAD-B240-83FB1DA7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1148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6E1F9C-E8A9-4927-B129-C304D23B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19100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Default 5m; 1h for long-running sessions where supported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9109D-6AF3-4635-80BD-17FB4A0B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53104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{"cache_ttl":"long-running"}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31EBD4-EAD4-4CA9-AB46-CF1E71D3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967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8C18E2-64C7-4B97-94C6-B7A0A425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entry type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78F8FA-DE8B-4D8C-B967-16DFADEA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196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6B8157-19A8-45F4-A8D9-C2032F2B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958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Provider-managed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120C97-062F-40CE-8557-6DAEF06A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359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C03520-478C-4E8A-BF80-249DA662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0196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7A078D-60ED-4E3C-9069-B1FDF3D5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0958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Anthropic prompt-caching markers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5F2161-0980-49E9-ACF8-6ECE76FC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4359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{"cache_type":"prompt-caching"}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434079-7313-488C-9221-5FCA6CB8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2A37C8-B381-4481-A6E7-9C987438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Eviction priority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1E03D0-93F9-4428-988A-E5B4B7B6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245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462057-34C6-4056-9542-24CCAD72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1027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58B30F-B6E3-4C86-A5BF-2AF47C37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92455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CA2E70-4014-4FE0-AED5-F19044B0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010275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26ED36-8FA4-49C3-97D0-1809B6DD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294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538219-A56B-41C9-B949-0C3BC7EC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1515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Speculative prefill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55536B-A62D-49C3-9536-965898BC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8294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9008EC-2FDE-4A23-9464-71B038BC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90562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Cached WebSocket/prewarm; not KV prefill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9BF907-7270-4D7C-B3D8-F9D6B30A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724566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{"via":"different_mechanism"}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EEBA49-2DBF-42C6-8273-0930DA0A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82942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DF5C23-8641-4EA2-9DA6-FB469154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915150"/>
            <a:ext cx="693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B6914A-2247-4D19-9775-649110E1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34300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9E6488-8EA3-4083-90E1-850A2321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20025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Cache-hit feedback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9E417EA-3B88-4361-85C6-19899C67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77343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41A5FC-1C3E-4A98-803A-5884FA09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781050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 usage/tracing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852B02-8C49-4D7D-AD3A-22A1F5A8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815054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{"via":"trace"}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8403AB-79A2-4539-9E2C-FF05027D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734300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114BB5-4E14-4B2F-871A-9CD52046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810500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 cache metrics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DC0F26-AC9C-4E36-A6E4-1BC9045D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150543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{"via":"metrics"}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4D5689-F6E8-42D0-9DB5-53CBF3B2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3917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BE516D4-9504-47C9-881C-390F5B77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24900"/>
            <a:ext cx="276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pinning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698F6C-7E37-457F-B967-767A533D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86391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494333-30EC-4197-9DD3-7D933A18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87153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Provider-managed only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70B1CE-7C76-41B0-8832-D41AB6B9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90554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{"via":"provider"}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1C4F7DE-B761-4E7C-A3FA-FBF3F9B8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8639175"/>
            <a:ext cx="7124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2589A8-F638-4534-9570-AAE9390F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715375"/>
            <a:ext cx="6934200" cy="3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1h retention where supported; not pinning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70F60F-F5DF-4731-9951-AFE95CFD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9055418"/>
            <a:ext cx="69342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{"cache_pinning":"1h retention where supported; not pinning"}</a:t>
            </a:r>
          </a:p>
        </p:txBody>
      </p:sp>
      <p:cxnSp>
        <p:nvCxnSpPr>
          <p:cNvPr id="144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EE7E804-AF9B-4B75-BF7B-90EC4AEA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381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Sources: user screenshots and public docs in speaker notes; each populated cell shows description plus compact JSON; '-' indicates unsupported.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337F763-5CEE-485D-B63F-3F1C3700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169636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ACD1E-E39B-4829-BFCE-D1AA8AB4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428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Recommended canonical serving-control schema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533400" y="1162050"/>
            <a:ext cx="1720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4DA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151B6-E877-42BA-B054-1A161070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1438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this as the normalized object, then map each harness cell to the nearest available field, pass-through path, or unsupported marker.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DF867-569C-49FE-9D3B-F6D7C46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9334500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1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F8CCA-46BE-4EA6-94EE-D88D8520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88392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{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"scheduling": {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"priority": "...",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"strict_priority": "...",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"latency_sensitivity": "...",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"qos_tier": "...",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"expected_output_length": "...",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"expected_interarrival_time": "...",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"predicted_remaining_calls": "..."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},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"cache": {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"key": "...",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"namespace": "...",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"ttl": "...",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"entry_type": "...",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"eviction_priority": "...",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"speculative_prefill": true,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"hit_feedback": "..."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E80A1-9E0C-4C9C-8E8C-B8DF7BC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00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Mapping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FBB03-0846-45E2-A269-9F59343C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71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0079A-85CC-47B2-A458-CD319C56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57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Map to the exact field/path.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76495-ECF1-465F-8DF1-602DFE36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90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74ADC-F926-4BDA-A0E5-3AE3F72C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767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Keep the emitted field but note backend consumption separately.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6FA4C-3D62-44EA-B06F-6D6DA289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10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Pass-through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C9DD4-2F07-4F80-800B-BF013E4A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958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{"via":"pass_through"}; do not mark as native support.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887A0-FAA0-4E73-964D-9C07A73E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44B26-FCE8-4A80-A3FC-C47D7DBF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715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{"via":"middleware"}; implementation belongs outside the harness.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F66A8-F464-4183-90B1-375EE1DE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48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Provider-dependent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925F4-191D-4921-93C6-EC789100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{"via":"provider"}; attach provider constraints later.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EAF18-6F9E-420D-80B0-C7EEABB7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067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Unsupported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8B10F-C308-409C-9FC0-77EFB56C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3533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'-' in slides; use support:'none' in machine-readable registries.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552450" y="9677400"/>
            <a:ext cx="17183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8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22399-9342-43BC-B8AA-8FD7BAAF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0"/>
            <a:ext cx="1181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Recommendation artifact generated from the focused serving-plane signal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66BEB-FB82-410A-98B4-BDA57518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810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8675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2026-08-31T21:38:27.3180000Z</dcterms:created>
  <dcterms:modified xsi:type="dcterms:W3CDTF">2026-08-31T21:38:27.3180000Z</dcterms:modified>
</coreProperties>
</file>