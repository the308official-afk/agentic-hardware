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5515d2bc1d4c77" /><Relationship Type="http://schemas.openxmlformats.org/officeDocument/2006/relationships/extended-properties" Target="/docProps/app.xml" Id="R2e23fa2244fe4430" /><Relationship Type="http://schemas.openxmlformats.org/officeDocument/2006/relationships/officeDocument" Target="/ppt/presentation.xml" Id="R4b2c266ab8f74a1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f869a1e3dce48c1"/>
  </p:sldMasterIdLst>
  <p:notesMasterIdLst>
    <p:notesMasterId xmlns:r="http://schemas.openxmlformats.org/officeDocument/2006/relationships" r:id="Rb5b20e210d494f5e"/>
  </p:notesMasterIdLst>
  <p:sldIdLst>
    <p:sldId xmlns:r="http://schemas.openxmlformats.org/officeDocument/2006/relationships" id="256" r:id="R3111050645884cfa"/>
    <p:sldId xmlns:r="http://schemas.openxmlformats.org/officeDocument/2006/relationships" id="257" r:id="R8d76823276114621"/>
    <p:sldId xmlns:r="http://schemas.openxmlformats.org/officeDocument/2006/relationships" id="258" r:id="R47a333ab64ac4ac2"/>
    <p:sldId xmlns:r="http://schemas.openxmlformats.org/officeDocument/2006/relationships" id="259" r:id="Ra439e58b913c4662"/>
    <p:sldId xmlns:r="http://schemas.openxmlformats.org/officeDocument/2006/relationships" id="260" r:id="R6cb28d030ec6486d"/>
    <p:sldId xmlns:r="http://schemas.openxmlformats.org/officeDocument/2006/relationships" id="261" r:id="Rece6e60a56774b6c"/>
    <p:sldId xmlns:r="http://schemas.openxmlformats.org/officeDocument/2006/relationships" id="262" r:id="Rb382b4009aea42b4"/>
    <p:sldId xmlns:r="http://schemas.openxmlformats.org/officeDocument/2006/relationships" id="263" r:id="Rb59aba3dea4e4a96"/>
    <p:sldId xmlns:r="http://schemas.openxmlformats.org/officeDocument/2006/relationships" id="264" r:id="Rbaaa7ef773e24928"/>
    <p:sldId xmlns:r="http://schemas.openxmlformats.org/officeDocument/2006/relationships" id="265" r:id="Rd8d2a67657cc423a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e654509687249c0" /><Relationship Type="http://schemas.openxmlformats.org/officeDocument/2006/relationships/slideMaster" Target="/ppt/slideMasters/slideMaster1.xml" Id="R8f869a1e3dce48c1" /><Relationship Type="http://schemas.openxmlformats.org/officeDocument/2006/relationships/notesMaster" Target="/ppt/notesMasters/notesMaster1.xml" Id="Rb5b20e210d494f5e" /><Relationship Type="http://schemas.openxmlformats.org/officeDocument/2006/relationships/presProps" Target="/ppt/presProps.xml" Id="Re1fbf22f10da4120" /><Relationship Type="http://schemas.openxmlformats.org/officeDocument/2006/relationships/tableStyles" Target="/ppt/tableStyles.xml" Id="Rf958d40ec1644a0b" /><Relationship Type="http://schemas.openxmlformats.org/officeDocument/2006/relationships/slide" Target="/ppt/slides/slide1.xml" Id="R3111050645884cfa" /><Relationship Type="http://schemas.openxmlformats.org/officeDocument/2006/relationships/slide" Target="/ppt/slides/slide2.xml" Id="R8d76823276114621" /><Relationship Type="http://schemas.openxmlformats.org/officeDocument/2006/relationships/slide" Target="/ppt/slides/slide3.xml" Id="R47a333ab64ac4ac2" /><Relationship Type="http://schemas.openxmlformats.org/officeDocument/2006/relationships/slide" Target="/ppt/slides/slide4.xml" Id="Ra439e58b913c4662" /><Relationship Type="http://schemas.openxmlformats.org/officeDocument/2006/relationships/slide" Target="/ppt/slides/slide5.xml" Id="R6cb28d030ec6486d" /><Relationship Type="http://schemas.openxmlformats.org/officeDocument/2006/relationships/slide" Target="/ppt/slides/slide6.xml" Id="Rece6e60a56774b6c" /><Relationship Type="http://schemas.openxmlformats.org/officeDocument/2006/relationships/slide" Target="/ppt/slides/slide7.xml" Id="Rb382b4009aea42b4" /><Relationship Type="http://schemas.openxmlformats.org/officeDocument/2006/relationships/slide" Target="/ppt/slides/slide8.xml" Id="Rb59aba3dea4e4a96" /><Relationship Type="http://schemas.openxmlformats.org/officeDocument/2006/relationships/slide" Target="/ppt/slides/slide9.xml" Id="Rbaaa7ef773e24928" /><Relationship Type="http://schemas.openxmlformats.org/officeDocument/2006/relationships/slide" Target="/ppt/slides/slide10.xml" Id="Rd8d2a67657cc423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62023a13a2d4e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92350c73123468c" /><Relationship Type="http://schemas.openxmlformats.org/officeDocument/2006/relationships/notesMaster" Target="/ppt/notesMasters/notesMaster1.xml" Id="R3da8df18fb0544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f233e6f0e764d27" /><Relationship Type="http://schemas.openxmlformats.org/officeDocument/2006/relationships/notesMaster" Target="/ppt/notesMasters/notesMaster1.xml" Id="R91d686991403423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8c81636d6dd4092" /><Relationship Type="http://schemas.openxmlformats.org/officeDocument/2006/relationships/notesMaster" Target="/ppt/notesMasters/notesMaster1.xml" Id="R4c618466bebc4eb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4ceec2db9b4347" /><Relationship Type="http://schemas.openxmlformats.org/officeDocument/2006/relationships/notesMaster" Target="/ppt/notesMasters/notesMaster1.xml" Id="Rb76bc0d7eaa0411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06500e4561449f3" /><Relationship Type="http://schemas.openxmlformats.org/officeDocument/2006/relationships/notesMaster" Target="/ppt/notesMasters/notesMaster1.xml" Id="R0d7783cb738c487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e01fa6ac0e14e12" /><Relationship Type="http://schemas.openxmlformats.org/officeDocument/2006/relationships/notesMaster" Target="/ppt/notesMasters/notesMaster1.xml" Id="Rc7495ad528624b8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e30ef1371f642c8" /><Relationship Type="http://schemas.openxmlformats.org/officeDocument/2006/relationships/notesMaster" Target="/ppt/notesMasters/notesMaster1.xml" Id="R19f29e4046b8446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5ff05e1fcd34846" /><Relationship Type="http://schemas.openxmlformats.org/officeDocument/2006/relationships/notesMaster" Target="/ppt/notesMasters/notesMaster1.xml" Id="Rc6053e42998e424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a3b196025fd4692" /><Relationship Type="http://schemas.openxmlformats.org/officeDocument/2006/relationships/notesMaster" Target="/ppt/notesMasters/notesMaster1.xml" Id="Redb6f67ce5ed4e3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ac3b2bdba3749d6" /><Relationship Type="http://schemas.openxmlformats.org/officeDocument/2006/relationships/notesMaster" Target="/ppt/notesMasters/notesMaster1.xml" Id="R077a76ea313e41b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legend text in chat.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to narrow to KV cache handling and scheduling/workload prediction hints.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https://pi.dev/</a:t>
            </a:r>
          </a:p>
          <a:p xmlns:a="http://schemas.openxmlformats.org/drawingml/2006/main">
            <a:r>
              <a:t>- https://github.com/earendil-works/pi</a:t>
            </a:r>
          </a:p>
          <a:p xmlns:a="http://schemas.openxmlformats.org/drawingml/2006/main">
            <a:r>
              <a:t>- https://opencode.ai/</a:t>
            </a:r>
          </a:p>
          <a:p xmlns:a="http://schemas.openxmlformats.org/drawingml/2006/main">
            <a:r>
              <a:t>- https://opencode.ai/docs/</a:t>
            </a:r>
          </a:p>
          <a:p xmlns:a="http://schemas.openxmlformats.org/drawingml/2006/main">
            <a:r>
              <a:t>- https://docs.openclaw.ai/plugins/sdk-agent-harness</a:t>
            </a:r>
          </a:p>
          <a:p xmlns:a="http://schemas.openxmlformats.org/drawingml/2006/main">
            <a:r>
              <a:t>- https://docs.openclaw.ai/tools/plugin</a:t>
            </a:r>
          </a:p>
          <a:p xmlns:a="http://schemas.openxmlformats.org/drawingml/2006/main">
            <a:r>
              <a:t>- https://hermes-agent.nousresearch.com/docs/</a:t>
            </a:r>
          </a:p>
          <a:p xmlns:a="http://schemas.openxmlformats.org/drawingml/2006/main">
            <a:r>
              <a:t>- https://github.com/NousResearch/hermes-agent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to explain the focused serving-plane signals in simple English.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to explain the focused serving-plane signals in simple English.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12.15.33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/Users/oluwolejaiyeoba/Desktop/Screenshot 2026-08-25 at 12.16.08 PM.png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https://pi.dev/; https://github.com/earendil-works/pi; https://opencode.ai/; https://opencode.ai/docs/; https://docs.openclaw.ai/plugins/sdk-agent-harness; https://docs.openclaw.ai/tools/plugin; https://hermes-agent.nousresearch.com/docs/; https://github.com/NousResearch/hermes-agent; https://pi.dev/docs/latest/providers; https://pi.dev/docs/latest/extensions; https://pi.dev/docs/latest/models; https://pi.dev/docs/latest/compaction; https://opencode.ai/docs/cli/; https://opencode.ai/docs/plugins/; https://opencode.ai/docs/providers/; https://docs.openclaw.ai/providers/openai; https://docs.openclaw.ai/concepts/model-providers; https://docs.openclaw.ai/plugins/sdk-agent-harness; https://hermes-agent.nousresearch.com/docs/integrations/providers; https://hermes-agent.nousresearch.com/docs/developer-guide/context-compression-and-caching; https://hermes-agent.nousresearch.com/docs/user-guide/features/delegation; https://hermes-agent.nousresearch.com/docs/developer-guide/agent-loop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https://pi.dev/; https://github.com/earendil-works/pi; https://opencode.ai/; https://opencode.ai/docs/; https://docs.openclaw.ai/plugins/sdk-agent-harness; https://docs.openclaw.ai/tools/plugin; https://hermes-agent.nousresearch.com/docs/; https://github.com/NousResearch/hermes-agent; https://pi.dev/docs/latest/providers; https://pi.dev/docs/latest/extensions; https://pi.dev/docs/latest/models; https://pi.dev/docs/latest/compaction; https://opencode.ai/docs/cli/; https://opencode.ai/docs/plugins/; https://opencode.ai/docs/providers/; https://docs.openclaw.ai/providers/openai; https://docs.openclaw.ai/concepts/model-providers; https://docs.openclaw.ai/plugins/sdk-agent-harness; https://hermes-agent.nousresearch.com/docs/integrations/providers; https://hermes-agent.nousresearch.com/docs/developer-guide/context-compression-and-caching; https://hermes-agent.nousresearch.com/docs/user-guide/features/delegation; https://hermes-agent.nousresearch.com/docs/developer-guide/agent-loop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request and previously generated signal tables.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0317fba4f346b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d585051101c4773" /><Relationship Type="http://schemas.openxmlformats.org/officeDocument/2006/relationships/slideLayout" Target="/ppt/slideLayouts/slideLayout1.xml" Id="R25fad2ea589649a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fad2ea589649a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9996dcb81545bd" /><Relationship Type="http://schemas.openxmlformats.org/officeDocument/2006/relationships/notesSlide" Target="/ppt/notesSlides/notesSlide1.xml" Id="R9c2c0c32b7c34a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b93d027b1c420c" /><Relationship Type="http://schemas.openxmlformats.org/officeDocument/2006/relationships/notesSlide" Target="/ppt/notesSlides/notesSlide2.xml" Id="Rc2312a72a75549b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1597a3116049e4" /><Relationship Type="http://schemas.openxmlformats.org/officeDocument/2006/relationships/notesSlide" Target="/ppt/notesSlides/notesSlide3.xml" Id="R2dff7abcfeb34ed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6d7d53a6b24c6a" /><Relationship Type="http://schemas.openxmlformats.org/officeDocument/2006/relationships/notesSlide" Target="/ppt/notesSlides/notesSlide4.xml" Id="Rb4b5a66392fc45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242cd44aeb4e58" /><Relationship Type="http://schemas.openxmlformats.org/officeDocument/2006/relationships/notesSlide" Target="/ppt/notesSlides/notesSlide5.xml" Id="R2cec01821aee4da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2c737a3d844049" /><Relationship Type="http://schemas.openxmlformats.org/officeDocument/2006/relationships/notesSlide" Target="/ppt/notesSlides/notesSlide6.xml" Id="R58ee1019165f413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54838bb6544300" /><Relationship Type="http://schemas.openxmlformats.org/officeDocument/2006/relationships/notesSlide" Target="/ppt/notesSlides/notesSlide7.xml" Id="R315cac0403444b8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45446c824f42ed" /><Relationship Type="http://schemas.openxmlformats.org/officeDocument/2006/relationships/notesSlide" Target="/ppt/notesSlides/notesSlide8.xml" Id="Re614564a7de44e1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40aa8a10e54164" /><Relationship Type="http://schemas.openxmlformats.org/officeDocument/2006/relationships/notesSlide" Target="/ppt/notesSlides/notesSlide9.xml" Id="R3fa3fa3e5e8c40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1a55f4154246a3" /><Relationship Type="http://schemas.openxmlformats.org/officeDocument/2006/relationships/notesSlide" Target="/ppt/notesSlides/notesSlide10.xml" Id="R9fe74e5acbe0440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E643E82-1D92-4E3A-A05C-1E0EA2349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Legend — How to interpret support labels</a:t>
            </a:r>
          </a:p>
        </p:txBody>
      </p:sp>
      <p:cxnSp>
        <p:nvCxnSpPr>
          <p:cNvPr id="59" name=""/>
          <p:cNvCxnSpPr/>
          <p:nvPr/>
        </p:nvCxnSpPr>
        <p:spPr>
          <a:xfrm xmlns:a="http://schemas.openxmlformats.org/drawingml/2006/main">
            <a:off x="533400" y="11620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6A7880-4531-4A21-B0D4-459731560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859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4D213B-2240-4CFF-9A8F-5CFAB75A9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811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CFF37A-7F6A-495C-90BB-160DA7829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5811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Built-in, documented support in the named platform or component.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918A19-613F-49A6-AF04-F39F6352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383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D2BA82-B110-4956-A1B9-A997232F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E11E9E-5934-42FB-9D48-833D01DF7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336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779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 harness automatically sends the signal; a compatible backend must still consume it.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B0F807-CBAD-4B76-B1DC-7B7C485C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908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9719BA-4063-4616-98FF-D171A8F2B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/ Custom only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AC7353-B932-4DBB-BD20-C4D82B279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6860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Developer-written code, an adapter, or middleware is required.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12500A-061A-43D3-BBC8-F7F4EC5AB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432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CFC1E7-BCE9-4DC2-956C-2FC53035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FC4DD7-3761-44CD-A246-D078350C7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385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79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Forwards a user-supplied field unchanged; it does not create, validate, or act on it.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0CD1B4-1892-4F9E-96A2-7B8575C8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957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9B7568-4400-492E-87AA-2E637B1E9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through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A24A5C-58ED-4AE9-A20A-E5273E7A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7909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Generic forwarding appears possible, but no standard mapping is verified.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1715A1-9050-4D6C-ABF1-CC346F821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481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4C31E9-E6FA-49E3-BB22-BC8CF6BEF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34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9267E2-6774-4D88-83BC-8ECE1D578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3434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47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Support comes from the selected model provider, not consistently from the harness.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36ABE6-FFC4-4F47-801F-D29369A6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4859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6F3813-9CDB-4D27-90C1-87C3DDDB1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5811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only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E898FB-2690-4DEF-B032-8836E862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15811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Known or used internally, but not exposed as a stable outbound signal.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07D18C-1500-448B-9803-30ADACAE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0383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1DD884-84EA-4B8D-ABE3-140BA03F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336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/ provider-managed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707155-9841-4246-AB2B-3E8C490C4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21336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Capability exists, but the provider controls it automatically.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0A7EB0-6B66-4499-BBFA-725117C3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908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9F92C7-56FF-4311-B0EA-00EBA01AF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6860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 / version-bound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C51319-7CDF-4B0E-9329-3BE59748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26860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Integration-specific and not a stable portable contract.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6CDCE7-0D74-4A86-9449-EE875399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1432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F4BE582-34BE-4851-8BEC-A13A87B02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385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Legacy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8E9A76-AB9A-485A-9227-CD6AE2CB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32385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Previously supported but deprecated or removed from the current interface.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FF35FA2-5534-4A22-993A-3BECD102C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6957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EB4F962-B749-4A18-BCA0-1745484DB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7909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None / '-' / N/A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08F9E46-9C1F-44F2-8541-A0ADB1BC7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37909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No documented equivalent or applicable support was found.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F9C1A5B-DE0A-4615-A760-14D988BC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24815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5219820-1713-4DB1-B9FC-700C0D17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3434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Profiler / metrics / tracing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7C416E5-B2B7-4676-8E5F-5091DF91C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34900" y="434340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22"/>
          </a:bodyPr>
          <a:lstStyle xmlns:a="http://schemas.openxmlformats.org/drawingml/2006/main"/>
          <a:p xmlns:a="http://schemas.openxmlformats.org/drawingml/2006/main">
            <a:pPr algn="l">
              <a:def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7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Observability only; reports what happened rather than controlling inference behavior.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AED8ED7-776C-4336-AAFC-E7D17348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91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 comparison rule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E588E90-A955-4FCF-B7C6-2FBBCAE04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CA54F5B-44CF-47AE-999A-73344F57F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Supported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7611B1D-E6AA-4708-9FE0-B56E75EF8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09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Native; Emits when compatible downstream consumption is verified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B0F7381-5E0B-4783-8195-3BCD064B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7C1E69D-7493-4821-9522-3376367E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Conditional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4CFD966-077D-4BF2-9141-0F73935FA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Provider-dependent, automatic, experimental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95B7660-65BE-4BBE-ACCD-A3F2B930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1F2A8EF-CE4E-47AB-A270-5DECF316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Not natively supported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9B11984-7EC7-445F-BFC4-BEA9A8949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Custom, pass-through, internal, middleware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1A31207-D8E4-4287-9795-268F915A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0" y="5867400"/>
            <a:ext cx="3695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7924D5B-C941-452F-AE32-CF70241F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59626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Unsupported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BEE3793-98D5-4B93-87EF-96A43D9AF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62293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1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None, '-', N/A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C3117A4-4DC3-477B-8A26-0AEF5598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067550"/>
            <a:ext cx="1428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Most important distinction: Native is built in; Custom must be built; Pass-through only carries the field; '-' means no native equivalent.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A19DAD8-0431-4092-A3FD-6E92C92E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620000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Cell format: human-readable description on top, compact JSON wire shape below.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0ABC724-DBB3-487B-8309-438AE65C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98195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Example: Pass-through only  {"via":"pass_through"}</a:t>
            </a:r>
          </a:p>
        </p:txBody>
      </p:sp>
      <p:cxnSp>
        <p:nvCxnSpPr>
          <p:cNvPr id="11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6827880-4AF7-41A8-9543-5653F5CAC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Source: user-provided legend text in chat.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8361F9E-E34C-4F54-8478-AF4E6E6A1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363755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83DE52-A633-440D-9C3A-E3FDBB6C0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Focused scope — serving-plane control signals</a:t>
            </a:r>
          </a:p>
        </p:txBody>
      </p:sp>
      <p:cxnSp>
        <p:nvCxnSpPr>
          <p:cNvPr id="18" name=""/>
          <p:cNvCxnSpPr/>
          <p:nvPr/>
        </p:nvCxnSpPr>
        <p:spPr>
          <a:xfrm xmlns:a="http://schemas.openxmlformats.org/drawingml/2006/main">
            <a:off x="533400" y="11620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A205AE-710D-4160-98E5-5B9F336A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1381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635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This deck keeps only signals that can plausibly affect when a request runs, how serving load is predicted, or how KV/cache state is reused.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A47792-7A8B-49E0-871E-359E67468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00300"/>
            <a:ext cx="72390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569F52-3A6A-462A-BF97-5A2BA551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686050"/>
            <a:ext cx="571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Scheduling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7FA811-B21D-4E87-AD05-2A82E1FE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57550"/>
            <a:ext cx="590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Queue order, QoS tier, latency sensitivity, output-length and arrival predictions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710341-002F-4646-8925-36FE40D4C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267200"/>
            <a:ext cx="590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priority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latency_sensitivity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osl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prefix_id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total_requests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iat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9EEB9-52CF-42DE-8DE8-EA004EB8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400300"/>
            <a:ext cx="72390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8762EC-531F-405E-84CA-3B899DA3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571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KV / Cache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BB4665-08B8-45D7-B32F-2D159A2A1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57550"/>
            <a:ext cx="590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Cache keying, namespace, TTL, entry type, eviction priority, prefill, hit feedback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DCAA36-3C37-48A3-931F-761E01A18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267200"/>
            <a:ext cx="590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prompt_cache_key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cache_control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cache_salt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350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- speculative_prefill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F81B26-5639-46D1-98CF-7389652A0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438900"/>
            <a:ext cx="1466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Out of scope for this research pass: routing, placement, worker selection, affinity identity, general reasoning controls, lifecycle metadata, and broad observability fields.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BED822-67FA-4638-9E03-7F94D15C8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124700"/>
            <a:ext cx="1466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150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NeMo/NAT NVIDIA-extension hint bundle: priority, latency_sensitivity, osl, prefix_id, total_requests, iat.</a:t>
            </a:r>
          </a:p>
        </p:txBody>
      </p:sp>
      <p:cxnSp>
        <p:nvCxnSpPr>
          <p:cNvPr id="3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ED5A34-FC6B-4E88-B853-2785A2E8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Scope rule: keep signals that affect scheduling/workload prediction or KV/prompt-cache handling.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68D63D-F41A-4D88-AA69-13C0DCA53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562298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071D301-FE4E-4231-9767-86342774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New harnesses added to the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B5CC90-9903-4B4A-99B4-3A38796E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466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These additions are distinct agent harnesses, but they are evaluated only for scheduling/workload and KV/prompt-cache signals.</a:t>
            </a:r>
          </a:p>
        </p:txBody>
      </p:sp>
      <p:cxnSp>
        <p:nvCxnSpPr>
          <p:cNvPr id="50" name=""/>
          <p:cNvCxnSpPr/>
          <p:nvPr/>
        </p:nvCxnSpPr>
        <p:spPr>
          <a:xfrm xmlns:a="http://schemas.openxmlformats.org/drawingml/2006/main">
            <a:off x="533400" y="15049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29279A-D1AB-4AFC-AB1D-B73AA873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90700"/>
            <a:ext cx="876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9CD7CD-CDBD-4585-9625-5201F41D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76425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Add?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24E802-6A10-4004-B4CE-995D826C0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90700"/>
            <a:ext cx="2667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2E96A8-F125-4EB2-A8A8-B9F483C84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876425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Harness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F37264-D95F-4BAD-A3D2-15F0DC4CF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90700"/>
            <a:ext cx="971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5224CE-756F-44D8-BC4B-7696CEA9C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876425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Why included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91EDC0-1DB3-4EC0-B95E-AF461947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1790700"/>
            <a:ext cx="3733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6261E8-B125-4E08-B9F8-4DD7DDE3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2700" y="1876425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Verified source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4C6491-F710-437A-AE15-43AC5283D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8763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E970DD-514C-4E3E-BC20-092C65083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6477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Yes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3E323F-4714-4519-847A-D82E2724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343150"/>
            <a:ext cx="2667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FD8272-75F7-4D52-A787-00D417CF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76500"/>
            <a:ext cx="24384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Pi Agent Harness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7BCC69-A4E9-441E-A504-FFFDB6E0E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43150"/>
            <a:ext cx="9715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3490C4-DDDA-48E5-BBA6-B7F47D1AC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76500"/>
            <a:ext cx="94869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Distinct lightweight agent harness; worth evaluating separately. Pi describes itself as a minimal agent harness, and its repo identifies Pi Agent Harness components.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F6D2B7-732A-4DC9-8372-003E90D1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2343150"/>
            <a:ext cx="3733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7E0735-3D4C-48ED-8700-C967A4AA2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2476500"/>
            <a:ext cx="35052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pi.dev; GitHub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782DF8-055C-4F55-B72A-27E2BDC0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95700"/>
            <a:ext cx="8763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AC1D42-BEEA-4289-9453-B95E0D5D9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6477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Yes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692290-E26E-46C2-A214-78341B3C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695700"/>
            <a:ext cx="2667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77C2C8-C1CB-4023-B147-7BB9B7D1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829050"/>
            <a:ext cx="24384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OpenCode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A954FD-49E1-4A2D-867D-3255B6940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695700"/>
            <a:ext cx="9715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DFA848-05D8-468A-94E4-14880848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29050"/>
            <a:ext cx="94869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Distinct open-source coding agent/harness with terminal, desktop, and IDE surfaces.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7F2EA4-C10B-44A9-AFC8-065D9D1D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695700"/>
            <a:ext cx="3733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EA64D9-6164-4A8A-8324-3F146947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3829050"/>
            <a:ext cx="35052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opencode.ai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AE06D7-7DAA-4DBE-8077-14C041675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48250"/>
            <a:ext cx="8763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2AF8E3-7D1A-4A95-B4F4-E6A90A7F2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81600"/>
            <a:ext cx="6477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Yes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BBEE5C-E5DC-4F00-B4D5-61A83BD9B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48250"/>
            <a:ext cx="2667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D15E95-0931-4484-B30A-6FC50D4D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181600"/>
            <a:ext cx="24384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OpenClaw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9540FC5-564E-4A68-AAAB-D2F212658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48250"/>
            <a:ext cx="9715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D9F3A1-1892-4563-A5CD-E85498A18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181600"/>
            <a:ext cx="94869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Distinct agent runtime and plugin harness ecosystem. It has explicit agent harness plugin docs, so it fits this comparison.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078524B-51F6-4A9B-A95C-14FE34BD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5048250"/>
            <a:ext cx="3733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BF0B1F-F304-4B95-9EC3-2BF6C8A41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5181600"/>
            <a:ext cx="35052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OpenClaw docs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5B7FAA-1542-4977-8BCB-DB5900277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00800"/>
            <a:ext cx="8763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143B6C1-5C6D-42A1-9861-1337A6181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534150"/>
            <a:ext cx="6477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Yes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63B08D-9EAD-4BB7-B8F0-12C4A6ED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00800"/>
            <a:ext cx="2667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8DA8C95-4C07-4212-879A-5B7D421C3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534150"/>
            <a:ext cx="24384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Hermes Agent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645DDC8-E97C-47B5-B823-1894CAB0E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6400800"/>
            <a:ext cx="9715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65A876A-FC2F-46AA-8949-379B122C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534150"/>
            <a:ext cx="94869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Distinct Nous Research agent harness with memory, skills, messaging, and long-running behavior.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9A33857-DEEC-45ED-8A85-3D468629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6400800"/>
            <a:ext cx="3733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7750237-9849-4447-8934-CC625F3F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6534150"/>
            <a:ext cx="35052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Hermes docs; GitHub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2A042E7-9AC9-4639-A7F4-F1BC53E7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15300"/>
            <a:ext cx="1381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Excluded as already covered: NeMo/NAT, Qwen Code, Codex, Claude Code, Dynamo, and Deep Agents.</a:t>
            </a:r>
          </a:p>
        </p:txBody>
      </p:sp>
      <p:cxnSp>
        <p:nvCxnSpPr>
          <p:cNvPr id="9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D849DBA-0824-46AC-A9B5-1B0DF67AA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New additions verified against official docs and repositories.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1472642-7C26-44BB-8255-E5114DDA2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5735704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4DC69B-4AC5-4778-A149-FF5F2139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Scheduling signals in simple English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8A982B-7B52-4320-B240-5187A6E83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466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These hints help the serving system decide when a request should run and how much capacity it may need.</a:t>
            </a:r>
          </a:p>
        </p:txBody>
      </p:sp>
      <p:cxnSp>
        <p:nvCxnSpPr>
          <p:cNvPr id="30" name=""/>
          <p:cNvCxnSpPr/>
          <p:nvPr/>
        </p:nvCxnSpPr>
        <p:spPr>
          <a:xfrm xmlns:a="http://schemas.openxmlformats.org/drawingml/2006/main">
            <a:off x="533400" y="15049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016650-DB4D-4CEC-96CA-890EAD4D2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6916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1A7E2D-5D3E-4818-848C-18ADE1C91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335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81CA81-790E-4150-9727-867E4021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933575"/>
            <a:ext cx="1331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Meaning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2A7BEB-C13A-4CF5-8D9B-0BDCF68E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A1C209-B010-482D-A4F5-9F478BC24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priority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F33897-F61F-4391-9403-C64B68BD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400300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Tells the serving system how important a request is. Higher-priority requests may be run before lower-priority ones.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C7FA0C-779E-40B8-8EEF-42A2035FC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57575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08DA7C-CD71-49AC-8EDD-A6BC0BEDE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90925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latency_sensitivity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768CD0-1C02-4C3E-9A58-EC94A68D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571875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Tells the system how much the request cares about speed. A highly latency-sensitive request should avoid waiting if possible.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BD059D-4DD0-425B-B97E-68B568E76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C36786-E373-458D-9F7B-99A883FC1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osl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832DE9-6931-4D92-B812-C852C20F1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743450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Usually means output sequence length or expected output length. It tells the system roughly how many tokens the model may generate, so the scheduler can plan capacity.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F41F5B-CC13-4673-82C9-676E23A44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00725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69C5EE-83D1-438B-93EF-7D3A0DBAB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34075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prefix_id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F91AD1-9924-4A35-A09D-4EAAD2E8F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915025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label for a shared prompt prefix or workflow. If multiple requests share the same beginning, this helps the system reuse cached KV state.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9B24B3-90BE-40BA-B45E-6973AA554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72300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5521DC-079A-4621-BCBD-72D5E1DF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105650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total_requests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A9BE18-CDC7-4DE7-BEFC-4C5123337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7086600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hint about how many related requests are expected in the workflow. This helps the system predict future load.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503E29-0DA9-44DE-887A-D7EBF1368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43875"/>
            <a:ext cx="1691640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21E1AB-F0B0-40CE-9BBF-508D52A2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277225"/>
            <a:ext cx="30670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iat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452636-38CA-40EB-B722-B970033D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8258175"/>
            <a:ext cx="133159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Usually means inter-arrival time. It hints how much time may pass between related requests, helping the scheduler anticipate bursts or gaps.</a:t>
            </a:r>
          </a:p>
        </p:txBody>
      </p:sp>
      <p:cxnSp>
        <p:nvCxnSpPr>
          <p:cNvPr id="5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780DE8-43EE-4826-B24F-D8D66183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Simple-English definitions generated from the focused signal overview.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7A23EC-E944-4A2E-92B1-13262A41D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9054589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5C3692-C016-456C-947E-14738B10F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KV and cache signals in simple English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53364A-2F78-42B1-B809-CF9E8D784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466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These hints help the serving system decide what prompt or KV work can be reused and how cache entries should be separated or retained.</a:t>
            </a:r>
          </a:p>
        </p:txBody>
      </p:sp>
      <p:cxnSp>
        <p:nvCxnSpPr>
          <p:cNvPr id="24" name=""/>
          <p:cNvCxnSpPr/>
          <p:nvPr/>
        </p:nvCxnSpPr>
        <p:spPr>
          <a:xfrm xmlns:a="http://schemas.openxmlformats.org/drawingml/2006/main">
            <a:off x="533400" y="15049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60C834-BDA2-48CA-AD43-C8825A475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6916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61F0AC-A0D6-47D5-813A-5C8AB61F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335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8FFF9B-B715-4ABD-B71E-AA2DC4C67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933575"/>
            <a:ext cx="1331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Meaning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04A3AD-9974-405E-8F34-9BF71D1D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1835EE-0D42-4E68-9377-7AE682BE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prompt_cache_key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352E90-DB77-493F-AC5C-617C18F0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400300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stable key for identifying a reusable prompt prefix. If the same key appears again, the system may reuse cached prompt/KV work.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E3EEA5-0E47-4D4D-BC85-704B1B2F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0E206B-0A9F-4F5A-9FD6-8BB6ACEB0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81475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cache_control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6BAA78-2FA3-4F6C-81CB-4E28B224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162425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Instructions about how cache should behave. For example: whether to cache, how long to keep it, or what kind of cache entry it is.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E16EA3-E1AD-42F3-8C8D-D6AAFA911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DF0AC3-CA9C-42C3-8AFB-10A96D78A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43600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cache_salt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80A5C7-8454-4A8C-9CA1-D95EB7394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924550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namespace separator for cache entries. It prevents two users, tenants, or workloads from accidentally sharing the same cache entry even if their prompt text looks similar.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F6FC25-5875-4C2F-B545-3822B892A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572375"/>
            <a:ext cx="16916400" cy="176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6C9C5B-1F40-4BE2-9A14-5A28FEBF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705725"/>
            <a:ext cx="30670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1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speculative_prefill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311D7D-C2F4-4B19-8B1E-F472279BF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7686675"/>
            <a:ext cx="13315950" cy="1552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hint to prepare or precompute part of the prompt before it is definitely needed. It can reduce latency if the prediction is right.</a:t>
            </a:r>
          </a:p>
        </p:txBody>
      </p:sp>
      <p:cxnSp>
        <p:nvCxnSpPr>
          <p:cNvPr id="4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598F18-9078-4383-B61E-2781ABABB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Simple-English definitions generated from the focused signal overview.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473122-2FB5-4CCE-BAC7-E674C233B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68866891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4A3C8317-CDEE-4DAC-B9A4-7EEE441B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Scheduling and workload-prediction hints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AFB059-C29E-48A9-AFC6-6243FAAAE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Signals that can influence queue order, service tier, latency treatment, or predicted serving load.</a:t>
            </a:r>
          </a:p>
        </p:txBody>
      </p:sp>
      <p:cxnSp>
        <p:nvCxnSpPr>
          <p:cNvPr id="185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288C66-0B3C-4800-984D-CE738E6D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333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340A12-2305-42C1-8A4A-92DC4BC75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07CD59-249C-493E-A536-9ABA40AA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5CF352-6B17-4E87-B15A-82D98B04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Dynamo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7BEA9E-5910-485B-96DF-059B574F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7F3F68-AD3F-4850-B8A7-97F6DBAFB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NeMo Agent Toolkit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3252B8-8485-4688-BCAC-E34783C26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85E307-D5B1-4852-BBE5-1202F4160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Claude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EB403D-3B40-4D27-A11F-BB0DAA7F2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D009E4-D840-4FD1-BD7D-0B5DD788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EFAEFF-4F0E-43D0-90D6-771574BC9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D29F9E-6BC8-45BF-A61D-C48E8906C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DeepSeek Harness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44C4AC-16B8-4E32-B2A4-27F7CD24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5701E2-6861-48C7-A44C-9A58749C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 Agents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283896-6468-4773-AB41-EDC824011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4C255F-05B5-4EA1-A10B-11A5E5EB7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Qwen 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AB9D9B-21A3-4BA5-8D47-8B706006F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A332E9-7E00-4B43-9980-DE9915DEA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Soft priority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28E07F-F371-46C1-B6D3-D81CA384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AFB6E3-A32E-4BC4-9408-A49F4849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nvext.agent_hints.priority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C13CFE-EF04-460D-90C7-90D6F6AA6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{"nvext.agent_hints":["priority"]}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F2ABD2-257F-412F-8B86-2D262C01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67F844-B8A5-4D78-BDD3-B0F328C4E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 priority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A53CEF-60ED-4DD1-A02A-F5FEDB9E9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{"priority":"priority"}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E64D5E-C111-4C7C-9EBC-4762C86F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97F740-E938-46F6-BB34-C50E5C17A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333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97282C-F739-4037-858D-C80FA972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E0352-289C-4930-9E9C-9F046DED7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33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47C9F7-CD94-4916-8ACB-77B7D972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EC49DEC-9E42-43F9-AA36-E673E532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2333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15272DF-04AF-4AB4-9378-63BCDDF1A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D22981C-D115-4A52-BD88-94E002D9C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middleware only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73FBBD8-EC1D-4E34-B5DB-E68B5C31F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A4CBC32-D3CB-47C0-923C-EE30E148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A9521F1-965F-4D02-96AC-103345AB8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extra_body pass-through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F35C6B5-7DE0-4806-8D10-2C3211B51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{"via":"pass_through","priority":"extra_body"}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487C669-ADF4-4D6F-9409-6E18E369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62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6470D18-7551-49E4-8AF2-21C40FB5B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48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 priority tier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452CC2D-B66E-456E-BE18-3E5677B79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EDA22CA-4B39-4B38-9935-2B534769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strict_priority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D502270-31B3-4D62-AF22-5C028B958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{"strict_priority":"strict_priority"}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2514B9E-74AD-4A60-BF29-B3301D3CE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5F3A0DA-5BD7-4705-AACF-16621026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7FAB576-2A41-4539-B072-15DCEB363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86FDB55-6EEC-42C3-A547-36111773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234A023-928B-43D6-A165-10B07CF3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2D70141-76C0-47A4-86F2-503B16C4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AA6E081-33CC-4870-BC95-EA1F3B4B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F3B4DD4-6878-4108-9A90-6153A5C3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B40865B-046D-41AD-8082-82DADAA15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0894A1A-A7E4-4F39-8C61-30BACA91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only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91FFCFC-39F3-4A90-A20C-39707DF69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D0017BD-ABF8-438F-A349-CFA622732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C856C88-1A58-4D9A-8D72-2412F6AA1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23C583E-A325-405B-B4F5-222AD10B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7E8799D-514D-4EB4-8BAF-3EA0BFEF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76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17E9193-7522-42BB-8F09-D4FBAF03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62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Latency sensitivity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43C0097-39E9-467B-8BEC-2BE5E5EED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6BF695E-FCFD-4C95-969A-14AEF6E39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Legacy field; removed from current schema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2F06159-E320-4BB1-8A9F-19B0390C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{"legacy":"latency_sensitivity"}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B0B300C-04E1-4C64-85B9-65A4A718C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1055604-2F29-4969-959D-63E951B65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 latency_sensitivity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7C72CC3-0C3C-47A2-869A-8C4A4EDD1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{"latency_sensitivity":"latency_sensitivity"}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E4C349C-BECC-462E-A91B-7754ECF9B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89D5F82-ED84-4CFD-A0AA-11EC9603E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162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648F365-A6B1-4833-B99F-AC2746E5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013731C-65CD-4A2F-83E9-B6B4DAB15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162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4D89724-F328-4938-A290-DD3BE2F61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8D18095-5588-4137-8CA5-E4D07D81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4162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D605541-2060-41F0-AE8D-0760767F9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57DEB45-5045-401E-BD04-817EA4FF8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only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10216A6-EF48-4BE4-8F3B-96C6D1235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920BB16-70BA-4C86-A2EE-FD15B2CC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049FC14-A1AA-4E01-AE33-8F49B2DFA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FFE982E-30F1-4618-885D-D7D2488E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60924D0-4054-434C-BF02-038E9818E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3C7D7DD-CD9D-4F8D-B033-A9C97000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768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speed/QoS tier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6ABAC1D-BAB7-48C5-AA7C-0FC4A4B13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52A394F-B253-4B90-BF92-021EC0EC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0768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5266A2F-0C25-49F7-B935-E6AE799A1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6E6EEF8-A36F-41DE-BFEC-365E52E5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8EE3C7A-1906-49CC-8FEE-58D55EF96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7353A75-3B22-4B94-AE7E-C76F0BD79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049AE98-C40A-4FE5-B5AD-21B110CE7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Fast mode / speed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7D1DEAC-4CE8-4F90-BEC9-782933457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{"qos_tier":["fast","speed"]}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77F2EF6-7770-4B0A-A278-E15D728E0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1355D5B-A523-4794-A696-9883A66A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service_tier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5CACA76-70F0-473A-ACDD-063CF7D7A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{"qos_tier":"service_tier"}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16E476B6-E5D4-4242-9099-D0E4428B6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2C6C5AF-ED71-48D6-B719-EEC7A6B31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0768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CBD72EF4-EF72-42D5-89D0-B1AC878BB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72823DC-1139-4450-8B2B-A38109063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87628A8-C21A-4F8B-9915-BD214DC8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E7141448-68F0-4B84-900B-1F04E309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7F3AEB6-8D84-4D97-B3EB-8C2BC3EF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Provider-specific extra_body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DA1EA97-8FEF-4ABE-AA8B-49DB0699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{"via":"extra_body","qos_tier":"extra_body"}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ADB9202-5BD3-4A51-B5B5-6E8C86F5B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2C157C12-D3C2-45F7-BC38-1E5C2B55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912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output length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CCC37E2-EBB3-4138-8770-9FF2AC88E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0480502-B46E-4329-9AD6-B5193B69D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osl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7DD1303B-B160-4ED7-8B86-206F67FA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{"output_length":"osl"}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2CC93A1-75C6-4E08-A2CD-3AB8D02C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00728B95-66E5-4FA9-99BD-1A3904D6E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 osl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3511A824-E98E-4ECE-AB1B-582282289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{"output_length":"osl"}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3CA95BCA-3B8D-4D0A-A269-24B767AF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E83DFAB8-8866-4E0B-AB1D-4D72E33D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5EB37F34-BF73-43BD-A0CF-055361EB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850FEA31-7919-4E2C-B78A-DC9F326F3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76E8BFAD-EA44-4CF9-82CD-719AAFFAA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BDD7F2A6-21B8-41B5-B0BC-061026DEE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484CBE7-4512-4630-AFFD-06407872E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01283764-CC8C-406A-A549-519FEEBF3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infer internally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5C171245-FC67-446B-93F9-9213C014A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033B9BEF-06CE-404C-816C-95D383FBA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510EA229-7E51-453E-8CDD-6E1EB85A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60F24446-0E34-441D-B9F3-4F94156A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0E9751D-6BA4-4757-A931-FF454D56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19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B6EA55AE-7854-407C-A7EB-45353CB1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05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interarrival time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E0A05FA4-752C-4DA7-A15B-47F13F38C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2C1D2690-B720-4C86-93B3-F8CD8277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6AED885-9568-4496-AA3C-7B8059EB3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C85E7758-2A2A-4DEC-933F-645D59F84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896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iat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8226EB89-0403-45B6-A534-4BAE920E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7240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{"interarrival_time":"iat"}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B3C47B83-EA60-4DCC-A20A-A6E58BBC3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7CE76526-3F51-4A1D-A6E1-3B8B135A9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5421B8CF-86D4-47B1-88EC-7A948865B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ECE4F868-62D1-4396-914A-ACDB893F5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AF96CA65-752E-48A4-A511-9FAF390BC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CC7B169E-2AC2-4E76-893F-E91240959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842ABDC9-642A-4406-8F5A-FD4BAFA7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1B1C0C12-09CF-4428-B9ED-5CBC97F30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8C7CB21C-2326-4488-AEF6-BEDD91D3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948422F6-4A79-4F91-9EBB-3AABDA4C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6896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8C1F6A95-7B34-434D-8281-C0C73C677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7240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3BC3DD79-A260-4AFE-9636-DC0F8A33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078AD76A-D4C0-4627-952D-B844EB9F1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Predicted remaining calls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53100F48-89FD-44BA-B43E-91A00A36E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1CE3F3D5-0FCC-47A8-9A86-6904E06F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7820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BD09D3C6-81F0-4476-B336-9B91F5777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E20B9D1C-33AA-4E64-9574-70B04B77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total_requests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8064C986-43FD-49DD-937F-7D3C6999B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{"remaining_calls":"total_requests"}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4F539317-DBEA-4E88-852F-F29E8617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CB606381-F06E-4179-9159-795B4AA3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7820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EA9824A5-4E5C-4B60-94EF-4D4C01438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D86A4069-424C-4FA5-BFA5-30CD67E6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7820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DDB3667A-75D1-4D31-9F46-017D37CC6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AC1184BD-FD0A-4B62-BDF4-3F313455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7820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6CC71637-3AF4-4283-BAE5-70BBEF4AC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CF3AF1C7-0F06-422D-AA45-94EEC8049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Workflow may know internally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248A81AA-B4C1-484F-BB43-0CB3A07B4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B7339028-96AD-4A36-BED9-78B8C5995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2A12B0CF-0FEB-43CD-AA32-5BAC83D3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13489334-C2D7-4CFB-B4A7-589167BFC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F1D3BE61-6B00-49AB-B5A9-A9BC4F8FC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48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C87AC323-2CC1-4ACB-A9F3-144CA721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34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Prefix/workflow reuse ID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6E0F3C91-97D9-45D3-95FF-464251D34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3F132DEA-5DBC-4B0E-8A9A-0FEC66AB7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 is closest current concept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A4DD4646-F617-4478-B398-6AA3E952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{"prefix_id":"X-Dynamo-Session-ID"}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81A6AAA6-2396-44CD-98E6-568FE0976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03A5E2D6-8EED-4983-ACD1-BE446A9F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prefix_id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2A763554-1D0A-4A73-814A-125D305F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{"prefix_id":"prefix_id"}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7DFAC9F7-E8EA-4752-9D12-6A9497E0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20BB77DE-5769-4F83-A223-75E5471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Session/agent IDs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5ACBAA45-F482-4658-AA19-EB1E833C4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{"prefix_id":["session_id","agent_id"]}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CF42F3B7-D4CB-438E-9A47-01AF5F0DC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56253A7C-7E06-4468-B1AA-015C2958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Thread/cache key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3AB0320F-163C-43B9-A4FD-631CBD471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{"prefix_id":["thread_id","cache_key"]}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66530DE5-B05C-411E-85B1-C81387730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088C980B-39ED-4D93-9F85-510E8E401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 ID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5B7F0DBA-AE3B-4225-8804-1DD839BE5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{"prefix_id":"session_id"}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A6B04E30-A107-4659-8908-6BB105282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12E2DFA9-5FE4-4ABB-94C9-1E1F88C69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thread_id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D2C3062F-63D6-46D4-842D-C9485ADB6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{"prefix_id":"thread_id"}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FD9B60B1-9BC7-43D3-9CF4-D7FFA3B69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215BE93D-0990-4D7D-9703-BF8A8D55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session only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A8067262-0325-4986-8582-271637EA2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cxnSp>
        <p:nvCxnSpPr>
          <p:cNvPr id="362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F990C7E6-306A-45F4-A7CF-18665C5E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913A846F-F622-4884-9587-964A6748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10508397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64301868-1E0B-4886-A1D0-E0EE8E6D5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KV cache and prompt-cache handling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F20FD8-3AF2-4670-B341-87588A3F5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Signals that can influence cache reuse, cache isolation, retention, eviction, prefill, or cache feedback.</a:t>
            </a:r>
          </a:p>
        </p:txBody>
      </p:sp>
      <p:cxnSp>
        <p:nvCxnSpPr>
          <p:cNvPr id="194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F85CC4-EDC6-47A7-BB7A-323976A7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333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E00BF0-4B9B-4615-B04F-814CC878D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853B2C-BEFA-47A7-9777-749C43254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356B88-7410-4896-97DD-52B8F32F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Dynamo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E0608C-B2F0-4762-9EE4-CDBEBF635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CE858C-7B97-4F1E-BCE3-532A8989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NeMo Agent Toolkit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B1CE88-6D38-4FAF-8A30-482DA4275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D9161C-B9B4-4B4B-94B6-4F1EB020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Claude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CF354A-5718-4352-AF48-DF88BAEA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184EE7-0907-4F47-A755-56D6F5CFA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59DD5A-466C-46AF-9223-57794B1A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EB3E7B-5A9D-4220-A3E1-46B2C9E6D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DeepSeek Harness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D41058-FFA9-4E19-97CA-E850AC4BA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5A889E-4FCB-4E69-B8BA-9ADF992A4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Deep Agents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647E30-4EAB-48B8-8F77-FD8960D1A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1695450"/>
            <a:ext cx="2124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8C7FD4-FC27-4FA4-8BB4-DE734911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1781175"/>
            <a:ext cx="1933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Qwen 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DA128A-EB82-4EDB-9E82-29C58051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458809-5A73-4926-AAAA-3B155620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key/bucket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14BA69-2405-4BFB-90D6-5CD1EDB8D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4241C7-E8FB-46F0-B858-46D71697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prompt hash; no client cache key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8AE2F4-F237-4682-AE63-5C203454A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{"cache_key":"Automatic prompt hash; no client cache key"}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B2B8BD-B512-4B52-9080-01E0D15A4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CC96FF-7D9F-46B4-B37A-2B130A557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prefix_id, but not equivalent to a cache key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4E26AA-7ED4-4713-B4DA-DE9A3485C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{"cache_key":"prefix_id"}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7DD142-A7AA-4B57-91DF-7424DF3A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4953A1-1BA0-402E-A221-78BA6DEA2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Exact-prefix matching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76E8E8-765B-42D8-ACD7-A9D64BF7A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{"cache_key":"prefix_hash"}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FF11595-5224-498B-BB21-B2642203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975EE1-C39B-4535-A910-95FBCF28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prompt_cache_key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E1FAF5-7382-46A7-B69E-1C8329E6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{"cache_key":"prompt_cache_key"}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AE7014-B271-4153-90D7-47324AEFA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01C103-BB57-464D-9377-6872906AB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prefix matching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8C6E00F-6739-407C-933C-7552FB7C0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{"cache_key":"prefix_hash"}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4A2CF5-BDAB-443B-8276-D77251FBB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ADEE0DE-B1DD-4174-8C93-2FD7697E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middleware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1A4D36C-BC8D-4099-85D8-6C626E85A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2447F5F-C4C4-4DCD-9F21-56C5DF6A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2247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F01C520-2FF1-4F82-8E04-B3F22B26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324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prefix matching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3F3759E-16EB-4C7B-B4FE-B98787D0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68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{"cache_key":"prefix_hash"}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F01B0E5-2EE3-481E-BECF-28E583336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62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70B3BA4-93A9-4D63-9325-9CE5BF2F1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48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namespace/isolation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07E6961-87AE-4E1D-859D-ED7FE836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EC5882-9B7A-4840-A722-BDC84CF37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nvext.cache_salt or x-tenant-id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68435BA-F1C9-44D1-BC4A-2D018A3D6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{"nvext":["cache_salt"]}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D43E485-87DB-4D79-BF22-78848834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D54046D-38CF-470F-82B0-534C63D3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Could pass Dynamo salt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BF2E4F5-0C4D-4DCB-82BB-F7B583882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{"cache_namespace":"nvext.cache_salt"}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71A1D95-C7B3-44E2-9691-38A342F2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49D089B-1824-4340-AC5B-181838A5B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0BEB092-FDBF-46CD-B988-FB7A47338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CE5AAEE-314A-4DC0-AE0F-B4AB44318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key provides bucketing, not tenant isolation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E3EE220-6BD7-4F34-9A2E-2EB350A40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{"cache_namespace":"prompt_cache_key"}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0B67DE2-54A0-4E7A-9C6C-03A83E58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C181B26-6FB1-47E4-AB76-8333468EB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32480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F41A98F-FB6D-4742-BDC8-F1DA95ADA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4DF3856-DEF3-4F92-9D57-391CD73A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30A843D-CA6B-49A8-AD9B-15B2489DA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00B75BD-D622-4960-BB63-5A8F16B5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3162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B4C204E-967E-4428-903B-C7ED52FE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3238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Static header/body pass-through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5644489-2914-4981-B549-4F3E59ED2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3582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50ED763-F4AD-4E5B-BBEB-F046E985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76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E586B8C-7D54-4C44-907D-4977FC899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62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TTL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E71E1B6-6748-4FA4-A843-90FE0069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430949E-521B-4BB9-9156-AEBDBCBD2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162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7BE62B9-404A-4BA0-8427-757539324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A107362-3B43-4BF6-934C-5F17DF87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 nvext.cache_control.ttl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BB6D88F-17D0-4C66-BF03-A0ACB9F37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{"cache_ttl":"nvext.cache_control.ttl"}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3B13653-648E-4291-A6DF-9D94384F6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8C88A65-0165-4E6D-8837-9534F8D9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cache_control; 5-minute or 1-hour TTL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6A3F024-F604-45D7-84EA-467E0EA07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{"cache_ttl":["5m","1h"]}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4C51FD5-4483-417A-A3B2-E3AE2CB7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A6C4826-4EEE-4428-B6C6-717FD0A8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 explicit TTL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C220E99-E0A4-4CE5-83CF-069175721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{"cache_ttl":"No explicit TTL"}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337F15B-D6C7-42E8-83FA-18D88751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966E1F4-EE82-4EF8-9B52-0D7AF01C5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 automatic TTL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1E73128-5BCB-4E51-8DBC-6E04BAC1D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E9C6A64-56BF-4EA6-9747-437048A10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7F9DA75-F0BF-4235-BE49-454673717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Anthropic/Bedrock middleware; 5-minute/1-hour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8DE9413-D58B-4C34-9063-831694E3D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CFDA9F1-9EE6-4BA0-92ED-8C1DCBBA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4076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7CDAA00-17A1-4816-99DC-8C78D928A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152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cacheRetention / provider cache control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F5590970-FB3E-4AFC-AF76-1C8BFEBED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4497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53707B1-F0AB-43FE-B1ED-F1707E5C5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851A431-C268-4C85-82F3-2AD49A387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768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entry type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F79B45F-8490-4A90-9210-2D544273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77EF59A-76E4-4A6A-983F-04371E49C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0768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2A17D8F-A211-4D29-8B22-09387158E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C127B00-F384-4BA2-ACB0-7D6AF1913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type:"ephemeral" experimentally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6C9C442-6508-4660-8100-16A3744DF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{"cache_type":"type:\"ephemeral\" experimentally"}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C240FF2-4F09-4EBA-A20D-6F5F67ADA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4FB65FF-00D2-426A-B595-8AFAEBC2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type:"ephemeral"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08B03FF-469D-4FBB-BDC9-6F51B00FD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{"cache_type":"type:\"ephemeral\""}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AC6B27D-9C17-43C3-A376-8EBD4651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6E7D06D-5C53-43D9-A732-A85929D5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0768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FED854D-20B6-4237-8A16-721D7FE2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CA63A1DC-1632-4D57-8CF6-EEA9EC2B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0768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D3F717B-7AF0-4A47-9253-FC364133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D6DFFBE-AD8F-4996-8E49-DC2A721E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A5648102-310A-4596-B9BC-C75C375F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B7132577-9B86-4DBD-A8D6-6F0EF27B9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49911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61F93A34-BD2D-420C-980C-DF5532586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0673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F64304A6-FA94-406F-940A-6F9915F4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4117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BCEFA9BB-56EC-46B4-A24B-6B8C570CC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B83E979A-40EC-4DC1-B63C-088B46219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912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Eviction priority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15C340CB-B3D3-42F1-8641-51F29195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E6FE1182-115E-4DCB-992F-0BE6D961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priority; currently effective with priority-aware SGLang cache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0C5C9185-4AF6-477E-9DBD-5C75189CD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{"eviction_priority":"priority-aware"}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0A9F4779-7221-45A1-8DEA-9E31426D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C0B8619F-4542-4719-8501-95530B433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 priority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DAA0A300-B2E8-4BBC-BD20-E89293DF1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{"eviction_priority":"priority"}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0CF66036-BDE7-4F97-830B-F792A6A8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30A3320A-7C9F-422E-AF12-60A6A162B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866CB07F-0955-4957-9218-E2623E031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53C7BFD4-3D3C-40E3-9C6F-C339A2714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83EAADC2-AC8D-4EE9-845C-4B83BEAB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77672262-4DD5-4CAC-9C3E-2C2BFA628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59912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FF021CD8-057D-402D-9A35-911F4537E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3B6FCB8A-0CD4-49BC-9347-EAB64EA5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None unless custom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835C6C01-5A88-4A85-9D46-24993D0CA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{"eviction_priority":"None unless custom"}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2F6D3F7B-4B52-4EA1-8517-4825A3D6E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59055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2D12BDDA-35AD-4FC3-ADBE-9E1788DD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59817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 only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779F4731-8C48-4999-8344-098437796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63261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{"via":"pass_through"}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413CA392-E807-4FBA-84C3-9E7A74F6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19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A917529-F111-4CEC-B26C-8923BD94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05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Speculative prefill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35C21B06-D4C1-4155-8D4A-0B15CA1A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E12B5EF1-074C-4435-8F56-3CDA75F20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896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speculative_prefill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7A04DE7F-D28D-4063-811E-07ACA728F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7240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{"speculative_prefill":"speculative_prefill"}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DC3D7192-E51C-463C-A4EF-EB04D2B8F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BC7D5BCC-8CC0-42E1-9ADB-C63CA3C1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05E675BB-4F7E-460B-8784-285D75A5E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28DEC6CB-0BB5-4B86-A79C-A1818CF6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11D514D9-7BBB-42E2-8A5B-E05974B6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07AEAEC8-E413-4640-9EA9-9C968B997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896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WebSocket prewarm, but different mechanism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DE1D869C-B3F6-406A-B774-F3395B3A8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7240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{"speculative_prefill":"websocket_prewarm"}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1BECFC64-4133-435C-A6C2-FAF2FE09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61D7F9C0-B8B9-4BA6-B607-51D041753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6EC9BBE6-082F-4CC8-B9C2-82FA8ACD3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FDE90401-0AD4-4139-88CF-6927969AE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69056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985AEBFF-AEDB-48F5-9C41-FE41F0CD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68199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0114E995-6461-4C59-A4DC-DE1EA0A7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68961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UI speculation, but not KV prefill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CBDC3196-8AF9-4406-AB43-A8CF61741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72405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{"via":"different_mechanism"}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3A20E607-12EB-4B08-B259-6D116710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1BD24682-3E74-4E57-859E-3E54D263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Cache-hit feedback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67287D1B-6DAE-433E-B8CC-6337A274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C41B6412-C10C-44FF-9CA3-6D01AE340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Metrics and response extensions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482D3437-1381-4B57-8C77-E3256BFEA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222168DF-057F-47FD-B283-AFDFCACD2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5BA503D6-115A-4511-AE43-5877B12E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Profiler/metrics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A4771AE6-F7A5-4F4D-A2E2-609B7C00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0784F491-6878-478B-9DE4-3C6C12FB3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EFAB2B81-D82B-48B1-8F4A-BEC22D9EF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Cache-read and cache-creation usage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61BDB99A-32A1-49C4-BBCE-E07BA8A6C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{"cache_hit_feedback":["cache_read","cache_creation"]}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8FB24A81-3546-4C61-92B4-8AC64C69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8DDCD3AF-BCFB-4EC5-B779-B8E2D625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Cached input-token usage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938E5A81-3C03-4195-B3BF-B4F58504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{"cache_hit_feedback":"cached_input_tokens"}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99CD3EAE-148B-4CE1-A0CE-BE06A1F94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2CEDA6E5-1462-4082-B29D-76B278CC2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cacheReadTokens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05DE0142-55F6-425B-BEAC-BD8828C0E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{"cache_hit_feedback":"cacheReadTokens"}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E7D631F1-41AE-4AAD-B029-B81FCC9F8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87AD5E9F-0C42-4212-BA93-6F0A522A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trace data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E40BFD79-2201-43B8-9359-89DAF1A00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40D95DB8-1257-41DC-A8AB-306C28D8B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77343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16AB895C-A09D-4BA3-88ED-DFE3B0190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78105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Cache-hit metrics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65006BEA-D345-4716-B898-7D11AFEF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81549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D722F1DE-3B90-43D7-B4FE-6D6EF2086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48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B0610C50-331F-49BF-9808-5FC100418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34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pinning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BCDE2F8C-91EA-4080-9CC4-71F96834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5D7093C9-6A4F-4485-B2E8-3220E9648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734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325B1D1A-E0FF-4DF9-B0AC-E02589226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A9E2DA4B-52F9-4BEF-8D79-55DF8E80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Experimental/version-bound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5BE42625-0872-4CCD-B730-56DE26AC0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{"cache_pinning":"version-bound"}</a:t>
            </a: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4EE1A8DD-0B89-4CBE-8580-E7C9758BA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71EF042C-E932-4D61-B296-E459ECC4F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 TTL retention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5069541C-21E9-4C6C-9B8C-0B5BF4F74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06CE1CDB-2296-4C5F-80FD-28F972B22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A1CBCC54-42EC-482E-9A2B-0D707E877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8734425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5B5266A1-516C-4D06-A846-00EBAB5C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332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06AA28CA-55C1-4190-A24B-C223A279F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C1FFDE4A-34EE-4923-827F-DEC49AA3A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857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07010D83-453E-4951-9E09-A183F70C7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79A39BF4-33C8-48BB-9B97-B4465720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middleware</a:t>
            </a: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B3A9246F-FF2B-4F62-A0B5-48E78A57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82650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88F67CF5-41F2-4BA9-84EC-302AE997F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1475" y="864870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453458A2-625E-485A-B490-A83ADFDF4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8724900"/>
            <a:ext cx="1933575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E7A8F1C7-173D-44BC-A01A-6B013BBAB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9069324"/>
            <a:ext cx="1933575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cxnSp>
        <p:nvCxnSpPr>
          <p:cNvPr id="38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3633B950-5C1F-4027-82C5-EF2F45C5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A4922C22-3D18-496B-B9BA-E8CE64EA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10957086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93190F08-D443-40A1-AC38-72865002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Additional harnesses — scheduling and workload hints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6E5FCC-4189-4D69-BA58-3FEE71B0F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Agent harnesses generally expose provider or extension hooks, not native Dynamo-style scheduler hints.</a:t>
            </a:r>
          </a:p>
        </p:txBody>
      </p:sp>
      <p:cxnSp>
        <p:nvCxnSpPr>
          <p:cNvPr id="113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E11325-D19D-454B-AC78-6CEE91E0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333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A13D50-A9BC-41AD-843B-EFD274EC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A81D13-BD75-4CE1-80C6-DF27053FE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1695450"/>
            <a:ext cx="3717131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7F860A-2673-46A1-AEA3-3A8DA255D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1781175"/>
            <a:ext cx="3526631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Pi Agent Harness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0BF85-D76B-4682-984E-DD1B6EFC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1695450"/>
            <a:ext cx="3717131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C8A4DF-56BF-413E-8F9A-9BC45124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1781175"/>
            <a:ext cx="3526631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OpenCode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B24199-01E2-4489-BB28-0BCE76A8C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1695450"/>
            <a:ext cx="3717131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DF1FFF-2526-47E7-AF7B-1BF8C213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1781175"/>
            <a:ext cx="3526631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OpenClaw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024700-791A-4397-A431-EB8E04F66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1695450"/>
            <a:ext cx="3717131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76A905-654E-4475-9920-1AF4257E0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1781175"/>
            <a:ext cx="3526631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Hermes Agent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FBC245-A252-4413-B831-684A34E7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A8AE4E-A256-4883-9E92-D445BC9A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Soft priority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33DD81-4F6E-4D42-9603-296605BC9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247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481DF4-634C-4916-80C3-E7A3B454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3241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extension/provider hook only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90B3A7-5246-4589-81AA-033906A71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685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CB77D2-665E-4E3D-8622-7B7FC549D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2247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2035BE-BD3D-457B-8FBF-267B95A2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23241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 plugin/provider hook only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5977E2-CC5D-4DD3-B976-511CB44B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26685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{"via":"middleware"}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784D6F-CF9D-4381-9187-D95EEC455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2247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72B62D-5620-49F9-8ACA-CA45256A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23241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Workboard priority is task metadata, not inference queue priority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09C29D-8796-451D-98EF-32F7CD73B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26685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{"via":"orchestration_metadata"}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D0E008-9C0D-483F-A747-CC9275DED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2247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7C0FDB-826E-48E5-990D-034AA9F90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23241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Task/delegation priority is orchestration metadata only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BD519B-6772-4EB9-A34B-259D8F004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26685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{"via":"orchestration_metadata"}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0F839D-3950-49B9-9857-2E80C136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62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E62188-0BB4-4FFB-ADAE-5FD682499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48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Strict priority tier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C94FE1-CF17-43A0-8B68-775AE80B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162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5F405E-8E1F-4A78-9368-C7872DA5A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2480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B2AC26-494C-4EE1-98CE-07BA23910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3162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23FACF0-37FB-4864-9458-E3FA5BEB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32480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F555F38-BBFD-4BD0-B17C-DEA2BC26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3162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23AFABF-2AE2-49C5-BF0A-3618CEE0E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32480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8ADE553-0F8C-49C5-9E99-352AE114F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3162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F4111D-44CE-428F-B024-BD23F991D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32480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867D7DE-3C58-4BD8-8E55-9684F1E9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76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80B1AB8-C8F5-4ECC-835B-11EED924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62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Latency sensitivity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C7BA684-6B1D-4683-81C2-864B92428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076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D7789C9-7C17-450C-B2B8-8BC33CEE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1624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B8D8704-626A-4DA0-A04B-36F143D7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4076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83EF852-8E7B-429E-BCF9-917AEC30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41624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CA61749-DAF7-4F0F-9B8E-5BF35EA7F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4076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BEA5C56-F3CE-425D-B8EF-1BEF3BE44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41624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A561C1-B591-44EE-91B0-080ABAE3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4076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F5F8639-748C-4F2B-8ABB-8B47191E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41624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B83F3C7-1C77-4D4D-9628-C66297F08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0AC1DFA-F19E-41BF-B760-49726CA80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768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speed/QoS tier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D6C7993-079C-4BB8-8666-AB40FEF9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9911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B587B96-D81D-4BFA-8CAA-58D337D0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0673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Provider-specific; before_provider_request can add service_tier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5715801-2803-4011-9213-95A6DD617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4117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{"qos_tier":["before_provider_request","service_tier"]}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7038EE0-8B71-4573-87D8-CB23C0DA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49911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480F340-2356-4EAA-BC5A-B7BB55B12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50673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Provider/plugin-dependent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FF0EDB5-4DB8-4E1D-8A5C-69414210F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54117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{"qos_tier":"provider_or_plugin"}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4E94CAA-2C2C-4FEE-9344-07357210E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49911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900CE18-6B14-41FC-961E-4D9871B4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50673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Fast mode maps to service_tier=priority on supported OpenAI requests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7300A33-661A-4A4E-98C9-B88A6EE79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54117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{"qos_tier":["service_tier","penAI"]}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61882F5-5C5D-47F2-88F6-441AB62D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49911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83D88A2-4A9E-4FB9-B080-6FF19AFA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50673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request_overrides can set service_tier; /fast can layer service_tier/speed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C523B95-FB57-4E71-BE74-4278993CD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54117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{"qos_tier":["request_overrides","service_tier"]}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25DD270-DA63-4027-88F8-AA3F3639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D1A8A34-D7B5-457B-A2B2-45F3EDB9D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912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output length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4412F29-8F4E-4983-919D-81BA290C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59055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2463443-D6B1-41D1-A32C-E9D18B548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9817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max_tokens only; no OSL hint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EEF2DAE-3745-4BB3-B292-E946612A0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3261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{"output_length":"max_tokens"}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D136787-57FC-4D2D-A3A1-C2005554D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59055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E7F1CF6-060D-4E0A-95DB-5C3F270F4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59817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model/output limits only; no OSL hint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4FDE015-5798-492D-BC0B-377B2821D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63261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{"output_length":"provider_limits"}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759BEAA-C05A-4404-95B7-32E759631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59055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6E09B5D-905A-41C4-9F28-5103FA7FA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59912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11D9F81-3A7C-4A90-84CF-FF7B38E20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59055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4BE61B9-013D-4DA6-A6CD-1D6BBB41A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59912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8523BBD-AC93-467D-986F-94CA97EC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19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98A8F6F-72C7-447B-961A-9DEC18753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05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Expected interarrival time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4C64082-E376-4E55-B61A-DD8DCEB9A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6819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A99C39E-7E46-493A-9529-418F21AC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9056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C48AA31-B536-43D4-8549-A4A1F6AE9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6819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08060AC-C0CD-4AB9-8E9C-37724BEE2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69056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3757AC8-93A2-4A0D-A229-9F962E0F4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6819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87CC9B3D-0B8B-4BE1-9EAC-B3D36ACF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69056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B5651A9-0632-4BB7-B9A8-77347A913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6819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DC32598-D88E-48AE-9EA7-197E5C394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69056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3A743C1-5FCE-40EC-BA31-A6F20174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0E32CD8-B3EC-4F7F-A3CD-3C06FCD2E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Predicted remaining calls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495CBCA-1E95-4E97-8071-A309E742E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7734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EB87AAC-6FCC-44F4-9506-A55C5C94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78200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C2290E7-1F2F-4B4B-AFD6-7E109DBA2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7734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29F6228-9100-47B5-9214-2B3A4194A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78200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7C3B94B-2A85-4A5C-A5D8-1F0732BF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7734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7B22EBD-E6DD-4CCE-AED8-C6ACDF59A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78200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F2CA936-DB29-466E-8CC3-7E38A142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7734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DE3CCBF-F6B1-43C7-B44F-7883ED6D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78200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5BDD341-9E12-435F-9B62-82ECB14BF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48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9601EDC-8107-4AFE-9271-B9A76EB91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34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Prefix/workflow reuse ID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4089A334-AC17-4D78-AE0C-63BE9996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8648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EAE3A9AD-943F-4BDC-A100-C1303D683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7249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session/tree context only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4C59E6F-97FE-465C-ACF5-5AEFAB2E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90693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2E226EA-7E4D-4500-8DEB-3B52240A6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8648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862F51C-96D8-45B9-BCA8-2DA48179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87249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Internal session ID only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E6A8B90-A1DA-4331-B5B9-F11A2539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90693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B6970E2C-F5AA-4CD3-B377-CB5A138A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8648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9DCE5DD0-A6A2-4CA8-8288-78B76498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87249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Session/model route context only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04F17023-AC24-4D61-B67E-9FDAB0A2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90693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9C3491A1-0CE5-43C0-B2D0-9BBC3266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8648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0EBF9D75-8E16-47A1-BB58-555215DC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87249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 tiers and session context only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8B5267F4-5F11-482E-90DF-FF97F4B88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90693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{"via":"internal"}</a:t>
            </a:r>
          </a:p>
        </p:txBody>
      </p:sp>
      <p:cxnSp>
        <p:nvCxnSpPr>
          <p:cNvPr id="218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FE0D9754-A145-4E4D-8A70-84C430133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D6048B77-2BA7-4A5F-8C6B-EEA3E302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6936260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0B8B76D1-3DA5-414C-93B0-E4C7720F0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352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Additional harnesses — KV cache and prompt-cache handling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DBC546-7C50-4A6A-A441-80F43FC7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143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048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These harnesses mostly preserve or configure provider prompt caching rather than controlling KV cache placement directly.</a:t>
            </a:r>
          </a:p>
        </p:txBody>
      </p:sp>
      <p:cxnSp>
        <p:nvCxnSpPr>
          <p:cNvPr id="121" name=""/>
          <p:cNvCxnSpPr/>
          <p:nvPr/>
        </p:nvCxnSpPr>
        <p:spPr>
          <a:xfrm xmlns:a="http://schemas.openxmlformats.org/drawingml/2006/main">
            <a:off x="533400" y="148590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4698C4-BAB3-4940-99F4-194605CF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333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2DCE23-AB8B-4B8F-B66D-1E000444B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Canonical signal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E1251A-F5CD-4C0D-A7B6-D27DFCB2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1695450"/>
            <a:ext cx="3717131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DFEC7C-5D39-47DA-8A5A-C6A04C07D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1781175"/>
            <a:ext cx="3526631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Pi Agent Harness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6EF67B-3384-4D98-A8AC-CA032F270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1695450"/>
            <a:ext cx="3717131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FAA613-E3D1-401A-B5A7-2041BF48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1781175"/>
            <a:ext cx="3526631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OpenCode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BD96AE-3B72-40AB-BB5F-C58F47DD2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1695450"/>
            <a:ext cx="3717131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406328-BCF6-48D3-B8ED-43AF5AE7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1781175"/>
            <a:ext cx="3526631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OpenClaw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2E6572-817A-4D05-B304-D2C665C9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1695450"/>
            <a:ext cx="3717131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1F1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F6675A-1444-4437-B265-C8CFF9C1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1781175"/>
            <a:ext cx="3526631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Hermes Agent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E7A0E5-C232-452F-8ADA-8C9AA2640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E9A1FA-5EB5-4C3D-B3D2-60613405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33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key/bucket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15CD08-820E-4F7E-90DD-D21E29AE8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247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0A40C3-88DC-4AF8-9941-C35E16B55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3241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Automatic provider prompt caching; no client cache key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907C9E-B629-4834-8E62-665A748AB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685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{"cache_key":"provider_prompt_cache"}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417097-2A1F-457B-839C-34E64AE7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2247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5E37E6-3ED1-404D-90EB-3B157ED6B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23241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Provider-managed; optional Helicone response-cache headers via plugin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9662E5-294C-4387-8807-09D42B77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26685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4BBAE0-D53B-4DF5-8E31-1914433A1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2247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352E45-4BD8-4DCA-9B1E-D53FD33E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23241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Provider-managed; cached WebSocket can reuse prior response state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D3048D-DD0E-4D12-BBE7-87103793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26685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56A465-F9C8-4E77-96F4-61CD1349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2247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0E7188-8361-4301-B388-10A44B0B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23241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 tiers/cache boundaries; model participates in cache key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7768D5-DE78-4061-A4BF-CEE94EC7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26685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{"cache_key":["prompt_tiers","model"]}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236C98-4304-4772-B38C-34BB45025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62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F5E01D-6184-4ACB-A2AC-2F28C2BF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48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namespace/isolation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6366F5-952B-420E-8F10-3D40D7C3E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162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614B33-7E25-4655-BF0D-8F47B00F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2385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Provider/account isolation only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BF0F6F1-2075-402A-B3F7-DC02C24FB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5829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{"cache_namespace":"provider_account"}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49C3876-F4A0-4100-BB2D-5F7711FB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3162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C12E370-0067-44D6-8826-01B55280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32385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Provider/plugin-dependent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4A09C09-4884-41E8-BCFB-BF06498F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35829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{"cache_namespace":"provider_or_plugin"}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070CA47-86C7-4BD4-AF4F-F6B0BD1EA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3162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7AB232-CD50-44E7-B01D-03A20C84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32385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Provider/session isolation only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85F574E-FB38-481F-ABC9-01A1F20B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35829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{"cache_namespace":"provider_session"}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D853EC9-1950-4719-AF4E-AC4E471DF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3162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BC616BB-3E36-4449-A924-887F42F9A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32385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Provider/session/model isolation only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1F1FA97-66BB-4885-9808-639838DB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35829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{"cache_namespace":"provider_session_model"}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29F1224-EB8A-4EBF-BE2D-07684D398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76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B2677F7-5A48-443B-8609-1C4DDF0F7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62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TTL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125D601-E624-4126-BD26-8B2CF2802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076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04CEA15-40CE-4907-A7AC-B3AAC015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1529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prompt_cache_retention or cache_control.ttl in custom model/provider settings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9832303-C12A-401E-9EB7-8B22E1F0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4973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{"cache_ttl":["prompt_cache_retention","cache_control.ttl"]}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960D2B8-C05A-4755-82FB-B55C80155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4076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DBD633F-EF8D-4DD0-A67E-B71A97632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41624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F9CE437-5352-4E69-A4B8-6C7351DA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4076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F5D878D-78C2-4048-BAA2-68636A10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41529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 TTL; no generic TTL hint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612EA2A-976E-4283-AE10-26D0FBAC7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44973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2EB8039-6B96-4CD8-B45D-4493E159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4076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12FB677-9503-4AC0-BB6C-62F654675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41529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Default 5m; 1h for long-running sessions where supported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1BB823B-C38E-4DDF-B17A-C5875C6A0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44973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{"cache_ttl":"long-running"}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44F5712-E127-42EC-B93A-228F5AF0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D406405-5835-40CD-853F-DF7C8171D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768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entry type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4C355C3-0247-4CF5-97BA-2319CD99C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49911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653528A-EB5B-44D8-BD7B-4BC9E10D8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0673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Provider-specific cache_control format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79F0C31-0F7A-4176-A3E9-338EA2D63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4117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{"cache_type":["Provider-specific","cache_control"]}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244B142-A635-4006-9244-D5D327995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49911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37666CA-A528-485E-90A4-29A72EF9C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50768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B9CB080-F04F-4B09-82F4-28E8B186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49911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0672029-AAB5-47FB-B868-33742A9BC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50673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C6FD379-D58D-4F68-8ADA-403EE805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54117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5F049CB-E635-42EC-B677-AC0937CC3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49911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787F3AA-B92C-4916-AC44-4264E2C9C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50673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Anthropic prompt-caching markers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B007F4D-1390-4BDA-A359-2ECA4C39C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54117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{"cache_type":"prompt-caching"}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17B8DFC-68EC-49CD-8C83-209409765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E71031A-C976-4FF5-A452-E11FAAB70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912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Eviction priority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1491BEF-3164-46CA-8CF2-27C55BD6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59055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188CB31-C987-46B1-B334-1D561ECD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59912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57F522F-E339-4F91-9DEF-B1AEAABD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59055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16FDC92-D156-4744-9F20-87AFB48C9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59912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683A2A8-5263-4D4D-A574-8DCDD15B4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59055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DA1F95D-18E5-4DF0-B976-B6D7C993C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59912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085CA9A-003F-422E-BF05-B4BAB9AF0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59055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80CEF51-9D04-489E-93C9-B80698E6D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59912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28B4399-7E91-48E5-9D2D-69DFCF346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199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1ECA21A-651F-425F-9A06-70EE090AC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056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Speculative prefill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80EDC09-3FB4-4182-9360-B2FF4191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6819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BED85DA-AA99-4B49-8895-3F4F0512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69056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A491C3E-6CE1-41F1-A558-841AC63F3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6819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D5ED6F2-65BE-458A-BA93-90AA58DE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69056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680A5E4-69E5-4306-A33B-29E3BFEA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6819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79A4636-0A02-4B0A-8B70-62BA82532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68961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Cached WebSocket/prewarm; not KV prefill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072F7800-3E86-46B7-AB4E-F22EECA3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72405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{"via":"different_mechanism"}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70F6A5E-E1CE-4892-8CE5-B707DC41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68199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9492E06-372B-405D-9BF8-0644A822F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69056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7F084FD-73AB-4576-BB5B-7542928BA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7343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68DA8A4-D747-4627-830A-11B85CA31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200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Cache-hit feedback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5A5235C-CBF4-4B1F-ABF0-97A65272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7734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9B1FBA4-889B-43E7-B463-C7040AC0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78105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Footer shows token/cache usage and cost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B058EB6-21BC-4083-A2F1-3BE52241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1549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{"cache_hit_feedback":"Footer shows token/cache usage and cost"}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CA9A11F3-C144-46C5-BA97-B1D181B2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7734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E118806-4CA5-4622-80FB-C7ABCF70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78105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Stats/provider usage; cache feedback depends on provider/plugin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7B1BB89-28F3-4A19-96F7-4081761E1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81549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043D1BE-14B4-4951-8115-FC0715A79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7734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8B2C5167-3B74-416B-BD46-EBC07689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78105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 usage/tracing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8BB7486-E3DE-4DFF-BCBE-948A9A66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81549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{"via":"trace"}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BFE8E273-7372-46FC-84D8-C145A5E27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77343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78282E6-D8E6-47F3-99F6-900E3E12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78105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 cache metrics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4C717106-C511-46DB-914D-8901836F6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81549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{"via":"metrics"}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AD54318B-C704-46FA-99EF-285686A3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48700"/>
            <a:ext cx="233362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09318AB0-DD63-486A-8AE0-8A57B6085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34425"/>
            <a:ext cx="2143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Cache pinning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EBA17CDC-62F2-4CF0-A0B7-4D386F8AD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8648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223F5D67-526D-4E8A-8DD6-655D7098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87249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Long retention where provider supports it; not pinning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C45A7E99-AE76-41B2-A975-C331B5935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90693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{"cache_pinning":"Long retention where provider supports it; not pinning"}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FBB52FEA-8DA4-440A-87A0-E6D5026AE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4156" y="8648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4F81FF0-7318-413A-AE2B-BCF25A2D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406" y="8734425"/>
            <a:ext cx="3526631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-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BFA9EDFB-52E9-4DF1-8093-4359B5640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1288" y="8648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159C4D6A-9E06-4934-B84A-B88689D04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87249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Provider-managed only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7B9F6AC9-5534-48DC-AC61-A812F23F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538" y="90693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{"via":"provider"}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B2E908B2-49FD-4EF0-9BE3-A45829A5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8419" y="8648700"/>
            <a:ext cx="3717131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756CED9-A12D-4958-A270-4D99D1719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8724900"/>
            <a:ext cx="3526631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6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1h retention where supported; not pinning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E3DEE7B9-2686-4AE3-BF1A-0D30DDFF2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669" y="9069324"/>
            <a:ext cx="3526631" cy="438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defRPr>
            </a:pPr>
            <a:r>
              <a:rPr sz="840" b="0">
                <a:solidFill>
                  <a:srgbClr val="555555"/>
                </a:solidFill>
                <a:latin typeface="Courier New"/>
                <a:ea typeface="Courier New"/>
                <a:cs typeface="Courier New"/>
              </a:rPr>
              <a:t>{"cache_pinning":"1h retention where supported; not pinning"}</a:t>
            </a:r>
          </a:p>
        </p:txBody>
      </p:sp>
      <p:cxnSp>
        <p:nvCxnSpPr>
          <p:cNvPr id="234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11F5C570-F203-471B-86A4-422F30234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381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Sources: user screenshots and public docs in speaker notes; each populated cell shows description plus compact JSON; '-' indicates unsupported.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AA60D8C4-4A0A-4D64-9EAE-5781CCC45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208389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8047C4-9B46-41D8-A0B7-49D4D0C1C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428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Recommended canonical serving-control schema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533400" y="1162050"/>
            <a:ext cx="172021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0D4DA"/>
            </a:solidFill>
            <a:prstDash val="soli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B94645-CC63-4DB7-94D8-6B020C2DF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85900"/>
            <a:ext cx="1438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this as the normalized object, then map each harness cell to the nearest available field, pass-through path, or unsupported marker.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9D0C00-3DB7-4958-B82D-BC7000C9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9334500" cy="643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E1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38BA0B-678A-4269-9703-C91BEC25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14600"/>
            <a:ext cx="8839200" cy="590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"scheduling": 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"priority":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"strict_priority":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"latency_sensitivity":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"qos_tier":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"expected_output_length":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"expected_interarrival_time":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"predicted_remaining_calls": "..."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"cache": {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"key":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"namespace":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"ttl":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"entry_type":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"eviction_priority": "...",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"speculative_prefill": true,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  "hit_feedback": "..."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  }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111111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45DDC7-7446-42DA-8133-3892D5690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003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Mapping rules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F8288B-446D-4B5C-968E-7054A76B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9718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Native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AA3907-7668-4CF0-8199-EE16B6E4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2575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Map to the exact field/path.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ED0CF6-51F8-4579-8A69-4715ADD7D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7909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Emits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93C781-2525-4F33-9D27-E27302F0E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0767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Keep the emitted field but note backend consumption separately.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F7B2E6-5252-42E4-877C-7416B9B36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6101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Pass-through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F0C25F-684D-420A-9816-D7E8CF4A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8958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{"via":"pass_through"}; do not mark as native support.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45B789-956C-43FF-99A2-67FA5B59A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4292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Custom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CD549E-52CC-4605-8384-5DFAA222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7150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{"via":"middleware"}; implementation belongs outside the harness.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2B279A-7304-407A-AFEB-8F37D819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2484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Provider-dependent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A4BE85-4D23-4876-955C-A1FFDB1AF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{"via":"provider"}; attach provider constraints later.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3CD90E-39C0-43CC-8A55-1EF79E54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70675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Unsupported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1C57F1-3CA1-4E72-B62F-F7686E16B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73533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Use '-' in slides; use support:'none' in machine-readable registries.</a:t>
            </a:r>
          </a:p>
        </p:txBody>
      </p:sp>
      <p:cxnSp>
        <p:nvCxnSpPr>
          <p:cNvPr id="40" name=""/>
          <p:cNvCxnSpPr/>
          <p:nvPr/>
        </p:nvCxnSpPr>
        <p:spPr>
          <a:xfrm xmlns:a="http://schemas.openxmlformats.org/drawingml/2006/main">
            <a:off x="552450" y="9677400"/>
            <a:ext cx="171831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E1E4E8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19DC3A-B638-4796-AD86-914C1817A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0"/>
            <a:ext cx="1181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Recommendation artifact generated from the focused serving-plane signal set.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AE670A-ADE1-4D80-BE1A-850DBA35A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8350" y="9810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132241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2026-08-31T19:39:17.1430000Z</dcterms:created>
  <dcterms:modified xsi:type="dcterms:W3CDTF">2026-08-31T19:39:17.1430000Z</dcterms:modified>
</coreProperties>
</file>