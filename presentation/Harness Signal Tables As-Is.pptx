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bc34542ec804e7e" /><Relationship Type="http://schemas.openxmlformats.org/officeDocument/2006/relationships/extended-properties" Target="/docProps/app.xml" Id="Ra06d76d6e37340a1" /><Relationship Type="http://schemas.openxmlformats.org/officeDocument/2006/relationships/officeDocument" Target="/ppt/presentation.xml" Id="Rbef15a51ee20413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bdab0b507e94c9e"/>
  </p:sldMasterIdLst>
  <p:notesMasterIdLst>
    <p:notesMasterId xmlns:r="http://schemas.openxmlformats.org/officeDocument/2006/relationships" r:id="R78d9663837ce4d42"/>
  </p:notesMasterIdLst>
  <p:sldIdLst>
    <p:sldId xmlns:r="http://schemas.openxmlformats.org/officeDocument/2006/relationships" id="256" r:id="Rd516425030744db9"/>
    <p:sldId xmlns:r="http://schemas.openxmlformats.org/officeDocument/2006/relationships" id="257" r:id="Raa65df70fbf94b41"/>
    <p:sldId xmlns:r="http://schemas.openxmlformats.org/officeDocument/2006/relationships" id="258" r:id="R58438eac558d468c"/>
    <p:sldId xmlns:r="http://schemas.openxmlformats.org/officeDocument/2006/relationships" id="259" r:id="R8f4928d4858542f3"/>
    <p:sldId xmlns:r="http://schemas.openxmlformats.org/officeDocument/2006/relationships" id="260" r:id="R50670c8014804dc0"/>
    <p:sldId xmlns:r="http://schemas.openxmlformats.org/officeDocument/2006/relationships" id="261" r:id="Ra75562bcebb74d27"/>
    <p:sldId xmlns:r="http://schemas.openxmlformats.org/officeDocument/2006/relationships" id="262" r:id="R8711099f3513419d"/>
    <p:sldId xmlns:r="http://schemas.openxmlformats.org/officeDocument/2006/relationships" id="263" r:id="R85d0fde00b524e49"/>
    <p:sldId xmlns:r="http://schemas.openxmlformats.org/officeDocument/2006/relationships" id="264" r:id="R2edcb5208ac145da"/>
    <p:sldId xmlns:r="http://schemas.openxmlformats.org/officeDocument/2006/relationships" id="265" r:id="R43b26ff54bca4660"/>
    <p:sldId xmlns:r="http://schemas.openxmlformats.org/officeDocument/2006/relationships" id="266" r:id="R13222382e83b4cf1"/>
    <p:sldId xmlns:r="http://schemas.openxmlformats.org/officeDocument/2006/relationships" id="267" r:id="Rbdb12a2907394296"/>
    <p:sldId xmlns:r="http://schemas.openxmlformats.org/officeDocument/2006/relationships" id="268" r:id="R5b9d88ba38a34ec2"/>
    <p:sldId xmlns:r="http://schemas.openxmlformats.org/officeDocument/2006/relationships" id="269" r:id="Rf3e1803dd018414d"/>
  </p:sldIdLst>
  <p:sldSz cx="18288000" cy="10287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5a126d8e99949f5" /><Relationship Type="http://schemas.openxmlformats.org/officeDocument/2006/relationships/slideMaster" Target="/ppt/slideMasters/slideMaster1.xml" Id="R3bdab0b507e94c9e" /><Relationship Type="http://schemas.openxmlformats.org/officeDocument/2006/relationships/notesMaster" Target="/ppt/notesMasters/notesMaster1.xml" Id="R78d9663837ce4d42" /><Relationship Type="http://schemas.openxmlformats.org/officeDocument/2006/relationships/presProps" Target="/ppt/presProps.xml" Id="R640a1325fb6347ab" /><Relationship Type="http://schemas.openxmlformats.org/officeDocument/2006/relationships/tableStyles" Target="/ppt/tableStyles.xml" Id="Re79fc454a07b40af" /><Relationship Type="http://schemas.openxmlformats.org/officeDocument/2006/relationships/slide" Target="/ppt/slides/slide1.xml" Id="Rd516425030744db9" /><Relationship Type="http://schemas.openxmlformats.org/officeDocument/2006/relationships/slide" Target="/ppt/slides/slide2.xml" Id="Raa65df70fbf94b41" /><Relationship Type="http://schemas.openxmlformats.org/officeDocument/2006/relationships/slide" Target="/ppt/slides/slide3.xml" Id="R58438eac558d468c" /><Relationship Type="http://schemas.openxmlformats.org/officeDocument/2006/relationships/slide" Target="/ppt/slides/slide4.xml" Id="R8f4928d4858542f3" /><Relationship Type="http://schemas.openxmlformats.org/officeDocument/2006/relationships/slide" Target="/ppt/slides/slide5.xml" Id="R50670c8014804dc0" /><Relationship Type="http://schemas.openxmlformats.org/officeDocument/2006/relationships/slide" Target="/ppt/slides/slide6.xml" Id="Ra75562bcebb74d27" /><Relationship Type="http://schemas.openxmlformats.org/officeDocument/2006/relationships/slide" Target="/ppt/slides/slide7.xml" Id="R8711099f3513419d" /><Relationship Type="http://schemas.openxmlformats.org/officeDocument/2006/relationships/slide" Target="/ppt/slides/slide8.xml" Id="R85d0fde00b524e49" /><Relationship Type="http://schemas.openxmlformats.org/officeDocument/2006/relationships/slide" Target="/ppt/slides/slide9.xml" Id="R2edcb5208ac145da" /><Relationship Type="http://schemas.openxmlformats.org/officeDocument/2006/relationships/slide" Target="/ppt/slides/slide10.xml" Id="R43b26ff54bca4660" /><Relationship Type="http://schemas.openxmlformats.org/officeDocument/2006/relationships/slide" Target="/ppt/slides/slide11.xml" Id="R13222382e83b4cf1" /><Relationship Type="http://schemas.openxmlformats.org/officeDocument/2006/relationships/slide" Target="/ppt/slides/slide12.xml" Id="Rbdb12a2907394296" /><Relationship Type="http://schemas.openxmlformats.org/officeDocument/2006/relationships/slide" Target="/ppt/slides/slide13.xml" Id="R5b9d88ba38a34ec2" /><Relationship Type="http://schemas.openxmlformats.org/officeDocument/2006/relationships/slide" Target="/ppt/slides/slide14.xml" Id="Rf3e1803dd018414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9561a2db3ad431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15d6197f9e74705" /><Relationship Type="http://schemas.openxmlformats.org/officeDocument/2006/relationships/notesMaster" Target="/ppt/notesMasters/notesMaster1.xml" Id="Rd4bab835fac14bc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c8e1a57987947b9" /><Relationship Type="http://schemas.openxmlformats.org/officeDocument/2006/relationships/notesMaster" Target="/ppt/notesMasters/notesMaster1.xml" Id="R97a7f20a14214b2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1462d36d1794318" /><Relationship Type="http://schemas.openxmlformats.org/officeDocument/2006/relationships/notesMaster" Target="/ppt/notesMasters/notesMaster1.xml" Id="R8950fea1f9de474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3477bb2bab04fb1" /><Relationship Type="http://schemas.openxmlformats.org/officeDocument/2006/relationships/notesMaster" Target="/ppt/notesMasters/notesMaster1.xml" Id="Rca7f492c1e0e454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6bd34aff7294a83" /><Relationship Type="http://schemas.openxmlformats.org/officeDocument/2006/relationships/notesMaster" Target="/ppt/notesMasters/notesMaster1.xml" Id="R387df31ad1584d3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3a8937d1ac8424e" /><Relationship Type="http://schemas.openxmlformats.org/officeDocument/2006/relationships/notesMaster" Target="/ppt/notesMasters/notesMaster1.xml" Id="R9c3faf58aa3f4ac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3391038d988416b" /><Relationship Type="http://schemas.openxmlformats.org/officeDocument/2006/relationships/notesMaster" Target="/ppt/notesMasters/notesMaster1.xml" Id="R244bab01e3e34bf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788b4923d3b4e2d" /><Relationship Type="http://schemas.openxmlformats.org/officeDocument/2006/relationships/notesMaster" Target="/ppt/notesMasters/notesMaster1.xml" Id="Re720f41dfc10492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015b6a335904866" /><Relationship Type="http://schemas.openxmlformats.org/officeDocument/2006/relationships/notesMaster" Target="/ppt/notesMasters/notesMaster1.xml" Id="R8f9ee77b87d245b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03e17d80fe64d96" /><Relationship Type="http://schemas.openxmlformats.org/officeDocument/2006/relationships/notesMaster" Target="/ppt/notesMasters/notesMaster1.xml" Id="R565efc42f2994c6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c3c8755e6c14a74" /><Relationship Type="http://schemas.openxmlformats.org/officeDocument/2006/relationships/notesMaster" Target="/ppt/notesMasters/notesMaster1.xml" Id="R12ccc45f234446c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13d6272d4114d59" /><Relationship Type="http://schemas.openxmlformats.org/officeDocument/2006/relationships/notesMaster" Target="/ppt/notesMasters/notesMaster1.xml" Id="R454db03bd5ff48c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b3dccfb868e49b6" /><Relationship Type="http://schemas.openxmlformats.org/officeDocument/2006/relationships/notesMaster" Target="/ppt/notesMasters/notesMaster1.xml" Id="R5e81b67647a142b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9caad280b00450a" /><Relationship Type="http://schemas.openxmlformats.org/officeDocument/2006/relationships/notesMaster" Target="/ppt/notesMasters/notesMaster1.xml" Id="R237e1610c17a4dc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legend text in chat.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 request to narrow to KV cache handling and scheduling/workload prediction hints.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https://pi.dev/</a:t>
            </a:r>
          </a:p>
          <a:p xmlns:a="http://schemas.openxmlformats.org/drawingml/2006/main">
            <a:r>
              <a:t>- https://github.com/earendil-works/pi</a:t>
            </a:r>
          </a:p>
          <a:p xmlns:a="http://schemas.openxmlformats.org/drawingml/2006/main">
            <a:r>
              <a:t>- https://opencode.ai/</a:t>
            </a:r>
          </a:p>
          <a:p xmlns:a="http://schemas.openxmlformats.org/drawingml/2006/main">
            <a:r>
              <a:t>- https://opencode.ai/docs/</a:t>
            </a:r>
          </a:p>
          <a:p xmlns:a="http://schemas.openxmlformats.org/drawingml/2006/main">
            <a:r>
              <a:t>- https://docs.openclaw.ai/plugins/sdk-agent-harness</a:t>
            </a:r>
          </a:p>
          <a:p xmlns:a="http://schemas.openxmlformats.org/drawingml/2006/main">
            <a:r>
              <a:t>- https://docs.openclaw.ai/tools/plugin</a:t>
            </a:r>
          </a:p>
          <a:p xmlns:a="http://schemas.openxmlformats.org/drawingml/2006/main">
            <a:r>
              <a:t>- https://hermes-agent.nousresearch.com/docs/</a:t>
            </a:r>
          </a:p>
          <a:p xmlns:a="http://schemas.openxmlformats.org/drawingml/2006/main">
            <a:r>
              <a:t>- https://github.com/NousResearch/hermes-agent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 request to explain the focused serving-plane signals in simple English.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/Users/oluwolejaiyeoba/Desktop/Screenshot 2026-08-25 at 12.15.33 PM.png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/Users/oluwolejaiyeoba/Desktop/Screenshot 2026-08-25 at 12.15.33 PM.png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https://pi.dev/; https://github.com/earendil-works/pi; https://opencode.ai/; https://opencode.ai/docs/; https://docs.openclaw.ai/plugins/sdk-agent-harness; https://docs.openclaw.ai/tools/plugin; https://hermes-agent.nousresearch.com/docs/; https://github.com/NousResearch/hermes-agent; https://pi.dev/docs/latest/providers; https://pi.dev/docs/latest/extensions; https://pi.dev/docs/latest/models; https://pi.dev/docs/latest/compaction; https://opencode.ai/docs/cli/; https://opencode.ai/docs/plugins/; https://opencode.ai/docs/providers/; https://docs.openclaw.ai/providers/openai; https://docs.openclaw.ai/concepts/model-providers; https://docs.openclaw.ai/plugins/sdk-agent-harness; https://hermes-agent.nousresearch.com/docs/integrations/providers; https://hermes-agent.nousresearch.com/docs/developer-guide/context-compression-and-caching; https://hermes-agent.nousresearch.com/docs/user-guide/features/delegation; https://hermes-agent.nousresearch.com/docs/developer-guide/agent-loop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https://pi.dev/; https://github.com/earendil-works/pi; https://opencode.ai/; https://opencode.ai/docs/; https://docs.openclaw.ai/plugins/sdk-agent-harness; https://docs.openclaw.ai/tools/plugin; https://hermes-agent.nousresearch.com/docs/; https://github.com/NousResearch/hermes-agent; https://pi.dev/docs/latest/providers; https://pi.dev/docs/latest/extensions; https://pi.dev/docs/latest/models; https://pi.dev/docs/latest/compaction; https://opencode.ai/docs/cli/; https://opencode.ai/docs/plugins/; https://opencode.ai/docs/providers/; https://docs.openclaw.ai/providers/openai; https://docs.openclaw.ai/concepts/model-providers; https://docs.openclaw.ai/plugins/sdk-agent-harness; https://hermes-agent.nousresearch.com/docs/integrations/providers; https://hermes-agent.nousresearch.com/docs/developer-guide/context-compression-and-caching; https://hermes-agent.nousresearch.com/docs/user-guide/features/delegation; https://hermes-agent.nousresearch.com/docs/developer-guide/agent-loop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 request to explain the focused serving-plane signals in simple English.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/Users/oluwolejaiyeoba/Desktop/Screenshot 2026-08-25 at 12.16.08 PM.png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/Users/oluwolejaiyeoba/Desktop/Screenshot 2026-08-25 at 12.16.08 PM.png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https://pi.dev/; https://github.com/earendil-works/pi; https://opencode.ai/; https://opencode.ai/docs/; https://docs.openclaw.ai/plugins/sdk-agent-harness; https://docs.openclaw.ai/tools/plugin; https://hermes-agent.nousresearch.com/docs/; https://github.com/NousResearch/hermes-agent; https://pi.dev/docs/latest/providers; https://pi.dev/docs/latest/extensions; https://pi.dev/docs/latest/models; https://pi.dev/docs/latest/compaction; https://opencode.ai/docs/cli/; https://opencode.ai/docs/plugins/; https://opencode.ai/docs/providers/; https://docs.openclaw.ai/providers/openai; https://docs.openclaw.ai/concepts/model-providers; https://docs.openclaw.ai/plugins/sdk-agent-harness; https://hermes-agent.nousresearch.com/docs/integrations/providers; https://hermes-agent.nousresearch.com/docs/developer-guide/context-compression-and-caching; https://hermes-agent.nousresearch.com/docs/user-guide/features/delegation; https://hermes-agent.nousresearch.com/docs/developer-guide/agent-loop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https://pi.dev/; https://github.com/earendil-works/pi; https://opencode.ai/; https://opencode.ai/docs/; https://docs.openclaw.ai/plugins/sdk-agent-harness; https://docs.openclaw.ai/tools/plugin; https://hermes-agent.nousresearch.com/docs/; https://github.com/NousResearch/hermes-agent; https://pi.dev/docs/latest/providers; https://pi.dev/docs/latest/extensions; https://pi.dev/docs/latest/models; https://pi.dev/docs/latest/compaction; https://opencode.ai/docs/cli/; https://opencode.ai/docs/plugins/; https://opencode.ai/docs/providers/; https://docs.openclaw.ai/providers/openai; https://docs.openclaw.ai/concepts/model-providers; https://docs.openclaw.ai/plugins/sdk-agent-harness; https://hermes-agent.nousresearch.com/docs/integrations/providers; https://hermes-agent.nousresearch.com/docs/developer-guide/context-compression-and-caching; https://hermes-agent.nousresearch.com/docs/user-guide/features/delegation; https://hermes-agent.nousresearch.com/docs/developer-guide/agent-loop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 request and previously generated signal tables.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e960a8724249d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86f8ddc92514b10" /><Relationship Type="http://schemas.openxmlformats.org/officeDocument/2006/relationships/slideLayout" Target="/ppt/slideLayouts/slideLayout1.xml" Id="R80d71cea9278407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0d71cea9278407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db6bd23f5349d6" /><Relationship Type="http://schemas.openxmlformats.org/officeDocument/2006/relationships/notesSlide" Target="/ppt/notesSlides/notesSlide1.xml" Id="Rd98aa2c281c3483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3589bd93094013" /><Relationship Type="http://schemas.openxmlformats.org/officeDocument/2006/relationships/notesSlide" Target="/ppt/notesSlides/notesSlide2.xml" Id="Rf22b8319bc6c43f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b1ceca008f4336" /><Relationship Type="http://schemas.openxmlformats.org/officeDocument/2006/relationships/notesSlide" Target="/ppt/notesSlides/notesSlide3.xml" Id="Rf691e430f4c4424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eda29948c04f7b" /><Relationship Type="http://schemas.openxmlformats.org/officeDocument/2006/relationships/notesSlide" Target="/ppt/notesSlides/notesSlide4.xml" Id="Rdd5ca3896d594e2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65ee96e11540d1" /><Relationship Type="http://schemas.openxmlformats.org/officeDocument/2006/relationships/notesSlide" Target="/ppt/notesSlides/notesSlide5.xml" Id="Rec0d7b9cbf2d42d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9c277ef57c44f8" /><Relationship Type="http://schemas.openxmlformats.org/officeDocument/2006/relationships/notesSlide" Target="/ppt/notesSlides/notesSlide6.xml" Id="R0120398e652b436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a6753e85ca4b9a" /><Relationship Type="http://schemas.openxmlformats.org/officeDocument/2006/relationships/notesSlide" Target="/ppt/notesSlides/notesSlide7.xml" Id="R3b83e8c76e58403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1b42b14db04599" /><Relationship Type="http://schemas.openxmlformats.org/officeDocument/2006/relationships/notesSlide" Target="/ppt/notesSlides/notesSlide8.xml" Id="Rd4fec24d4c454c0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464612143d4425" /><Relationship Type="http://schemas.openxmlformats.org/officeDocument/2006/relationships/notesSlide" Target="/ppt/notesSlides/notesSlide9.xml" Id="Ra88de23b42fc4e5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84dc834a824e70" /><Relationship Type="http://schemas.openxmlformats.org/officeDocument/2006/relationships/notesSlide" Target="/ppt/notesSlides/notesSlide10.xml" Id="R756669bae7294d0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f6e10ded474383" /><Relationship Type="http://schemas.openxmlformats.org/officeDocument/2006/relationships/notesSlide" Target="/ppt/notesSlides/notesSlide11.xml" Id="Rf67a2aabd0734f9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0350f5212d4405" /><Relationship Type="http://schemas.openxmlformats.org/officeDocument/2006/relationships/notesSlide" Target="/ppt/notesSlides/notesSlide12.xml" Id="Rd07fffd6c5894e1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98d9ebf0e342f0" /><Relationship Type="http://schemas.openxmlformats.org/officeDocument/2006/relationships/notesSlide" Target="/ppt/notesSlides/notesSlide13.xml" Id="Rcf86827d4e38486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3c06a1ac9b4f6e" /><Relationship Type="http://schemas.openxmlformats.org/officeDocument/2006/relationships/notesSlide" Target="/ppt/notesSlides/notesSlide14.xml" Id="Rc7e464688628453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354287A-05F1-4411-A16B-21A07DF0C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352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Legend — How to interpret support labels</a:t>
            </a:r>
          </a:p>
        </p:txBody>
      </p:sp>
      <p:cxnSp>
        <p:nvCxnSpPr>
          <p:cNvPr id="59" name=""/>
          <p:cNvCxnSpPr/>
          <p:nvPr/>
        </p:nvCxnSpPr>
        <p:spPr>
          <a:xfrm xmlns:a="http://schemas.openxmlformats.org/drawingml/2006/main">
            <a:off x="533400" y="116205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3BA03E-A62D-4DED-8677-B3C24BB36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8590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B5912B-36DE-4A13-A1AC-7101F7FDD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8115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Native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1DB222-10BA-4BA2-963E-2B66198F2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158115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Built-in, documented support in the named platform or component.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95E7F8-A121-4AC9-87E0-2F1772D0F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383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643A90-EA9D-4954-9395-F9DBCCBE8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Emits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6BDD3D-3ED2-4D76-A6EF-3510D0A1A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13360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779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The harness automatically sends the signal; a compatible backend must still consume it.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CF55AD-0A25-477B-BDAC-E7DDEC5A1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9080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F3AAE1-964F-4CC7-AA2A-9786FE221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/ Custom only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5A05D4-E349-4AA6-B282-B00FEF189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68605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Developer-written code, an adapter, or middleware is required.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105903-8DFC-4362-A727-CEF998798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432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163898-F40D-4A3D-9E5B-06E3E719D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3850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 only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806A76-F6CD-43DE-BC1B-0B8B2CDE9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23850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79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Forwards a user-supplied field unchanged; it does not create, validate, or act on it.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369A07-7107-4E8E-8FDF-D900E38DF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9570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F45C3B-FDA4-4C15-ACC7-942687C8E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9095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Could pass through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42EAD6-2EFC-4AFD-8311-91D23CB36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79095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Generic forwarding appears possible, but no standard mapping is verified.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5CF173-97F6-4056-80CC-CFC1CCE7A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481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BBFF31-A479-4123-9346-A8DCCE04E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4340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B203A8-961B-411C-9297-D602F1EE2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34340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247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Support comes from the selected model provider, not consistently from the harness.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B3831C-DC63-422D-9776-5CD96E551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148590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EAA994-533D-4D05-B08A-894780B5C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58115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Internal only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6DBD3C-9614-418D-B720-E70C8468C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34900" y="158115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Known or used internally, but not exposed as a stable outbound signal.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61DDF6-2B25-4FA9-9355-0D281A47A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0383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89A098B-653E-4233-AC0F-ED52F3F92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13360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Automatic / provider-managed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A5D618-7419-4616-8B92-221094A39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34900" y="213360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Capability exists, but the provider controls it automatically.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5FE1BA-883D-49F4-865F-FDD5D97E9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59080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5F2C850-3538-464B-8A8A-ED650D125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68605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Experimental / version-bound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415188B-A85D-44FC-B45B-B2B4E08B6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34900" y="268605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Integration-specific and not a stable portable contract.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4356161-4C2C-4DFE-B07D-8A96FFA12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1432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899ED15-CBE3-46E9-8EB0-92BE22460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23850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Legacy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B226C2E-652A-4A10-98B2-AC1D71685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34900" y="323850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Previously supported but deprecated or removed from the current interface.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D57AC0A-E4FE-4C76-810B-33AF9BDA8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69570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0A70B54-386B-43EF-A65A-5FB0A0030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79095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None / '-' / N/A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3107DDF-DF92-471C-9B60-CC02F8665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34900" y="379095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No documented equivalent or applicable support was found.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F1033A7-9FB1-4472-BBC1-4B0392662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2481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EB089A6-22C0-46FF-8963-D5AB47636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34340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Profiler / metrics / tracing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432A629-4418-4D28-BA1D-B26291B72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34900" y="434340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022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Observability only; reports what happened rather than controlling inference behavior.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5EDC653-FA11-45C4-B5FD-04BA7FD33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911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Strict comparison rule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97A19B4-B388-4D66-A318-962EAB2F6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67400"/>
            <a:ext cx="36957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163AEB6-5D87-4FD2-A129-D8FC4F0B5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96265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Supported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C1C60D0-5A21-4C04-B574-FB8C0CF60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293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090"/>
          </a:bodyPr>
          <a:lstStyle xmlns:a="http://schemas.openxmlformats.org/drawingml/2006/main"/>
          <a:p xmlns:a="http://schemas.openxmlformats.org/drawingml/2006/main">
            <a:pPr algn="l">
              <a:def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Native; Emits when compatible downstream consumption is verified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2050062-18D1-4A6B-9CAF-97E6BAB98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5867400"/>
            <a:ext cx="36957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5E91D7F-1838-423F-BB1B-FE7DE0F14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96265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Conditional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D91DC70-EF4A-41AA-A7F7-CE2FA9762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62293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Provider-dependent, automatic, experimental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64A7959-D064-49C7-9613-E6443C6F9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867400"/>
            <a:ext cx="36957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EF1DB81-98B2-49EA-AB5D-E4834FC9C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596265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Not natively supported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0B9313E-36F6-492D-ABDE-03B6CEE37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62293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Custom, pass-through, internal, middleware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D30DC0B-E518-48D7-9D9D-47E52B95B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0" y="5867400"/>
            <a:ext cx="36957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D1F9EFE-FCD9-4EE8-91CA-8CDDF29DE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596265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Unsupported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18D241E-B969-4543-9200-2D6FAB9B5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62293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None, '-', N/A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EE5CD85-9BF7-4706-8D80-5A8F35C57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7067550"/>
            <a:ext cx="1428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Most important distinction: Native is built in; Custom must be built; Pass-through only carries the field; '-' means no native equivalent.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E4B0268-DC2D-4A9C-AAB4-3A9E53A28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7620000"/>
            <a:ext cx="1000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Cell format: human-readable description on top, compact JSON wire shape below.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E61AD60-0403-4224-A7E7-1F232E35B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798195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Example: Pass-through only  {"via":"pass_through"}</a:t>
            </a:r>
          </a:p>
        </p:txBody>
      </p:sp>
      <p:cxnSp>
        <p:nvCxnSpPr>
          <p:cNvPr id="112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6F56835-7FC5-47BA-8275-083B8B1EE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Source: user-provided legend text in chat.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CF49B71-E8FB-4A5D-BFA4-9BC1F68B7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156974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CF6499-CBA1-419C-A25C-F6E100373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428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Focused scope — serving-plane control signals</a:t>
            </a:r>
          </a:p>
        </p:txBody>
      </p:sp>
      <p:cxnSp>
        <p:nvCxnSpPr>
          <p:cNvPr id="18" name=""/>
          <p:cNvCxnSpPr/>
          <p:nvPr/>
        </p:nvCxnSpPr>
        <p:spPr>
          <a:xfrm xmlns:a="http://schemas.openxmlformats.org/drawingml/2006/main">
            <a:off x="533400" y="116205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F778D7-7671-4F92-900E-7EFB40BBE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1381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635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This deck keeps only signals that can plausibly affect when a request runs, how serving load is predicted, or how KV/cache state is reused.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0C774B-C37A-4E79-B472-A37E3FE17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400300"/>
            <a:ext cx="72390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F92EC6-6C98-4296-98EB-678F35366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686050"/>
            <a:ext cx="571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Scheduling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DB82C2-A4A4-46CA-B6DB-6444F07AF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257550"/>
            <a:ext cx="590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Queue order, QoS tier, latency sensitivity, output-length and arrival predictions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5B721E-F215-4131-AF6D-1A5D54058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267200"/>
            <a:ext cx="590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priority</a:t>
            </a:r>
          </a:p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latency_sensitivity</a:t>
            </a:r>
          </a:p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osl</a:t>
            </a:r>
          </a:p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prefix_id</a:t>
            </a:r>
          </a:p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total_requests</a:t>
            </a:r>
          </a:p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iat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185889-B80E-466E-8F1D-E7A7C5E14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400300"/>
            <a:ext cx="72390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0B7596-61C6-4231-8196-142A3940A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571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KV / Cache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0C952B-C8DF-4300-BEAA-55B3B9CAD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257550"/>
            <a:ext cx="590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Cache keying, namespace, TTL, entry type, eviction priority, prefill, hit feedback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ECB032-B132-4622-987E-FCE7A713F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267200"/>
            <a:ext cx="590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prompt_cache_key</a:t>
            </a:r>
          </a:p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cache_control</a:t>
            </a:r>
          </a:p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cache_salt</a:t>
            </a:r>
          </a:p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speculative_prefill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6F88E0-AE6C-4F98-AF29-5E9DB0ED8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438900"/>
            <a:ext cx="1466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Out of scope for this research pass: routing, placement, worker selection, affinity identity, general reasoning controls, lifecycle metadata, and broad observability fields.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9595E5-10EB-4E2B-80E3-30F7E47BB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124700"/>
            <a:ext cx="1466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50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NeMo/NAT NVIDIA-extension hint bundle: priority, latency_sensitivity, osl, prefix_id, total_requests, iat.</a:t>
            </a:r>
          </a:p>
        </p:txBody>
      </p:sp>
      <p:cxnSp>
        <p:nvCxnSpPr>
          <p:cNvPr id="30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27D263-9B37-4780-A32C-5B7D160D9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181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Scope rule: keep signals that affect scheduling/workload prediction or KV/prompt-cache handling.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F64B22-B04C-4417-8B71-B4E1235CC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14712200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0C214E7-C7CF-455B-8DF0-B9C94C06E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428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New harnesses added to the evaluation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C37542-A35C-445D-9491-A0AF30ED4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466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These additions are distinct agent harnesses, but they are evaluated only for scheduling/workload and KV/prompt-cache signals.</a:t>
            </a:r>
          </a:p>
        </p:txBody>
      </p:sp>
      <p:cxnSp>
        <p:nvCxnSpPr>
          <p:cNvPr id="50" name=""/>
          <p:cNvCxnSpPr/>
          <p:nvPr/>
        </p:nvCxnSpPr>
        <p:spPr>
          <a:xfrm xmlns:a="http://schemas.openxmlformats.org/drawingml/2006/main">
            <a:off x="533400" y="150495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751F31-26BB-4584-84C8-91C192EB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90700"/>
            <a:ext cx="876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865420-CC7F-48C7-AE29-FC3754F4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76425"/>
            <a:ext cx="685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Add?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11AA9F-8818-42D5-95D1-637606213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790700"/>
            <a:ext cx="2667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255C04-352F-4B23-99E0-CADFFC047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876425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Harness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31C4CC-EA54-48F5-8491-AD851F0CD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790700"/>
            <a:ext cx="971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35BB84-AEA5-4444-AFB4-ABD74715B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876425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Why included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8E40A9-B90B-41EE-BFDF-49479122B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1790700"/>
            <a:ext cx="37338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E63EB0-C5F9-4E0A-A822-4E3617E25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82700" y="1876425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Verified source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572C4C-A755-4247-88C5-9A93CAD6A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43150"/>
            <a:ext cx="8763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DAA14E-2960-4137-AE90-E075091A4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76500"/>
            <a:ext cx="6477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Yes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BFB2FB-B496-418F-89CD-0C558DD53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343150"/>
            <a:ext cx="2667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42F3FC-69E2-4B32-B50B-9EACD25E5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476500"/>
            <a:ext cx="24384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Pi Agent Harness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176EE3-D818-4C90-9BF9-BEB3AD074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343150"/>
            <a:ext cx="9715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20B9C5-CADB-473E-9C1A-AEFA35504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76500"/>
            <a:ext cx="94869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Distinct lightweight agent harness; worth evaluating separately. Pi describes itself as a minimal agent harness, and its repo identifies Pi Agent Harness components.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A92E52-BB72-41E0-AD23-1911ADF5C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2343150"/>
            <a:ext cx="37338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92CFAF-8270-46FC-9864-644CC5BBD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2476500"/>
            <a:ext cx="35052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pi.dev; GitHub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D1CF60-88E9-4A83-8CC3-20FB4E9EA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95700"/>
            <a:ext cx="8763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216510-7809-480A-A108-4FFAD9917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29050"/>
            <a:ext cx="6477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Yes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5E5F47-5814-4E6D-9390-B8EB53671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695700"/>
            <a:ext cx="2667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5D481B-C9D1-4A8F-BBC6-1247597DD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829050"/>
            <a:ext cx="24384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OpenCode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40B94E-25FA-415B-9D35-7714DB892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695700"/>
            <a:ext cx="9715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FC629D-AFD2-4F30-B2A2-3FC12FC11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29050"/>
            <a:ext cx="94869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Distinct open-source coding agent/harness with terminal, desktop, and IDE surfaces.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668EEEC-7A48-4A21-8392-21D094A23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695700"/>
            <a:ext cx="37338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850FC9-86F2-4096-AF76-7F8E6DC77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3829050"/>
            <a:ext cx="35052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opencode.ai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497681F-CDA3-4F04-9CFD-D23428F86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48250"/>
            <a:ext cx="8763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9995250-6F73-4728-9F00-A1E8E103F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81600"/>
            <a:ext cx="6477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Yes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E99765-07E4-4249-A5CE-849B89A73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48250"/>
            <a:ext cx="2667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D10CC92-2043-46C9-BF9B-A9BBC5C15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181600"/>
            <a:ext cx="24384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OpenClaw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FBBCB6C-BFA9-49EF-A899-D8E0E9FDF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048250"/>
            <a:ext cx="9715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6269195-2D64-4C28-AB64-D90167711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181600"/>
            <a:ext cx="94869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Distinct agent runtime and plugin harness ecosystem. It has explicit agent harness plugin docs, so it fits this comparison.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F1A399B-A1D5-485A-B8B6-BB859AAF3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5048250"/>
            <a:ext cx="37338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21B4099-1F35-4689-BD59-90E927DC8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5181600"/>
            <a:ext cx="35052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OpenClaw docs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E2D33D4-89D8-40B1-8487-FE749DCEE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00800"/>
            <a:ext cx="8763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F1AA230-A821-4479-8578-F9AA91424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534150"/>
            <a:ext cx="6477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Yes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B81BDEB-49B3-4888-9770-3FA583214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400800"/>
            <a:ext cx="2667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7E9BBFF-366A-474B-8738-AB6032884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6534150"/>
            <a:ext cx="24384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Hermes Agent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9FCA5F3-BC3E-4796-8362-998DBBB5A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6400800"/>
            <a:ext cx="9715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4ECC856-6569-42E9-9584-F5766F7D3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6534150"/>
            <a:ext cx="94869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Distinct Nous Research agent harness with memory, skills, messaging, and long-running behavior.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DC6DC53-372A-4B8D-BC48-E42512B8D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6400800"/>
            <a:ext cx="37338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403A0F4-73EC-4086-B1A2-CE5AB6730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6534150"/>
            <a:ext cx="35052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Hermes docs; GitHub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B514A0F-474D-4CD5-8191-9DC8F8E90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115300"/>
            <a:ext cx="1381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Excluded as already covered: NeMo/NAT, Qwen Code, Codex, Claude Code, Dynamo, and Deep Agents.</a:t>
            </a:r>
          </a:p>
        </p:txBody>
      </p:sp>
      <p:cxnSp>
        <p:nvCxnSpPr>
          <p:cNvPr id="92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3ACF4BA-A033-4787-9584-AC6D21688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181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New additions verified against official docs and repositories.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B734B8A-6D06-4763-806C-4D5D7EA5D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56650477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5428EF4-1218-40E6-A05D-6CE591E08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428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Scheduling signals in simple English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2A4CC4-8AF0-48F8-99A0-43489CD61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466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These hints help the serving system decide when a request should run and how much capacity it may need.</a:t>
            </a:r>
          </a:p>
        </p:txBody>
      </p:sp>
      <p:cxnSp>
        <p:nvCxnSpPr>
          <p:cNvPr id="30" name=""/>
          <p:cNvCxnSpPr/>
          <p:nvPr/>
        </p:nvCxnSpPr>
        <p:spPr>
          <a:xfrm xmlns:a="http://schemas.openxmlformats.org/drawingml/2006/main">
            <a:off x="533400" y="150495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39C425-908C-44CF-8C22-6349D9960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69164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F4B788-2E68-4E12-BE8A-212B58DA9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3357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6F034A-5946-408B-A2EB-F5E85C8E9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1933575"/>
            <a:ext cx="13315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Meaning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F71BEB-A3C6-45FA-A977-CA6C5803B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691640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0FA690-1706-4249-9052-D9BE2F04C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19350"/>
            <a:ext cx="30670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priority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F1A449-0B72-47DC-954F-A9F0965A3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400300"/>
            <a:ext cx="133159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Tells the serving system how important a request is. Higher-priority requests may be run before lower-priority ones.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EEBDDA-3CB7-4D6E-A2E2-0C9DEE4F0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57575"/>
            <a:ext cx="1691640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11781D-A850-4597-9138-ABFD16A97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90925"/>
            <a:ext cx="30670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latency_sensitivity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9D51B0-7E5E-4941-B153-8E081B0D3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571875"/>
            <a:ext cx="133159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Tells the system how much the request cares about speed. A highly latency-sensitive request should avoid waiting if possible.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5F69A3-C534-42A8-BF8D-CD187B0AE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1691640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60A756-878A-41E3-8E69-23FC6B8A0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62500"/>
            <a:ext cx="30670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osl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939E54-E7AC-4A7B-A76B-FDA26E9FE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743450"/>
            <a:ext cx="133159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Usually means output sequence length or expected output length. It tells the system roughly how many tokens the model may generate, so the scheduler can plan capacity.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A59CFA-A4A4-4C10-9649-FA20688DE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00725"/>
            <a:ext cx="1691640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F9973F-E790-4534-B742-50DBEFC84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934075"/>
            <a:ext cx="30670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prefix_id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48297A-90A3-4B0C-97E2-16A1FE502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915025"/>
            <a:ext cx="133159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 label for a shared prompt prefix or workflow. If multiple requests share the same beginning, this helps the system reuse cached KV state.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67240C-1A54-4575-9BA0-ADB4F2703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972300"/>
            <a:ext cx="1691640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C87144-FAFF-4C1C-9976-CE74385E7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105650"/>
            <a:ext cx="30670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total_requests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7BAE71-64F3-40BB-BA02-743F8EB7E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7086600"/>
            <a:ext cx="133159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 hint about how many related requests are expected in the workflow. This helps the system predict future load.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82466D-35CB-4031-B986-E16BF05EC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43875"/>
            <a:ext cx="1691640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5F6C59-379D-431E-A165-C5B66DA65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277225"/>
            <a:ext cx="30670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iat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FAEBDBE-D673-4CC8-992D-2025E00A3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8258175"/>
            <a:ext cx="133159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Usually means inter-arrival time. It hints how much time may pass between related requests, helping the scheduler anticipate bursts or gaps.</a:t>
            </a:r>
          </a:p>
        </p:txBody>
      </p:sp>
      <p:cxnSp>
        <p:nvCxnSpPr>
          <p:cNvPr id="52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5FE6FF7-6C36-4040-AA75-6736ADCA1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181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Simple-English definitions generated from the focused signal overview.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EDDEE04-F4C4-49D1-A9AF-7ECAE4917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3343792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6BBC7C2B-A35E-4512-831C-C795321B4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352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Scheduling hints — Dynamo, NAT, Claude, Codex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999DE1-FD4F-4CD2-A179-F5E387365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143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584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Strict view: nearby task metadata, internal state, and generic pass-through are shown as '-' unless they expose a real backend/provider signal.</a:t>
            </a:r>
          </a:p>
        </p:txBody>
      </p:sp>
      <p:cxnSp>
        <p:nvCxnSpPr>
          <p:cNvPr id="111" name=""/>
          <p:cNvCxnSpPr/>
          <p:nvPr/>
        </p:nvCxnSpPr>
        <p:spPr>
          <a:xfrm xmlns:a="http://schemas.openxmlformats.org/drawingml/2006/main">
            <a:off x="533400" y="148590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A329E2-C4F2-4888-80FC-81A5E5699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25241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68FFA9-60A1-4E4B-A94A-72D1EE744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2333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Canonical 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B136A7-1572-4AFB-95ED-1487A8486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1695450"/>
            <a:ext cx="3669506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4DB1C5-2B79-49EA-84B3-4D0405F32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781175"/>
            <a:ext cx="3479006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Dynamo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B170B6-9956-4207-A5B1-C3D74903B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7031" y="1695450"/>
            <a:ext cx="3669506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A04CAD-14AE-4ED6-888E-780824BEA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1781175"/>
            <a:ext cx="3479006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NeMo Agent Toolkit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5FE1BA-F671-4CAA-A5F9-25EBF8465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1695450"/>
            <a:ext cx="3669506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B097FD-FEDA-4110-82E0-E6069D01A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788" y="1781175"/>
            <a:ext cx="3479006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Claude Code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E28B78-467A-493B-B2B8-E35F50D7F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6044" y="1695450"/>
            <a:ext cx="3669506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40183E-4592-4BEA-B66B-165D670F5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294" y="1781175"/>
            <a:ext cx="3479006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Codex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47FBB6-9460-4574-9F8B-14BD2E694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5050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9D93DE-805C-43E9-9AF9-368F51189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90775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Soft priority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11DF12-64D9-45FC-A8E9-CEE6115B5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230505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1B6EA2-F9A5-45D4-9AF1-8F8B9BF30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381250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nvext.agent_hints.priority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8FB53C-EA1A-4AE7-8E1E-5EC9336C6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721293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{"nvext.agent_hints":["priority"]}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B00104-7D3B-4265-AF0F-3A0551538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7031" y="230505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6FB3BF-8B72-46C8-AFD8-8F94141F4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2381250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Emits priority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724473-FED9-4BB6-BC57-3448C1802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2721293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{"priority":"priority"}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6C1AA5-D874-49D5-B8C6-BD6B7735E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230505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D1027E-8CC1-4DD6-B7FB-FEB6DCF58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788" y="2390775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6727DF-34F4-457A-915A-E49CA8F6C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6044" y="230505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262767-9D9C-4D98-89D5-0DDDBB9FD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294" y="2390775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34725A2-F651-458A-AD99-150C8DE60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09925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506AC11-BE9A-415E-8A00-A58F9302F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95650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Strict priority tier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9F07943-3134-4D10-83F0-71F3B9221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320992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5574F29-2352-4456-97D8-6332ADF77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286125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strict_priority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18943B7-0605-4D79-B168-45399C3CA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626168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{"strict_priority":"strict_priority"}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E6D1105-00A5-41B5-8D93-2C1907280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7031" y="320992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D36C176-62DA-4ECF-A1F9-5048EF4E5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3295650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7C99C3B-4880-4EDC-83CD-213288A7E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320992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1503379-C42B-4556-85F6-776C3E22B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788" y="3295650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390F910-EE9D-4BFE-AA25-EE56AF2EE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6044" y="320992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D231A23-A6F6-4C21-A820-C4808CD26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294" y="3295650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9FEBCF1-D207-4523-B00E-0152CF216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14800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3A114E9-9ECD-45F8-AE5A-8FDFA2C8F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00525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Latency sensitivity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9F30891-003D-4715-AA5F-5972F1AE0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411480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46EA72C-7606-4591-A8FF-1426724A9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200525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65AC6C4-8C77-497E-93F5-EA18BB718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7031" y="411480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435795D-42AF-4B6A-B669-B16BAF449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4191000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Experimental latency_sensitivity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2D9F7D9-65CC-409B-926A-53D898EDE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4531043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{"latency_sensitivity":"latency_sensitivity"}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F80D825-65E3-40B5-8B04-158DBA6CF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411480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B080933-48E3-4748-8481-B2A832B83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788" y="4200525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C883E97-CC39-4B01-A063-2D5B84F0B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6044" y="411480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CE115BE-BF44-4ABB-927E-38B111920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294" y="4200525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1ED8630-AF4B-4B77-B6B3-9A781FD31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19675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85F1682-5CE2-4FF9-8DCE-BFCBAB4F1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05400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 speed/QoS tier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E00290B-0D4E-4C20-93EF-DAFCADC72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501967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210151D-F985-43D1-985F-0920C2776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5105400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4942F4E-EA1F-49AE-9D45-D58B109AD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7031" y="501967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BB0CA4C-38F0-47E2-BBBD-287244D49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5095875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DC03ABD-AB74-4BC0-8C05-CCE907F49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5435918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973FE95-A017-4ED1-8F90-00CA27FA1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501967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C170307-401A-4A0C-BFA8-4860D4DC0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788" y="5095875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Fast mode / speed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01D1066-65C6-4DCF-9A32-EE33438F8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788" y="5435918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{"qos_tier":["fast","speed"]}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BCF04DA-0BB1-424A-9558-6A7A5C637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6044" y="501967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B168307-FA2F-43EF-80F3-C38FB6745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294" y="5095875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service_tier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10DD70F-B2F8-433D-BC5F-0169037DD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294" y="5435918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{"qos_tier":"service_tier"}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B7A56D7-9618-4B1B-ABDA-0B9456DFB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24550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7AB5FED-18C1-4BC2-BC49-3DF70B581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10275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Expected output length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7822F93-73C2-4E2B-8217-47D242491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592455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A9C3D3D-495B-4463-AF87-95BC18A2C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6000750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osl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43E779F3-9512-423D-8EB3-5EACA3996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6340793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{"output_length":"osl"}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2153C727-8BF5-4D09-B35B-8DB36C3FE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7031" y="592455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421AB72-B78C-4E34-85F9-199EF7F52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6000750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Emits osl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B58EDBD-337D-42FF-9C00-A3524A559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6340793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{"output_length":"osl"}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C078379-7988-4507-911F-01FD42E85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592455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E0E7D1F-E436-4A0B-B352-294BE5124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788" y="6010275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3C94903-2F6E-4F9D-B604-BEDC52CB6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6044" y="592455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00269B8E-BB5A-4B7B-B59B-C3C5BB31A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294" y="6010275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775A2E1-73D6-4951-87B3-F07312046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29425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D59D11F-E993-4A57-9BF5-BDAA22D60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915150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Expected interarrival time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8AEB24F6-E0D5-4058-8035-704510368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682942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9C8AE79-7978-47C8-BFC3-5998485DA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6915150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C7F740C5-A9E5-4BF3-ADA5-3C74EA7F8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7031" y="682942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8646711D-9D7F-4F5F-A184-EB53A8C6B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6905625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iat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36C0E3B3-5C4B-41B4-928B-93C66447B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7245668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{"interarrival_time":"iat"}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2E73BC70-24FB-4762-B4D9-D8910E611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682942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9444A123-5F7C-4CD2-A83C-EB96A50BA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788" y="6915150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AA406127-3617-49DA-B7D0-935C4671C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6044" y="682942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9FCC24C6-BD74-4A42-8548-03DD71EDA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294" y="6915150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377D4507-961D-4756-A828-23935B227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734300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8D010282-E79B-48FA-A084-D239AB5C1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820025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Predicted remaining calls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C388FB9D-D504-47A4-B5EF-C27E70ADE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773430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32954162-F76D-4CA9-9770-0B40957BB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7820025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31E650E5-8574-42A1-96D4-420F585A5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7031" y="773430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40B6B302-AC6F-451D-8BAE-B09693D86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7810500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total_requests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6A0A2A66-F2AF-4A21-A25E-73C8A1129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8150543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{"remaining_calls":"total_requests"}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33B64EF2-3E9E-44F3-A4B9-05CACE34E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773430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3B465AB9-9C95-407C-8B30-2631F60E6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788" y="7820025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DC860292-FE1B-4DCE-B927-63A05B66A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6044" y="773430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A531746B-2073-46B6-8830-5F9283F38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294" y="7820025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BF890C0E-D56E-42D7-A713-BB21A475A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39175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09447894-0A9D-4CA6-8800-869B2626D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24900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Prefix/workflow reuse ID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38A8A732-B423-4074-B3A4-BA9915FC7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863917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EE1B3BE5-2717-442A-BC99-2F712220F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8724900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E8B7C6C6-9B2C-4E72-8BC6-4207746DB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7031" y="863917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698829F8-0697-4534-8D45-991C96A2B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8715375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prefix_id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F99A63CC-BBF4-438A-991C-E2B11FD30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9055418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{"prefix_id":"prefix_id"}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2DE89747-044C-4198-9DD3-F09781A10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863917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1EBFAD99-F5B1-4767-81DB-DCC916CE0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788" y="8724900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9434003F-A1A6-4FF3-A76B-95119B757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6044" y="863917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A92D0A80-6FD6-4932-8155-30E68E820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294" y="8724900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cxnSp>
        <p:nvCxnSpPr>
          <p:cNvPr id="214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4A9FEC0B-C5F7-4EE4-88D7-2C17572AF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381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Sources: user screenshots and public docs in speaker notes; each populated cell shows description plus compact JSON; '-' indicates unsupported.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F80A79B9-F169-461D-82D3-14DBB1463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97559304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5C262917-96A4-40ED-B488-EB137F8B9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352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Scheduling hints — DeepSeek, Deep Agents, Qwen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D43FCF-0A9A-40E7-AECE-BEE956285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143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584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Strict view: nearby task metadata, internal state, and generic pass-through are shown as '-' unless they expose a real backend/provider signal.</a:t>
            </a:r>
          </a:p>
        </p:txBody>
      </p:sp>
      <p:cxnSp>
        <p:nvCxnSpPr>
          <p:cNvPr id="83" name=""/>
          <p:cNvCxnSpPr/>
          <p:nvPr/>
        </p:nvCxnSpPr>
        <p:spPr>
          <a:xfrm xmlns:a="http://schemas.openxmlformats.org/drawingml/2006/main">
            <a:off x="533400" y="148590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EBB727-2F38-4230-B64B-4A9572EB5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25241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C32CE3-FA9D-422B-AB5D-DC50E4595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2333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Canonical 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4E8C7C-C1FF-46C6-95E0-6192D8D3C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1695450"/>
            <a:ext cx="48926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75995A-FC54-40CE-B179-ACF83A34B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781175"/>
            <a:ext cx="47021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DeepSeek Harness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1A63DA-5813-4672-B2E7-996E51327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1695450"/>
            <a:ext cx="48926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078EB2-6730-4D8F-A427-EDF77FA9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1781175"/>
            <a:ext cx="47021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Deep Agents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E9E3DC-4F5E-4FB0-A0F5-36BD55DEC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2875" y="1695450"/>
            <a:ext cx="48926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2601FC-350F-4D90-A793-0046E98F6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1781175"/>
            <a:ext cx="47021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Qwen Code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24C114-E20F-4D25-A626-F0797B446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5050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B789CF-7AA2-4C4A-8606-DAFB930E5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90775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Soft priority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F2533E-B0D9-45B3-9A5D-856C20056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2305050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678300-18DD-4B95-B4EB-237AD89B9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390775"/>
            <a:ext cx="47021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0EF2CF-A29D-4015-BFCB-0B141EFF3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2305050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375F07-9571-4B87-9171-5C9CB5155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2390775"/>
            <a:ext cx="47021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976022-756A-4963-BF1C-E5C8F0DF4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2875" y="2305050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AA70AC-0D8A-4DC0-BE08-FC9317511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2390775"/>
            <a:ext cx="47021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822D4A-B7EE-4808-AFB6-5EEA1CC15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09925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62DA77-E5F7-4738-81CF-080562161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95650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Strict priority tier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5194B0-2DD7-4BD6-B6E1-EE11E561D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3209925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CEA0CA3-A62C-4ECE-AF03-CB370D8DD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295650"/>
            <a:ext cx="47021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DD50C28-9A19-42C3-A095-190DEDD36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3209925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8A436B0-8C41-468F-801C-8350813DD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3295650"/>
            <a:ext cx="47021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16F5FA-DB88-4DA6-9E13-6C5FFD342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2875" y="3209925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1A53A2F-851E-46F3-B600-3E85BB43E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3295650"/>
            <a:ext cx="47021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73DF009-1344-4BA3-99F5-C4B8D7E97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14800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DF267E9-6320-4300-A48B-0359740F4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00525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Latency sensitivity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5C4D309-63D9-4DB5-A80D-5E01EFF77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4114800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6455FC2-74D2-4663-B40A-75CF88870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200525"/>
            <a:ext cx="47021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DEA004-5CB7-4FA1-98B3-DBC851E9F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4114800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D27F800-FF81-4BDD-9A09-757DBF512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4200525"/>
            <a:ext cx="47021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994210C-7442-42ED-8711-D9D170CFF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2875" y="4114800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C8D29CD-7AC3-4FC6-BC02-5CC4E6058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4200525"/>
            <a:ext cx="47021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D35D293-BFB1-4BD7-9827-2143C8A6A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19675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CA5EDD7-C79B-4596-8EC0-5F98FD346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05400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 speed/QoS tier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FD2B8F0-13A6-47C1-91FF-6E3502128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5019675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B2099B6-8214-4E76-94A6-E49531B26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5105400"/>
            <a:ext cx="47021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4F3FECF-51A3-4377-BFB8-C557FA863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5019675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80402D5-A458-450D-AA1C-3A92C20B0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5095875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1B2F2C1-5B2E-4DED-8F71-4DD7A6875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5435918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4F9B187-25B7-4C01-9479-0923A1AEE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2875" y="5019675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74171CD-CAC3-479A-A8D2-62F5B3B6E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5095875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Provider-specific extra_body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4266BCB-E709-46A9-8CC3-049BC4549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5435918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{"via":"extra_body","qos_tier":"extra_body"}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7B0DCF7-CB0E-4F0A-B8D6-214165510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24550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9249FC9-3F09-436C-A323-A0E49C9DF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10275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Expected output length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D5B11A1-9E1D-4C7F-8F48-4A77D84F6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5924550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DD0D733-8DC1-4B18-83A9-C1A83B49A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6010275"/>
            <a:ext cx="47021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65E226B-C25B-4FCD-B091-43A96EE5F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5924550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81C55A5-9E5C-43E8-9034-08648CE87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6010275"/>
            <a:ext cx="47021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1B65F76-5859-493C-9624-4AEAA122B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2875" y="5924550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1F109B7-AFC0-41FE-898B-8D725068B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6010275"/>
            <a:ext cx="47021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7413FD3-39B4-4EFD-A29D-EADD25CE4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29425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EB30B01-12E0-4D3C-B743-085D0544F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915150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Expected interarrival time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5BE03E1-4B44-412E-B26D-6DDC851B1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6829425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7799AD6-BA3C-48BD-B6CF-586DF0228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6915150"/>
            <a:ext cx="47021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5AFB63E-C0FC-46F8-A2EC-B92B22F47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6829425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83919C4-A80A-4290-85B3-989196E3A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6915150"/>
            <a:ext cx="47021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D2B5701-DFCB-4B93-8F6C-C1ED9293E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2875" y="6829425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D8E262B-A799-41F7-8914-791F8C63E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6915150"/>
            <a:ext cx="47021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64952BE-0E8C-443A-B92C-71B758CDF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734300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8999E01-3AF3-4742-A254-89942E9DD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820025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Predicted remaining calls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8F017CE-8646-4831-8CD6-3C86ECE58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7734300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5B3FD7C-98B4-45B2-8453-3882D3A50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7820025"/>
            <a:ext cx="47021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F214EC7-FE7D-4D18-8378-E0240E83D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7734300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CFE5292-74AF-480F-8CFA-2649C5BEF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7820025"/>
            <a:ext cx="47021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6BF85A22-868C-475C-80E6-7BAAAB52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2875" y="7734300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2A3946B7-4EEC-4212-9E77-A8709A372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7820025"/>
            <a:ext cx="47021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27BEB3E-B495-4836-856A-D28FD767C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39175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90202DC-824F-43B1-8609-DCFCF4C03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24900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Prefix/workflow reuse ID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F2A6516-352E-4FD1-8E91-AF42CBE88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8639175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E95E918-72FC-4395-BF45-B379D31C5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8724900"/>
            <a:ext cx="47021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05CC9631-7DF1-4E3E-9C47-AE1D53895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8639175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79E892AF-24AE-4AA1-8516-66B761973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8724900"/>
            <a:ext cx="47021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BF6BC2A0-FCD3-4125-9BCA-E4749B0E2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2875" y="8639175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19CB6212-B6D7-4F1E-8C14-8FE8704B0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8724900"/>
            <a:ext cx="47021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cxnSp>
        <p:nvCxnSpPr>
          <p:cNvPr id="158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16F78CD5-8E28-4B64-A167-9B64A98FB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381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Sources: user screenshots and public docs in speaker notes; each populated cell shows description plus compact JSON; '-' indicates unsupported.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AF702907-ECDD-4E63-83D2-8503C13B4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96454912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03D0C0C-112E-476E-86B6-BA40DC2E8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352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Additional scheduling hints — Pi and OpenCode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E9858D-7633-4A44-B394-2F84B9D18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143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Strict view: nearby orchestration metadata is shown as '-' unless it maps to a concrete backend/provider request field.</a:t>
            </a:r>
          </a:p>
        </p:txBody>
      </p:sp>
      <p:cxnSp>
        <p:nvCxnSpPr>
          <p:cNvPr id="63" name=""/>
          <p:cNvCxnSpPr/>
          <p:nvPr/>
        </p:nvCxnSpPr>
        <p:spPr>
          <a:xfrm xmlns:a="http://schemas.openxmlformats.org/drawingml/2006/main">
            <a:off x="533400" y="148590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ABE447-ED06-4D10-8E04-3F68CF35E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2952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6CFF30-3E4D-4348-B98E-18F62A70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Canonical 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68C391-2CAA-4B65-8E9F-1B00154F6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695450"/>
            <a:ext cx="71247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DF58F8-0741-47CC-A966-C9E132754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1781175"/>
            <a:ext cx="693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Pi Agent Harness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F98339-CD8B-44BD-93CF-F396D3255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1695450"/>
            <a:ext cx="71247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FE4B16-B61A-4B11-B881-5A3208795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1781175"/>
            <a:ext cx="693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OpenCode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E5E647-F0CB-41D0-A543-069A11A1F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5050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942056-9CA3-42D6-8F48-749CAAD9E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90775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Soft priority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7966E7-7275-4288-AE01-1C8856C19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30505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0487AA-8F44-40A7-BAC1-8F708CD1F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390775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D59F65-1346-42F3-8BC8-0FD74FDF4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0505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726664-16A9-4E64-8C6A-CB64D8731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2390775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5CB4AC-17A3-4571-8090-F3720C5C1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09925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1D0D6D-7841-458B-9964-FB8A08CBF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95650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Strict priority tier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FA2C5A-F3BD-4E88-A9CB-5C9ACA91C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20992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9498FC-9DB8-42DB-952A-F8CC0301D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295650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25F941-71DB-4E4C-808D-8C449EDC2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0992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14F5DC-38A4-4105-AC26-E82F54A97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3295650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FC29A6-11EC-4AD9-93CA-05CB71BE1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14800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12AEA1-8475-4BDD-9490-72F742F4A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00525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Latency sensitivity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D32128-E1F0-4FEB-AAD2-534DEE458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11480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DD5D96-AC70-41C2-8BF6-77D669A83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200525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D547AC7-9EE8-4661-AC88-6DF726DCB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411480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EE45379-4355-45B1-8230-713E8F17E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4200525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8A197A8-AEFD-4202-A58F-E17F4BCBA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19675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64A8DC0-2DE4-42ED-8994-ACCF08AD0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05400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 speed/QoS tier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F968A55-5437-440B-B475-23F8D0C6B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01967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19E9EA0-0A1F-4ED5-ADB5-70D175481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5105400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3C26A4F-DF4C-4421-BD0D-BC5B63BA1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501967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B9109C5-846B-46DC-82D2-29E2C97D6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5105400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532B3A5-1F0D-4832-8584-4DD167257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24550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F1BC572-694A-4F96-BF99-EC02EE7E3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10275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Expected output length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886BEFB-D87D-4CCE-83E7-716CCD7E0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92455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B018FC5-AC42-4B5A-A8A6-D25532A7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6010275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3366504-C7B1-4245-93CB-9408B03FC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592455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23D6956-0C96-47E5-9970-6F491232A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6010275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999FD71-6811-4B50-B215-4D692FBE0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29425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45B397C-3202-466F-9B1C-5E391644C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915150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Expected interarrival time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91F8E29-A609-4F55-BC6B-0E6D56754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682942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1281602-61A4-4AE1-A7D2-723D715EC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6915150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8623A6F-3466-4D0A-8A70-A7D52D8AB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82942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9F0297E-D820-44F3-A251-82E0276E3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6915150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3EF40F7-139E-4E38-A4A5-45DCD7FB7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734300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C8727A4-AF15-4A13-AD24-DD34AA805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820025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Predicted remaining calls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52E211E-BBCE-4CF9-BF9D-9370EF785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773430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68B6780-2F8D-417F-8CFB-A29F95036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7820025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B2EF024-033F-4CEE-A972-7FD24CF5D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773430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B6C7CBB-83E9-4481-9F0B-B3107174C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7820025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F504D65-CF14-4E3A-8BCD-3AB654731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39175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E00B7DD-2EB4-406E-9F47-B0A396E0A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24900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Prefix/workflow reuse ID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5C124CB-C42F-4347-8E24-C0610F899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863917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5D01BA8-F20F-4E0E-85F7-E2A2E9D04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8724900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150A632-9629-4C02-BF92-BD2AE2FDC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863917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09A295B-B911-4D80-A5EA-B96AD23AE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8724900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cxnSp>
        <p:nvCxnSpPr>
          <p:cNvPr id="118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C2A6DCD-F2BB-4E0C-AA2F-13A844325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381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Sources: user screenshots and public docs in speaker notes; each populated cell shows description plus compact JSON; '-' indicates unsupported.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9B0E839-687B-4FED-B410-64D24357C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10071734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F1790EE-F770-425A-8937-C6A25EA89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352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Additional scheduling hints — OpenClaw and Hermes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7819DA-B372-460D-9642-5F853D97D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143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Strict view: nearby orchestration metadata is shown as '-' unless it maps to a concrete backend/provider request field.</a:t>
            </a:r>
          </a:p>
        </p:txBody>
      </p:sp>
      <p:cxnSp>
        <p:nvCxnSpPr>
          <p:cNvPr id="65" name=""/>
          <p:cNvCxnSpPr/>
          <p:nvPr/>
        </p:nvCxnSpPr>
        <p:spPr>
          <a:xfrm xmlns:a="http://schemas.openxmlformats.org/drawingml/2006/main">
            <a:off x="533400" y="148590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8B54FE-009E-4D22-B4C0-43492D09C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2952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4E18D5-DF4D-4806-A9DF-4592B2967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Canonical 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1A378A-D704-4FCB-9436-7DAC72F7C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695450"/>
            <a:ext cx="71247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DCF306-FF83-4129-B5A2-3C9548F53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1781175"/>
            <a:ext cx="693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OpenClaw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A516A6-74A0-473A-8520-026FAD908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1695450"/>
            <a:ext cx="71247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535738-6760-4736-85ED-DF0E0F6E7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1781175"/>
            <a:ext cx="693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Hermes Agent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FD2726-C9A7-44F1-9ACC-718112F26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5050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6E475F-AA9B-433A-AAA8-DA3B7C289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90775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Soft priority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957B5B-0456-40C0-8B93-54CFB6F69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30505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5DB13D-5C6A-46C8-9D34-48C3BCC10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390775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D79FF6-6628-4DEA-BC71-7E8807779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0505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6F7595-06DE-4830-AD04-8D163CC8B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2390775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B458A8-8F2C-40C2-868C-29D4C63AB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09925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BF4BA8-4823-43B3-AF97-3A3A12A1E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95650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Strict priority tier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0A9665-60B3-463F-A4AD-BDB27FD8A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20992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66CA7F-751F-4753-A910-0A046A293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295650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E9A73B-31C9-4FC1-B3DB-AE433E420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0992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DF8067-A39A-4281-81CB-796BF83CD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3295650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992F95-1589-4CAA-8589-4689D4B3C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14800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CDDDA82-BA65-4B4A-AFA2-3EC769A43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00525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Latency sensitivity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8F70BB-CF49-49E1-981D-AC1A8A2D2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11480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4A2E91-CEA8-43FC-ABD5-303F16EBF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200525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748C255-DC99-4697-B0DD-EEBD037F4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411480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56EA3C7-EFEE-4827-8FAF-C45A8031C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4200525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B13C8D-9F48-4C68-8833-EA9082D55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19675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CB75223-84DD-4945-A97F-417F497F4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05400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 speed/QoS tier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627FCE5-07DB-44BB-8D92-28C012A45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01967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535C046-C768-40AB-8E59-8B5C24485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5095875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Fast mode maps to service_tier=priority on supported OpenAI requests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4166859-B65E-478D-BEC0-2BD1C9FF0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5435918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{"qos_tier":["service_tier","penAI"]}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6EA36CF-4666-4A95-8A51-1D06E67A0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501967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9B19C7C-E1AB-4BDA-AD3D-DFCCD025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5095875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request_overrides can set service_tier; /fast can layer service_tier/speed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CD89560-D69E-4DAA-881D-2BDBA1470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5435918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{"qos_tier":["request_overrides","service_tier"]}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94B24DD-F1E2-4636-97BD-F34C4CF52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24550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8DF1040-8BA5-402D-B82E-D22401D4E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10275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Expected output length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8C6420C-C884-4471-9937-7D9AA57D5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92455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242C619-357B-4FED-BE0B-FA1CFE7FC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6010275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C3CD78C-17CE-44C5-9A11-ECE08D7EF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592455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77740CB-6540-4B3F-9F22-210F4B75D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6010275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479D6B8-3923-4E28-845A-85851B48A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29425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7EEFE4E-011B-445D-87DE-6DB428AEE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915150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Expected interarrival time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1B50953-4ED4-4670-9D45-AC2A3DB6E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682942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7329FD5-29FA-4B6D-9128-260D91B6C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6915150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350F9CA-7DD4-447A-9CE4-44839FC9D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82942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DE191D5-A4FC-4312-BB3F-8C61CD7DB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6915150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AF2C7C6-DC34-4967-9060-61FC23539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734300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1153EC4-2E8A-4B5C-AEAC-1033EA040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820025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Predicted remaining calls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C0BE227-9127-4284-85CC-0B94E454E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773430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672BA56-B08F-430A-8C54-E13CC671B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7820025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67C282E-CA12-4ABD-860A-3AB4364B4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773430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37AA796-87CB-4FC8-99B0-02AE02D43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7820025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6D9B60A-D18A-4207-A2F3-7FE1D5CB1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39175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106FC9B-0ECC-45D0-A409-6CCD9A2D9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24900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Prefix/workflow reuse ID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B7F53BA-F4C4-41A4-9CE5-40E0FDDBB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863917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E115036-547B-49BC-8B05-AB5F1DE26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8724900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2AE9B11-1475-47A3-8C12-EEF249FB7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863917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AB34AAF-0AFF-4228-A1FF-24C41A75D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8724900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cxnSp>
        <p:nvCxnSpPr>
          <p:cNvPr id="122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84D2631-B9CC-43A9-8855-51D86B664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381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Sources: user screenshots and public docs in speaker notes; each populated cell shows description plus compact JSON; '-' indicates unsupported.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68D85BA-2815-47EB-91F0-CB31E21B7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93898368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8411AF-759C-4624-A1CC-E9FB82D3D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428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KV and cache signals in simple English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554794-E60C-41C4-8E36-54EDD182C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466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These hints help the serving system decide what prompt or KV work can be reused and how cache entries should be separated or retained.</a:t>
            </a:r>
          </a:p>
        </p:txBody>
      </p:sp>
      <p:cxnSp>
        <p:nvCxnSpPr>
          <p:cNvPr id="24" name=""/>
          <p:cNvCxnSpPr/>
          <p:nvPr/>
        </p:nvCxnSpPr>
        <p:spPr>
          <a:xfrm xmlns:a="http://schemas.openxmlformats.org/drawingml/2006/main">
            <a:off x="533400" y="150495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CBD62A-C463-40E1-B34F-CAA863C94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69164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68E8A3-2E7D-4A97-8E63-7DA2D37B0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3357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5977AD-3527-40CB-9D74-B53059EB0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1933575"/>
            <a:ext cx="13315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Meaning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D40291-45B5-4698-98C7-A6E38728D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691640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6D004B-D894-4A8F-8EC1-BB36FB552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19350"/>
            <a:ext cx="30670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prompt_cache_key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26677C-CCC1-485E-9DA9-46CFDEFFB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400300"/>
            <a:ext cx="133159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 stable key for identifying a reusable prompt prefix. If the same key appears again, the system may reuse cached prompt/KV work.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C5039F-BB65-47BB-87BB-0FDB5C6FC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48125"/>
            <a:ext cx="1691640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9D2AAC-1F96-4F59-ACAE-7A6EAEF47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81475"/>
            <a:ext cx="30670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cache_control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6AB177-5A3D-42AB-B62E-6DD362F5F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162425"/>
            <a:ext cx="133159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Instructions about how cache should behave. For example: whether to cache, how long to keep it, or what kind of cache entry it is.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209321-C087-48BC-8BB4-CD3E4E64E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691640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2375B9-6170-4663-BBBD-D422B3E18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943600"/>
            <a:ext cx="30670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cache_salt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214122-B8F5-4CEB-B4E3-0A2E83815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924550"/>
            <a:ext cx="133159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 namespace separator for cache entries. It prevents two users, tenants, or workloads from accidentally sharing the same cache entry even if their prompt text looks similar.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065EAE-376B-4EE4-8B8E-B156E1AD5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572375"/>
            <a:ext cx="1691640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1F2517-F9BB-46E2-A759-AEB855214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705725"/>
            <a:ext cx="30670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speculative_prefill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2171DE-0FB8-477F-86F7-EC1847A21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7686675"/>
            <a:ext cx="133159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 hint to prepare or precompute part of the prompt before it is definitely needed. It can reduce latency if the prediction is right.</a:t>
            </a:r>
          </a:p>
        </p:txBody>
      </p:sp>
      <p:cxnSp>
        <p:nvCxnSpPr>
          <p:cNvPr id="40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966C94-4302-4511-B0AA-DBBD2555F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181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Simple-English definitions generated from the focused signal overview.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904106-10D6-4EFA-B996-C1819394B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97270723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DD73BD41-6123-4FD6-9D62-806C8B744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352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KV / prompt cache — Dynamo, NAT, Claude, Codex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EF48A2-D857-42B1-885B-A659DCF13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143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Signals that can influence cache reuse, cache isolation, retention, eviction, prefill, or cache feedback.</a:t>
            </a:r>
          </a:p>
        </p:txBody>
      </p:sp>
      <p:cxnSp>
        <p:nvCxnSpPr>
          <p:cNvPr id="121" name=""/>
          <p:cNvCxnSpPr/>
          <p:nvPr/>
        </p:nvCxnSpPr>
        <p:spPr>
          <a:xfrm xmlns:a="http://schemas.openxmlformats.org/drawingml/2006/main">
            <a:off x="533400" y="148590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C0C3E9-71A4-4F09-BB84-6DB13EC67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25241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EDB52C-6D1B-44DA-B5AA-D671A33E1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2333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Canonical 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81CE83-CEE5-4811-BAED-16C8EA80E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1695450"/>
            <a:ext cx="3669506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9D0847-1C68-4760-85A7-16AD9D571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781175"/>
            <a:ext cx="3479006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Dynamo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3D2FDB-1C3C-4643-B3A1-8C6137C29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7031" y="1695450"/>
            <a:ext cx="3669506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E7B700-68EA-4514-87E9-0A46DB847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1781175"/>
            <a:ext cx="3479006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NeMo Agent Toolkit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7DE63D-23D8-42D4-AE36-00A997FFD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1695450"/>
            <a:ext cx="3669506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816C6E-AE3E-44E4-AAFF-C8C1F7759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788" y="1781175"/>
            <a:ext cx="3479006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Claude Code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673B45-8084-403D-BB25-128351487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6044" y="1695450"/>
            <a:ext cx="3669506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8E6AA2-ABF8-403C-938F-356A3A20C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294" y="1781175"/>
            <a:ext cx="3479006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Codex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646924-6D4E-4051-8559-575109D49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5050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6AF63D-BDF3-49E4-92EE-2AB05D2E9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90775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key/bucket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51E392-3D5D-4214-BB90-43D3B813A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230505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943D85-551B-4083-8707-9F3A592E3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381250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Automatic prompt hash; no client cache key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43D1DA-392D-4BF1-94DB-7054F4307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721293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{"cache_key":"Automatic prompt hash; no client cache key"}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AB7C8E-8C87-452E-B6E1-954488816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7031" y="230505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6F0B18-951A-451C-BEE0-2EB783DA9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2381250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prefix_id, but not equivalent to a cache key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6FBDAC-0B08-496A-9D65-A8EF476F5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2721293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{"cache_key":"prefix_id"}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0D38DD-7706-4EFD-A0C4-2F28EF712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230505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4D4DE6-82A5-4015-B13C-D3F82C893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788" y="2381250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Exact-prefix matching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8FE1E0-FCC2-4684-9540-5CA10315A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788" y="2721293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{"cache_key":"prefix_hash"}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3D8D6E-3D61-496A-83F9-47FD32799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6044" y="230505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234A571-137C-43F5-B49D-C7B0D9F3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294" y="2381250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prompt_cache_key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EBD909-861B-44BF-96A9-5E5C81052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294" y="2721293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{"cache_key":"prompt_cache_key"}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4909C6C-8224-490B-821F-11682AA7E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09925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484AB4-E9D5-4881-8E60-CFB979FE0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95650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namespace/isolation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F13395C-099B-4CA3-AE07-C16C0AAA5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320992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E57D468-51F4-4C6F-8950-7838A8D91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286125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nvext.cache_salt or x-tenant-id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9846F45-FA02-447F-B37E-3F696CBDB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626168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{"nvext":["cache_salt"]}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7F92844-AA75-41BC-8079-BCE3C51C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7031" y="320992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008AAC8-B50F-4145-9A91-57A61B007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3286125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Could pass Dynamo salt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950D482-8FF6-4189-8DDD-B5CAE4FF2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3626168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{"cache_namespace":"nvext.cache_salt"}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1A703D3-8EEC-4DB0-93E7-D1F149A0B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320992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6A70CE5-7F6D-45AC-ACC7-A828F0763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788" y="3295650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DDDA6C4-2ACD-42ED-9183-913FE5CAA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6044" y="320992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D04C041-B3D9-4ECF-8079-F687749A4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294" y="3286125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key provides bucketing, not tenant isolation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E217C0F-81C7-42D0-91A6-DF0149D0C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294" y="3626168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{"cache_namespace":"prompt_cache_key"}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E6E2D78-0B16-4D0D-B5D4-F64BF84E2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14800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78D5CB0-DADA-4998-84A7-CC264E195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00525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TTL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0B238F3-448D-42A3-AF5B-6CAF9B62E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411480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5766638-D7C5-4225-B130-1D8E207D7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200525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3FA3D52-70B2-4EC4-B25D-5DCA4E3E4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7031" y="411480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EBEC33D-2D48-4420-8FA2-B625598E7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4191000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Experimental nvext.cache_control.ttl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07B6146-E201-4D00-8C63-73C64409A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4531043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{"cache_ttl":"nvext.cache_control.ttl"}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0D75AC7-F689-4EE3-A8B0-3F0B0BC93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411480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BD20384-A63E-4AB6-9F34-1FBB7071B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788" y="4191000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cache_control; 5-minute or 1-hour TTL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9A67604-FD21-48FC-9C5C-D001F33C6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788" y="4531043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{"cache_ttl":["5m","1h"]}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15419F7-6F50-49F9-A17E-FE578759A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6044" y="411480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649D01A-208B-4130-B846-DCE3E94A5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294" y="4191000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No explicit TTL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9809382-5EA4-4E79-9DDF-DB57EE5A0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294" y="4531043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{"cache_ttl":"No explicit TTL"}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5302862-B547-4C09-A9DB-3AA7CD8FE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19675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5E4E43A-8912-4ACF-B1DA-B6B50D41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05400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entry type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BC6D100-14D7-4805-9CF6-2DF5A3904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501967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9B92DC3-D0B3-4F66-8E9B-0F0D49C36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5105400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D725F02-1A56-4741-BDE1-EEC5CA4A1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7031" y="501967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06A66AA-13CC-4079-A899-78E2F108F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5095875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type:"ephemeral" experimentally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50D22DA-FA31-4820-91CB-795C602C7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5435918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{"cache_type":"type:\"ephemeral\" experimentally"}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D33238E-A8AF-4237-971C-0B2C5B55D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501967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F97C6BB-F2BD-4D7D-91FD-33D740234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788" y="5095875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type:"ephemeral"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EE7B6CE-C558-401E-9658-3A8D58501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788" y="5435918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{"cache_type":"type:\"ephemeral\""}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F5E12D6-45D3-40CF-A7EF-BC13724D5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6044" y="501967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9321393-8D97-417F-8FD4-62E970502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294" y="5105400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206E04C-2E42-43F2-BE46-0310B1297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24550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B5D846A-D562-46EA-A99C-F31197176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10275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Eviction priority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D83EDB5-0943-4FBF-963A-AF16B1BF5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592455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E6375153-F1F9-4C04-A4AF-CB42E7B74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6000750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priority; currently effective with priority-aware SGLang cache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51982E2-BEE8-4073-B1F6-9A03C0B8E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6340793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{"eviction_priority":"priority-aware"}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2A7FCE0-EACE-4B8A-9A28-4B6C3C561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7031" y="592455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7B1E742E-BEE5-42D2-812C-7ABFC9B01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6000750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Emits priority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17EFBEA-BFAB-44C3-BB70-0D2730A96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6340793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{"eviction_priority":"priority"}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0D4425D-BEB4-4E67-ADC3-15921C0D8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592455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EA183936-C7C1-451E-9F36-E5F333B89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788" y="6010275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EB59571-AE98-4D04-8F6C-FB5160329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6044" y="592455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6A8DB329-EEEE-46D0-91C2-F4A1278BE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294" y="6010275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1C0A4E42-FB02-4C66-8333-D71D61465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29425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8ED081FE-3201-4182-BE19-8E38959C5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915150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Speculative prefill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2A231D9A-22DF-4266-8DDD-051681FC0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682942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FBB26490-D398-4F36-AFC0-8FA194828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6905625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speculative_prefill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3C14F64F-7165-4E0B-A270-7513D63C5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7245668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{"speculative_prefill":"speculative_prefill"}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835DD737-313F-460E-A8DE-613BB3112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7031" y="682942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BDB0392A-1ABC-460B-A8C4-657A3FEDE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6915150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0A200B22-2FEB-4A22-BE27-DB5CCA256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682942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8C538EB3-D3A0-45A7-B6B9-70A48C053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788" y="6915150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25F56C00-6AE6-496F-AC8E-E55D9ABA0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6044" y="682942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1BDAB154-6DEA-4BC1-880F-856A4D7D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294" y="6905625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WebSocket prewarm, but different mechanism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18CB7967-6B01-4202-8777-FDE3CF870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294" y="7245668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{"speculative_prefill":"websocket_prewarm"}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28C9EFB4-04F5-48EA-9596-C65E957AD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734300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6A8F1DC8-F382-406D-BFCB-F91A79FE6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820025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Cache-hit feedback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E8402189-A9A5-42DC-BC3F-ECEEB05C7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773430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09A5DF2B-E397-485D-A693-D7AF829FC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7810500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Metrics and response extensions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1758A475-C6CB-43B0-AE92-92E3E08E4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8150543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{"via":"metrics"}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CE8A1AC9-6B18-4924-8DBA-4785EAA13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7031" y="773430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7CA84790-93B9-469A-9E33-75825D474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7810500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Profiler/metrics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1C411391-7288-443B-85C3-9274CC076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8150543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{"via":"metrics"}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F97F5667-DD23-4441-8A14-1390F37B8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773430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6BE515E0-6E59-4132-AD63-B2AE4A526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788" y="7810500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Cache-read and cache-creation usage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C98DDC55-85F5-438E-9076-AE61F5715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788" y="8150543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{"cache_hit_feedback":["cache_read","cache_creation"]}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60E41B43-6FDA-4183-B4D7-5B5A19223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6044" y="773430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FDA6CF68-19AC-490D-BBF5-41BE4A172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294" y="7810500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Cached input-token usage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3FF423C0-B27E-460E-B443-15F6DED64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294" y="8150543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{"cache_hit_feedback":"cached_input_tokens"}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E16424B9-3332-4300-9853-2EAA77E4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39175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8237FD53-DD8D-4A59-BE8D-BE6D78B79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24900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pinning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4938B4FF-1B7C-420C-B6E3-070E79605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863917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CCFBDE1F-6821-4906-A743-6074B1926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8724900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61BCFEFC-EF67-4803-9968-EC47F20AE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7031" y="863917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8A51D6A9-0F9C-4911-8966-20612BB5F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8715375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Experimental/version-bound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38896DDE-02C4-4822-8950-DFBBC3395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9055418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{"cache_pinning":"version-bound"}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55DF6E86-43DC-4696-BB41-BB83FB2AA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863917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5D7970F1-2682-45F5-8C97-56FC77C35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788" y="8715375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Provider-managed TTL retention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4C4A7FB7-DB38-4371-AFD2-CDC98BB5D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788" y="9055418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AF4AD6DE-078E-440E-BBD5-E2CDCC1A8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6044" y="863917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CFCDF875-233B-42E3-AB0B-FE7ABDEC7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294" y="8724900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cxnSp>
        <p:nvCxnSpPr>
          <p:cNvPr id="234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312A8A0E-06AF-4FBC-A98F-1A63FF01F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381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Sources: user screenshots and public docs in speaker notes; each populated cell shows description plus compact JSON; '-' indicates unsupported.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5CB96794-0B6E-4269-9BA5-D866C7C76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26070311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055B1164-FB58-4EA3-B6AE-E562536AB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352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KV / prompt cache — DeepSeek, Deep Agents, Qwen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E72F33-615B-4973-8CFF-CFE924DB2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143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Signals that can influence cache reuse, cache isolation, retention, eviction, prefill, or cache feedback.</a:t>
            </a:r>
          </a:p>
        </p:txBody>
      </p:sp>
      <p:cxnSp>
        <p:nvCxnSpPr>
          <p:cNvPr id="100" name=""/>
          <p:cNvCxnSpPr/>
          <p:nvPr/>
        </p:nvCxnSpPr>
        <p:spPr>
          <a:xfrm xmlns:a="http://schemas.openxmlformats.org/drawingml/2006/main">
            <a:off x="533400" y="148590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B97307-1CDC-427F-AC56-6AEAA9409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25241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735509-F66E-4875-97DA-7E643C644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2333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Canonical 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FEBF0F-60B3-4A66-9E68-C0E3D0BB3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1695450"/>
            <a:ext cx="48926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CB45DA-0FBB-4F7A-972A-1E3F55513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781175"/>
            <a:ext cx="47021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DeepSeek Harness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4173CD-54A7-45FC-9878-637A07DFC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1695450"/>
            <a:ext cx="48926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373694-879B-454D-9819-D82798FCC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1781175"/>
            <a:ext cx="47021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Deep Agents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EEF06A-0B0F-45D2-87DB-8A5F22CFA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2875" y="1695450"/>
            <a:ext cx="48926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4BBF1E-B173-4324-B6B6-1CAE99F91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1781175"/>
            <a:ext cx="47021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Qwen Code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B54754-8072-4B4B-872F-15E195B5C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5050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43CFE5-B2D1-49A6-81BA-D8B0F19CF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90775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key/bucket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74FC67-7965-427D-B693-5C370C107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2305050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CC835F-3F2B-44C5-97BA-BE5F70B1C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381250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Automatic prefix matching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305A9C-0EC7-4C48-831B-1183D4FD5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721293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{"cache_key":"prefix_hash"}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6A2590-5E6D-4332-963C-9B5316BA8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2305050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DE19D3-C63A-448C-93E5-6321E27F1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2381250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 middleware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7AAB51-C1DB-47C9-B922-A692BF893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2721293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3AF110-A9B7-451F-859B-BDB976ABB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2875" y="2305050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F368FE-1398-482D-97C8-47AF17A27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2381250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Automatic prefix matching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5E2FFF-80E4-4430-A977-9AFADC187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2721293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{"cache_key":"prefix_hash"}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D0818F-4930-4023-AF5A-84F76F42F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09925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E3DA92-1565-43E8-A88B-B713EFFEF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95650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namespace/isolation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791088-56D0-4B6B-86BF-3C52D4AF5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3209925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43FB24A-1993-4940-8A16-C365E537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295650"/>
            <a:ext cx="47021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2F14B92-F0BC-43B2-9340-EBAFDC70C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3209925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EA37D7-66F8-4ED0-9EA3-D70D27D32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3286125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2FF10F-0C5D-49B1-B455-9A8AE8722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3626168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854ECF1-8B7D-45C4-A5B9-42BEC1471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2875" y="3209925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E33171C-EEBA-4CF8-A23E-1E093F4B8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3286125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Static header/body pass-through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B49A3CA-DFB1-43BE-ABD1-773B6CCD2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3626168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A170679-E870-47C7-B13B-12F4E4E87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14800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80CFE6C-9680-4DE6-9CB3-F3CD55201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00525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TTL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E08DFB7-1948-47BF-BCD3-35ABE444E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4114800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32D228D-C6BE-48E5-8541-721E9F603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191000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Provider-managed automatic TTL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470741C-8CC4-4EBC-9155-C176957E1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531043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6037B8A-079B-4063-8654-41754D31D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4114800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A4CE31A-12B0-40D8-9B4A-1ADA8CE4A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4191000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Anthropic/Bedrock middleware; 5-minute/1-hour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64F7D37-0D64-447F-86E7-36E0D0183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4531043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05500DC-F000-4FFC-B01E-4988B8E66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2875" y="4114800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853C660-8DA3-451B-A867-48692EA01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4191000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cacheRetention / provider cache control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FE016FA-5C3E-4B9E-AE56-39B9B03E6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4531043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8F1C753-39D6-41E8-903E-3C1AEAC8F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19675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51CAEF9-C840-433D-8039-CD4838A62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05400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entry type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ABB19D5-374C-4C05-9FB1-88D504750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5019675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0D1B755-70BF-4FCC-854D-7CB883512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5105400"/>
            <a:ext cx="47021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9DDF3DE-AC72-460C-B793-73D572C6C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5019675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AFC4DF5-45A5-455D-A939-9B2498D47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5095875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0ABCD44-16D9-47BB-B7BB-341DAB407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5435918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21540A2-090D-4176-AEFC-F81F2127C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2875" y="5019675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D3156F4-6466-4985-9232-8CBEDC367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5095875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11B7AEC-36A5-4140-961E-828CA9866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5435918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53CEBB6-9B37-43EA-A14E-A42B68392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24550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07FF5A1-330F-43E6-9B6B-3419D6702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10275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Eviction priority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E3C8723-3092-4057-9A8B-ABA6F3C44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5924550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15D1D3F-6156-421C-983F-D11F5F682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6010275"/>
            <a:ext cx="47021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A13270F-1A2A-44EE-85E9-2315630CF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5924550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A51B97B-082B-45A6-88DC-5EF9F08E2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6000750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None unless custom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9FC27B7-2570-4FA2-98F5-979D88C2E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6340793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{"eviction_priority":"None unless custom"}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5BBFAA1-F75B-4E47-B6FE-4862E3C57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2875" y="5924550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679DEFA-DCF1-49AC-A564-BDEC0B35C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6000750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 only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E48CCE9-46D4-47B0-88DE-1CB7AC3EB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6340793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A9D76F6-549F-48D4-A489-2116EE601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29425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B66332A-6DD2-4214-B2F1-ED4EE59E6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915150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Speculative prefill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01E70DE-A1EA-4B01-836C-45C4C79FA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6829425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F2B0118-0C39-4DF9-B881-E1899C037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6915150"/>
            <a:ext cx="47021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098E88C-593A-4441-A6B1-A433B3EC1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6829425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31CD638-3AE5-410E-B6E0-995DA03AA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6915150"/>
            <a:ext cx="47021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8CB0E71-A994-4716-98CA-84EE58C4F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2875" y="6829425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1AB4CF67-6DD2-4EE0-BFAD-8BD97DF3B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6905625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UI speculation, but not KV prefill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3D3857D-466E-42AB-8346-018A91A26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7245668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{"via":"different_mechanism"}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748CDB6A-15A5-4ED1-9E72-3C4708B5C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734300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CF6DB95D-7786-4180-8607-F7CF4128E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820025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Cache-hit feedback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808815F5-9E7A-4148-9173-254A5ABB6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7734300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3403D58-CDC2-4CD6-B027-231287B78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7810500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cacheReadTokens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F0A3993-7D7C-482A-A22A-A314B2B50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8150543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{"cache_hit_feedback":"cacheReadTokens"}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B824ADDE-118D-4BB9-9BFC-FC5679402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7734300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853D16A3-B8BB-46E8-9D39-E48C239C7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7810500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 trace data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CDEBEA86-F0F9-4608-B9A5-7BFBCB840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8150543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946CB2DD-E46D-448E-8FDF-3CCE85F99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2875" y="7734300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4CFE87ED-BA8E-462B-8930-4AFD537B9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7810500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Cache-hit metrics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3DFE35A8-75B4-4F9F-AA04-8E47165CF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8150543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{"via":"metrics"}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851CF3C4-11D5-4DA0-91FE-1F4166948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39175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62C5F4E0-666B-4247-852F-C939C817A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24900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pinning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BCE81B25-D1FA-4F67-AC33-4709CF4F8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8639175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76F80C59-CF1C-4AD0-98AB-08A051D31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8715375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Provider-managed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73D94415-FF15-4EFA-B4DF-89DA6EA1F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9055418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C9AC1163-27DA-4079-B00B-122983BB2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8639175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2F16156D-97B4-471B-BCBD-2CEDAD304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8715375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 middleware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6DB03773-E9AA-42FE-9786-7FDCC1284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9055418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BFBEFDC2-A5E4-4105-A9DC-705B3CAD3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2875" y="8639175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B5C5AD7E-FF80-4C70-A50B-7F0337918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8715375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A530E919-47AB-4E50-A2E2-0DBC016CF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9055418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cxnSp>
        <p:nvCxnSpPr>
          <p:cNvPr id="192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8CDC2E89-CD68-4466-B183-8B9663D78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381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Sources: user screenshots and public docs in speaker notes; each populated cell shows description plus compact JSON; '-' indicates unsupported.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BC17732C-E18F-49AB-B1FB-0C1249A4A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35603360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C336402F-FC5C-4EBB-9649-6FF4DEB61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352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Additional KV / prompt cache — Pi and OpenCode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41A663-498C-41BD-A38F-4DAEE5154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143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048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These harnesses mostly preserve or configure provider prompt caching rather than controlling KV cache placement directly.</a:t>
            </a:r>
          </a:p>
        </p:txBody>
      </p:sp>
      <p:cxnSp>
        <p:nvCxnSpPr>
          <p:cNvPr id="72" name=""/>
          <p:cNvCxnSpPr/>
          <p:nvPr/>
        </p:nvCxnSpPr>
        <p:spPr>
          <a:xfrm xmlns:a="http://schemas.openxmlformats.org/drawingml/2006/main">
            <a:off x="533400" y="148590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9C5006-870D-4A8A-AA98-4FDC62C12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2952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903CA2-310F-49B4-AC05-DA3B064F1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Canonical 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46E360-1538-45EC-8782-89A9C8EB8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695450"/>
            <a:ext cx="71247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61B4C5-17FD-42F0-8AA5-5E502008B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1781175"/>
            <a:ext cx="693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Pi Agent Harness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30BF2E-0D9C-4506-8052-33556B771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1695450"/>
            <a:ext cx="71247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2D6053-214F-4F01-80B8-83871B462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1781175"/>
            <a:ext cx="693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OpenCode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6A9F8F-950C-4FFE-B09E-7890EA670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5050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A288C9-E0D3-412C-B6EB-03910DBE6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90775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key/bucket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D7C58B-BB79-42C8-87F3-6CA0D7119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30505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55598B-C208-42ED-9440-E793C0C84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381250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Automatic provider prompt caching; no client cache key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52F91C-32A7-4FBC-ABA1-DD86E4C33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721293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{"cache_key":"provider_prompt_cache"}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66C528-3D0C-46D3-9E90-96DCD2460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0505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51189F-C36C-48C0-A96A-6316BA024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2381250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Provider-managed; optional Helicone response-cache headers via plugin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3DE99B-D4BE-4A0E-8A4D-A35E3E5E3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2721293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6A1670-8F5D-4B05-8A38-E47A7C0E7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09925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643175-1400-4925-A4F2-9AD04083E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95650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namespace/isolation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7355F0-E9BF-442C-9D78-96F187251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20992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422F87-C122-4E9A-8215-8256265F2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286125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Provider/account isolation only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1A6863-9BB8-40BE-8601-7556E00CE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626168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{"cache_namespace":"provider_account"}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ECF94B3-6567-40D3-8FCD-AABB968EF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0992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EF995C-DC53-4988-963F-B643C08D8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3286125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Provider/plugin-dependent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B0DD355-16B8-4D51-A3F0-8693AE051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3626168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{"cache_namespace":"provider_or_plugin"}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F99BC55-45A4-4215-9B55-615DF7790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14800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A29AC7D-EDE2-442B-83B4-6CC242503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00525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TTL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F6CB89-8E28-4580-9946-A38A4A184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11480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08D4B2-1CCC-4AF1-8F87-57913952D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191000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prompt_cache_retention or cache_control.ttl in custom model/provider settings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3C9ED77-067E-420D-89BA-0A0EBB914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531043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{"cache_ttl":["prompt_cache_retention","cache_control.ttl"]}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710893F-411F-4ABB-8231-2C81C954E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411480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A757FD8-0F09-4095-A8B7-707C88D1A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4200525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A21B528-467D-444D-AB3C-E5D26C0A2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19675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2D83F25-1114-48B1-8D73-706791198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05400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entry type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8CA0F58-F197-45E1-92CC-1385DFFFC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01967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EC43812-8E6D-46DA-A2FB-73EA4AB72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5095875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Provider-specific cache_control format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F346983-946E-4952-A976-A8CE7DCF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5435918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{"cache_type":["Provider-specific","cache_control"]}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619D33B-D5B4-4FDA-ACE3-941B3EB01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501967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2314E09-9CA6-4366-BD96-CD5E66B62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5105400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007D5A4-10B6-4A3A-B96B-DE37AD394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24550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F7A2847-FBF2-4D82-8496-251D132F2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10275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Eviction priority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F56C4FF-C809-4B97-8F8A-1827D2FF2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92455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5336C50-5B7C-4D50-9D45-5C902EC6D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6010275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EBB1318-CC16-4C9E-B23D-4F0C16698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592455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0B98864-E8AF-456F-8F7E-96CB9ED7F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6010275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A87FF4D-F3C3-40C5-ABE3-AE712E84A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29425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6DDA17B-FA6B-4320-988E-135C53632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915150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Speculative prefill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B95F65F-CED6-48F6-94B7-A6F2DEF52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682942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7401AEF-02A7-4825-A714-3602B0FF2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6915150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93D7485-2171-481E-9CD6-15C5D09BF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82942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4BD3482-4BB3-45A8-BE8C-86058EAE0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6915150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44A8B4F-1F4F-4A08-B2AC-E56C2FEB8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734300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9D15D31-03C1-418F-930B-2CEE1E064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820025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Cache-hit feedback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4F47DCF-142C-490E-849A-25E2B48C1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773430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6465DF6-A4C9-46DF-A056-3409A3739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7810500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Footer shows token/cache usage and cost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AC47FA2-4B66-4080-9BFE-42B8AFDA1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8150543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{"cache_hit_feedback":"Footer shows token/cache usage and cost"}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64386A5-041F-4BEA-B764-76F8BAAE8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773430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D55B3DC-D54E-4575-A3D0-47597069E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7810500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Stats/provider usage; cache feedback depends on provider/plugin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BC7A7F3-139B-4C6C-83C7-440971314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8150543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1A5356A-3DEE-4B8E-BFC5-DDFFA553D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39175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44B0581-7BA3-47CE-A90D-444E16F8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24900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pinning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EC2B40F-294A-49C1-BA22-512DC0D44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863917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D71FF68-24CC-45B1-A0C3-DD7FD65C6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8715375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Long retention where provider supports it; not pinning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0A8F09F-C4F4-45D3-A2EF-D814A16A5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9055418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{"cache_pinning":"Long retention where provider supports it; not pinning"}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AB010B1-05CD-4C5C-8A00-CE415420F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863917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2A2C72D-2AE6-4427-A9BE-009F9A55D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8724900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cxnSp>
        <p:nvCxnSpPr>
          <p:cNvPr id="136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5FDDF74-27C8-464F-9F9B-06A59008D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381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Sources: user screenshots and public docs in speaker notes; each populated cell shows description plus compact JSON; '-' indicates unsupported.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A8574B9-9072-40C5-8385-07220D329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10415736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0B3A6926-7B00-4E64-9A07-A7000C00D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352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Additional KV / prompt cache — OpenClaw and Hermes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0EA543-5A5E-4565-9B3D-D7DD63CDE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143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048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These harnesses mostly preserve or configure provider prompt caching rather than controlling KV cache placement directly.</a:t>
            </a:r>
          </a:p>
        </p:txBody>
      </p:sp>
      <p:cxnSp>
        <p:nvCxnSpPr>
          <p:cNvPr id="76" name=""/>
          <p:cNvCxnSpPr/>
          <p:nvPr/>
        </p:nvCxnSpPr>
        <p:spPr>
          <a:xfrm xmlns:a="http://schemas.openxmlformats.org/drawingml/2006/main">
            <a:off x="533400" y="148590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ECC772-06C1-456A-91FA-96B781F7A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2952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DE9140-5457-4F00-8094-F20979262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Canonical 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6287DC-5FFA-4265-93F0-8E43DCD12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695450"/>
            <a:ext cx="71247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60D93C-4E2D-4C93-BCE1-457F82D32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1781175"/>
            <a:ext cx="693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OpenClaw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85A22D-2DEC-4AD3-8345-326059F0B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1695450"/>
            <a:ext cx="71247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5E648A-1A95-4A4D-8840-99A2273F7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1781175"/>
            <a:ext cx="693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Hermes Agent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1A3229-D432-4CFA-B73D-52E71AB93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5050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4FB060-C0C9-42D3-809E-00CDD6986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90775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key/bucket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B49011-9C3C-4E92-9827-1C46DF2C0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30505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506D76-C34B-4A14-B1C9-779E42B9B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381250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Provider-managed; cached WebSocket can reuse prior response state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37A06A-6F0E-4DAE-A093-59AE76095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721293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F436D3-3901-480E-B591-7276C4244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0505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4C34E2-67FD-4792-AB4F-5959A0B66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2381250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Prompt tiers/cache boundaries; model participates in cache key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77B305-07C1-4267-B8BC-1E4B8E197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2721293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{"cache_key":["prompt_tiers","model"]}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FC56B3-3BF0-48A6-B60C-318B5498F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09925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2679D8-12D3-4EBC-B568-B64106DF9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95650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namespace/isolation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234696-2C29-4CB7-BBD6-6851D3673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20992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889084-371C-486B-82B7-EED28CBEA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286125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Provider/session isolation only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68FB76-5F5F-4631-8EF7-43C1EF9D2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626168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{"cache_namespace":"provider_session"}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358944-BB9C-444B-8DEA-8B055FCF8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0992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51A78C-79E2-4250-A9D5-FBE26AAA5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3286125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Provider/session/model isolation only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E74460-E805-4BF4-9A89-CED6DEA0F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3626168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{"cache_namespace":"provider_session_model"}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D03ACB-610B-44B5-8B60-8E0D7B98E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14800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D02719A-6399-47E6-ACA9-17E986858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00525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TTL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F1B1080-3C4C-4D7F-850B-33142B342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11480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963395C-2F5C-4029-8A7E-4FC520245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191000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Provider-managed TTL; no generic TTL hint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03FE97-67EA-40F0-891F-106E2321E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531043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AA92F36-1DD1-4393-A782-B5CE62490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411480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E0283CE-322A-4CAB-9396-9A4F68057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4191000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Default 5m; 1h for long-running sessions where supported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FD2988A-C885-4CC0-9ECA-2BA24FC00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4531043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{"cache_ttl":"long-running"}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1AE6BCC-3657-40D4-8695-4FCAD6831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19675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A6F4C28-A6D6-405D-83C7-923C7EA19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05400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entry type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68D39E5-35E8-4626-9EC6-09E64E93B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01967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93B124B-0273-4246-B7B0-F105ED747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5095875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Provider-managed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5B8778E-9DA7-4F6D-BC6B-91A8C45B6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5435918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12D9984-5320-4E4F-B0D3-D00AA05D0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501967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6B41920-DBBC-45A9-BE20-CD204CE27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5095875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Anthropic prompt-caching markers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E6FDB80-35CF-4AD3-87FA-33E892398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5435918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{"cache_type":"prompt-caching"}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E08D6D4-E4DC-47F3-B9DA-B5996B985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24550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4ACE80D-548A-409D-AF35-DDD3B3D98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10275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Eviction priority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9B463C3-2950-47AA-82A6-DBE58EEF8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92455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F77A6D9-541D-4C4E-9B74-905755EAA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6010275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CDA7E98-0BA8-499B-92B5-17566EB78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592455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7F9BD5E-03CE-4996-8FB8-3D20631C8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6010275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E49983C-A7E1-4985-A1E3-EBB5152E3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29425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7B1BB9A-639B-4C7A-8D79-C5CD03EA7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915150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Speculative prefill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4B7BF38-4F08-4427-AE39-A3417982A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682942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9E2EF07-8AA4-4C40-B0EA-97FA7C5D1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6905625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Cached WebSocket/prewarm; not KV prefill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AEF3E97-B61F-4E4D-883C-A3DA6F95A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7245668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{"via":"different_mechanism"}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0AA040B-04BC-46FC-9432-9482E19CE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82942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10BD192-F9C3-4B7F-8682-04C1D2619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6915150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3AABC58-FB00-489A-BA7D-2F2BCB960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734300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1771F13-695B-4225-9D5B-DEB318841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820025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Cache-hit feedback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32AEE4D-F9ED-4F91-8FE9-67AA86949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773430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8F243ED-A3EA-4B9D-A430-83B8A371E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7810500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 usage/tracing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0596CB5-3FA4-4AA2-AEDB-8E35F11B3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8150543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{"via":"trace"}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5963989-5E08-44AA-934A-ACCE02A41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773430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F9F0947-2A23-4EA0-AB9E-F0E5F2347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7810500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Prompt cache metrics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9316712-2E07-4789-9CAA-9243FD2F4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8150543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{"via":"metrics"}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F6C8DC2-83AB-41FC-A8B7-07206A2DE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39175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B3F6097-AA4E-4273-9E2B-945E101ED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24900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pinning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E81DB4D-5412-4F56-B9AD-D1395630E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863917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B4FE658-ED0B-4810-80FA-E17BC71A2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8715375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Provider-managed only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4A063E5-9726-4296-83FB-B9E23D45F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9055418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D82D295-E74B-4E9A-8062-BE0469DF2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863917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EA9B21A-C336-4B81-9060-2440BFB72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8715375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1h retention where supported; not pinning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221463F-CFAC-48E8-A70E-CC7BDE890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9055418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{"cache_pinning":"1h retention where supported; not pinning"}</a:t>
            </a:r>
          </a:p>
        </p:txBody>
      </p:sp>
      <p:cxnSp>
        <p:nvCxnSpPr>
          <p:cNvPr id="144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62BDFEE1-E02C-4D39-9881-C21C917F6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381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Sources: user screenshots and public docs in speaker notes; each populated cell shows description plus compact JSON; '-' indicates unsupported.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0A8AFB4-7411-4459-9967-3DC23D20C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70894871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D53989-E3EC-4EC7-9211-C79C98A44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428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Recommended canonical serving-control schema</a:t>
            </a:r>
          </a:p>
        </p:txBody>
      </p:sp>
      <p:cxnSp>
        <p:nvCxnSpPr>
          <p:cNvPr id="23" name=""/>
          <p:cNvCxnSpPr/>
          <p:nvPr/>
        </p:nvCxnSpPr>
        <p:spPr>
          <a:xfrm xmlns:a="http://schemas.openxmlformats.org/drawingml/2006/main">
            <a:off x="533400" y="116205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4AB143-EB4E-4D8E-A3B7-83F8BA2FA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85900"/>
            <a:ext cx="1438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Use this as the normalized object, then map each harness cell to the nearest available field, pass-through path, or unsupported marker.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47A63B-9C82-46D1-87FB-F54343F6E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6950"/>
            <a:ext cx="9334500" cy="6438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BD97E0-0CF2-4B6E-8F2E-961FFB375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14600"/>
            <a:ext cx="8839200" cy="590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{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"scheduling": {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"priority":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"strict_priority":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"latency_sensitivity":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"qos_tier":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"expected_output_length":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"expected_interarrival_time":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"predicted_remaining_calls": "..."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},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"cache": {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"key":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"namespace":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"ttl":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"entry_type":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"eviction_priority":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"speculative_prefill": true,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"hit_feedback": "..."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}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}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4718CD-6E8B-4C44-AB07-357442324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4003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Mapping rules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469EED-8197-4B59-AA22-DD30CDDB6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9718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Native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266E3E-7AD1-4C78-A98F-9C2D80B4E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25755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Map to the exact field/path.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72953C-A259-4E6E-80B2-DD9CD235E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7909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Emits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1C053D-494E-4644-845D-C0E843725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07670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Keep the emitted field but note backend consumption separately.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425D9C-3293-4FDB-8F0B-8F3750DEA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6101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E6489F-0464-429D-9120-B021A4767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89585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Use {"via":"pass_through"}; do not mark as native support.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8E83A3-515B-49F0-A9F9-2012E0362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4292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E79D76-8471-4D65-AC50-A948AE4E0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71500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Use {"via":"middleware"}; implementation belongs outside the harness.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588929-D62E-461D-BA09-1FA2AD251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2484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443ED7-09AC-4FDD-9F49-B589D4CB1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Use {"via":"provider"}; attach provider constraints later.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4C9E90-D046-4775-AA4D-50E9ADA86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70675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Unsupported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2C96A7-E90E-46D4-B712-B7C080544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735330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Use '-' in slides; use support:'none' in machine-readable registries.</a:t>
            </a:r>
          </a:p>
        </p:txBody>
      </p:sp>
      <p:cxnSp>
        <p:nvCxnSpPr>
          <p:cNvPr id="40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69FBE2-E09D-4426-A3BA-6C6788AE1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181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Recommendation artifact generated from the focused serving-plane signal set.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35B05A-2EC4-47CC-8240-FCA34B925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3125983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2026-08-31T22:28:45.9850000Z</dcterms:created>
  <dcterms:modified xsi:type="dcterms:W3CDTF">2026-08-31T22:28:45.9850000Z</dcterms:modified>
</coreProperties>
</file>