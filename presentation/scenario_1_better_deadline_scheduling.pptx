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70e193f1624b68" /><Relationship Type="http://schemas.openxmlformats.org/officeDocument/2006/relationships/extended-properties" Target="/docProps/app.xml" Id="R6b6efd28bb684e2f" /><Relationship Type="http://schemas.openxmlformats.org/officeDocument/2006/relationships/officeDocument" Target="/ppt/presentation.xml" Id="Radbb2825eab44a0b" /></Relationships>
</file>

<file path=ppt/presentation.xml><?xml version="1.0" encoding="utf-8"?>
<p:presentation xmlns:p="http://schemas.openxmlformats.org/presentationml/2006/main">
  <p:sldMasterIdLst>
    <p:sldMasterId xmlns:r="http://schemas.openxmlformats.org/officeDocument/2006/relationships" id="2147483648" r:id="R0f96691572284e58"/>
  </p:sldMasterIdLst>
  <p:notesMasterIdLst>
    <p:notesMasterId xmlns:r="http://schemas.openxmlformats.org/officeDocument/2006/relationships" r:id="R0c3f0c9653134df8"/>
  </p:notesMasterIdLst>
  <p:sldIdLst>
    <p:sldId xmlns:r="http://schemas.openxmlformats.org/officeDocument/2006/relationships" id="256" r:id="R22518166623c48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af35d33c014b17" /><Relationship Type="http://schemas.openxmlformats.org/officeDocument/2006/relationships/slideMaster" Target="/ppt/slideMasters/slideMaster1.xml" Id="R0f96691572284e58" /><Relationship Type="http://schemas.openxmlformats.org/officeDocument/2006/relationships/notesMaster" Target="/ppt/notesMasters/notesMaster1.xml" Id="R0c3f0c9653134df8" /><Relationship Type="http://schemas.openxmlformats.org/officeDocument/2006/relationships/presProps" Target="/ppt/presProps.xml" Id="Rcc2d33b7ed004ec7" /><Relationship Type="http://schemas.openxmlformats.org/officeDocument/2006/relationships/tableStyles" Target="/ppt/tableStyles.xml" Id="R66495445664c4514" /><Relationship Type="http://schemas.openxmlformats.org/officeDocument/2006/relationships/slide" Target="/ppt/slides/slide1.xml" Id="R22518166623c48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881dafdb5d4e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bee1bd5c574365" /><Relationship Type="http://schemas.openxmlformats.org/officeDocument/2006/relationships/notesMaster" Target="/ppt/notesMasters/notesMaster1.xml" Id="R8ec6a8a36e3747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uses ordinary FIFO replay submission. Controller mode exposes expected replay timing during tool wait, assigns due-time priority before replay, uses that priority in the local submission gate, and lowers the same priority into SGLang.</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d276955b4c48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ef377d2b8149e9" /><Relationship Type="http://schemas.openxmlformats.org/officeDocument/2006/relationships/slideLayout" Target="/ppt/slideLayouts/slideLayout1.xml" Id="R9c1597b7e981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1597b7e981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e4b48de5d04259" /><Relationship Type="http://schemas.openxmlformats.org/officeDocument/2006/relationships/notesSlide" Target="/ppt/notesSlides/notesSlide1.xml" Id="Rf4b5c93b349445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6F83BF4-468D-40E5-8611-224AD1DC70D7}"/>
              </a:ext>
            </a:extLst>
          </p:cNvPr>
          <p:cNvSpPr>
            <a:spLocks xmlns:a="http://schemas.openxmlformats.org/drawingml/2006/main" noGrp="1"/>
          </p:cNvSpPr>
          <p:nvPr/>
        </p:nvSpPr>
        <p:spPr>
          <a:xfrm xmlns:a="http://schemas.openxmlformats.org/drawingml/2006/main">
            <a:off x="533400" y="34290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Better Deadline Scheduling</a:t>
            </a:r>
          </a:p>
        </p:txBody>
      </p:sp>
      <p:sp>
        <p:nvSpPr>
          <p:cNvPr id="2" name="">
            <a:extLst xmlns:a="http://schemas.openxmlformats.org/drawingml/2006/main">
              <a:ext uri="{FF2B5EF4-FFF2-40B4-BE49-F238E27FC236}">
                <a16:creationId xmlns:a16="http://schemas.microsoft.com/office/drawing/2014/main" id="{378967E1-04C6-49C3-B8A1-0AAC148C2C0D}"/>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signals help the backend serve soon-due replay work first.</a:t>
            </a:r>
          </a:p>
        </p:txBody>
      </p:sp>
      <p:sp>
        <p:nvSpPr>
          <p:cNvPr id="3" name="">
            <a:extLst xmlns:a="http://schemas.openxmlformats.org/drawingml/2006/main">
              <a:ext uri="{FF2B5EF4-FFF2-40B4-BE49-F238E27FC236}">
                <a16:creationId xmlns:a16="http://schemas.microsoft.com/office/drawing/2014/main" id="{1425EF19-9164-4252-AE56-76896872C41D}"/>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059669"/>
                </a:solidFill>
                <a:latin typeface="Helvetica Neue"/>
                <a:ea typeface="Helvetica Neue"/>
                <a:cs typeface="Helvetica Neue"/>
              </a:defRPr>
            </a:pPr>
            <a:r>
              <a:rPr sz="1350" b="1">
                <a:solidFill>
                  <a:srgbClr val="059669"/>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90FB63C5-2DE1-4A97-912A-99D7C03BC779}"/>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0B63B5-D2C3-47BE-A9A9-6D2A62646F32}"/>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526041A5-3A7B-418D-B985-8B9A4BB8CB41}"/>
              </a:ext>
            </a:extLst>
          </p:cNvPr>
          <p:cNvSpPr>
            <a:spLocks xmlns:a="http://schemas.openxmlformats.org/drawingml/2006/main" noGrp="1"/>
          </p:cNvSpPr>
          <p:nvPr/>
        </p:nvSpPr>
        <p:spPr>
          <a:xfrm xmlns:a="http://schemas.openxmlformats.org/drawingml/2006/main">
            <a:off x="628650" y="19812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EA32C0A-8F1B-45F6-B2E3-51F69AC1789F}"/>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6550BC6F-E1D1-48FB-9CDF-65D2183921B8}"/>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9" name="">
            <a:extLst xmlns:a="http://schemas.openxmlformats.org/drawingml/2006/main">
              <a:ext uri="{FF2B5EF4-FFF2-40B4-BE49-F238E27FC236}">
                <a16:creationId xmlns:a16="http://schemas.microsoft.com/office/drawing/2014/main" id="{97DF29DD-B606-4393-889E-17203EDA9D67}"/>
              </a:ext>
            </a:extLst>
          </p:cNvPr>
          <p:cNvSpPr>
            <a:spLocks xmlns:a="http://schemas.openxmlformats.org/drawingml/2006/main" noGrp="1"/>
          </p:cNvSpPr>
          <p:nvPr/>
        </p:nvSpPr>
        <p:spPr>
          <a:xfrm xmlns:a="http://schemas.openxmlformats.org/drawingml/2006/main">
            <a:off x="628650" y="23431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95A6BABB-5620-4DEC-A78D-4CB9F9D63DAE}"/>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F2F3443E-53BF-41FE-9DB8-1ACED73FB83F}"/>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2" name="">
            <a:extLst xmlns:a="http://schemas.openxmlformats.org/drawingml/2006/main">
              <a:ext uri="{FF2B5EF4-FFF2-40B4-BE49-F238E27FC236}">
                <a16:creationId xmlns:a16="http://schemas.microsoft.com/office/drawing/2014/main" id="{3E71A874-7393-4059-B6F1-13754775E185}"/>
              </a:ext>
            </a:extLst>
          </p:cNvPr>
          <p:cNvSpPr>
            <a:spLocks xmlns:a="http://schemas.openxmlformats.org/drawingml/2006/main" noGrp="1"/>
          </p:cNvSpPr>
          <p:nvPr/>
        </p:nvSpPr>
        <p:spPr>
          <a:xfrm xmlns:a="http://schemas.openxmlformats.org/drawingml/2006/main">
            <a:off x="628650" y="27051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A0E53D71-9F85-4925-83C1-985F05BE6473}"/>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B1EE76BA-682D-46A1-823D-BBF2181F44AB}"/>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5" name="">
            <a:extLst xmlns:a="http://schemas.openxmlformats.org/drawingml/2006/main">
              <a:ext uri="{FF2B5EF4-FFF2-40B4-BE49-F238E27FC236}">
                <a16:creationId xmlns:a16="http://schemas.microsoft.com/office/drawing/2014/main" id="{865ABD22-D54E-4454-B691-3FBF36D19079}"/>
              </a:ext>
            </a:extLst>
          </p:cNvPr>
          <p:cNvSpPr>
            <a:spLocks xmlns:a="http://schemas.openxmlformats.org/drawingml/2006/main" noGrp="1"/>
          </p:cNvSpPr>
          <p:nvPr/>
        </p:nvSpPr>
        <p:spPr>
          <a:xfrm xmlns:a="http://schemas.openxmlformats.org/drawingml/2006/main">
            <a:off x="628650" y="30670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EE33F73B-61C0-46BB-A04F-2F5EE996ADA3}"/>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CA70C8BF-55D3-4354-ACEF-0B3BBC367EA3}"/>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FIFO replay submission.</a:t>
            </a:r>
          </a:p>
        </p:txBody>
      </p:sp>
      <p:sp>
        <p:nvSpPr>
          <p:cNvPr id="18" name="">
            <a:extLst xmlns:a="http://schemas.openxmlformats.org/drawingml/2006/main">
              <a:ext uri="{FF2B5EF4-FFF2-40B4-BE49-F238E27FC236}">
                <a16:creationId xmlns:a16="http://schemas.microsoft.com/office/drawing/2014/main" id="{5A171811-0741-4E71-A89B-1FA5A6456155}"/>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9" name="">
            <a:extLst xmlns:a="http://schemas.openxmlformats.org/drawingml/2006/main">
              <a:ext uri="{FF2B5EF4-FFF2-40B4-BE49-F238E27FC236}">
                <a16:creationId xmlns:a16="http://schemas.microsoft.com/office/drawing/2014/main" id="{EB846C7E-48CF-400F-87EB-38B0C8B46E0D}"/>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20" name="">
            <a:extLst xmlns:a="http://schemas.openxmlformats.org/drawingml/2006/main">
              <a:ext uri="{FF2B5EF4-FFF2-40B4-BE49-F238E27FC236}">
                <a16:creationId xmlns:a16="http://schemas.microsoft.com/office/drawing/2014/main" id="{DF333472-37DF-4058-93A1-F6FF1D10936D}"/>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gives the soonest-due replay the highest priority, applies that order before SGLang through the local submission gate, then passes the same priority into SGLang scheduling.</a:t>
            </a:r>
          </a:p>
        </p:txBody>
      </p:sp>
      <p:sp>
        <p:nvSpPr>
          <p:cNvPr id="21" name="">
            <a:extLst xmlns:a="http://schemas.openxmlformats.org/drawingml/2006/main">
              <a:ext uri="{FF2B5EF4-FFF2-40B4-BE49-F238E27FC236}">
                <a16:creationId xmlns:a16="http://schemas.microsoft.com/office/drawing/2014/main" id="{89C25424-BDC4-4EDD-8F9B-98C20CD88DCF}"/>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22" name="">
            <a:extLst xmlns:a="http://schemas.openxmlformats.org/drawingml/2006/main">
              <a:ext uri="{FF2B5EF4-FFF2-40B4-BE49-F238E27FC236}">
                <a16:creationId xmlns:a16="http://schemas.microsoft.com/office/drawing/2014/main" id="{EF4E6DDB-1A2B-4BCB-AAFE-092D5DB8B1B2}"/>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23" name="">
            <a:extLst xmlns:a="http://schemas.openxmlformats.org/drawingml/2006/main">
              <a:ext uri="{FF2B5EF4-FFF2-40B4-BE49-F238E27FC236}">
                <a16:creationId xmlns:a16="http://schemas.microsoft.com/office/drawing/2014/main" id="{11D18C9B-C709-4D8D-AC2E-820225034A04}"/>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DF1B474D-2204-4738-A5CA-BB8C538B17EF}"/>
              </a:ext>
            </a:extLst>
          </p:cNvPr>
          <p:cNvSpPr>
            <a:spLocks xmlns:a="http://schemas.openxmlformats.org/drawingml/2006/main" noGrp="1"/>
          </p:cNvSpPr>
          <p:nvPr/>
        </p:nvSpPr>
        <p:spPr>
          <a:xfrm xmlns:a="http://schemas.openxmlformats.org/drawingml/2006/main">
            <a:off x="57721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TTFT</a:t>
            </a:r>
          </a:p>
        </p:txBody>
      </p:sp>
      <p:sp>
        <p:nvSpPr>
          <p:cNvPr id="25" name="">
            <a:extLst xmlns:a="http://schemas.openxmlformats.org/drawingml/2006/main">
              <a:ext uri="{FF2B5EF4-FFF2-40B4-BE49-F238E27FC236}">
                <a16:creationId xmlns:a16="http://schemas.microsoft.com/office/drawing/2014/main" id="{12C41375-99CE-441F-A317-87BD92D2451F}"/>
              </a:ext>
            </a:extLst>
          </p:cNvPr>
          <p:cNvSpPr>
            <a:spLocks xmlns:a="http://schemas.openxmlformats.org/drawingml/2006/main" noGrp="1"/>
          </p:cNvSpPr>
          <p:nvPr/>
        </p:nvSpPr>
        <p:spPr>
          <a:xfrm xmlns:a="http://schemas.openxmlformats.org/drawingml/2006/main">
            <a:off x="57721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15.1% better</a:t>
            </a:r>
          </a:p>
        </p:txBody>
      </p:sp>
      <p:sp>
        <p:nvSpPr>
          <p:cNvPr id="26" name="">
            <a:extLst xmlns:a="http://schemas.openxmlformats.org/drawingml/2006/main">
              <a:ext uri="{FF2B5EF4-FFF2-40B4-BE49-F238E27FC236}">
                <a16:creationId xmlns:a16="http://schemas.microsoft.com/office/drawing/2014/main" id="{109C8C29-D011-4E4D-8408-119A7E5EFF14}"/>
              </a:ext>
            </a:extLst>
          </p:cNvPr>
          <p:cNvSpPr>
            <a:spLocks xmlns:a="http://schemas.openxmlformats.org/drawingml/2006/main" noGrp="1"/>
          </p:cNvSpPr>
          <p:nvPr/>
        </p:nvSpPr>
        <p:spPr>
          <a:xfrm xmlns:a="http://schemas.openxmlformats.org/drawingml/2006/main">
            <a:off x="57721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101.5 s to 86.2 s</a:t>
            </a:r>
          </a:p>
        </p:txBody>
      </p:sp>
      <p:sp>
        <p:nvSpPr>
          <p:cNvPr id="27" name="">
            <a:extLst xmlns:a="http://schemas.openxmlformats.org/drawingml/2006/main">
              <a:ext uri="{FF2B5EF4-FFF2-40B4-BE49-F238E27FC236}">
                <a16:creationId xmlns:a16="http://schemas.microsoft.com/office/drawing/2014/main" id="{ED679949-C8B3-4642-9CE2-3EF6CC4E11A8}"/>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C64CA3DB-2EEB-4961-A14F-E92689E2D55B}"/>
              </a:ext>
            </a:extLst>
          </p:cNvPr>
          <p:cNvSpPr>
            <a:spLocks xmlns:a="http://schemas.openxmlformats.org/drawingml/2006/main" noGrp="1"/>
          </p:cNvSpPr>
          <p:nvPr/>
        </p:nvSpPr>
        <p:spPr>
          <a:xfrm xmlns:a="http://schemas.openxmlformats.org/drawingml/2006/main">
            <a:off x="85534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Avg TTFT per request</a:t>
            </a:r>
          </a:p>
        </p:txBody>
      </p:sp>
      <p:sp>
        <p:nvSpPr>
          <p:cNvPr id="29" name="">
            <a:extLst xmlns:a="http://schemas.openxmlformats.org/drawingml/2006/main">
              <a:ext uri="{FF2B5EF4-FFF2-40B4-BE49-F238E27FC236}">
                <a16:creationId xmlns:a16="http://schemas.microsoft.com/office/drawing/2014/main" id="{C2BD1043-2CF7-49AC-A124-BFF490DC38E0}"/>
              </a:ext>
            </a:extLst>
          </p:cNvPr>
          <p:cNvSpPr>
            <a:spLocks xmlns:a="http://schemas.openxmlformats.org/drawingml/2006/main" noGrp="1"/>
          </p:cNvSpPr>
          <p:nvPr/>
        </p:nvSpPr>
        <p:spPr>
          <a:xfrm xmlns:a="http://schemas.openxmlformats.org/drawingml/2006/main">
            <a:off x="85534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0.5 s faster</a:t>
            </a:r>
          </a:p>
        </p:txBody>
      </p:sp>
      <p:sp>
        <p:nvSpPr>
          <p:cNvPr id="30" name="">
            <a:extLst xmlns:a="http://schemas.openxmlformats.org/drawingml/2006/main">
              <a:ext uri="{FF2B5EF4-FFF2-40B4-BE49-F238E27FC236}">
                <a16:creationId xmlns:a16="http://schemas.microsoft.com/office/drawing/2014/main" id="{24227A4E-7432-44FB-9B3A-1E5D853BA8C6}"/>
              </a:ext>
            </a:extLst>
          </p:cNvPr>
          <p:cNvSpPr>
            <a:spLocks xmlns:a="http://schemas.openxmlformats.org/drawingml/2006/main" noGrp="1"/>
          </p:cNvSpPr>
          <p:nvPr/>
        </p:nvSpPr>
        <p:spPr>
          <a:xfrm xmlns:a="http://schemas.openxmlformats.org/drawingml/2006/main">
            <a:off x="85534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3.2 s to 2.7 s</a:t>
            </a:r>
          </a:p>
        </p:txBody>
      </p:sp>
      <p:sp>
        <p:nvSpPr>
          <p:cNvPr id="31" name="">
            <a:extLst xmlns:a="http://schemas.openxmlformats.org/drawingml/2006/main">
              <a:ext uri="{FF2B5EF4-FFF2-40B4-BE49-F238E27FC236}">
                <a16:creationId xmlns:a16="http://schemas.microsoft.com/office/drawing/2014/main" id="{F2BFA820-FB04-4BE1-9753-F682AF21FFB9}"/>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D0B9FA64-87A7-4D6C-8F37-A43190BE7C4D}"/>
              </a:ext>
            </a:extLst>
          </p:cNvPr>
          <p:cNvSpPr>
            <a:spLocks xmlns:a="http://schemas.openxmlformats.org/drawingml/2006/main" noGrp="1"/>
          </p:cNvSpPr>
          <p:nvPr/>
        </p:nvSpPr>
        <p:spPr>
          <a:xfrm xmlns:a="http://schemas.openxmlformats.org/drawingml/2006/main">
            <a:off x="57721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lateness</a:t>
            </a:r>
          </a:p>
        </p:txBody>
      </p:sp>
      <p:sp>
        <p:nvSpPr>
          <p:cNvPr id="33" name="">
            <a:extLst xmlns:a="http://schemas.openxmlformats.org/drawingml/2006/main">
              <a:ext uri="{FF2B5EF4-FFF2-40B4-BE49-F238E27FC236}">
                <a16:creationId xmlns:a16="http://schemas.microsoft.com/office/drawing/2014/main" id="{8E51946F-805D-4F7F-A427-5968FB974E7D}"/>
              </a:ext>
            </a:extLst>
          </p:cNvPr>
          <p:cNvSpPr>
            <a:spLocks xmlns:a="http://schemas.openxmlformats.org/drawingml/2006/main" noGrp="1"/>
          </p:cNvSpPr>
          <p:nvPr/>
        </p:nvSpPr>
        <p:spPr>
          <a:xfrm xmlns:a="http://schemas.openxmlformats.org/drawingml/2006/main">
            <a:off x="57721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22.1% better</a:t>
            </a:r>
          </a:p>
        </p:txBody>
      </p:sp>
      <p:sp>
        <p:nvSpPr>
          <p:cNvPr id="34" name="">
            <a:extLst xmlns:a="http://schemas.openxmlformats.org/drawingml/2006/main">
              <a:ext uri="{FF2B5EF4-FFF2-40B4-BE49-F238E27FC236}">
                <a16:creationId xmlns:a16="http://schemas.microsoft.com/office/drawing/2014/main" id="{CC598309-D4F1-425D-A749-D44DE4EDD51E}"/>
              </a:ext>
            </a:extLst>
          </p:cNvPr>
          <p:cNvSpPr>
            <a:spLocks xmlns:a="http://schemas.openxmlformats.org/drawingml/2006/main" noGrp="1"/>
          </p:cNvSpPr>
          <p:nvPr/>
        </p:nvSpPr>
        <p:spPr>
          <a:xfrm xmlns:a="http://schemas.openxmlformats.org/drawingml/2006/main">
            <a:off x="57721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278.7 s to 217.1 s</a:t>
            </a:r>
          </a:p>
        </p:txBody>
      </p:sp>
      <p:sp>
        <p:nvSpPr>
          <p:cNvPr id="35" name="">
            <a:extLst xmlns:a="http://schemas.openxmlformats.org/drawingml/2006/main">
              <a:ext uri="{FF2B5EF4-FFF2-40B4-BE49-F238E27FC236}">
                <a16:creationId xmlns:a16="http://schemas.microsoft.com/office/drawing/2014/main" id="{E1294595-5950-46AC-A065-27A333EA4249}"/>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F348543A-F3A0-4C16-9213-406B50A61447}"/>
              </a:ext>
            </a:extLst>
          </p:cNvPr>
          <p:cNvSpPr>
            <a:spLocks xmlns:a="http://schemas.openxmlformats.org/drawingml/2006/main" noGrp="1"/>
          </p:cNvSpPr>
          <p:nvPr/>
        </p:nvSpPr>
        <p:spPr>
          <a:xfrm xmlns:a="http://schemas.openxmlformats.org/drawingml/2006/main">
            <a:off x="85534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8D67B49B-A451-4930-9278-724F9221B5D8}"/>
              </a:ext>
            </a:extLst>
          </p:cNvPr>
          <p:cNvSpPr>
            <a:spLocks xmlns:a="http://schemas.openxmlformats.org/drawingml/2006/main" noGrp="1"/>
          </p:cNvSpPr>
          <p:nvPr/>
        </p:nvSpPr>
        <p:spPr>
          <a:xfrm xmlns:a="http://schemas.openxmlformats.org/drawingml/2006/main">
            <a:off x="85534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37.6% better</a:t>
            </a:r>
          </a:p>
        </p:txBody>
      </p:sp>
      <p:sp>
        <p:nvSpPr>
          <p:cNvPr id="38" name="">
            <a:extLst xmlns:a="http://schemas.openxmlformats.org/drawingml/2006/main">
              <a:ext uri="{FF2B5EF4-FFF2-40B4-BE49-F238E27FC236}">
                <a16:creationId xmlns:a16="http://schemas.microsoft.com/office/drawing/2014/main" id="{9CC0981F-8A4F-4587-9317-D3B1FA017F44}"/>
              </a:ext>
            </a:extLst>
          </p:cNvPr>
          <p:cNvSpPr>
            <a:spLocks xmlns:a="http://schemas.openxmlformats.org/drawingml/2006/main" noGrp="1"/>
          </p:cNvSpPr>
          <p:nvPr/>
        </p:nvSpPr>
        <p:spPr>
          <a:xfrm xmlns:a="http://schemas.openxmlformats.org/drawingml/2006/main">
            <a:off x="85534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31.3 s to 19.5 s</a:t>
            </a:r>
          </a:p>
        </p:txBody>
      </p:sp>
      <p:sp>
        <p:nvSpPr>
          <p:cNvPr id="39" name="">
            <a:extLst xmlns:a="http://schemas.openxmlformats.org/drawingml/2006/main">
              <a:ext uri="{FF2B5EF4-FFF2-40B4-BE49-F238E27FC236}">
                <a16:creationId xmlns:a16="http://schemas.microsoft.com/office/drawing/2014/main" id="{D4282293-3A55-412A-B11B-C580824B700A}"/>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FF7ED"/>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26FB6F19-FAF3-4EC2-B5B9-040A304A2B01}"/>
              </a:ext>
            </a:extLst>
          </p:cNvPr>
          <p:cNvSpPr>
            <a:spLocks xmlns:a="http://schemas.openxmlformats.org/drawingml/2006/main" noGrp="1"/>
          </p:cNvSpPr>
          <p:nvPr/>
        </p:nvSpPr>
        <p:spPr>
          <a:xfrm xmlns:a="http://schemas.openxmlformats.org/drawingml/2006/main">
            <a:off x="5772150" y="443865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Trade-off</a:t>
            </a:r>
          </a:p>
        </p:txBody>
      </p:sp>
      <p:sp>
        <p:nvSpPr>
          <p:cNvPr id="41" name="">
            <a:extLst xmlns:a="http://schemas.openxmlformats.org/drawingml/2006/main">
              <a:ext uri="{FF2B5EF4-FFF2-40B4-BE49-F238E27FC236}">
                <a16:creationId xmlns:a16="http://schemas.microsoft.com/office/drawing/2014/main" id="{F8A3D9D1-56FE-4257-9545-B388F7250309}"/>
              </a:ext>
            </a:extLst>
          </p:cNvPr>
          <p:cNvSpPr>
            <a:spLocks xmlns:a="http://schemas.openxmlformats.org/drawingml/2006/main" noGrp="1"/>
          </p:cNvSpPr>
          <p:nvPr/>
        </p:nvSpPr>
        <p:spPr>
          <a:xfrm xmlns:a="http://schemas.openxmlformats.org/drawingml/2006/main">
            <a:off x="5772150" y="4667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B45309"/>
                </a:solidFill>
                <a:latin typeface="Helvetica Neue"/>
                <a:ea typeface="Helvetica Neue"/>
                <a:cs typeface="Helvetica Neue"/>
              </a:defRPr>
            </a:pPr>
            <a:r>
              <a:rPr sz="1800" b="1">
                <a:solidFill>
                  <a:srgbClr val="B45309"/>
                </a:solidFill>
                <a:latin typeface="Helvetica Neue"/>
                <a:ea typeface="Helvetica Neue"/>
                <a:cs typeface="Helvetica Neue"/>
              </a:rPr>
              <a:t>23.0 s longer</a:t>
            </a:r>
          </a:p>
        </p:txBody>
      </p:sp>
      <p:sp>
        <p:nvSpPr>
          <p:cNvPr id="42" name="">
            <a:extLst xmlns:a="http://schemas.openxmlformats.org/drawingml/2006/main">
              <a:ext uri="{FF2B5EF4-FFF2-40B4-BE49-F238E27FC236}">
                <a16:creationId xmlns:a16="http://schemas.microsoft.com/office/drawing/2014/main" id="{1B805E5A-8E21-4A08-AEB8-DC8993BFD070}"/>
              </a:ext>
            </a:extLst>
          </p:cNvPr>
          <p:cNvSpPr>
            <a:spLocks xmlns:a="http://schemas.openxmlformats.org/drawingml/2006/main" noGrp="1"/>
          </p:cNvSpPr>
          <p:nvPr/>
        </p:nvSpPr>
        <p:spPr>
          <a:xfrm xmlns:a="http://schemas.openxmlformats.org/drawingml/2006/main">
            <a:off x="5772150" y="495300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Workload window: 234.7 s to 257.7 s</a:t>
            </a:r>
          </a:p>
        </p:txBody>
      </p:sp>
      <p:sp>
        <p:nvSpPr>
          <p:cNvPr id="43" name="">
            <a:extLst xmlns:a="http://schemas.openxmlformats.org/drawingml/2006/main">
              <a:ext uri="{FF2B5EF4-FFF2-40B4-BE49-F238E27FC236}">
                <a16:creationId xmlns:a16="http://schemas.microsoft.com/office/drawing/2014/main" id="{C9C66FCF-96DB-4DF5-B0C7-FF63B21C13B7}"/>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B6368F-F21B-4B87-A40C-4492BFB69E03}"/>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5" name="">
            <a:extLst xmlns:a="http://schemas.openxmlformats.org/drawingml/2006/main">
              <a:ext uri="{FF2B5EF4-FFF2-40B4-BE49-F238E27FC236}">
                <a16:creationId xmlns:a16="http://schemas.microsoft.com/office/drawing/2014/main" id="{1FEF3D43-618A-45F5-AC7E-DB560466F0AE}"/>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Harness-aware scheduling reduced replay delay across the full workload, not just one target request.</a:t>
            </a:r>
          </a:p>
        </p:txBody>
      </p:sp>
      <p:sp>
        <p:nvSpPr>
          <p:cNvPr id="46" name="">
            <a:extLst xmlns:a="http://schemas.openxmlformats.org/drawingml/2006/main">
              <a:ext uri="{FF2B5EF4-FFF2-40B4-BE49-F238E27FC236}">
                <a16:creationId xmlns:a16="http://schemas.microsoft.com/office/drawing/2014/main" id="{3CD39EC8-833A-4EE7-BA81-896579D46A45}"/>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18081210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2026-09-17T17:38:30.2120000Z</dcterms:created>
  <dcterms:modified xsi:type="dcterms:W3CDTF">2026-09-17T17:38:30.2120000Z</dcterms:modified>
</coreProperties>
</file>