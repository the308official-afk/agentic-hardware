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8b2b65933c4238" /><Relationship Type="http://schemas.openxmlformats.org/officeDocument/2006/relationships/extended-properties" Target="/docProps/app.xml" Id="R01fb901e93e44727" /><Relationship Type="http://schemas.openxmlformats.org/officeDocument/2006/relationships/officeDocument" Target="/ppt/presentation.xml" Id="Rd4e791ac42b741b9" /></Relationships>
</file>

<file path=ppt/presentation.xml><?xml version="1.0" encoding="utf-8"?>
<p:presentation xmlns:p="http://schemas.openxmlformats.org/presentationml/2006/main">
  <p:sldMasterIdLst>
    <p:sldMasterId xmlns:r="http://schemas.openxmlformats.org/officeDocument/2006/relationships" id="2147483648" r:id="R660986d3031a4505"/>
  </p:sldMasterIdLst>
  <p:notesMasterIdLst>
    <p:notesMasterId xmlns:r="http://schemas.openxmlformats.org/officeDocument/2006/relationships" r:id="Ra51744c5f07b4732"/>
  </p:notesMasterIdLst>
  <p:sldIdLst>
    <p:sldId xmlns:r="http://schemas.openxmlformats.org/officeDocument/2006/relationships" id="256" r:id="R443a9f967aac40bd"/>
    <p:sldId xmlns:r="http://schemas.openxmlformats.org/officeDocument/2006/relationships" id="257" r:id="R1dc4f6dd977f4c1b"/>
    <p:sldId xmlns:r="http://schemas.openxmlformats.org/officeDocument/2006/relationships" id="258" r:id="R33f3c6b7c3f74d09"/>
    <p:sldId xmlns:r="http://schemas.openxmlformats.org/officeDocument/2006/relationships" id="259" r:id="Rf99a4d9ced3f40f2"/>
    <p:sldId xmlns:r="http://schemas.openxmlformats.org/officeDocument/2006/relationships" id="260" r:id="R2f260ac653d1447f"/>
    <p:sldId xmlns:r="http://schemas.openxmlformats.org/officeDocument/2006/relationships" id="261" r:id="Rc22b3acfbc024586"/>
    <p:sldId xmlns:r="http://schemas.openxmlformats.org/officeDocument/2006/relationships" id="262" r:id="R2bdd170283fa4b86"/>
    <p:sldId xmlns:r="http://schemas.openxmlformats.org/officeDocument/2006/relationships" id="263" r:id="R4b1662d392464e78"/>
    <p:sldId xmlns:r="http://schemas.openxmlformats.org/officeDocument/2006/relationships" id="264" r:id="Raca4ed3f82e94266"/>
    <p:sldId xmlns:r="http://schemas.openxmlformats.org/officeDocument/2006/relationships" id="265" r:id="R400cf00b9c95400f"/>
    <p:sldId xmlns:r="http://schemas.openxmlformats.org/officeDocument/2006/relationships" id="266" r:id="Ra1b74e46bcd54c28"/>
    <p:sldId xmlns:r="http://schemas.openxmlformats.org/officeDocument/2006/relationships" id="267" r:id="Rc89e3ac1aa7c45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882e4d6cb94394" /><Relationship Type="http://schemas.openxmlformats.org/officeDocument/2006/relationships/slideMaster" Target="/ppt/slideMasters/slideMaster1.xml" Id="R660986d3031a4505" /><Relationship Type="http://schemas.openxmlformats.org/officeDocument/2006/relationships/notesMaster" Target="/ppt/notesMasters/notesMaster1.xml" Id="Ra51744c5f07b4732" /><Relationship Type="http://schemas.openxmlformats.org/officeDocument/2006/relationships/presProps" Target="/ppt/presProps.xml" Id="R005165b5b4fc4ea8" /><Relationship Type="http://schemas.openxmlformats.org/officeDocument/2006/relationships/tableStyles" Target="/ppt/tableStyles.xml" Id="R7a34862156394dac" /><Relationship Type="http://schemas.openxmlformats.org/officeDocument/2006/relationships/slide" Target="/ppt/slides/slide1.xml" Id="R443a9f967aac40bd" /><Relationship Type="http://schemas.openxmlformats.org/officeDocument/2006/relationships/slide" Target="/ppt/slides/slide2.xml" Id="R1dc4f6dd977f4c1b" /><Relationship Type="http://schemas.openxmlformats.org/officeDocument/2006/relationships/slide" Target="/ppt/slides/slide3.xml" Id="R33f3c6b7c3f74d09" /><Relationship Type="http://schemas.openxmlformats.org/officeDocument/2006/relationships/slide" Target="/ppt/slides/slide4.xml" Id="Rf99a4d9ced3f40f2" /><Relationship Type="http://schemas.openxmlformats.org/officeDocument/2006/relationships/slide" Target="/ppt/slides/slide5.xml" Id="R2f260ac653d1447f" /><Relationship Type="http://schemas.openxmlformats.org/officeDocument/2006/relationships/slide" Target="/ppt/slides/slide6.xml" Id="Rc22b3acfbc024586" /><Relationship Type="http://schemas.openxmlformats.org/officeDocument/2006/relationships/slide" Target="/ppt/slides/slide7.xml" Id="R2bdd170283fa4b86" /><Relationship Type="http://schemas.openxmlformats.org/officeDocument/2006/relationships/slide" Target="/ppt/slides/slide8.xml" Id="R4b1662d392464e78" /><Relationship Type="http://schemas.openxmlformats.org/officeDocument/2006/relationships/slide" Target="/ppt/slides/slide9.xml" Id="Raca4ed3f82e94266" /><Relationship Type="http://schemas.openxmlformats.org/officeDocument/2006/relationships/slide" Target="/ppt/slides/slide10.xml" Id="R400cf00b9c95400f" /><Relationship Type="http://schemas.openxmlformats.org/officeDocument/2006/relationships/slide" Target="/ppt/slides/slide11.xml" Id="Ra1b74e46bcd54c28" /><Relationship Type="http://schemas.openxmlformats.org/officeDocument/2006/relationships/slide" Target="/ppt/slides/slide12.xml" Id="Rc89e3ac1aa7c45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18ae394a3a47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74af903e1243a0" /><Relationship Type="http://schemas.openxmlformats.org/officeDocument/2006/relationships/notesMaster" Target="/ppt/notesMasters/notesMaster1.xml" Id="Rd7f1eceb3e94414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a41c11c69f4cf9" /><Relationship Type="http://schemas.openxmlformats.org/officeDocument/2006/relationships/notesMaster" Target="/ppt/notesMasters/notesMaster1.xml" Id="Rcc4d6f543448488d"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3b0011db7a4670" /><Relationship Type="http://schemas.openxmlformats.org/officeDocument/2006/relationships/notesMaster" Target="/ppt/notesMasters/notesMaster1.xml" Id="R949bc83667f54e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2d8e1c3a64143e7" /><Relationship Type="http://schemas.openxmlformats.org/officeDocument/2006/relationships/notesMaster" Target="/ppt/notesMasters/notesMaster1.xml" Id="R56e2225d619d47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228e0cdb0846a3" /><Relationship Type="http://schemas.openxmlformats.org/officeDocument/2006/relationships/notesMaster" Target="/ppt/notesMasters/notesMaster1.xml" Id="R5bd3c8e20db344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ad7dc60faa4819" /><Relationship Type="http://schemas.openxmlformats.org/officeDocument/2006/relationships/notesMaster" Target="/ppt/notesMasters/notesMaster1.xml" Id="Rc0aa0b14b068426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862f360d224cd1" /><Relationship Type="http://schemas.openxmlformats.org/officeDocument/2006/relationships/notesMaster" Target="/ppt/notesMasters/notesMaster1.xml" Id="Rd9b3362158af46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72bd6461644a44" /><Relationship Type="http://schemas.openxmlformats.org/officeDocument/2006/relationships/notesMaster" Target="/ppt/notesMasters/notesMaster1.xml" Id="R1519be5a78c346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d04d1885fa154874" /><Relationship Type="http://schemas.openxmlformats.org/officeDocument/2006/relationships/notesMaster" Target="/ppt/notesMasters/notesMaster1.xml" Id="R201746ce5c274c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f369d1ed87474f" /><Relationship Type="http://schemas.openxmlformats.org/officeDocument/2006/relationships/notesMaster" Target="/ppt/notesMasters/notesMaster1.xml" Id="R408a6a44c5e6485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e926eb4fe547e7" /><Relationship Type="http://schemas.openxmlformats.org/officeDocument/2006/relationships/notesMaster" Target="/ppt/notesMasters/notesMaster1.xml" Id="Rb858e521ca7c4ec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e36094979e4f6a" /><Relationship Type="http://schemas.openxmlformats.org/officeDocument/2006/relationships/notesMaster" Target="/ppt/notesMasters/notesMaster1.xml" Id="R99a887073ca246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Keep the framing hardware-facing: software can provide hints, but hardware/runtime support can make those hints enforceable.</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replaces the earlier card-heavy setup with plain points.</a:t>
            </a:r>
          </a:p>
          <a:p xmlns:a="http://schemas.openxmlformats.org/drawingml/2006/main">
            <a:r>
              <a:t>Synthetic runs give clean control. Real DeepAgents/SWE-bench traces preserve coding-agent behavior.</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deliberately sparse. It should be easy to explain in one sentence.</a:t>
            </a:r>
          </a:p>
          <a:p xmlns:a="http://schemas.openxmlformats.org/drawingml/2006/main">
            <a:r>
              <a:t>The user asked to remove extra hardware/context-length details from this setup slide.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problem slide. Keep it concise and hardware-focused.</a:t>
            </a:r>
          </a:p>
          <a:p xmlns:a="http://schemas.openxmlformats.org/drawingml/2006/main">
            <a:r>
              <a:t>Do not argue software cannot do this. The claim is that hardware can make enforcement cheaper, more predictable, and scalable.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main timeline slide. It now shows a readable crop of G00 through G03 instead of compressing all rows.</a:t>
            </a:r>
          </a:p>
          <a:p xmlns:a="http://schemas.openxmlformats.org/drawingml/2006/main">
            <a:r>
              <a:t>The cropped chart shows initial model turn, tool wait, replay path, H2D, recompute, prefill, and decode.</a:t>
            </a:r>
          </a:p>
          <a:p xmlns:a="http://schemas.openxmlformats.org/drawingml/2006/main">
            <a:r>
              <a:t>The full timeline remains available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Global prefetch margin evidence: 114 matched attempts, 112 late, 98.25% late.</a:t>
            </a:r>
          </a:p>
          <a:p xmlns:a="http://schemas.openxmlformats.org/drawingml/2006/main">
            <a:r>
              <a:t>This chart is useful for showing deadline misses at a glance.</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profiled synthetic mechanism evidence.</a:t>
            </a:r>
          </a:p>
          <a:p xmlns:a="http://schemas.openxmlformats.org/drawingml/2006/main">
            <a:r>
              <a:t>It supports the claim that software/runtime scheduling and residency behavior can defeat a correct hint.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Aggregate no-prefetch evidence: 8 visible replay H2D gaps and 8 late H2D finishes.</a:t>
            </a:r>
          </a:p>
          <a:p xmlns:a="http://schemas.openxmlformats.org/drawingml/2006/main">
            <a:r>
              <a:t>This supports the deadline-aware scheduling argument.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queue timing from H2D timing.</a:t>
            </a:r>
          </a:p>
          <a:p xmlns:a="http://schemas.openxmlformats.org/drawingml/2006/main">
            <a:r>
              <a:t>Manager takeaway: a hint-aware system should affect admission, ordering, priority, and residency, not just copy calls.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synthesis of the research so far.</a:t>
            </a:r>
          </a:p>
          <a:p xmlns:a="http://schemas.openxmlformats.org/drawingml/2006/main">
            <a:r>
              <a:t>The finding list is intentionally short enough to present without reading dense boxes.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intentionally frames benefits as ballpark expectations and research targets.</a:t>
            </a:r>
          </a:p>
          <a:p xmlns:a="http://schemas.openxmlformats.org/drawingml/2006/main">
            <a:r>
              <a:t>The user previously asked for impact statements like 20% lower latency. Keep claims conservative until clean manager-grade measurements are available.</a:t>
            </a:r>
          </a:p>
          <a:p xmlns:a="http://schemas.openxmlformats.org/drawingml/2006/main">
            <a:r>
              <a:t>Potential benefit ranges are internal proposal estimates based on observed late prefetch/replay H2D patterns and expected gains from deadline-aware KV movement.</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Translate the evidence into concrete hardware support candidates.</a:t>
            </a:r>
          </a:p>
          <a:p xmlns:a="http://schemas.openxmlformats.org/drawingml/2006/main">
            <a:r>
              <a:t>These ideas map to the hardware proposal: KV metadata, semantic prefetch queue,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Synthetic report: /Users/oluwolejaiyeoba/Documents/GitHub/agentic_hardware/sglang_direct_kv/artifacts/results/latest_synthetic_master_report.html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55428186ff43d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39bd9687ad44a5" /><Relationship Type="http://schemas.openxmlformats.org/officeDocument/2006/relationships/slideLayout" Target="/ppt/slideLayouts/slideLayout1.xml" Id="Ree7888e845a1441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7888e845a1441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39cbe02c0ae47a7" /><Relationship Type="http://schemas.openxmlformats.org/officeDocument/2006/relationships/notesSlide" Target="/ppt/notesSlides/notesSlide1.xml" Id="R6aaa77fcabfc4f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76d7b848445478d" /><Relationship Type="http://schemas.openxmlformats.org/officeDocument/2006/relationships/notesSlide" Target="/ppt/notesSlides/notesSlide2.xml" Id="Rd96793ef449543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bd67956eafd4d02" /><Relationship Type="http://schemas.openxmlformats.org/officeDocument/2006/relationships/notesSlide" Target="/ppt/notesSlides/notesSlide3.xml" Id="R34acfca3997b47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56c4552eb434095" /><Relationship Type="http://schemas.openxmlformats.org/officeDocument/2006/relationships/notesSlide" Target="/ppt/notesSlides/notesSlide4.xml" Id="R774bd2e01b9a46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9676817bdf3422e" /><Relationship Type="http://schemas.openxmlformats.org/officeDocument/2006/relationships/image" Target="/ppt/media/image.png" Id="R4150a337e9ec487f" /><Relationship Type="http://schemas.openxmlformats.org/officeDocument/2006/relationships/notesSlide" Target="/ppt/notesSlides/notesSlide5.xml" Id="R5557637fd45d48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59865822ad44123" /><Relationship Type="http://schemas.openxmlformats.org/officeDocument/2006/relationships/image" Target="/ppt/media/image2.png" Id="R7d60b54b0d0747a6" /><Relationship Type="http://schemas.openxmlformats.org/officeDocument/2006/relationships/notesSlide" Target="/ppt/notesSlides/notesSlide6.xml" Id="R6ff2f0b2bf7441e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cf9f30692394817" /><Relationship Type="http://schemas.openxmlformats.org/officeDocument/2006/relationships/image" Target="/ppt/media/image3.png" Id="R67a320ad8d814d10" /><Relationship Type="http://schemas.openxmlformats.org/officeDocument/2006/relationships/notesSlide" Target="/ppt/notesSlides/notesSlide7.xml" Id="R09c6c83fb2bd496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916477fcf9c46de" /><Relationship Type="http://schemas.openxmlformats.org/officeDocument/2006/relationships/image" Target="/ppt/media/image4.png" Id="Rf5da76c6325b4799" /><Relationship Type="http://schemas.openxmlformats.org/officeDocument/2006/relationships/notesSlide" Target="/ppt/notesSlides/notesSlide8.xml" Id="R11389e0670a24f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f1f37918914cc1" /><Relationship Type="http://schemas.openxmlformats.org/officeDocument/2006/relationships/image" Target="/ppt/media/image5.png" Id="Rd0b858a0a6e24cbf" /><Relationship Type="http://schemas.openxmlformats.org/officeDocument/2006/relationships/notesSlide" Target="/ppt/notesSlides/notesSlide9.xml" Id="R3562a7334e2040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41e74264641494a" /><Relationship Type="http://schemas.openxmlformats.org/officeDocument/2006/relationships/notesSlide" Target="/ppt/notesSlides/notesSlide10.xml" Id="Rc887fc4094ae46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4c096e9a4e34581" /><Relationship Type="http://schemas.openxmlformats.org/officeDocument/2006/relationships/notesSlide" Target="/ppt/notesSlides/notesSlide11.xml" Id="R7e842988053c4f4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4088d928dd24bb1" /><Relationship Type="http://schemas.openxmlformats.org/officeDocument/2006/relationships/notesSlide" Target="/ppt/notesSlides/notesSlide12.xml" Id="Rb4262853d7624aa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C2DE161-E611-4262-B733-5CD158F3DBBA}"/>
              </a:ext>
            </a:extLst>
          </p:cNvPr>
          <p:cNvSpPr>
            <a:spLocks xmlns:a="http://schemas.openxmlformats.org/drawingml/2006/main" noGrp="1"/>
          </p:cNvSpPr>
          <p:nvPr/>
        </p:nvSpPr>
        <p:spPr>
          <a:xfrm xmlns:a="http://schemas.openxmlformats.org/drawingml/2006/main">
            <a:off x="419100" y="552450"/>
            <a:ext cx="9810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F172A"/>
                </a:solidFill>
              </a:defRPr>
            </a:pPr>
            <a:r>
              <a:rPr sz="420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45C3661D-E131-402E-AAAA-2FCE11314ED8}"/>
              </a:ext>
            </a:extLst>
          </p:cNvPr>
          <p:cNvSpPr>
            <a:spLocks xmlns:a="http://schemas.openxmlformats.org/drawingml/2006/main" noGrp="1"/>
          </p:cNvSpPr>
          <p:nvPr/>
        </p:nvSpPr>
        <p:spPr>
          <a:xfrm xmlns:a="http://schemas.openxmlformats.org/drawingml/2006/main">
            <a:off x="457200" y="1809750"/>
            <a:ext cx="103822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334155"/>
                </a:solidFill>
              </a:defRPr>
            </a:pPr>
            <a:r>
              <a:rPr sz="1650"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quantifies that gap and prototypes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FA2DD041-0C3E-4D53-A976-60EEEA027435}"/>
              </a:ext>
            </a:extLst>
          </p:cNvPr>
          <p:cNvSpPr>
            <a:spLocks xmlns:a="http://schemas.openxmlformats.org/drawingml/2006/main" noGrp="1"/>
          </p:cNvSpPr>
          <p:nvPr/>
        </p:nvSpPr>
        <p:spPr>
          <a:xfrm xmlns:a="http://schemas.openxmlformats.org/drawingml/2006/main">
            <a:off x="419100" y="35433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B21E43B-A4BB-4400-A440-10315E075255}"/>
              </a:ext>
            </a:extLst>
          </p:cNvPr>
          <p:cNvSpPr>
            <a:spLocks xmlns:a="http://schemas.openxmlformats.org/drawingml/2006/main" noGrp="1"/>
          </p:cNvSpPr>
          <p:nvPr/>
        </p:nvSpPr>
        <p:spPr>
          <a:xfrm xmlns:a="http://schemas.openxmlformats.org/drawingml/2006/main">
            <a:off x="876300" y="4000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5AD7DF86-6114-4CEE-8AC2-AA1DFF95FFAF}"/>
              </a:ext>
            </a:extLst>
          </p:cNvPr>
          <p:cNvSpPr>
            <a:spLocks xmlns:a="http://schemas.openxmlformats.org/drawingml/2006/main" noGrp="1"/>
          </p:cNvSpPr>
          <p:nvPr/>
        </p:nvSpPr>
        <p:spPr>
          <a:xfrm xmlns:a="http://schemas.openxmlformats.org/drawingml/2006/main">
            <a:off x="1162050" y="4019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Core problem: memory movement sees bytes, not agent deadlines.</a:t>
            </a:r>
          </a:p>
        </p:txBody>
      </p:sp>
      <p:sp>
        <p:nvSpPr>
          <p:cNvPr id="6" name="">
            <a:extLst xmlns:a="http://schemas.openxmlformats.org/drawingml/2006/main">
              <a:ext uri="{FF2B5EF4-FFF2-40B4-BE49-F238E27FC236}">
                <a16:creationId xmlns:a16="http://schemas.microsoft.com/office/drawing/2014/main" id="{C31B95AA-5D08-4016-8AA5-D0F32AA91D21}"/>
              </a:ext>
            </a:extLst>
          </p:cNvPr>
          <p:cNvSpPr>
            <a:spLocks xmlns:a="http://schemas.openxmlformats.org/drawingml/2006/main" noGrp="1"/>
          </p:cNvSpPr>
          <p:nvPr/>
        </p:nvSpPr>
        <p:spPr>
          <a:xfrm xmlns:a="http://schemas.openxmlformats.org/drawingml/2006/main">
            <a:off x="876300" y="4552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563EB"/>
                </a:solidFill>
              </a:defRPr>
            </a:pPr>
            <a:r>
              <a:rPr sz="1950" b="1">
                <a:solidFill>
                  <a:srgbClr val="2563EB"/>
                </a:solidFill>
              </a:rPr>
              <a:t>•</a:t>
            </a:r>
          </a:p>
        </p:txBody>
      </p:sp>
      <p:sp>
        <p:nvSpPr>
          <p:cNvPr id="7" name="">
            <a:extLst xmlns:a="http://schemas.openxmlformats.org/drawingml/2006/main">
              <a:ext uri="{FF2B5EF4-FFF2-40B4-BE49-F238E27FC236}">
                <a16:creationId xmlns:a16="http://schemas.microsoft.com/office/drawing/2014/main" id="{AA973700-6C77-475C-8C91-56EAF055F9ED}"/>
              </a:ext>
            </a:extLst>
          </p:cNvPr>
          <p:cNvSpPr>
            <a:spLocks xmlns:a="http://schemas.openxmlformats.org/drawingml/2006/main" noGrp="1"/>
          </p:cNvSpPr>
          <p:nvPr/>
        </p:nvSpPr>
        <p:spPr>
          <a:xfrm xmlns:a="http://schemas.openxmlformats.org/drawingml/2006/main">
            <a:off x="1162050" y="457200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Research target: make KV movement deadline-aware and session-aware.</a:t>
            </a:r>
          </a:p>
        </p:txBody>
      </p:sp>
      <p:sp>
        <p:nvSpPr>
          <p:cNvPr id="8" name="">
            <a:extLst xmlns:a="http://schemas.openxmlformats.org/drawingml/2006/main">
              <a:ext uri="{FF2B5EF4-FFF2-40B4-BE49-F238E27FC236}">
                <a16:creationId xmlns:a16="http://schemas.microsoft.com/office/drawing/2014/main" id="{06599A79-558A-47B7-B45B-F500320C8955}"/>
              </a:ext>
            </a:extLst>
          </p:cNvPr>
          <p:cNvSpPr>
            <a:spLocks xmlns:a="http://schemas.openxmlformats.org/drawingml/2006/main" noGrp="1"/>
          </p:cNvSpPr>
          <p:nvPr/>
        </p:nvSpPr>
        <p:spPr>
          <a:xfrm xmlns:a="http://schemas.openxmlformats.org/drawingml/2006/main">
            <a:off x="876300" y="5105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16A34A"/>
                </a:solidFill>
              </a:defRPr>
            </a:pPr>
            <a:r>
              <a:rPr sz="1950" b="1">
                <a:solidFill>
                  <a:srgbClr val="16A34A"/>
                </a:solidFill>
              </a:rPr>
              <a:t>•</a:t>
            </a:r>
          </a:p>
        </p:txBody>
      </p:sp>
      <p:sp>
        <p:nvSpPr>
          <p:cNvPr id="9" name="">
            <a:extLst xmlns:a="http://schemas.openxmlformats.org/drawingml/2006/main">
              <a:ext uri="{FF2B5EF4-FFF2-40B4-BE49-F238E27FC236}">
                <a16:creationId xmlns:a16="http://schemas.microsoft.com/office/drawing/2014/main" id="{F699F22B-59F9-4ECA-A615-8AD5A3D08770}"/>
              </a:ext>
            </a:extLst>
          </p:cNvPr>
          <p:cNvSpPr>
            <a:spLocks xmlns:a="http://schemas.openxmlformats.org/drawingml/2006/main" noGrp="1"/>
          </p:cNvSpPr>
          <p:nvPr/>
        </p:nvSpPr>
        <p:spPr>
          <a:xfrm xmlns:a="http://schemas.openxmlformats.org/drawingml/2006/main">
            <a:off x="1162050" y="51244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334155"/>
                </a:solidFill>
              </a:defRPr>
            </a:pPr>
            <a:r>
              <a:rPr sz="1800" b="0">
                <a:solidFill>
                  <a:srgbClr val="334155"/>
                </a:solidFill>
              </a:rPr>
              <a:t>Hardware angle: smarter DMA queues, KV metadata, residency protection, and telemetry.</a:t>
            </a:r>
          </a:p>
        </p:txBody>
      </p:sp>
      <p:sp>
        <p:nvSpPr>
          <p:cNvPr id="10" name="">
            <a:extLst xmlns:a="http://schemas.openxmlformats.org/drawingml/2006/main">
              <a:ext uri="{FF2B5EF4-FFF2-40B4-BE49-F238E27FC236}">
                <a16:creationId xmlns:a16="http://schemas.microsoft.com/office/drawing/2014/main" id="{E9993F09-C781-4902-B1F0-4A50EFE91EBA}"/>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F818A59E-BDB3-40AF-A166-0184570D9656}"/>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51933348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214A903-4877-4D6F-B48E-3A86B4C4572C}"/>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testbed has controlled and real traffic</a:t>
            </a:r>
          </a:p>
        </p:txBody>
      </p:sp>
      <p:sp>
        <p:nvSpPr>
          <p:cNvPr id="2" name="">
            <a:extLst xmlns:a="http://schemas.openxmlformats.org/drawingml/2006/main">
              <a:ext uri="{FF2B5EF4-FFF2-40B4-BE49-F238E27FC236}">
                <a16:creationId xmlns:a16="http://schemas.microsoft.com/office/drawing/2014/main" id="{B819FBBA-F596-4F7B-9888-36243BF89721}"/>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Controlled runs expose mechanisms; real traces keep the workload credible.</a:t>
            </a:r>
          </a:p>
        </p:txBody>
      </p:sp>
      <p:sp>
        <p:nvSpPr>
          <p:cNvPr id="3" name="">
            <a:extLst xmlns:a="http://schemas.openxmlformats.org/drawingml/2006/main">
              <a:ext uri="{FF2B5EF4-FFF2-40B4-BE49-F238E27FC236}">
                <a16:creationId xmlns:a16="http://schemas.microsoft.com/office/drawing/2014/main" id="{71576250-220D-44DD-9572-8C3216639949}"/>
              </a:ext>
            </a:extLst>
          </p:cNvPr>
          <p:cNvSpPr>
            <a:spLocks xmlns:a="http://schemas.openxmlformats.org/drawingml/2006/main" noGrp="1"/>
          </p:cNvSpPr>
          <p:nvPr/>
        </p:nvSpPr>
        <p:spPr>
          <a:xfrm xmlns:a="http://schemas.openxmlformats.org/drawingml/2006/main">
            <a:off x="800100" y="17716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86D7D8BF-7C48-4630-9784-973D204EBBEE}"/>
              </a:ext>
            </a:extLst>
          </p:cNvPr>
          <p:cNvSpPr>
            <a:spLocks xmlns:a="http://schemas.openxmlformats.org/drawingml/2006/main" noGrp="1"/>
          </p:cNvSpPr>
          <p:nvPr/>
        </p:nvSpPr>
        <p:spPr>
          <a:xfrm xmlns:a="http://schemas.openxmlformats.org/drawingml/2006/main">
            <a:off x="1085850" y="17907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Controlled synthetic path: prompt size, tool wait, filler pressure, and replay deadline are known.</a:t>
            </a:r>
          </a:p>
        </p:txBody>
      </p:sp>
      <p:sp>
        <p:nvSpPr>
          <p:cNvPr id="5" name="">
            <a:extLst xmlns:a="http://schemas.openxmlformats.org/drawingml/2006/main">
              <a:ext uri="{FF2B5EF4-FFF2-40B4-BE49-F238E27FC236}">
                <a16:creationId xmlns:a16="http://schemas.microsoft.com/office/drawing/2014/main" id="{93D95A12-1A23-4D53-BCC5-914C93D0DDF6}"/>
              </a:ext>
            </a:extLst>
          </p:cNvPr>
          <p:cNvSpPr>
            <a:spLocks xmlns:a="http://schemas.openxmlformats.org/drawingml/2006/main" noGrp="1"/>
          </p:cNvSpPr>
          <p:nvPr/>
        </p:nvSpPr>
        <p:spPr>
          <a:xfrm xmlns:a="http://schemas.openxmlformats.org/drawingml/2006/main">
            <a:off x="800100" y="2476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1DD8B41A-D374-4232-BE34-36A74B338545}"/>
              </a:ext>
            </a:extLst>
          </p:cNvPr>
          <p:cNvSpPr>
            <a:spLocks xmlns:a="http://schemas.openxmlformats.org/drawingml/2006/main" noGrp="1"/>
          </p:cNvSpPr>
          <p:nvPr/>
        </p:nvSpPr>
        <p:spPr>
          <a:xfrm xmlns:a="http://schemas.openxmlformats.org/drawingml/2006/main">
            <a:off x="1085850" y="249555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Real coding-agent path: SWE-bench / AgentBench traces feed DeepAgents and SGLang.</a:t>
            </a:r>
          </a:p>
        </p:txBody>
      </p:sp>
      <p:sp>
        <p:nvSpPr>
          <p:cNvPr id="7" name="">
            <a:extLst xmlns:a="http://schemas.openxmlformats.org/drawingml/2006/main">
              <a:ext uri="{FF2B5EF4-FFF2-40B4-BE49-F238E27FC236}">
                <a16:creationId xmlns:a16="http://schemas.microsoft.com/office/drawing/2014/main" id="{F8DD4EA7-68BB-411C-AA8E-6863FE206F50}"/>
              </a:ext>
            </a:extLst>
          </p:cNvPr>
          <p:cNvSpPr>
            <a:spLocks xmlns:a="http://schemas.openxmlformats.org/drawingml/2006/main" noGrp="1"/>
          </p:cNvSpPr>
          <p:nvPr/>
        </p:nvSpPr>
        <p:spPr>
          <a:xfrm xmlns:a="http://schemas.openxmlformats.org/drawingml/2006/main">
            <a:off x="80010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1C8D5E37-BA82-4188-B455-0E8C2DCA8947}"/>
              </a:ext>
            </a:extLst>
          </p:cNvPr>
          <p:cNvSpPr>
            <a:spLocks xmlns:a="http://schemas.openxmlformats.org/drawingml/2006/main" noGrp="1"/>
          </p:cNvSpPr>
          <p:nvPr/>
        </p:nvSpPr>
        <p:spPr>
          <a:xfrm xmlns:a="http://schemas.openxmlformats.org/drawingml/2006/main">
            <a:off x="1085850" y="3200400"/>
            <a:ext cx="981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Both paths measure the same question: was useful KV ready before replay?</a:t>
            </a:r>
          </a:p>
        </p:txBody>
      </p:sp>
      <p:sp>
        <p:nvSpPr>
          <p:cNvPr id="9" name="">
            <a:extLst xmlns:a="http://schemas.openxmlformats.org/drawingml/2006/main">
              <a:ext uri="{FF2B5EF4-FFF2-40B4-BE49-F238E27FC236}">
                <a16:creationId xmlns:a16="http://schemas.microsoft.com/office/drawing/2014/main" id="{C55A4190-5409-428D-AE3B-9535F4AD1DDE}"/>
              </a:ext>
            </a:extLst>
          </p:cNvPr>
          <p:cNvSpPr>
            <a:spLocks xmlns:a="http://schemas.openxmlformats.org/drawingml/2006/main" noGrp="1"/>
          </p:cNvSpPr>
          <p:nvPr/>
        </p:nvSpPr>
        <p:spPr>
          <a:xfrm xmlns:a="http://schemas.openxmlformats.org/drawingml/2006/main">
            <a:off x="914400" y="4533900"/>
            <a:ext cx="1009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400" b="1">
                <a:solidFill>
                  <a:srgbClr val="0F172A"/>
                </a:solidFill>
              </a:defRPr>
            </a:pPr>
            <a:r>
              <a:rPr sz="2400" b="1">
                <a:solidFill>
                  <a:srgbClr val="0F172A"/>
                </a:solidFill>
              </a:rPr>
              <a:t>agent task   →   tool wait   →   replay   →   KV ready?</a:t>
            </a:r>
          </a:p>
        </p:txBody>
      </p:sp>
      <p:sp>
        <p:nvSpPr>
          <p:cNvPr id="10" name="">
            <a:extLst xmlns:a="http://schemas.openxmlformats.org/drawingml/2006/main">
              <a:ext uri="{FF2B5EF4-FFF2-40B4-BE49-F238E27FC236}">
                <a16:creationId xmlns:a16="http://schemas.microsoft.com/office/drawing/2014/main" id="{9F911AD4-54DA-4BDB-A27E-01FD73237203}"/>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9495BC32-3E64-4ABB-88B1-01724A8C9824}"/>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12456506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0312D3C-5AC6-4EA9-A794-91A6A7F2FCB9}"/>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Experiment Testbed Setup</a:t>
            </a:r>
          </a:p>
        </p:txBody>
      </p:sp>
      <p:sp>
        <p:nvSpPr>
          <p:cNvPr id="2" name="">
            <a:extLst xmlns:a="http://schemas.openxmlformats.org/drawingml/2006/main">
              <a:ext uri="{FF2B5EF4-FFF2-40B4-BE49-F238E27FC236}">
                <a16:creationId xmlns:a16="http://schemas.microsoft.com/office/drawing/2014/main" id="{8A0548C2-5826-488D-B1F1-22BD71C878F3}"/>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real-request path is intentionally simple.</a:t>
            </a:r>
          </a:p>
        </p:txBody>
      </p:sp>
      <p:sp>
        <p:nvSpPr>
          <p:cNvPr id="3" name="">
            <a:extLst xmlns:a="http://schemas.openxmlformats.org/drawingml/2006/main">
              <a:ext uri="{FF2B5EF4-FFF2-40B4-BE49-F238E27FC236}">
                <a16:creationId xmlns:a16="http://schemas.microsoft.com/office/drawing/2014/main" id="{7A583227-C72C-4870-A4AB-26A7F0325A69}"/>
              </a:ext>
            </a:extLst>
          </p:cNvPr>
          <p:cNvSpPr>
            <a:spLocks xmlns:a="http://schemas.openxmlformats.org/drawingml/2006/main" noGrp="1"/>
          </p:cNvSpPr>
          <p:nvPr/>
        </p:nvSpPr>
        <p:spPr>
          <a:xfrm xmlns:a="http://schemas.openxmlformats.org/drawingml/2006/main">
            <a:off x="723900"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2563EB"/>
            </a:solidFill>
            <a:prstDash val="solid"/>
          </a:ln>
        </p:spPr>
      </p:sp>
      <p:sp>
        <p:nvSpPr>
          <p:cNvPr id="4" name="">
            <a:extLst xmlns:a="http://schemas.openxmlformats.org/drawingml/2006/main">
              <a:ext uri="{FF2B5EF4-FFF2-40B4-BE49-F238E27FC236}">
                <a16:creationId xmlns:a16="http://schemas.microsoft.com/office/drawing/2014/main" id="{69124CE2-0E7A-414A-A43F-BF80FC76B928}"/>
              </a:ext>
            </a:extLst>
          </p:cNvPr>
          <p:cNvSpPr>
            <a:spLocks xmlns:a="http://schemas.openxmlformats.org/drawingml/2006/main" noGrp="1"/>
          </p:cNvSpPr>
          <p:nvPr/>
        </p:nvSpPr>
        <p:spPr>
          <a:xfrm xmlns:a="http://schemas.openxmlformats.org/drawingml/2006/main">
            <a:off x="857250"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SWE-bench</a:t>
            </a:r>
          </a:p>
          <a:p xmlns:a="http://schemas.openxmlformats.org/drawingml/2006/main">
            <a:pPr algn="ctr">
              <a:defRPr sz="1575" b="1">
                <a:solidFill>
                  <a:srgbClr val="0F172A"/>
                </a:solidFill>
              </a:defRPr>
            </a:pPr>
            <a:r>
              <a:rPr sz="1575" b="1">
                <a:solidFill>
                  <a:srgbClr val="0F172A"/>
                </a:solidFill>
              </a:rPr>
              <a:t>traces</a:t>
            </a:r>
          </a:p>
        </p:txBody>
      </p:sp>
      <p:sp>
        <p:nvSpPr>
          <p:cNvPr id="5" name="">
            <a:extLst xmlns:a="http://schemas.openxmlformats.org/drawingml/2006/main">
              <a:ext uri="{FF2B5EF4-FFF2-40B4-BE49-F238E27FC236}">
                <a16:creationId xmlns:a16="http://schemas.microsoft.com/office/drawing/2014/main" id="{4EE85025-0FC7-4A73-B66D-04BB04A845C9}"/>
              </a:ext>
            </a:extLst>
          </p:cNvPr>
          <p:cNvSpPr>
            <a:spLocks xmlns:a="http://schemas.openxmlformats.org/drawingml/2006/main" noGrp="1"/>
          </p:cNvSpPr>
          <p:nvPr/>
        </p:nvSpPr>
        <p:spPr>
          <a:xfrm xmlns:a="http://schemas.openxmlformats.org/drawingml/2006/main">
            <a:off x="3043238"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6" name="">
            <a:extLst xmlns:a="http://schemas.openxmlformats.org/drawingml/2006/main">
              <a:ext uri="{FF2B5EF4-FFF2-40B4-BE49-F238E27FC236}">
                <a16:creationId xmlns:a16="http://schemas.microsoft.com/office/drawing/2014/main" id="{692CB88B-26EC-4AD0-BAFA-CB670F9FF2E2}"/>
              </a:ext>
            </a:extLst>
          </p:cNvPr>
          <p:cNvSpPr>
            <a:spLocks xmlns:a="http://schemas.openxmlformats.org/drawingml/2006/main" noGrp="1"/>
          </p:cNvSpPr>
          <p:nvPr/>
        </p:nvSpPr>
        <p:spPr>
          <a:xfrm xmlns:a="http://schemas.openxmlformats.org/drawingml/2006/main">
            <a:off x="3557588"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9333EA"/>
            </a:solidFill>
            <a:prstDash val="solid"/>
          </a:ln>
        </p:spPr>
      </p:sp>
      <p:sp>
        <p:nvSpPr>
          <p:cNvPr id="7" name="">
            <a:extLst xmlns:a="http://schemas.openxmlformats.org/drawingml/2006/main">
              <a:ext uri="{FF2B5EF4-FFF2-40B4-BE49-F238E27FC236}">
                <a16:creationId xmlns:a16="http://schemas.microsoft.com/office/drawing/2014/main" id="{EB4C16F5-0B5D-49C1-9EC6-7476A982D203}"/>
              </a:ext>
            </a:extLst>
          </p:cNvPr>
          <p:cNvSpPr>
            <a:spLocks xmlns:a="http://schemas.openxmlformats.org/drawingml/2006/main" noGrp="1"/>
          </p:cNvSpPr>
          <p:nvPr/>
        </p:nvSpPr>
        <p:spPr>
          <a:xfrm xmlns:a="http://schemas.openxmlformats.org/drawingml/2006/main">
            <a:off x="3690938"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DeepAgents</a:t>
            </a:r>
          </a:p>
          <a:p xmlns:a="http://schemas.openxmlformats.org/drawingml/2006/main">
            <a:pPr algn="ctr">
              <a:defRPr sz="1575" b="1">
                <a:solidFill>
                  <a:srgbClr val="0F172A"/>
                </a:solidFill>
              </a:defRPr>
            </a:pPr>
            <a:r>
              <a:rPr sz="1575" b="1">
                <a:solidFill>
                  <a:srgbClr val="0F172A"/>
                </a:solidFill>
              </a:rPr>
              <a:t>tool loop</a:t>
            </a:r>
          </a:p>
        </p:txBody>
      </p:sp>
      <p:sp>
        <p:nvSpPr>
          <p:cNvPr id="8" name="">
            <a:extLst xmlns:a="http://schemas.openxmlformats.org/drawingml/2006/main">
              <a:ext uri="{FF2B5EF4-FFF2-40B4-BE49-F238E27FC236}">
                <a16:creationId xmlns:a16="http://schemas.microsoft.com/office/drawing/2014/main" id="{F5E5B23B-9916-4E8D-9843-A0259640B12E}"/>
              </a:ext>
            </a:extLst>
          </p:cNvPr>
          <p:cNvSpPr>
            <a:spLocks xmlns:a="http://schemas.openxmlformats.org/drawingml/2006/main" noGrp="1"/>
          </p:cNvSpPr>
          <p:nvPr/>
        </p:nvSpPr>
        <p:spPr>
          <a:xfrm xmlns:a="http://schemas.openxmlformats.org/drawingml/2006/main">
            <a:off x="5876925"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9" name="">
            <a:extLst xmlns:a="http://schemas.openxmlformats.org/drawingml/2006/main">
              <a:ext uri="{FF2B5EF4-FFF2-40B4-BE49-F238E27FC236}">
                <a16:creationId xmlns:a16="http://schemas.microsoft.com/office/drawing/2014/main" id="{82D3EA5A-DD27-4A2F-B366-FCCF188D0B4B}"/>
              </a:ext>
            </a:extLst>
          </p:cNvPr>
          <p:cNvSpPr>
            <a:spLocks xmlns:a="http://schemas.openxmlformats.org/drawingml/2006/main" noGrp="1"/>
          </p:cNvSpPr>
          <p:nvPr/>
        </p:nvSpPr>
        <p:spPr>
          <a:xfrm xmlns:a="http://schemas.openxmlformats.org/drawingml/2006/main">
            <a:off x="6391275"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0891B2"/>
            </a:solidFill>
            <a:prstDash val="solid"/>
          </a:ln>
        </p:spPr>
      </p:sp>
      <p:sp>
        <p:nvSpPr>
          <p:cNvPr id="10" name="">
            <a:extLst xmlns:a="http://schemas.openxmlformats.org/drawingml/2006/main">
              <a:ext uri="{FF2B5EF4-FFF2-40B4-BE49-F238E27FC236}">
                <a16:creationId xmlns:a16="http://schemas.microsoft.com/office/drawing/2014/main" id="{D0C8E1C4-3538-47AE-BB0A-DE056346D7BC}"/>
              </a:ext>
            </a:extLst>
          </p:cNvPr>
          <p:cNvSpPr>
            <a:spLocks xmlns:a="http://schemas.openxmlformats.org/drawingml/2006/main" noGrp="1"/>
          </p:cNvSpPr>
          <p:nvPr/>
        </p:nvSpPr>
        <p:spPr>
          <a:xfrm xmlns:a="http://schemas.openxmlformats.org/drawingml/2006/main">
            <a:off x="6524625"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SGLang</a:t>
            </a:r>
          </a:p>
          <a:p xmlns:a="http://schemas.openxmlformats.org/drawingml/2006/main">
            <a:pPr algn="ctr">
              <a:defRPr sz="1575" b="1">
                <a:solidFill>
                  <a:srgbClr val="0F172A"/>
                </a:solidFill>
              </a:defRPr>
            </a:pPr>
            <a:r>
              <a:rPr sz="1575" b="1">
                <a:solidFill>
                  <a:srgbClr val="0F172A"/>
                </a:solidFill>
              </a:rPr>
              <a:t>server</a:t>
            </a:r>
          </a:p>
        </p:txBody>
      </p:sp>
      <p:sp>
        <p:nvSpPr>
          <p:cNvPr id="11" name="">
            <a:extLst xmlns:a="http://schemas.openxmlformats.org/drawingml/2006/main">
              <a:ext uri="{FF2B5EF4-FFF2-40B4-BE49-F238E27FC236}">
                <a16:creationId xmlns:a16="http://schemas.microsoft.com/office/drawing/2014/main" id="{63A4743A-4513-4439-B640-682651DA02D6}"/>
              </a:ext>
            </a:extLst>
          </p:cNvPr>
          <p:cNvSpPr>
            <a:spLocks xmlns:a="http://schemas.openxmlformats.org/drawingml/2006/main" noGrp="1"/>
          </p:cNvSpPr>
          <p:nvPr/>
        </p:nvSpPr>
        <p:spPr>
          <a:xfrm xmlns:a="http://schemas.openxmlformats.org/drawingml/2006/main">
            <a:off x="8710613" y="22098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2" name="">
            <a:extLst xmlns:a="http://schemas.openxmlformats.org/drawingml/2006/main">
              <a:ext uri="{FF2B5EF4-FFF2-40B4-BE49-F238E27FC236}">
                <a16:creationId xmlns:a16="http://schemas.microsoft.com/office/drawing/2014/main" id="{08048A5B-619F-47D3-A115-91629D1A45CA}"/>
              </a:ext>
            </a:extLst>
          </p:cNvPr>
          <p:cNvSpPr>
            <a:spLocks xmlns:a="http://schemas.openxmlformats.org/drawingml/2006/main" noGrp="1"/>
          </p:cNvSpPr>
          <p:nvPr/>
        </p:nvSpPr>
        <p:spPr>
          <a:xfrm xmlns:a="http://schemas.openxmlformats.org/drawingml/2006/main">
            <a:off x="9224963" y="1943100"/>
            <a:ext cx="2243138" cy="990600"/>
          </a:xfrm>
          <a:prstGeom xmlns:a="http://schemas.openxmlformats.org/drawingml/2006/main" prst="roundRect">
            <a:avLst>
              <a:gd name="adj" fmla="val 5769"/>
            </a:avLst>
          </a:prstGeom>
          <a:solidFill xmlns:a="http://schemas.openxmlformats.org/drawingml/2006/main">
            <a:srgbClr val="FFFFFF"/>
          </a:solidFill>
          <a:ln xmlns:a="http://schemas.openxmlformats.org/drawingml/2006/main" w="13335">
            <a:solidFill>
              <a:srgbClr val="16A34A"/>
            </a:solidFill>
            <a:prstDash val="solid"/>
          </a:ln>
        </p:spPr>
      </p:sp>
      <p:sp>
        <p:nvSpPr>
          <p:cNvPr id="13" name="">
            <a:extLst xmlns:a="http://schemas.openxmlformats.org/drawingml/2006/main">
              <a:ext uri="{FF2B5EF4-FFF2-40B4-BE49-F238E27FC236}">
                <a16:creationId xmlns:a16="http://schemas.microsoft.com/office/drawing/2014/main" id="{ABCB61B2-1A7B-4D7A-8B12-21E5CB1179A0}"/>
              </a:ext>
            </a:extLst>
          </p:cNvPr>
          <p:cNvSpPr>
            <a:spLocks xmlns:a="http://schemas.openxmlformats.org/drawingml/2006/main" noGrp="1"/>
          </p:cNvSpPr>
          <p:nvPr/>
        </p:nvSpPr>
        <p:spPr>
          <a:xfrm xmlns:a="http://schemas.openxmlformats.org/drawingml/2006/main">
            <a:off x="9358313" y="2114550"/>
            <a:ext cx="19764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75" b="1">
                <a:solidFill>
                  <a:srgbClr val="0F172A"/>
                </a:solidFill>
              </a:defRPr>
            </a:pPr>
            <a:r>
              <a:rPr sz="1575" b="1">
                <a:solidFill>
                  <a:srgbClr val="0F172A"/>
                </a:solidFill>
              </a:rPr>
              <a:t>KV/cache</a:t>
            </a:r>
          </a:p>
          <a:p xmlns:a="http://schemas.openxmlformats.org/drawingml/2006/main">
            <a:pPr algn="ctr">
              <a:defRPr sz="1575" b="1">
                <a:solidFill>
                  <a:srgbClr val="0F172A"/>
                </a:solidFill>
              </a:defRPr>
            </a:pPr>
            <a:r>
              <a:rPr sz="1575" b="1">
                <a:solidFill>
                  <a:srgbClr val="0F172A"/>
                </a:solidFill>
              </a:rPr>
              <a:t>observations</a:t>
            </a:r>
          </a:p>
        </p:txBody>
      </p:sp>
      <p:sp>
        <p:nvSpPr>
          <p:cNvPr id="14" name="">
            <a:extLst xmlns:a="http://schemas.openxmlformats.org/drawingml/2006/main">
              <a:ext uri="{FF2B5EF4-FFF2-40B4-BE49-F238E27FC236}">
                <a16:creationId xmlns:a16="http://schemas.microsoft.com/office/drawing/2014/main" id="{219E9940-5C9E-4EC6-A69A-827CE649F03D}"/>
              </a:ext>
            </a:extLst>
          </p:cNvPr>
          <p:cNvSpPr>
            <a:spLocks xmlns:a="http://schemas.openxmlformats.org/drawingml/2006/main" noGrp="1"/>
          </p:cNvSpPr>
          <p:nvPr/>
        </p:nvSpPr>
        <p:spPr>
          <a:xfrm xmlns:a="http://schemas.openxmlformats.org/drawingml/2006/main">
            <a:off x="1143000" y="3886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9333EA"/>
                </a:solidFill>
              </a:defRPr>
            </a:pPr>
            <a:r>
              <a:rPr sz="1875" b="1">
                <a:solidFill>
                  <a:srgbClr val="9333EA"/>
                </a:solidFill>
              </a:rPr>
              <a:t>•</a:t>
            </a:r>
          </a:p>
        </p:txBody>
      </p:sp>
      <p:sp>
        <p:nvSpPr>
          <p:cNvPr id="15" name="">
            <a:extLst xmlns:a="http://schemas.openxmlformats.org/drawingml/2006/main">
              <a:ext uri="{FF2B5EF4-FFF2-40B4-BE49-F238E27FC236}">
                <a16:creationId xmlns:a16="http://schemas.microsoft.com/office/drawing/2014/main" id="{BDA228D9-52A0-48FF-825A-DAE3A8B68D5A}"/>
              </a:ext>
            </a:extLst>
          </p:cNvPr>
          <p:cNvSpPr>
            <a:spLocks xmlns:a="http://schemas.openxmlformats.org/drawingml/2006/main" noGrp="1"/>
          </p:cNvSpPr>
          <p:nvPr/>
        </p:nvSpPr>
        <p:spPr>
          <a:xfrm xmlns:a="http://schemas.openxmlformats.org/drawingml/2006/main">
            <a:off x="1428750" y="39052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DeepAgents produces model turns and tool-call gaps.</a:t>
            </a:r>
          </a:p>
        </p:txBody>
      </p:sp>
      <p:sp>
        <p:nvSpPr>
          <p:cNvPr id="16" name="">
            <a:extLst xmlns:a="http://schemas.openxmlformats.org/drawingml/2006/main">
              <a:ext uri="{FF2B5EF4-FFF2-40B4-BE49-F238E27FC236}">
                <a16:creationId xmlns:a16="http://schemas.microsoft.com/office/drawing/2014/main" id="{949173BC-1186-4C49-BB7D-CEBE71A14DDB}"/>
              </a:ext>
            </a:extLst>
          </p:cNvPr>
          <p:cNvSpPr>
            <a:spLocks xmlns:a="http://schemas.openxmlformats.org/drawingml/2006/main" noGrp="1"/>
          </p:cNvSpPr>
          <p:nvPr/>
        </p:nvSpPr>
        <p:spPr>
          <a:xfrm xmlns:a="http://schemas.openxmlformats.org/drawingml/2006/main">
            <a:off x="1143000" y="4381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891B2"/>
                </a:solidFill>
              </a:defRPr>
            </a:pPr>
            <a:r>
              <a:rPr sz="1875" b="1">
                <a:solidFill>
                  <a:srgbClr val="0891B2"/>
                </a:solidFill>
              </a:rPr>
              <a:t>•</a:t>
            </a:r>
          </a:p>
        </p:txBody>
      </p:sp>
      <p:sp>
        <p:nvSpPr>
          <p:cNvPr id="17" name="">
            <a:extLst xmlns:a="http://schemas.openxmlformats.org/drawingml/2006/main">
              <a:ext uri="{FF2B5EF4-FFF2-40B4-BE49-F238E27FC236}">
                <a16:creationId xmlns:a16="http://schemas.microsoft.com/office/drawing/2014/main" id="{5A4BF536-1780-484A-A81D-22D33B90F6BB}"/>
              </a:ext>
            </a:extLst>
          </p:cNvPr>
          <p:cNvSpPr>
            <a:spLocks xmlns:a="http://schemas.openxmlformats.org/drawingml/2006/main" noGrp="1"/>
          </p:cNvSpPr>
          <p:nvPr/>
        </p:nvSpPr>
        <p:spPr>
          <a:xfrm xmlns:a="http://schemas.openxmlformats.org/drawingml/2006/main">
            <a:off x="1428750" y="44005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SGLang serves the model and exposes KV/cache behavior through our hooks.</a:t>
            </a:r>
          </a:p>
        </p:txBody>
      </p:sp>
      <p:sp>
        <p:nvSpPr>
          <p:cNvPr id="18" name="">
            <a:extLst xmlns:a="http://schemas.openxmlformats.org/drawingml/2006/main">
              <a:ext uri="{FF2B5EF4-FFF2-40B4-BE49-F238E27FC236}">
                <a16:creationId xmlns:a16="http://schemas.microsoft.com/office/drawing/2014/main" id="{40CBD32F-9C76-4090-967E-7EDBEF52065A}"/>
              </a:ext>
            </a:extLst>
          </p:cNvPr>
          <p:cNvSpPr>
            <a:spLocks xmlns:a="http://schemas.openxmlformats.org/drawingml/2006/main" noGrp="1"/>
          </p:cNvSpPr>
          <p:nvPr/>
        </p:nvSpPr>
        <p:spPr>
          <a:xfrm xmlns:a="http://schemas.openxmlformats.org/drawingml/2006/main">
            <a:off x="1143000" y="4876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16A34A"/>
                </a:solidFill>
              </a:defRPr>
            </a:pPr>
            <a:r>
              <a:rPr sz="1875" b="1">
                <a:solidFill>
                  <a:srgbClr val="16A34A"/>
                </a:solidFill>
              </a:rPr>
              <a:t>•</a:t>
            </a:r>
          </a:p>
        </p:txBody>
      </p:sp>
      <p:sp>
        <p:nvSpPr>
          <p:cNvPr id="19" name="">
            <a:extLst xmlns:a="http://schemas.openxmlformats.org/drawingml/2006/main">
              <a:ext uri="{FF2B5EF4-FFF2-40B4-BE49-F238E27FC236}">
                <a16:creationId xmlns:a16="http://schemas.microsoft.com/office/drawing/2014/main" id="{E9EA22CF-9461-43DA-91A6-B06223394848}"/>
              </a:ext>
            </a:extLst>
          </p:cNvPr>
          <p:cNvSpPr>
            <a:spLocks xmlns:a="http://schemas.openxmlformats.org/drawingml/2006/main" noGrp="1"/>
          </p:cNvSpPr>
          <p:nvPr/>
        </p:nvSpPr>
        <p:spPr>
          <a:xfrm xmlns:a="http://schemas.openxmlformats.org/drawingml/2006/main">
            <a:off x="1428750" y="4895850"/>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334155"/>
                </a:solidFill>
              </a:defRPr>
            </a:pPr>
            <a:r>
              <a:rPr sz="1725" b="0">
                <a:solidFill>
                  <a:srgbClr val="334155"/>
                </a:solidFill>
              </a:rPr>
              <a:t>Reports compare replay timing, H2D movement, recompute, and prefetch readiness.</a:t>
            </a:r>
          </a:p>
        </p:txBody>
      </p:sp>
      <p:sp>
        <p:nvSpPr>
          <p:cNvPr id="20" name="">
            <a:extLst xmlns:a="http://schemas.openxmlformats.org/drawingml/2006/main">
              <a:ext uri="{FF2B5EF4-FFF2-40B4-BE49-F238E27FC236}">
                <a16:creationId xmlns:a16="http://schemas.microsoft.com/office/drawing/2014/main" id="{006F0B6F-A4AC-4B8C-BE59-4AC5DB49798F}"/>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1" name="">
            <a:extLst xmlns:a="http://schemas.openxmlformats.org/drawingml/2006/main">
              <a:ext uri="{FF2B5EF4-FFF2-40B4-BE49-F238E27FC236}">
                <a16:creationId xmlns:a16="http://schemas.microsoft.com/office/drawing/2014/main" id="{E3C72460-7EC8-44DB-941A-68EADBE160B2}"/>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87667014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4B4F162-5588-4747-8482-69912614F0A4}"/>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1D37321D-0146-43BC-9810-69227E71B285}"/>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That limits how well software hints can be enforced.</a:t>
            </a:r>
          </a:p>
        </p:txBody>
      </p:sp>
      <p:sp>
        <p:nvSpPr>
          <p:cNvPr id="3" name="">
            <a:extLst xmlns:a="http://schemas.openxmlformats.org/drawingml/2006/main">
              <a:ext uri="{FF2B5EF4-FFF2-40B4-BE49-F238E27FC236}">
                <a16:creationId xmlns:a16="http://schemas.microsoft.com/office/drawing/2014/main" id="{6B1B5FF6-3F06-48E8-BDA3-7AD4C68441E3}"/>
              </a:ext>
            </a:extLst>
          </p:cNvPr>
          <p:cNvSpPr>
            <a:spLocks xmlns:a="http://schemas.openxmlformats.org/drawingml/2006/main" noGrp="1"/>
          </p:cNvSpPr>
          <p:nvPr/>
        </p:nvSpPr>
        <p:spPr>
          <a:xfrm xmlns:a="http://schemas.openxmlformats.org/drawingml/2006/main">
            <a:off x="857250" y="1733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563EB"/>
                </a:solidFill>
              </a:defRPr>
            </a:pPr>
            <a:r>
              <a:rPr sz="2100" b="1">
                <a:solidFill>
                  <a:srgbClr val="2563EB"/>
                </a:solidFill>
              </a:rPr>
              <a:t>•</a:t>
            </a:r>
          </a:p>
        </p:txBody>
      </p:sp>
      <p:sp>
        <p:nvSpPr>
          <p:cNvPr id="4" name="">
            <a:extLst xmlns:a="http://schemas.openxmlformats.org/drawingml/2006/main">
              <a:ext uri="{FF2B5EF4-FFF2-40B4-BE49-F238E27FC236}">
                <a16:creationId xmlns:a16="http://schemas.microsoft.com/office/drawing/2014/main" id="{BD10B93F-C08B-4DFE-A887-A602EB3BF485}"/>
              </a:ext>
            </a:extLst>
          </p:cNvPr>
          <p:cNvSpPr>
            <a:spLocks xmlns:a="http://schemas.openxmlformats.org/drawingml/2006/main" noGrp="1"/>
          </p:cNvSpPr>
          <p:nvPr/>
        </p:nvSpPr>
        <p:spPr>
          <a:xfrm xmlns:a="http://schemas.openxmlformats.org/drawingml/2006/main">
            <a:off x="1143000" y="17526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which KV belongs to which agent session.</a:t>
            </a:r>
          </a:p>
        </p:txBody>
      </p:sp>
      <p:sp>
        <p:nvSpPr>
          <p:cNvPr id="5" name="">
            <a:extLst xmlns:a="http://schemas.openxmlformats.org/drawingml/2006/main">
              <a:ext uri="{FF2B5EF4-FFF2-40B4-BE49-F238E27FC236}">
                <a16:creationId xmlns:a16="http://schemas.microsoft.com/office/drawing/2014/main" id="{2F09F9F7-049B-42FD-939A-D3E36FF201D5}"/>
              </a:ext>
            </a:extLst>
          </p:cNvPr>
          <p:cNvSpPr>
            <a:spLocks xmlns:a="http://schemas.openxmlformats.org/drawingml/2006/main" noGrp="1"/>
          </p:cNvSpPr>
          <p:nvPr/>
        </p:nvSpPr>
        <p:spPr>
          <a:xfrm xmlns:a="http://schemas.openxmlformats.org/drawingml/2006/main">
            <a:off x="857250" y="24574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333EA"/>
                </a:solidFill>
              </a:defRPr>
            </a:pPr>
            <a:r>
              <a:rPr sz="2100" b="1">
                <a:solidFill>
                  <a:srgbClr val="9333EA"/>
                </a:solidFill>
              </a:rPr>
              <a:t>•</a:t>
            </a:r>
          </a:p>
        </p:txBody>
      </p:sp>
      <p:sp>
        <p:nvSpPr>
          <p:cNvPr id="6" name="">
            <a:extLst xmlns:a="http://schemas.openxmlformats.org/drawingml/2006/main">
              <a:ext uri="{FF2B5EF4-FFF2-40B4-BE49-F238E27FC236}">
                <a16:creationId xmlns:a16="http://schemas.microsoft.com/office/drawing/2014/main" id="{22A3F2E9-CCFE-458D-9EA0-BC00465BE40E}"/>
              </a:ext>
            </a:extLst>
          </p:cNvPr>
          <p:cNvSpPr>
            <a:spLocks xmlns:a="http://schemas.openxmlformats.org/drawingml/2006/main" noGrp="1"/>
          </p:cNvSpPr>
          <p:nvPr/>
        </p:nvSpPr>
        <p:spPr>
          <a:xfrm xmlns:a="http://schemas.openxmlformats.org/drawingml/2006/main">
            <a:off x="1143000" y="2476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when the agent will replay after a tool call.</a:t>
            </a:r>
          </a:p>
        </p:txBody>
      </p:sp>
      <p:sp>
        <p:nvSpPr>
          <p:cNvPr id="7" name="">
            <a:extLst xmlns:a="http://schemas.openxmlformats.org/drawingml/2006/main">
              <a:ext uri="{FF2B5EF4-FFF2-40B4-BE49-F238E27FC236}">
                <a16:creationId xmlns:a16="http://schemas.microsoft.com/office/drawing/2014/main" id="{A3EA0753-2EA4-4627-A5B2-C5D4F0CBA521}"/>
              </a:ext>
            </a:extLst>
          </p:cNvPr>
          <p:cNvSpPr>
            <a:spLocks xmlns:a="http://schemas.openxmlformats.org/drawingml/2006/main" noGrp="1"/>
          </p:cNvSpPr>
          <p:nvPr/>
        </p:nvSpPr>
        <p:spPr>
          <a:xfrm xmlns:a="http://schemas.openxmlformats.org/drawingml/2006/main">
            <a:off x="857250" y="3181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DC2626"/>
                </a:solidFill>
              </a:defRPr>
            </a:pPr>
            <a:r>
              <a:rPr sz="2100" b="1">
                <a:solidFill>
                  <a:srgbClr val="DC2626"/>
                </a:solidFill>
              </a:rPr>
              <a:t>•</a:t>
            </a:r>
          </a:p>
        </p:txBody>
      </p:sp>
      <p:sp>
        <p:nvSpPr>
          <p:cNvPr id="8" name="">
            <a:extLst xmlns:a="http://schemas.openxmlformats.org/drawingml/2006/main">
              <a:ext uri="{FF2B5EF4-FFF2-40B4-BE49-F238E27FC236}">
                <a16:creationId xmlns:a16="http://schemas.microsoft.com/office/drawing/2014/main" id="{A347428D-9091-456E-85B7-7D321637F945}"/>
              </a:ext>
            </a:extLst>
          </p:cNvPr>
          <p:cNvSpPr>
            <a:spLocks xmlns:a="http://schemas.openxmlformats.org/drawingml/2006/main" noGrp="1"/>
          </p:cNvSpPr>
          <p:nvPr/>
        </p:nvSpPr>
        <p:spPr>
          <a:xfrm xmlns:a="http://schemas.openxmlformats.org/drawingml/2006/main">
            <a:off x="1143000" y="32004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know whether evicting prefetched KV wastes the hint.</a:t>
            </a:r>
          </a:p>
        </p:txBody>
      </p:sp>
      <p:sp>
        <p:nvSpPr>
          <p:cNvPr id="9" name="">
            <a:extLst xmlns:a="http://schemas.openxmlformats.org/drawingml/2006/main">
              <a:ext uri="{FF2B5EF4-FFF2-40B4-BE49-F238E27FC236}">
                <a16:creationId xmlns:a16="http://schemas.microsoft.com/office/drawing/2014/main" id="{DCCE03A7-0BB6-42F1-BDEA-5DA59B6FAC18}"/>
              </a:ext>
            </a:extLst>
          </p:cNvPr>
          <p:cNvSpPr>
            <a:spLocks xmlns:a="http://schemas.openxmlformats.org/drawingml/2006/main" noGrp="1"/>
          </p:cNvSpPr>
          <p:nvPr/>
        </p:nvSpPr>
        <p:spPr>
          <a:xfrm xmlns:a="http://schemas.openxmlformats.org/drawingml/2006/main">
            <a:off x="857250" y="39052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6A34A"/>
                </a:solidFill>
              </a:defRPr>
            </a:pPr>
            <a:r>
              <a:rPr sz="2100" b="1">
                <a:solidFill>
                  <a:srgbClr val="16A34A"/>
                </a:solidFill>
              </a:rPr>
              <a:t>•</a:t>
            </a:r>
          </a:p>
        </p:txBody>
      </p:sp>
      <p:sp>
        <p:nvSpPr>
          <p:cNvPr id="10" name="">
            <a:extLst xmlns:a="http://schemas.openxmlformats.org/drawingml/2006/main">
              <a:ext uri="{FF2B5EF4-FFF2-40B4-BE49-F238E27FC236}">
                <a16:creationId xmlns:a16="http://schemas.microsoft.com/office/drawing/2014/main" id="{A6AC3CFC-2A88-437A-8C51-013816955484}"/>
              </a:ext>
            </a:extLst>
          </p:cNvPr>
          <p:cNvSpPr>
            <a:spLocks xmlns:a="http://schemas.openxmlformats.org/drawingml/2006/main" noGrp="1"/>
          </p:cNvSpPr>
          <p:nvPr/>
        </p:nvSpPr>
        <p:spPr>
          <a:xfrm xmlns:a="http://schemas.openxmlformats.org/drawingml/2006/main">
            <a:off x="1143000" y="39243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0">
                <a:solidFill>
                  <a:srgbClr val="334155"/>
                </a:solidFill>
              </a:defRPr>
            </a:pPr>
            <a:r>
              <a:rPr sz="1950" b="0">
                <a:solidFill>
                  <a:srgbClr val="334155"/>
                </a:solidFill>
              </a:rPr>
              <a:t>They do not expose enough semantic telemetry: useful, late, wasted, or evicted-before-use.</a:t>
            </a:r>
          </a:p>
        </p:txBody>
      </p:sp>
      <p:sp>
        <p:nvSpPr>
          <p:cNvPr id="11" name="">
            <a:extLst xmlns:a="http://schemas.openxmlformats.org/drawingml/2006/main">
              <a:ext uri="{FF2B5EF4-FFF2-40B4-BE49-F238E27FC236}">
                <a16:creationId xmlns:a16="http://schemas.microsoft.com/office/drawing/2014/main" id="{B8A0E14F-7B79-4746-9CFE-925D40906446}"/>
              </a:ext>
            </a:extLst>
          </p:cNvPr>
          <p:cNvSpPr>
            <a:spLocks xmlns:a="http://schemas.openxmlformats.org/drawingml/2006/main" noGrp="1"/>
          </p:cNvSpPr>
          <p:nvPr/>
        </p:nvSpPr>
        <p:spPr>
          <a:xfrm xmlns:a="http://schemas.openxmlformats.org/drawingml/2006/main">
            <a:off x="419100" y="51435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4BBA6D2-CA23-4266-9A78-3BC96E4E8E21}"/>
              </a:ext>
            </a:extLst>
          </p:cNvPr>
          <p:cNvSpPr>
            <a:spLocks xmlns:a="http://schemas.openxmlformats.org/drawingml/2006/main" noGrp="1"/>
          </p:cNvSpPr>
          <p:nvPr/>
        </p:nvSpPr>
        <p:spPr>
          <a:xfrm xmlns:a="http://schemas.openxmlformats.org/drawingml/2006/main">
            <a:off x="876300" y="5448300"/>
            <a:ext cx="981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F172A"/>
                </a:solidFill>
              </a:defRPr>
            </a:pPr>
            <a:r>
              <a:rPr sz="1875" b="1">
                <a:solidFill>
                  <a:srgbClr val="0F172A"/>
                </a:solidFill>
              </a:rPr>
              <a:t>Hardware opportunity: add KV/session context to the memory movement path.</a:t>
            </a:r>
          </a:p>
        </p:txBody>
      </p:sp>
      <p:sp>
        <p:nvSpPr>
          <p:cNvPr id="13" name="">
            <a:extLst xmlns:a="http://schemas.openxmlformats.org/drawingml/2006/main">
              <a:ext uri="{FF2B5EF4-FFF2-40B4-BE49-F238E27FC236}">
                <a16:creationId xmlns:a16="http://schemas.microsoft.com/office/drawing/2014/main" id="{8A998F70-F113-477D-A5E9-5F2007229FB3}"/>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09B5FA8D-3BCA-4566-BAB7-B720F8DA3FDF}"/>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4276543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9C2A0C-D04D-48FD-A7AA-AE83D36D0BDE}"/>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 path exposes the bottleneck</a:t>
            </a:r>
          </a:p>
        </p:txBody>
      </p:sp>
      <p:sp>
        <p:nvSpPr>
          <p:cNvPr id="2" name="">
            <a:extLst xmlns:a="http://schemas.openxmlformats.org/drawingml/2006/main">
              <a:ext uri="{FF2B5EF4-FFF2-40B4-BE49-F238E27FC236}">
                <a16:creationId xmlns:a16="http://schemas.microsoft.com/office/drawing/2014/main" id="{8F04FD3D-74BF-42A8-9A7C-6899816AE0AC}"/>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Each row is one tool-gap replay; the replay path shows where time goes before the first token.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150a337e9ec487f"/>
          <a:stretch xmlns:a="http://schemas.openxmlformats.org/drawingml/2006/main"/>
        </p:blipFill>
        <p:spPr>
          <a:xfrm xmlns:a="http://schemas.openxmlformats.org/drawingml/2006/main">
            <a:off x="1024101" y="1295400"/>
            <a:ext cx="10143798" cy="4171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E637304-7CF4-413F-838E-706688D7508E}"/>
              </a:ext>
            </a:extLst>
          </p:cNvPr>
          <p:cNvSpPr>
            <a:spLocks xmlns:a="http://schemas.openxmlformats.org/drawingml/2006/main" noGrp="1"/>
          </p:cNvSpPr>
          <p:nvPr/>
        </p:nvSpPr>
        <p:spPr>
          <a:xfrm xmlns:a="http://schemas.openxmlformats.org/drawingml/2006/main">
            <a:off x="952500" y="56197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64748B"/>
                </a:solidFill>
              </a:defRPr>
            </a:pPr>
            <a:r>
              <a:rPr sz="1725" b="1">
                <a:solidFill>
                  <a:srgbClr val="64748B"/>
                </a:solidFill>
              </a:rPr>
              <a:t>... more replay gaps observed in the full report</a:t>
            </a:r>
          </a:p>
        </p:txBody>
      </p:sp>
      <p:sp>
        <p:nvSpPr>
          <p:cNvPr id="5" name="">
            <a:extLst xmlns:a="http://schemas.openxmlformats.org/drawingml/2006/main">
              <a:ext uri="{FF2B5EF4-FFF2-40B4-BE49-F238E27FC236}">
                <a16:creationId xmlns:a16="http://schemas.microsoft.com/office/drawing/2014/main" id="{B03724F4-B3F8-4BC8-83FA-CA2CB8F7709E}"/>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EDC63988-5859-43FA-A553-4F1311019966}"/>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65377973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11BD36-A475-4CAF-B2DD-DEFFC67DBDF6}"/>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Software prefetch often missed replay</a:t>
            </a:r>
          </a:p>
        </p:txBody>
      </p:sp>
      <p:sp>
        <p:nvSpPr>
          <p:cNvPr id="2" name="">
            <a:extLst xmlns:a="http://schemas.openxmlformats.org/drawingml/2006/main">
              <a:ext uri="{FF2B5EF4-FFF2-40B4-BE49-F238E27FC236}">
                <a16:creationId xmlns:a16="http://schemas.microsoft.com/office/drawing/2014/main" id="{AE5E1168-66AE-4BDD-92C9-C454CA9E5B7E}"/>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In the live prefetch-margin run, almost every hint completed after replay was due.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d60b54b0d0747a6"/>
          <a:stretch xmlns:a="http://schemas.openxmlformats.org/drawingml/2006/main"/>
        </p:blipFill>
        <p:spPr>
          <a:xfrm xmlns:a="http://schemas.openxmlformats.org/drawingml/2006/main">
            <a:off x="381000" y="1861432"/>
            <a:ext cx="8096250" cy="284938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ADED076-709E-4095-8904-CF0D751BE6F5}"/>
              </a:ext>
            </a:extLst>
          </p:cNvPr>
          <p:cNvSpPr>
            <a:spLocks xmlns:a="http://schemas.openxmlformats.org/drawingml/2006/main" noGrp="1"/>
          </p:cNvSpPr>
          <p:nvPr/>
        </p:nvSpPr>
        <p:spPr>
          <a:xfrm xmlns:a="http://schemas.openxmlformats.org/drawingml/2006/main">
            <a:off x="8953500" y="18669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112 / 114</a:t>
            </a:r>
          </a:p>
        </p:txBody>
      </p:sp>
      <p:sp>
        <p:nvSpPr>
          <p:cNvPr id="5" name="">
            <a:extLst xmlns:a="http://schemas.openxmlformats.org/drawingml/2006/main">
              <a:ext uri="{FF2B5EF4-FFF2-40B4-BE49-F238E27FC236}">
                <a16:creationId xmlns:a16="http://schemas.microsoft.com/office/drawing/2014/main" id="{C646962C-FF02-4B20-B553-C1ED9D25CD09}"/>
              </a:ext>
            </a:extLst>
          </p:cNvPr>
          <p:cNvSpPr>
            <a:spLocks xmlns:a="http://schemas.openxmlformats.org/drawingml/2006/main" noGrp="1"/>
          </p:cNvSpPr>
          <p:nvPr/>
        </p:nvSpPr>
        <p:spPr>
          <a:xfrm xmlns:a="http://schemas.openxmlformats.org/drawingml/2006/main">
            <a:off x="8953500" y="23241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prefetch attempts were late</a:t>
            </a:r>
          </a:p>
        </p:txBody>
      </p:sp>
      <p:sp>
        <p:nvSpPr>
          <p:cNvPr id="6" name="">
            <a:extLst xmlns:a="http://schemas.openxmlformats.org/drawingml/2006/main">
              <a:ext uri="{FF2B5EF4-FFF2-40B4-BE49-F238E27FC236}">
                <a16:creationId xmlns:a16="http://schemas.microsoft.com/office/drawing/2014/main" id="{909897E7-54F6-4416-87F1-064332E448EE}"/>
              </a:ext>
            </a:extLst>
          </p:cNvPr>
          <p:cNvSpPr>
            <a:spLocks xmlns:a="http://schemas.openxmlformats.org/drawingml/2006/main" noGrp="1"/>
          </p:cNvSpPr>
          <p:nvPr/>
        </p:nvSpPr>
        <p:spPr>
          <a:xfrm xmlns:a="http://schemas.openxmlformats.org/drawingml/2006/main">
            <a:off x="8953500" y="32385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C2410C"/>
                </a:solidFill>
              </a:defRPr>
            </a:pPr>
            <a:r>
              <a:rPr sz="2850" b="1">
                <a:solidFill>
                  <a:srgbClr val="C2410C"/>
                </a:solidFill>
              </a:rPr>
              <a:t>98.25%</a:t>
            </a:r>
          </a:p>
        </p:txBody>
      </p:sp>
      <p:sp>
        <p:nvSpPr>
          <p:cNvPr id="7" name="">
            <a:extLst xmlns:a="http://schemas.openxmlformats.org/drawingml/2006/main">
              <a:ext uri="{FF2B5EF4-FFF2-40B4-BE49-F238E27FC236}">
                <a16:creationId xmlns:a16="http://schemas.microsoft.com/office/drawing/2014/main" id="{47BB8C4A-89D1-4CDA-B399-30109A90E2C2}"/>
              </a:ext>
            </a:extLst>
          </p:cNvPr>
          <p:cNvSpPr>
            <a:spLocks xmlns:a="http://schemas.openxmlformats.org/drawingml/2006/main" noGrp="1"/>
          </p:cNvSpPr>
          <p:nvPr/>
        </p:nvSpPr>
        <p:spPr>
          <a:xfrm xmlns:a="http://schemas.openxmlformats.org/drawingml/2006/main">
            <a:off x="8953500" y="36957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missed the replay deadline</a:t>
            </a:r>
          </a:p>
        </p:txBody>
      </p:sp>
      <p:sp>
        <p:nvSpPr>
          <p:cNvPr id="8" name="">
            <a:extLst xmlns:a="http://schemas.openxmlformats.org/drawingml/2006/main">
              <a:ext uri="{FF2B5EF4-FFF2-40B4-BE49-F238E27FC236}">
                <a16:creationId xmlns:a16="http://schemas.microsoft.com/office/drawing/2014/main" id="{774D1A36-1F59-4A90-94E9-98443A1E5A1D}"/>
              </a:ext>
            </a:extLst>
          </p:cNvPr>
          <p:cNvSpPr>
            <a:spLocks xmlns:a="http://schemas.openxmlformats.org/drawingml/2006/main" noGrp="1"/>
          </p:cNvSpPr>
          <p:nvPr/>
        </p:nvSpPr>
        <p:spPr>
          <a:xfrm xmlns:a="http://schemas.openxmlformats.org/drawingml/2006/main">
            <a:off x="8953500" y="4705350"/>
            <a:ext cx="23336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hints alone are not enough when the movement path cannot act predictably.</a:t>
            </a:r>
          </a:p>
        </p:txBody>
      </p:sp>
      <p:sp>
        <p:nvSpPr>
          <p:cNvPr id="9" name="">
            <a:extLst xmlns:a="http://schemas.openxmlformats.org/drawingml/2006/main">
              <a:ext uri="{FF2B5EF4-FFF2-40B4-BE49-F238E27FC236}">
                <a16:creationId xmlns:a16="http://schemas.microsoft.com/office/drawing/2014/main" id="{F2249596-BDD9-4FA5-90DF-D3F0DD443725}"/>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0" name="">
            <a:extLst xmlns:a="http://schemas.openxmlformats.org/drawingml/2006/main">
              <a:ext uri="{FF2B5EF4-FFF2-40B4-BE49-F238E27FC236}">
                <a16:creationId xmlns:a16="http://schemas.microsoft.com/office/drawing/2014/main" id="{8625E1F9-F113-42C8-A344-1865570C9E6B}"/>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51260140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92C54A-6898-4329-A70E-FC180B335280}"/>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Mechanism traces explain the miss</a:t>
            </a:r>
          </a:p>
        </p:txBody>
      </p:sp>
      <p:sp>
        <p:nvSpPr>
          <p:cNvPr id="2" name="">
            <a:extLst xmlns:a="http://schemas.openxmlformats.org/drawingml/2006/main">
              <a:ext uri="{FF2B5EF4-FFF2-40B4-BE49-F238E27FC236}">
                <a16:creationId xmlns:a16="http://schemas.microsoft.com/office/drawing/2014/main" id="{D791AAE8-0A74-4585-9813-9BB9E1D97AEE}"/>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hint existed, but KV readiness still landed too late for replay.</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7a320ad8d814d10"/>
          <a:stretch xmlns:a="http://schemas.openxmlformats.org/drawingml/2006/main"/>
        </p:blipFill>
        <p:spPr>
          <a:xfrm xmlns:a="http://schemas.openxmlformats.org/drawingml/2006/main">
            <a:off x="323850" y="1812925"/>
            <a:ext cx="7620000" cy="2794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D2250E6-D362-42CA-BCBC-1F6135D12609}"/>
              </a:ext>
            </a:extLst>
          </p:cNvPr>
          <p:cNvSpPr>
            <a:spLocks xmlns:a="http://schemas.openxmlformats.org/drawingml/2006/main" noGrp="1"/>
          </p:cNvSpPr>
          <p:nvPr/>
        </p:nvSpPr>
        <p:spPr>
          <a:xfrm xmlns:a="http://schemas.openxmlformats.org/drawingml/2006/main">
            <a:off x="8324850" y="20193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DC2626"/>
                </a:solidFill>
              </a:defRPr>
            </a:pPr>
            <a:r>
              <a:rPr sz="1950" b="1">
                <a:solidFill>
                  <a:srgbClr val="DC2626"/>
                </a:solidFill>
              </a:rPr>
              <a:t>•</a:t>
            </a:r>
          </a:p>
        </p:txBody>
      </p:sp>
      <p:sp>
        <p:nvSpPr>
          <p:cNvPr id="5" name="">
            <a:extLst xmlns:a="http://schemas.openxmlformats.org/drawingml/2006/main">
              <a:ext uri="{FF2B5EF4-FFF2-40B4-BE49-F238E27FC236}">
                <a16:creationId xmlns:a16="http://schemas.microsoft.com/office/drawing/2014/main" id="{A706E735-D169-48C8-8E8C-F7609764713C}"/>
              </a:ext>
            </a:extLst>
          </p:cNvPr>
          <p:cNvSpPr>
            <a:spLocks xmlns:a="http://schemas.openxmlformats.org/drawingml/2006/main" noGrp="1"/>
          </p:cNvSpPr>
          <p:nvPr/>
        </p:nvSpPr>
        <p:spPr>
          <a:xfrm xmlns:a="http://schemas.openxmlformats.org/drawingml/2006/main">
            <a:off x="8610600" y="20383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0 / 6 ready before replay</a:t>
            </a:r>
          </a:p>
        </p:txBody>
      </p:sp>
      <p:sp>
        <p:nvSpPr>
          <p:cNvPr id="6" name="">
            <a:extLst xmlns:a="http://schemas.openxmlformats.org/drawingml/2006/main">
              <a:ext uri="{FF2B5EF4-FFF2-40B4-BE49-F238E27FC236}">
                <a16:creationId xmlns:a16="http://schemas.microsoft.com/office/drawing/2014/main" id="{6EFA9B0D-FC89-42C6-B365-5C75450D1EE9}"/>
              </a:ext>
            </a:extLst>
          </p:cNvPr>
          <p:cNvSpPr>
            <a:spLocks xmlns:a="http://schemas.openxmlformats.org/drawingml/2006/main" noGrp="1"/>
          </p:cNvSpPr>
          <p:nvPr/>
        </p:nvSpPr>
        <p:spPr>
          <a:xfrm xmlns:a="http://schemas.openxmlformats.org/drawingml/2006/main">
            <a:off x="8324850" y="2724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891B2"/>
                </a:solidFill>
              </a:defRPr>
            </a:pPr>
            <a:r>
              <a:rPr sz="1950" b="1">
                <a:solidFill>
                  <a:srgbClr val="0891B2"/>
                </a:solidFill>
              </a:rPr>
              <a:t>•</a:t>
            </a:r>
          </a:p>
        </p:txBody>
      </p:sp>
      <p:sp>
        <p:nvSpPr>
          <p:cNvPr id="7" name="">
            <a:extLst xmlns:a="http://schemas.openxmlformats.org/drawingml/2006/main">
              <a:ext uri="{FF2B5EF4-FFF2-40B4-BE49-F238E27FC236}">
                <a16:creationId xmlns:a16="http://schemas.microsoft.com/office/drawing/2014/main" id="{F81CC9E7-5855-46BD-867D-EF8737D81938}"/>
              </a:ext>
            </a:extLst>
          </p:cNvPr>
          <p:cNvSpPr>
            <a:spLocks xmlns:a="http://schemas.openxmlformats.org/drawingml/2006/main" noGrp="1"/>
          </p:cNvSpPr>
          <p:nvPr/>
        </p:nvSpPr>
        <p:spPr>
          <a:xfrm xmlns:a="http://schemas.openxmlformats.org/drawingml/2006/main">
            <a:off x="8610600" y="2743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3 / 6 visible CUDA HtoD</a:t>
            </a:r>
          </a:p>
        </p:txBody>
      </p:sp>
      <p:sp>
        <p:nvSpPr>
          <p:cNvPr id="8" name="">
            <a:extLst xmlns:a="http://schemas.openxmlformats.org/drawingml/2006/main">
              <a:ext uri="{FF2B5EF4-FFF2-40B4-BE49-F238E27FC236}">
                <a16:creationId xmlns:a16="http://schemas.microsoft.com/office/drawing/2014/main" id="{6D695476-62F0-44D7-8C13-CE5F346D2882}"/>
              </a:ext>
            </a:extLst>
          </p:cNvPr>
          <p:cNvSpPr>
            <a:spLocks xmlns:a="http://schemas.openxmlformats.org/drawingml/2006/main" noGrp="1"/>
          </p:cNvSpPr>
          <p:nvPr/>
        </p:nvSpPr>
        <p:spPr>
          <a:xfrm xmlns:a="http://schemas.openxmlformats.org/drawingml/2006/main">
            <a:off x="8324850" y="3429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CA8A04"/>
                </a:solidFill>
              </a:defRPr>
            </a:pPr>
            <a:r>
              <a:rPr sz="1950" b="1">
                <a:solidFill>
                  <a:srgbClr val="CA8A04"/>
                </a:solidFill>
              </a:rPr>
              <a:t>•</a:t>
            </a:r>
          </a:p>
        </p:txBody>
      </p:sp>
      <p:sp>
        <p:nvSpPr>
          <p:cNvPr id="9" name="">
            <a:extLst xmlns:a="http://schemas.openxmlformats.org/drawingml/2006/main">
              <a:ext uri="{FF2B5EF4-FFF2-40B4-BE49-F238E27FC236}">
                <a16:creationId xmlns:a16="http://schemas.microsoft.com/office/drawing/2014/main" id="{9FDF1C9B-C680-4C49-9EFB-C48530A3AE90}"/>
              </a:ext>
            </a:extLst>
          </p:cNvPr>
          <p:cNvSpPr>
            <a:spLocks xmlns:a="http://schemas.openxmlformats.org/drawingml/2006/main" noGrp="1"/>
          </p:cNvSpPr>
          <p:nvPr/>
        </p:nvSpPr>
        <p:spPr>
          <a:xfrm xmlns:a="http://schemas.openxmlformats.org/drawingml/2006/main">
            <a:off x="8610600" y="344805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334155"/>
                </a:solidFill>
              </a:defRPr>
            </a:pPr>
            <a:r>
              <a:rPr sz="1800" b="1">
                <a:solidFill>
                  <a:srgbClr val="334155"/>
                </a:solidFill>
              </a:rPr>
              <a:t>6 / 6 replay reloaded KV</a:t>
            </a:r>
          </a:p>
        </p:txBody>
      </p:sp>
      <p:sp>
        <p:nvSpPr>
          <p:cNvPr id="10" name="">
            <a:extLst xmlns:a="http://schemas.openxmlformats.org/drawingml/2006/main">
              <a:ext uri="{FF2B5EF4-FFF2-40B4-BE49-F238E27FC236}">
                <a16:creationId xmlns:a16="http://schemas.microsoft.com/office/drawing/2014/main" id="{7EE69568-803B-4B3B-93BA-61848935F87F}"/>
              </a:ext>
            </a:extLst>
          </p:cNvPr>
          <p:cNvSpPr>
            <a:spLocks xmlns:a="http://schemas.openxmlformats.org/drawingml/2006/main" noGrp="1"/>
          </p:cNvSpPr>
          <p:nvPr/>
        </p:nvSpPr>
        <p:spPr>
          <a:xfrm xmlns:a="http://schemas.openxmlformats.org/drawingml/2006/main">
            <a:off x="914400" y="52578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64748B"/>
                </a:solidFill>
              </a:defRPr>
            </a:pPr>
            <a:r>
              <a:rPr sz="1350" b="0">
                <a:solidFill>
                  <a:srgbClr val="64748B"/>
                </a:solidFill>
              </a:rPr>
              <a:t>Use this as mechanism evidence, not clean TTFT evidence.</a:t>
            </a:r>
          </a:p>
        </p:txBody>
      </p:sp>
      <p:sp>
        <p:nvSpPr>
          <p:cNvPr id="11" name="">
            <a:extLst xmlns:a="http://schemas.openxmlformats.org/drawingml/2006/main">
              <a:ext uri="{FF2B5EF4-FFF2-40B4-BE49-F238E27FC236}">
                <a16:creationId xmlns:a16="http://schemas.microsoft.com/office/drawing/2014/main" id="{1D51C70C-ED81-4D60-9754-D8FBC4E00040}"/>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2" name="">
            <a:extLst xmlns:a="http://schemas.openxmlformats.org/drawingml/2006/main">
              <a:ext uri="{FF2B5EF4-FFF2-40B4-BE49-F238E27FC236}">
                <a16:creationId xmlns:a16="http://schemas.microsoft.com/office/drawing/2014/main" id="{2EDFE697-5744-404A-8834-B8171F56C19F}"/>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13835358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97D703-B8FB-4033-9EC2-71E63ACD7D27}"/>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Replay-side KV loads missed the deadline</a:t>
            </a:r>
          </a:p>
        </p:txBody>
      </p:sp>
      <p:sp>
        <p:nvSpPr>
          <p:cNvPr id="2" name="">
            <a:extLst xmlns:a="http://schemas.openxmlformats.org/drawingml/2006/main">
              <a:ext uri="{FF2B5EF4-FFF2-40B4-BE49-F238E27FC236}">
                <a16:creationId xmlns:a16="http://schemas.microsoft.com/office/drawing/2014/main" id="{85344845-725D-4644-BE59-6C4D3E4D0641}"/>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For this controlled no-prefetch run, visible H2D loads finished after replay was due.</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f5da76c6325b4799"/>
          <a:stretch xmlns:a="http://schemas.openxmlformats.org/drawingml/2006/main"/>
        </p:blipFill>
        <p:spPr>
          <a:xfrm xmlns:a="http://schemas.openxmlformats.org/drawingml/2006/main">
            <a:off x="419100" y="1789323"/>
            <a:ext cx="8191500" cy="299360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92A8882-634D-4AFC-BEE1-DD00A256903C}"/>
              </a:ext>
            </a:extLst>
          </p:cNvPr>
          <p:cNvSpPr>
            <a:spLocks xmlns:a="http://schemas.openxmlformats.org/drawingml/2006/main" noGrp="1"/>
          </p:cNvSpPr>
          <p:nvPr/>
        </p:nvSpPr>
        <p:spPr>
          <a:xfrm xmlns:a="http://schemas.openxmlformats.org/drawingml/2006/main">
            <a:off x="9105900" y="23622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DC2626"/>
                </a:solidFill>
              </a:defRPr>
            </a:pPr>
            <a:r>
              <a:rPr sz="2850" b="1">
                <a:solidFill>
                  <a:srgbClr val="DC2626"/>
                </a:solidFill>
              </a:rPr>
              <a:t>8 / 8</a:t>
            </a:r>
          </a:p>
        </p:txBody>
      </p:sp>
      <p:sp>
        <p:nvSpPr>
          <p:cNvPr id="5" name="">
            <a:extLst xmlns:a="http://schemas.openxmlformats.org/drawingml/2006/main">
              <a:ext uri="{FF2B5EF4-FFF2-40B4-BE49-F238E27FC236}">
                <a16:creationId xmlns:a16="http://schemas.microsoft.com/office/drawing/2014/main" id="{FCCE234D-12B7-4E98-A285-74E31BF82ECE}"/>
              </a:ext>
            </a:extLst>
          </p:cNvPr>
          <p:cNvSpPr>
            <a:spLocks xmlns:a="http://schemas.openxmlformats.org/drawingml/2006/main" noGrp="1"/>
          </p:cNvSpPr>
          <p:nvPr/>
        </p:nvSpPr>
        <p:spPr>
          <a:xfrm xmlns:a="http://schemas.openxmlformats.org/drawingml/2006/main">
            <a:off x="9105900" y="28194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visible replay-side H2D loads finished late</a:t>
            </a:r>
          </a:p>
        </p:txBody>
      </p:sp>
      <p:sp>
        <p:nvSpPr>
          <p:cNvPr id="6" name="">
            <a:extLst xmlns:a="http://schemas.openxmlformats.org/drawingml/2006/main">
              <a:ext uri="{FF2B5EF4-FFF2-40B4-BE49-F238E27FC236}">
                <a16:creationId xmlns:a16="http://schemas.microsoft.com/office/drawing/2014/main" id="{0C867DED-AAFB-4941-9541-48A203367148}"/>
              </a:ext>
            </a:extLst>
          </p:cNvPr>
          <p:cNvSpPr>
            <a:spLocks xmlns:a="http://schemas.openxmlformats.org/drawingml/2006/main" noGrp="1"/>
          </p:cNvSpPr>
          <p:nvPr/>
        </p:nvSpPr>
        <p:spPr>
          <a:xfrm xmlns:a="http://schemas.openxmlformats.org/drawingml/2006/main">
            <a:off x="9105900" y="3714750"/>
            <a:ext cx="2266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Meaning: the memory movement happened, but not early enough for the replay deadline.</a:t>
            </a:r>
          </a:p>
        </p:txBody>
      </p:sp>
      <p:sp>
        <p:nvSpPr>
          <p:cNvPr id="7" name="">
            <a:extLst xmlns:a="http://schemas.openxmlformats.org/drawingml/2006/main">
              <a:ext uri="{FF2B5EF4-FFF2-40B4-BE49-F238E27FC236}">
                <a16:creationId xmlns:a16="http://schemas.microsoft.com/office/drawing/2014/main" id="{248DBFF0-43F9-4A41-AD0E-5548FE748641}"/>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B8D2C932-C29E-4DC8-955C-2C6DFB6B55CC}"/>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1890699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C40D5E-8534-4652-8003-699C26D67F89}"/>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207C936F-7DAD-4600-8BDA-6561AF89598E}"/>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request passes through normal runtime scheduling before visible KV H2D begins.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0b858a0a6e24cbf"/>
          <a:stretch xmlns:a="http://schemas.openxmlformats.org/drawingml/2006/main"/>
        </p:blipFill>
        <p:spPr>
          <a:xfrm xmlns:a="http://schemas.openxmlformats.org/drawingml/2006/main">
            <a:off x="1329402" y="1371600"/>
            <a:ext cx="8809295" cy="41148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A586958-AC4D-471D-8DAD-470CB9B1BE70}"/>
              </a:ext>
            </a:extLst>
          </p:cNvPr>
          <p:cNvSpPr>
            <a:spLocks xmlns:a="http://schemas.openxmlformats.org/drawingml/2006/main" noGrp="1"/>
          </p:cNvSpPr>
          <p:nvPr/>
        </p:nvSpPr>
        <p:spPr>
          <a:xfrm xmlns:a="http://schemas.openxmlformats.org/drawingml/2006/main">
            <a:off x="742950" y="567690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Stage markers separate client submit, SGLang receive, scheduler queue/admit, H2D start, and H2D finish.</a:t>
            </a:r>
          </a:p>
        </p:txBody>
      </p:sp>
      <p:sp>
        <p:nvSpPr>
          <p:cNvPr id="5" name="">
            <a:extLst xmlns:a="http://schemas.openxmlformats.org/drawingml/2006/main">
              <a:ext uri="{FF2B5EF4-FFF2-40B4-BE49-F238E27FC236}">
                <a16:creationId xmlns:a16="http://schemas.microsoft.com/office/drawing/2014/main" id="{4E7D5F67-6A27-49E7-BB73-F04E173E7FBB}"/>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6" name="">
            <a:extLst xmlns:a="http://schemas.openxmlformats.org/drawingml/2006/main">
              <a:ext uri="{FF2B5EF4-FFF2-40B4-BE49-F238E27FC236}">
                <a16:creationId xmlns:a16="http://schemas.microsoft.com/office/drawing/2014/main" id="{C7E6B456-54D0-418B-8B77-5DFC5DD61B83}"/>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97771960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99E9D64-0F62-496F-9093-33F4E55317B8}"/>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Key findings make the hardware case</a:t>
            </a:r>
          </a:p>
        </p:txBody>
      </p:sp>
      <p:sp>
        <p:nvSpPr>
          <p:cNvPr id="2" name="">
            <a:extLst xmlns:a="http://schemas.openxmlformats.org/drawingml/2006/main">
              <a:ext uri="{FF2B5EF4-FFF2-40B4-BE49-F238E27FC236}">
                <a16:creationId xmlns:a16="http://schemas.microsoft.com/office/drawing/2014/main" id="{F147E563-6D64-459C-B06F-490ADD969CE9}"/>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 pattern points to missing context, deadlines, residency control, and telemetry.</a:t>
            </a:r>
          </a:p>
        </p:txBody>
      </p:sp>
      <p:sp>
        <p:nvSpPr>
          <p:cNvPr id="3" name="">
            <a:extLst xmlns:a="http://schemas.openxmlformats.org/drawingml/2006/main">
              <a:ext uri="{FF2B5EF4-FFF2-40B4-BE49-F238E27FC236}">
                <a16:creationId xmlns:a16="http://schemas.microsoft.com/office/drawing/2014/main" id="{B5698D55-8C1D-435B-8317-8D88145A6970}"/>
              </a:ext>
            </a:extLst>
          </p:cNvPr>
          <p:cNvSpPr>
            <a:spLocks xmlns:a="http://schemas.openxmlformats.org/drawingml/2006/main" noGrp="1"/>
          </p:cNvSpPr>
          <p:nvPr/>
        </p:nvSpPr>
        <p:spPr>
          <a:xfrm xmlns:a="http://schemas.openxmlformats.org/drawingml/2006/main">
            <a:off x="876300" y="15811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549D50B5-D731-49E2-A29A-FD104178E50C}"/>
              </a:ext>
            </a:extLst>
          </p:cNvPr>
          <p:cNvSpPr>
            <a:spLocks xmlns:a="http://schemas.openxmlformats.org/drawingml/2006/main" noGrp="1"/>
          </p:cNvSpPr>
          <p:nvPr/>
        </p:nvSpPr>
        <p:spPr>
          <a:xfrm xmlns:a="http://schemas.openxmlformats.org/drawingml/2006/main">
            <a:off x="1162050" y="16002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Agent tool gaps can be very short.</a:t>
            </a:r>
          </a:p>
        </p:txBody>
      </p:sp>
      <p:sp>
        <p:nvSpPr>
          <p:cNvPr id="5" name="">
            <a:extLst xmlns:a="http://schemas.openxmlformats.org/drawingml/2006/main">
              <a:ext uri="{FF2B5EF4-FFF2-40B4-BE49-F238E27FC236}">
                <a16:creationId xmlns:a16="http://schemas.microsoft.com/office/drawing/2014/main" id="{C85E57E6-3A09-440B-94B8-2F189545D09E}"/>
              </a:ext>
            </a:extLst>
          </p:cNvPr>
          <p:cNvSpPr>
            <a:spLocks xmlns:a="http://schemas.openxmlformats.org/drawingml/2006/main" noGrp="1"/>
          </p:cNvSpPr>
          <p:nvPr/>
        </p:nvSpPr>
        <p:spPr>
          <a:xfrm xmlns:a="http://schemas.openxmlformats.org/drawingml/2006/main">
            <a:off x="876300" y="22669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81FB160B-3FAC-4EF7-88AF-E78084A66B8C}"/>
              </a:ext>
            </a:extLst>
          </p:cNvPr>
          <p:cNvSpPr>
            <a:spLocks xmlns:a="http://schemas.openxmlformats.org/drawingml/2006/main" noGrp="1"/>
          </p:cNvSpPr>
          <p:nvPr/>
        </p:nvSpPr>
        <p:spPr>
          <a:xfrm xmlns:a="http://schemas.openxmlformats.org/drawingml/2006/main">
            <a:off x="1162050" y="22860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Correct hints can still finish late.</a:t>
            </a:r>
          </a:p>
        </p:txBody>
      </p:sp>
      <p:sp>
        <p:nvSpPr>
          <p:cNvPr id="7" name="">
            <a:extLst xmlns:a="http://schemas.openxmlformats.org/drawingml/2006/main">
              <a:ext uri="{FF2B5EF4-FFF2-40B4-BE49-F238E27FC236}">
                <a16:creationId xmlns:a16="http://schemas.microsoft.com/office/drawing/2014/main" id="{88DD0CB8-CF0A-4FB1-86EF-861DFA275B91}"/>
              </a:ext>
            </a:extLst>
          </p:cNvPr>
          <p:cNvSpPr>
            <a:spLocks xmlns:a="http://schemas.openxmlformats.org/drawingml/2006/main" noGrp="1"/>
          </p:cNvSpPr>
          <p:nvPr/>
        </p:nvSpPr>
        <p:spPr>
          <a:xfrm xmlns:a="http://schemas.openxmlformats.org/drawingml/2006/main">
            <a:off x="876300" y="29527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8" name="">
            <a:extLst xmlns:a="http://schemas.openxmlformats.org/drawingml/2006/main">
              <a:ext uri="{FF2B5EF4-FFF2-40B4-BE49-F238E27FC236}">
                <a16:creationId xmlns:a16="http://schemas.microsoft.com/office/drawing/2014/main" id="{27089430-C1B8-414B-BAE7-7DA1AFE1A0A8}"/>
              </a:ext>
            </a:extLst>
          </p:cNvPr>
          <p:cNvSpPr>
            <a:spLocks xmlns:a="http://schemas.openxmlformats.org/drawingml/2006/main" noGrp="1"/>
          </p:cNvSpPr>
          <p:nvPr/>
        </p:nvSpPr>
        <p:spPr>
          <a:xfrm xmlns:a="http://schemas.openxmlformats.org/drawingml/2006/main">
            <a:off x="1162050" y="29718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Visible copy time is only part of end-to-end delay.</a:t>
            </a:r>
          </a:p>
        </p:txBody>
      </p:sp>
      <p:sp>
        <p:nvSpPr>
          <p:cNvPr id="9" name="">
            <a:extLst xmlns:a="http://schemas.openxmlformats.org/drawingml/2006/main">
              <a:ext uri="{FF2B5EF4-FFF2-40B4-BE49-F238E27FC236}">
                <a16:creationId xmlns:a16="http://schemas.microsoft.com/office/drawing/2014/main" id="{8139AACC-046A-40E1-9C50-C8CAF7D74DC0}"/>
              </a:ext>
            </a:extLst>
          </p:cNvPr>
          <p:cNvSpPr>
            <a:spLocks xmlns:a="http://schemas.openxmlformats.org/drawingml/2006/main" noGrp="1"/>
          </p:cNvSpPr>
          <p:nvPr/>
        </p:nvSpPr>
        <p:spPr>
          <a:xfrm xmlns:a="http://schemas.openxmlformats.org/drawingml/2006/main">
            <a:off x="876300" y="36385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CA8A04"/>
                </a:solidFill>
              </a:defRPr>
            </a:pPr>
            <a:r>
              <a:rPr sz="2025" b="1">
                <a:solidFill>
                  <a:srgbClr val="CA8A04"/>
                </a:solidFill>
              </a:rPr>
              <a:t>•</a:t>
            </a:r>
          </a:p>
        </p:txBody>
      </p:sp>
      <p:sp>
        <p:nvSpPr>
          <p:cNvPr id="10" name="">
            <a:extLst xmlns:a="http://schemas.openxmlformats.org/drawingml/2006/main">
              <a:ext uri="{FF2B5EF4-FFF2-40B4-BE49-F238E27FC236}">
                <a16:creationId xmlns:a16="http://schemas.microsoft.com/office/drawing/2014/main" id="{F477F21D-6823-4103-B4BA-69EA42C30168}"/>
              </a:ext>
            </a:extLst>
          </p:cNvPr>
          <p:cNvSpPr>
            <a:spLocks xmlns:a="http://schemas.openxmlformats.org/drawingml/2006/main" noGrp="1"/>
          </p:cNvSpPr>
          <p:nvPr/>
        </p:nvSpPr>
        <p:spPr>
          <a:xfrm xmlns:a="http://schemas.openxmlformats.org/drawingml/2006/main">
            <a:off x="1162050" y="36576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can be written to host, evicted from GPU, then lost from host before replay.</a:t>
            </a:r>
          </a:p>
        </p:txBody>
      </p:sp>
      <p:sp>
        <p:nvSpPr>
          <p:cNvPr id="11" name="">
            <a:extLst xmlns:a="http://schemas.openxmlformats.org/drawingml/2006/main">
              <a:ext uri="{FF2B5EF4-FFF2-40B4-BE49-F238E27FC236}">
                <a16:creationId xmlns:a16="http://schemas.microsoft.com/office/drawing/2014/main" id="{D810BB76-BC0A-47D9-8F83-25823BCCDD54}"/>
              </a:ext>
            </a:extLst>
          </p:cNvPr>
          <p:cNvSpPr>
            <a:spLocks xmlns:a="http://schemas.openxmlformats.org/drawingml/2006/main" noGrp="1"/>
          </p:cNvSpPr>
          <p:nvPr/>
        </p:nvSpPr>
        <p:spPr>
          <a:xfrm xmlns:a="http://schemas.openxmlformats.org/drawingml/2006/main">
            <a:off x="876300" y="432435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C2626"/>
                </a:solidFill>
              </a:defRPr>
            </a:pPr>
            <a:r>
              <a:rPr sz="2025" b="1">
                <a:solidFill>
                  <a:srgbClr val="DC2626"/>
                </a:solidFill>
              </a:rPr>
              <a:t>•</a:t>
            </a:r>
          </a:p>
        </p:txBody>
      </p:sp>
      <p:sp>
        <p:nvSpPr>
          <p:cNvPr id="12" name="">
            <a:extLst xmlns:a="http://schemas.openxmlformats.org/drawingml/2006/main">
              <a:ext uri="{FF2B5EF4-FFF2-40B4-BE49-F238E27FC236}">
                <a16:creationId xmlns:a16="http://schemas.microsoft.com/office/drawing/2014/main" id="{7B30856C-F232-43F4-B994-851BEFB7A1B9}"/>
              </a:ext>
            </a:extLst>
          </p:cNvPr>
          <p:cNvSpPr>
            <a:spLocks xmlns:a="http://schemas.openxmlformats.org/drawingml/2006/main" noGrp="1"/>
          </p:cNvSpPr>
          <p:nvPr/>
        </p:nvSpPr>
        <p:spPr>
          <a:xfrm xmlns:a="http://schemas.openxmlformats.org/drawingml/2006/main">
            <a:off x="1162050" y="4343400"/>
            <a:ext cx="952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Replay-side H2D movement can miss the deadline even when the replay request exists.</a:t>
            </a:r>
          </a:p>
        </p:txBody>
      </p:sp>
      <p:sp>
        <p:nvSpPr>
          <p:cNvPr id="13" name="">
            <a:extLst xmlns:a="http://schemas.openxmlformats.org/drawingml/2006/main">
              <a:ext uri="{FF2B5EF4-FFF2-40B4-BE49-F238E27FC236}">
                <a16:creationId xmlns:a16="http://schemas.microsoft.com/office/drawing/2014/main" id="{7CCC884A-F5FB-43F4-963B-CE9C74CEFB20}"/>
              </a:ext>
            </a:extLst>
          </p:cNvPr>
          <p:cNvSpPr>
            <a:spLocks xmlns:a="http://schemas.openxmlformats.org/drawingml/2006/main" noGrp="1"/>
          </p:cNvSpPr>
          <p:nvPr/>
        </p:nvSpPr>
        <p:spPr>
          <a:xfrm xmlns:a="http://schemas.openxmlformats.org/drawingml/2006/main">
            <a:off x="419100" y="542925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8A7BBB-C244-4A92-A266-6D02BD69E2A0}"/>
              </a:ext>
            </a:extLst>
          </p:cNvPr>
          <p:cNvSpPr>
            <a:spLocks xmlns:a="http://schemas.openxmlformats.org/drawingml/2006/main" noGrp="1"/>
          </p:cNvSpPr>
          <p:nvPr/>
        </p:nvSpPr>
        <p:spPr>
          <a:xfrm xmlns:a="http://schemas.openxmlformats.org/drawingml/2006/main">
            <a:off x="876300" y="5657850"/>
            <a:ext cx="990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Conclusion: this is a scheduling and enforceability problem, not just a bandwidth problem.</a:t>
            </a:r>
          </a:p>
        </p:txBody>
      </p:sp>
      <p:sp>
        <p:nvSpPr>
          <p:cNvPr id="15" name="">
            <a:extLst xmlns:a="http://schemas.openxmlformats.org/drawingml/2006/main">
              <a:ext uri="{FF2B5EF4-FFF2-40B4-BE49-F238E27FC236}">
                <a16:creationId xmlns:a16="http://schemas.microsoft.com/office/drawing/2014/main" id="{F77AB9F1-0129-451E-96CC-0D352A5CC40E}"/>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6" name="">
            <a:extLst xmlns:a="http://schemas.openxmlformats.org/drawingml/2006/main">
              <a:ext uri="{FF2B5EF4-FFF2-40B4-BE49-F238E27FC236}">
                <a16:creationId xmlns:a16="http://schemas.microsoft.com/office/drawing/2014/main" id="{2026B7DC-C6FB-4BC1-913B-98D6583289C7}"/>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17169949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915752A-C7B1-4DFA-92A7-DEFCC40F3E48}"/>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Potential hardware impact</a:t>
            </a:r>
          </a:p>
        </p:txBody>
      </p:sp>
      <p:sp>
        <p:nvSpPr>
          <p:cNvPr id="2" name="">
            <a:extLst xmlns:a="http://schemas.openxmlformats.org/drawingml/2006/main">
              <a:ext uri="{FF2B5EF4-FFF2-40B4-BE49-F238E27FC236}">
                <a16:creationId xmlns:a16="http://schemas.microsoft.com/office/drawing/2014/main" id="{998AD203-C032-4D04-82DF-A11A4629DD0E}"/>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These are ballpark research targets for tool-heavy agent workloads, not final measured claims.</a:t>
            </a:r>
          </a:p>
        </p:txBody>
      </p:sp>
      <p:sp>
        <p:nvSpPr>
          <p:cNvPr id="3" name="">
            <a:extLst xmlns:a="http://schemas.openxmlformats.org/drawingml/2006/main">
              <a:ext uri="{FF2B5EF4-FFF2-40B4-BE49-F238E27FC236}">
                <a16:creationId xmlns:a16="http://schemas.microsoft.com/office/drawing/2014/main" id="{3AFAFCA3-9EF8-4E69-B854-219BFE1367B8}"/>
              </a:ext>
            </a:extLst>
          </p:cNvPr>
          <p:cNvSpPr>
            <a:spLocks xmlns:a="http://schemas.openxmlformats.org/drawingml/2006/main" noGrp="1"/>
          </p:cNvSpPr>
          <p:nvPr/>
        </p:nvSpPr>
        <p:spPr>
          <a:xfrm xmlns:a="http://schemas.openxmlformats.org/drawingml/2006/main">
            <a:off x="876300" y="15621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69F336FE-CDD9-4133-966A-E9A0AD09D280}"/>
              </a:ext>
            </a:extLst>
          </p:cNvPr>
          <p:cNvSpPr>
            <a:spLocks xmlns:a="http://schemas.openxmlformats.org/drawingml/2006/main" noGrp="1"/>
          </p:cNvSpPr>
          <p:nvPr/>
        </p:nvSpPr>
        <p:spPr>
          <a:xfrm xmlns:a="http://schemas.openxmlformats.org/drawingml/2006/main">
            <a:off x="1162050" y="15811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10-30% lower post-tool replay latency when urgent KV is ready before replay.</a:t>
            </a:r>
          </a:p>
        </p:txBody>
      </p:sp>
      <p:sp>
        <p:nvSpPr>
          <p:cNvPr id="5" name="">
            <a:extLst xmlns:a="http://schemas.openxmlformats.org/drawingml/2006/main">
              <a:ext uri="{FF2B5EF4-FFF2-40B4-BE49-F238E27FC236}">
                <a16:creationId xmlns:a16="http://schemas.microsoft.com/office/drawing/2014/main" id="{A48ED84E-FB21-4227-870A-F00D16C80DD8}"/>
              </a:ext>
            </a:extLst>
          </p:cNvPr>
          <p:cNvSpPr>
            <a:spLocks xmlns:a="http://schemas.openxmlformats.org/drawingml/2006/main" noGrp="1"/>
          </p:cNvSpPr>
          <p:nvPr/>
        </p:nvSpPr>
        <p:spPr>
          <a:xfrm xmlns:a="http://schemas.openxmlformats.org/drawingml/2006/main">
            <a:off x="876300" y="22479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2D9B5E78-CD7F-4A97-B493-118F5B2FF0FD}"/>
              </a:ext>
            </a:extLst>
          </p:cNvPr>
          <p:cNvSpPr>
            <a:spLocks xmlns:a="http://schemas.openxmlformats.org/drawingml/2006/main" noGrp="1"/>
          </p:cNvSpPr>
          <p:nvPr/>
        </p:nvSpPr>
        <p:spPr>
          <a:xfrm xmlns:a="http://schemas.openxmlformats.org/drawingml/2006/main">
            <a:off x="1162050" y="22669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20-50% fewer late KV reloads with deadline-aware movement scheduling.</a:t>
            </a:r>
          </a:p>
        </p:txBody>
      </p:sp>
      <p:sp>
        <p:nvSpPr>
          <p:cNvPr id="7" name="">
            <a:extLst xmlns:a="http://schemas.openxmlformats.org/drawingml/2006/main">
              <a:ext uri="{FF2B5EF4-FFF2-40B4-BE49-F238E27FC236}">
                <a16:creationId xmlns:a16="http://schemas.microsoft.com/office/drawing/2014/main" id="{C04281E1-C78E-4ADD-AF9A-47E5E5E2A7A6}"/>
              </a:ext>
            </a:extLst>
          </p:cNvPr>
          <p:cNvSpPr>
            <a:spLocks xmlns:a="http://schemas.openxmlformats.org/drawingml/2006/main" noGrp="1"/>
          </p:cNvSpPr>
          <p:nvPr/>
        </p:nvSpPr>
        <p:spPr>
          <a:xfrm xmlns:a="http://schemas.openxmlformats.org/drawingml/2006/main">
            <a:off x="876300" y="29337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C2626"/>
                </a:solidFill>
              </a:defRPr>
            </a:pPr>
            <a:r>
              <a:rPr sz="2025" b="1">
                <a:solidFill>
                  <a:srgbClr val="DC2626"/>
                </a:solidFill>
              </a:rPr>
              <a:t>•</a:t>
            </a:r>
          </a:p>
        </p:txBody>
      </p:sp>
      <p:sp>
        <p:nvSpPr>
          <p:cNvPr id="8" name="">
            <a:extLst xmlns:a="http://schemas.openxmlformats.org/drawingml/2006/main">
              <a:ext uri="{FF2B5EF4-FFF2-40B4-BE49-F238E27FC236}">
                <a16:creationId xmlns:a16="http://schemas.microsoft.com/office/drawing/2014/main" id="{4A98A2F2-11A8-4698-92CD-87C5C8C85B08}"/>
              </a:ext>
            </a:extLst>
          </p:cNvPr>
          <p:cNvSpPr>
            <a:spLocks xmlns:a="http://schemas.openxmlformats.org/drawingml/2006/main" noGrp="1"/>
          </p:cNvSpPr>
          <p:nvPr/>
        </p:nvSpPr>
        <p:spPr>
          <a:xfrm xmlns:a="http://schemas.openxmlformats.org/drawingml/2006/main">
            <a:off x="1162050" y="29527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Lower tail latency by prioritizing soon-resuming agent sessions.</a:t>
            </a:r>
          </a:p>
        </p:txBody>
      </p:sp>
      <p:sp>
        <p:nvSpPr>
          <p:cNvPr id="9" name="">
            <a:extLst xmlns:a="http://schemas.openxmlformats.org/drawingml/2006/main">
              <a:ext uri="{FF2B5EF4-FFF2-40B4-BE49-F238E27FC236}">
                <a16:creationId xmlns:a16="http://schemas.microsoft.com/office/drawing/2014/main" id="{8F38DFD5-1B17-4D4F-BC77-6F39BFD670E8}"/>
              </a:ext>
            </a:extLst>
          </p:cNvPr>
          <p:cNvSpPr>
            <a:spLocks xmlns:a="http://schemas.openxmlformats.org/drawingml/2006/main" noGrp="1"/>
          </p:cNvSpPr>
          <p:nvPr/>
        </p:nvSpPr>
        <p:spPr>
          <a:xfrm xmlns:a="http://schemas.openxmlformats.org/drawingml/2006/main">
            <a:off x="876300" y="36195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10" name="">
            <a:extLst xmlns:a="http://schemas.openxmlformats.org/drawingml/2006/main">
              <a:ext uri="{FF2B5EF4-FFF2-40B4-BE49-F238E27FC236}">
                <a16:creationId xmlns:a16="http://schemas.microsoft.com/office/drawing/2014/main" id="{36B49A24-00E6-450A-B223-24B8C5ED0D7D}"/>
              </a:ext>
            </a:extLst>
          </p:cNvPr>
          <p:cNvSpPr>
            <a:spLocks xmlns:a="http://schemas.openxmlformats.org/drawingml/2006/main" noGrp="1"/>
          </p:cNvSpPr>
          <p:nvPr/>
        </p:nvSpPr>
        <p:spPr>
          <a:xfrm xmlns:a="http://schemas.openxmlformats.org/drawingml/2006/main">
            <a:off x="1162050" y="36385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Less wasted bandwidth by avoiding too-early or evicted-before-use prefetch.</a:t>
            </a:r>
          </a:p>
        </p:txBody>
      </p:sp>
      <p:sp>
        <p:nvSpPr>
          <p:cNvPr id="11" name="">
            <a:extLst xmlns:a="http://schemas.openxmlformats.org/drawingml/2006/main">
              <a:ext uri="{FF2B5EF4-FFF2-40B4-BE49-F238E27FC236}">
                <a16:creationId xmlns:a16="http://schemas.microsoft.com/office/drawing/2014/main" id="{32057DBB-7140-45F3-83C9-FB1737AE3659}"/>
              </a:ext>
            </a:extLst>
          </p:cNvPr>
          <p:cNvSpPr>
            <a:spLocks xmlns:a="http://schemas.openxmlformats.org/drawingml/2006/main" noGrp="1"/>
          </p:cNvSpPr>
          <p:nvPr/>
        </p:nvSpPr>
        <p:spPr>
          <a:xfrm xmlns:a="http://schemas.openxmlformats.org/drawingml/2006/main">
            <a:off x="876300" y="43053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12" name="">
            <a:extLst xmlns:a="http://schemas.openxmlformats.org/drawingml/2006/main">
              <a:ext uri="{FF2B5EF4-FFF2-40B4-BE49-F238E27FC236}">
                <a16:creationId xmlns:a16="http://schemas.microsoft.com/office/drawing/2014/main" id="{691E0B30-6C14-4A18-8F42-CACC3ADBD9FB}"/>
              </a:ext>
            </a:extLst>
          </p:cNvPr>
          <p:cNvSpPr>
            <a:spLocks xmlns:a="http://schemas.openxmlformats.org/drawingml/2006/main" noGrp="1"/>
          </p:cNvSpPr>
          <p:nvPr/>
        </p:nvSpPr>
        <p:spPr>
          <a:xfrm xmlns:a="http://schemas.openxmlformats.org/drawingml/2006/main">
            <a:off x="1162050" y="43243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Better effective HBM use through KV-aware residency and eviction choices.</a:t>
            </a:r>
          </a:p>
        </p:txBody>
      </p:sp>
      <p:sp>
        <p:nvSpPr>
          <p:cNvPr id="13" name="">
            <a:extLst xmlns:a="http://schemas.openxmlformats.org/drawingml/2006/main">
              <a:ext uri="{FF2B5EF4-FFF2-40B4-BE49-F238E27FC236}">
                <a16:creationId xmlns:a16="http://schemas.microsoft.com/office/drawing/2014/main" id="{A2ACDE22-E435-4A47-BA79-CBC4C3F57866}"/>
              </a:ext>
            </a:extLst>
          </p:cNvPr>
          <p:cNvSpPr>
            <a:spLocks xmlns:a="http://schemas.openxmlformats.org/drawingml/2006/main" noGrp="1"/>
          </p:cNvSpPr>
          <p:nvPr/>
        </p:nvSpPr>
        <p:spPr>
          <a:xfrm xmlns:a="http://schemas.openxmlformats.org/drawingml/2006/main">
            <a:off x="419100" y="542925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597EAE0-7FDC-47BD-94C4-F6CB41DE4630}"/>
              </a:ext>
            </a:extLst>
          </p:cNvPr>
          <p:cNvSpPr>
            <a:spLocks xmlns:a="http://schemas.openxmlformats.org/drawingml/2006/main" noGrp="1"/>
          </p:cNvSpPr>
          <p:nvPr/>
        </p:nvSpPr>
        <p:spPr>
          <a:xfrm xmlns:a="http://schemas.openxmlformats.org/drawingml/2006/main">
            <a:off x="876300" y="56578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0F172A"/>
                </a:solidFill>
              </a:defRPr>
            </a:pPr>
            <a:r>
              <a:rPr sz="1725" b="1">
                <a:solidFill>
                  <a:srgbClr val="0F172A"/>
                </a:solidFill>
              </a:rPr>
              <a:t>The prototype is designed to turn these targets into measured numbers.</a:t>
            </a:r>
          </a:p>
        </p:txBody>
      </p:sp>
      <p:sp>
        <p:nvSpPr>
          <p:cNvPr id="15" name="">
            <a:extLst xmlns:a="http://schemas.openxmlformats.org/drawingml/2006/main">
              <a:ext uri="{FF2B5EF4-FFF2-40B4-BE49-F238E27FC236}">
                <a16:creationId xmlns:a16="http://schemas.microsoft.com/office/drawing/2014/main" id="{8B3A3CF0-42FB-43DD-B389-E173B458016D}"/>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6" name="">
            <a:extLst xmlns:a="http://schemas.openxmlformats.org/drawingml/2006/main">
              <a:ext uri="{FF2B5EF4-FFF2-40B4-BE49-F238E27FC236}">
                <a16:creationId xmlns:a16="http://schemas.microsoft.com/office/drawing/2014/main" id="{9C7A32DF-6E6B-404A-8EF7-5B46E89D1D04}"/>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11</a:t>
            </a:r>
          </a:p>
        </p:txBody>
      </p:sp>
    </p:spTree>
    <p:extLst>
      <p:ext uri="{BB962C8B-B14F-4D97-AF65-F5344CB8AC3E}">
        <p14:creationId xmlns:p14="http://schemas.microsoft.com/office/powerpoint/2010/main" val="93814216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BB8D00A-E042-4CBF-8313-94F867FEEF9B}"/>
              </a:ext>
            </a:extLst>
          </p:cNvPr>
          <p:cNvSpPr>
            <a:spLocks xmlns:a="http://schemas.openxmlformats.org/drawingml/2006/main" noGrp="1"/>
          </p:cNvSpPr>
          <p:nvPr/>
        </p:nvSpPr>
        <p:spPr>
          <a:xfrm xmlns:a="http://schemas.openxmlformats.org/drawingml/2006/main">
            <a:off x="419100" y="323850"/>
            <a:ext cx="10744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F172A"/>
                </a:solidFill>
              </a:defRPr>
            </a:pPr>
            <a:r>
              <a:rPr sz="2925"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5010AEC4-16AC-4473-AD5D-4505F23E14DA}"/>
              </a:ext>
            </a:extLst>
          </p:cNvPr>
          <p:cNvSpPr>
            <a:spLocks xmlns:a="http://schemas.openxmlformats.org/drawingml/2006/main" noGrp="1"/>
          </p:cNvSpPr>
          <p:nvPr/>
        </p:nvSpPr>
        <p:spPr>
          <a:xfrm xmlns:a="http://schemas.openxmlformats.org/drawingml/2006/main">
            <a:off x="438150" y="9144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4748B"/>
                </a:solidFill>
              </a:defRPr>
            </a:pPr>
            <a:r>
              <a:rPr sz="1500" b="0">
                <a:solidFill>
                  <a:srgbClr val="64748B"/>
                </a:solidFill>
              </a:rPr>
              <a:t>Treat KV as deadline-sensitive memory, not generic bytes.</a:t>
            </a:r>
          </a:p>
        </p:txBody>
      </p:sp>
      <p:sp>
        <p:nvSpPr>
          <p:cNvPr id="3" name="">
            <a:extLst xmlns:a="http://schemas.openxmlformats.org/drawingml/2006/main">
              <a:ext uri="{FF2B5EF4-FFF2-40B4-BE49-F238E27FC236}">
                <a16:creationId xmlns:a16="http://schemas.microsoft.com/office/drawing/2014/main" id="{C7E432A2-2282-452E-9130-FCB89C98F303}"/>
              </a:ext>
            </a:extLst>
          </p:cNvPr>
          <p:cNvSpPr>
            <a:spLocks xmlns:a="http://schemas.openxmlformats.org/drawingml/2006/main" noGrp="1"/>
          </p:cNvSpPr>
          <p:nvPr/>
        </p:nvSpPr>
        <p:spPr>
          <a:xfrm xmlns:a="http://schemas.openxmlformats.org/drawingml/2006/main">
            <a:off x="857250" y="16764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563EB"/>
                </a:solidFill>
              </a:defRPr>
            </a:pPr>
            <a:r>
              <a:rPr sz="2025" b="1">
                <a:solidFill>
                  <a:srgbClr val="2563EB"/>
                </a:solidFill>
              </a:rPr>
              <a:t>•</a:t>
            </a:r>
          </a:p>
        </p:txBody>
      </p:sp>
      <p:sp>
        <p:nvSpPr>
          <p:cNvPr id="4" name="">
            <a:extLst xmlns:a="http://schemas.openxmlformats.org/drawingml/2006/main">
              <a:ext uri="{FF2B5EF4-FFF2-40B4-BE49-F238E27FC236}">
                <a16:creationId xmlns:a16="http://schemas.microsoft.com/office/drawing/2014/main" id="{38CA6EEE-E75D-4F26-ACB4-5BF45656AD8F}"/>
              </a:ext>
            </a:extLst>
          </p:cNvPr>
          <p:cNvSpPr>
            <a:spLocks xmlns:a="http://schemas.openxmlformats.org/drawingml/2006/main" noGrp="1"/>
          </p:cNvSpPr>
          <p:nvPr/>
        </p:nvSpPr>
        <p:spPr>
          <a:xfrm xmlns:a="http://schemas.openxmlformats.org/drawingml/2006/main">
            <a:off x="1143000" y="16954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KV page/session metadata: which agent owns this KV and how urgent is it?</a:t>
            </a:r>
          </a:p>
        </p:txBody>
      </p:sp>
      <p:sp>
        <p:nvSpPr>
          <p:cNvPr id="5" name="">
            <a:extLst xmlns:a="http://schemas.openxmlformats.org/drawingml/2006/main">
              <a:ext uri="{FF2B5EF4-FFF2-40B4-BE49-F238E27FC236}">
                <a16:creationId xmlns:a16="http://schemas.microsoft.com/office/drawing/2014/main" id="{39C2A197-DF65-48E1-A608-824465534BAE}"/>
              </a:ext>
            </a:extLst>
          </p:cNvPr>
          <p:cNvSpPr>
            <a:spLocks xmlns:a="http://schemas.openxmlformats.org/drawingml/2006/main" noGrp="1"/>
          </p:cNvSpPr>
          <p:nvPr/>
        </p:nvSpPr>
        <p:spPr>
          <a:xfrm xmlns:a="http://schemas.openxmlformats.org/drawingml/2006/main">
            <a:off x="857250" y="23622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9333EA"/>
                </a:solidFill>
              </a:defRPr>
            </a:pPr>
            <a:r>
              <a:rPr sz="2025" b="1">
                <a:solidFill>
                  <a:srgbClr val="9333EA"/>
                </a:solidFill>
              </a:rPr>
              <a:t>•</a:t>
            </a:r>
          </a:p>
        </p:txBody>
      </p:sp>
      <p:sp>
        <p:nvSpPr>
          <p:cNvPr id="6" name="">
            <a:extLst xmlns:a="http://schemas.openxmlformats.org/drawingml/2006/main">
              <a:ext uri="{FF2B5EF4-FFF2-40B4-BE49-F238E27FC236}">
                <a16:creationId xmlns:a16="http://schemas.microsoft.com/office/drawing/2014/main" id="{53F43964-E35C-4881-AAF1-3B047B1DF6F8}"/>
              </a:ext>
            </a:extLst>
          </p:cNvPr>
          <p:cNvSpPr>
            <a:spLocks xmlns:a="http://schemas.openxmlformats.org/drawingml/2006/main" noGrp="1"/>
          </p:cNvSpPr>
          <p:nvPr/>
        </p:nvSpPr>
        <p:spPr>
          <a:xfrm xmlns:a="http://schemas.openxmlformats.org/drawingml/2006/main">
            <a:off x="1143000" y="23812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Deadline-aware migration queue: move urgent KV before less urgent traffic.</a:t>
            </a:r>
          </a:p>
        </p:txBody>
      </p:sp>
      <p:sp>
        <p:nvSpPr>
          <p:cNvPr id="7" name="">
            <a:extLst xmlns:a="http://schemas.openxmlformats.org/drawingml/2006/main">
              <a:ext uri="{FF2B5EF4-FFF2-40B4-BE49-F238E27FC236}">
                <a16:creationId xmlns:a16="http://schemas.microsoft.com/office/drawing/2014/main" id="{7FD36D02-A0F7-4056-845A-419218182DF2}"/>
              </a:ext>
            </a:extLst>
          </p:cNvPr>
          <p:cNvSpPr>
            <a:spLocks xmlns:a="http://schemas.openxmlformats.org/drawingml/2006/main" noGrp="1"/>
          </p:cNvSpPr>
          <p:nvPr/>
        </p:nvSpPr>
        <p:spPr>
          <a:xfrm xmlns:a="http://schemas.openxmlformats.org/drawingml/2006/main">
            <a:off x="857250" y="30480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6A34A"/>
                </a:solidFill>
              </a:defRPr>
            </a:pPr>
            <a:r>
              <a:rPr sz="2025" b="1">
                <a:solidFill>
                  <a:srgbClr val="16A34A"/>
                </a:solidFill>
              </a:rPr>
              <a:t>•</a:t>
            </a:r>
          </a:p>
        </p:txBody>
      </p:sp>
      <p:sp>
        <p:nvSpPr>
          <p:cNvPr id="8" name="">
            <a:extLst xmlns:a="http://schemas.openxmlformats.org/drawingml/2006/main">
              <a:ext uri="{FF2B5EF4-FFF2-40B4-BE49-F238E27FC236}">
                <a16:creationId xmlns:a16="http://schemas.microsoft.com/office/drawing/2014/main" id="{869F8FC6-2572-4156-8D70-1A137464D9CC}"/>
              </a:ext>
            </a:extLst>
          </p:cNvPr>
          <p:cNvSpPr>
            <a:spLocks xmlns:a="http://schemas.openxmlformats.org/drawingml/2006/main" noGrp="1"/>
          </p:cNvSpPr>
          <p:nvPr/>
        </p:nvSpPr>
        <p:spPr>
          <a:xfrm xmlns:a="http://schemas.openxmlformats.org/drawingml/2006/main">
            <a:off x="1143000" y="30670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Residency protection: keep useful prefetched KV from being evicted too early.</a:t>
            </a:r>
          </a:p>
        </p:txBody>
      </p:sp>
      <p:sp>
        <p:nvSpPr>
          <p:cNvPr id="9" name="">
            <a:extLst xmlns:a="http://schemas.openxmlformats.org/drawingml/2006/main">
              <a:ext uri="{FF2B5EF4-FFF2-40B4-BE49-F238E27FC236}">
                <a16:creationId xmlns:a16="http://schemas.microsoft.com/office/drawing/2014/main" id="{F05F8CC5-C174-42B2-867E-10128B930290}"/>
              </a:ext>
            </a:extLst>
          </p:cNvPr>
          <p:cNvSpPr>
            <a:spLocks xmlns:a="http://schemas.openxmlformats.org/drawingml/2006/main" noGrp="1"/>
          </p:cNvSpPr>
          <p:nvPr/>
        </p:nvSpPr>
        <p:spPr>
          <a:xfrm xmlns:a="http://schemas.openxmlformats.org/drawingml/2006/main">
            <a:off x="857250" y="3733800"/>
            <a:ext cx="19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891B2"/>
                </a:solidFill>
              </a:defRPr>
            </a:pPr>
            <a:r>
              <a:rPr sz="2025" b="1">
                <a:solidFill>
                  <a:srgbClr val="0891B2"/>
                </a:solidFill>
              </a:rPr>
              <a:t>•</a:t>
            </a:r>
          </a:p>
        </p:txBody>
      </p:sp>
      <p:sp>
        <p:nvSpPr>
          <p:cNvPr id="10" name="">
            <a:extLst xmlns:a="http://schemas.openxmlformats.org/drawingml/2006/main">
              <a:ext uri="{FF2B5EF4-FFF2-40B4-BE49-F238E27FC236}">
                <a16:creationId xmlns:a16="http://schemas.microsoft.com/office/drawing/2014/main" id="{F67B6D55-B6D3-4D78-B9B8-B58D7A317D19}"/>
              </a:ext>
            </a:extLst>
          </p:cNvPr>
          <p:cNvSpPr>
            <a:spLocks xmlns:a="http://schemas.openxmlformats.org/drawingml/2006/main" noGrp="1"/>
          </p:cNvSpPr>
          <p:nvPr/>
        </p:nvSpPr>
        <p:spPr>
          <a:xfrm xmlns:a="http://schemas.openxmlformats.org/drawingml/2006/main">
            <a:off x="1143000" y="3752850"/>
            <a:ext cx="971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a:solidFill>
                  <a:srgbClr val="334155"/>
                </a:solidFill>
              </a:defRPr>
            </a:pPr>
            <a:r>
              <a:rPr sz="1875" b="0">
                <a:solidFill>
                  <a:srgbClr val="334155"/>
                </a:solidFill>
              </a:rPr>
              <a:t>Telemetry: count useful, late, wasted, and evicted-before-use movement.</a:t>
            </a:r>
          </a:p>
        </p:txBody>
      </p:sp>
      <p:sp>
        <p:nvSpPr>
          <p:cNvPr id="11" name="">
            <a:extLst xmlns:a="http://schemas.openxmlformats.org/drawingml/2006/main">
              <a:ext uri="{FF2B5EF4-FFF2-40B4-BE49-F238E27FC236}">
                <a16:creationId xmlns:a16="http://schemas.microsoft.com/office/drawing/2014/main" id="{003716AF-2CC5-406D-9910-9A4D95003E05}"/>
              </a:ext>
            </a:extLst>
          </p:cNvPr>
          <p:cNvSpPr>
            <a:spLocks xmlns:a="http://schemas.openxmlformats.org/drawingml/2006/main" noGrp="1"/>
          </p:cNvSpPr>
          <p:nvPr/>
        </p:nvSpPr>
        <p:spPr>
          <a:xfrm xmlns:a="http://schemas.openxmlformats.org/drawingml/2006/main">
            <a:off x="419100" y="5257800"/>
            <a:ext cx="11353800" cy="11430"/>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56CCAB-31D5-4522-BB4A-89112E42E592}"/>
              </a:ext>
            </a:extLst>
          </p:cNvPr>
          <p:cNvSpPr>
            <a:spLocks xmlns:a="http://schemas.openxmlformats.org/drawingml/2006/main" noGrp="1"/>
          </p:cNvSpPr>
          <p:nvPr/>
        </p:nvSpPr>
        <p:spPr>
          <a:xfrm xmlns:a="http://schemas.openxmlformats.org/drawingml/2006/main">
            <a:off x="857250" y="5524500"/>
            <a:ext cx="1019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F172A"/>
                </a:solidFill>
              </a:defRPr>
            </a:pPr>
            <a:r>
              <a:rPr sz="1575" b="1">
                <a:solidFill>
                  <a:srgbClr val="0F172A"/>
                </a:solidFill>
              </a:rPr>
              <a:t>Research question: how much replay latency and wasted movement can be avoided when KV movement has session context, priority, deadline, protection, and telemetry?</a:t>
            </a:r>
          </a:p>
        </p:txBody>
      </p:sp>
      <p:sp>
        <p:nvSpPr>
          <p:cNvPr id="13" name="">
            <a:extLst xmlns:a="http://schemas.openxmlformats.org/drawingml/2006/main">
              <a:ext uri="{FF2B5EF4-FFF2-40B4-BE49-F238E27FC236}">
                <a16:creationId xmlns:a16="http://schemas.microsoft.com/office/drawing/2014/main" id="{FA6B60C7-F77F-41E7-B148-2349E4D8BEB7}"/>
              </a:ext>
            </a:extLst>
          </p:cNvPr>
          <p:cNvSpPr>
            <a:spLocks xmlns:a="http://schemas.openxmlformats.org/drawingml/2006/main" noGrp="1"/>
          </p:cNvSpPr>
          <p:nvPr/>
        </p:nvSpPr>
        <p:spPr>
          <a:xfrm xmlns:a="http://schemas.openxmlformats.org/drawingml/2006/main">
            <a:off x="419100" y="640080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4" name="">
            <a:extLst xmlns:a="http://schemas.openxmlformats.org/drawingml/2006/main">
              <a:ext uri="{FF2B5EF4-FFF2-40B4-BE49-F238E27FC236}">
                <a16:creationId xmlns:a16="http://schemas.microsoft.com/office/drawing/2014/main" id="{FEE829BC-C365-4AF3-BA29-69293093ABD6}"/>
              </a:ext>
            </a:extLst>
          </p:cNvPr>
          <p:cNvSpPr>
            <a:spLocks xmlns:a="http://schemas.openxmlformats.org/drawingml/2006/main" noGrp="1"/>
          </p:cNvSpPr>
          <p:nvPr/>
        </p:nvSpPr>
        <p:spPr>
          <a:xfrm xmlns:a="http://schemas.openxmlformats.org/drawingml/2006/main">
            <a:off x="11315700" y="64008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12</a:t>
            </a:r>
          </a:p>
        </p:txBody>
      </p:sp>
    </p:spTree>
    <p:extLst>
      <p:ext uri="{BB962C8B-B14F-4D97-AF65-F5344CB8AC3E}">
        <p14:creationId xmlns:p14="http://schemas.microsoft.com/office/powerpoint/2010/main" val="9089852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2026-08-19T17:20:26.6420000Z</dcterms:created>
  <dcterms:modified xsi:type="dcterms:W3CDTF">2026-08-19T17:20:26.6420000Z</dcterms:modified>
</coreProperties>
</file>