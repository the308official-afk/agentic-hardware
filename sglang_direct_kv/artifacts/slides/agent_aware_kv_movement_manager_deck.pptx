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2bd350d0aa49d7" /><Relationship Type="http://schemas.openxmlformats.org/officeDocument/2006/relationships/extended-properties" Target="/docProps/app.xml" Id="R21e335e95792424d" /><Relationship Type="http://schemas.openxmlformats.org/officeDocument/2006/relationships/officeDocument" Target="/ppt/presentation.xml" Id="R53967eb53d2f42f1" /></Relationships>
</file>

<file path=ppt/presentation.xml><?xml version="1.0" encoding="utf-8"?>
<p:presentation xmlns:p="http://schemas.openxmlformats.org/presentationml/2006/main">
  <p:sldMasterIdLst>
    <p:sldMasterId xmlns:r="http://schemas.openxmlformats.org/officeDocument/2006/relationships" id="2147483648" r:id="R20d915324bde41b1"/>
  </p:sldMasterIdLst>
  <p:notesMasterIdLst>
    <p:notesMasterId xmlns:r="http://schemas.openxmlformats.org/officeDocument/2006/relationships" r:id="R23c17bbc80db48dc"/>
  </p:notesMasterIdLst>
  <p:sldIdLst>
    <p:sldId xmlns:r="http://schemas.openxmlformats.org/officeDocument/2006/relationships" id="256" r:id="R2ded201f67b74c16"/>
    <p:sldId xmlns:r="http://schemas.openxmlformats.org/officeDocument/2006/relationships" id="257" r:id="R12083c949ea94ecb"/>
    <p:sldId xmlns:r="http://schemas.openxmlformats.org/officeDocument/2006/relationships" id="258" r:id="R6efc19409d574b75"/>
    <p:sldId xmlns:r="http://schemas.openxmlformats.org/officeDocument/2006/relationships" id="259" r:id="R823ab8db15bd4f59"/>
    <p:sldId xmlns:r="http://schemas.openxmlformats.org/officeDocument/2006/relationships" id="260" r:id="R7afacd1f905d4341"/>
    <p:sldId xmlns:r="http://schemas.openxmlformats.org/officeDocument/2006/relationships" id="261" r:id="R3585b33b42f7429c"/>
    <p:sldId xmlns:r="http://schemas.openxmlformats.org/officeDocument/2006/relationships" id="262" r:id="Rf177a4c70d4d4d06"/>
    <p:sldId xmlns:r="http://schemas.openxmlformats.org/officeDocument/2006/relationships" id="263" r:id="Rc813268d0b9a49a6"/>
    <p:sldId xmlns:r="http://schemas.openxmlformats.org/officeDocument/2006/relationships" id="264" r:id="Rb7243a3b6898417d"/>
    <p:sldId xmlns:r="http://schemas.openxmlformats.org/officeDocument/2006/relationships" id="265" r:id="Rc7b207a74b4d4405"/>
    <p:sldId xmlns:r="http://schemas.openxmlformats.org/officeDocument/2006/relationships" id="266" r:id="Ree81fbcebe3641d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96e5cbb7e5a4aaf" /><Relationship Type="http://schemas.openxmlformats.org/officeDocument/2006/relationships/slideMaster" Target="/ppt/slideMasters/slideMaster1.xml" Id="R20d915324bde41b1" /><Relationship Type="http://schemas.openxmlformats.org/officeDocument/2006/relationships/notesMaster" Target="/ppt/notesMasters/notesMaster1.xml" Id="R23c17bbc80db48dc" /><Relationship Type="http://schemas.openxmlformats.org/officeDocument/2006/relationships/presProps" Target="/ppt/presProps.xml" Id="R9ed8c8d4e1184e03" /><Relationship Type="http://schemas.openxmlformats.org/officeDocument/2006/relationships/tableStyles" Target="/ppt/tableStyles.xml" Id="Ra2b578204ddd4199" /><Relationship Type="http://schemas.openxmlformats.org/officeDocument/2006/relationships/slide" Target="/ppt/slides/slide1.xml" Id="R2ded201f67b74c16" /><Relationship Type="http://schemas.openxmlformats.org/officeDocument/2006/relationships/slide" Target="/ppt/slides/slide2.xml" Id="R12083c949ea94ecb" /><Relationship Type="http://schemas.openxmlformats.org/officeDocument/2006/relationships/slide" Target="/ppt/slides/slide3.xml" Id="R6efc19409d574b75" /><Relationship Type="http://schemas.openxmlformats.org/officeDocument/2006/relationships/slide" Target="/ppt/slides/slide4.xml" Id="R823ab8db15bd4f59" /><Relationship Type="http://schemas.openxmlformats.org/officeDocument/2006/relationships/slide" Target="/ppt/slides/slide5.xml" Id="R7afacd1f905d4341" /><Relationship Type="http://schemas.openxmlformats.org/officeDocument/2006/relationships/slide" Target="/ppt/slides/slide6.xml" Id="R3585b33b42f7429c" /><Relationship Type="http://schemas.openxmlformats.org/officeDocument/2006/relationships/slide" Target="/ppt/slides/slide7.xml" Id="Rf177a4c70d4d4d06" /><Relationship Type="http://schemas.openxmlformats.org/officeDocument/2006/relationships/slide" Target="/ppt/slides/slide8.xml" Id="Rc813268d0b9a49a6" /><Relationship Type="http://schemas.openxmlformats.org/officeDocument/2006/relationships/slide" Target="/ppt/slides/slide9.xml" Id="Rb7243a3b6898417d" /><Relationship Type="http://schemas.openxmlformats.org/officeDocument/2006/relationships/slide" Target="/ppt/slides/slide10.xml" Id="Rc7b207a74b4d4405" /><Relationship Type="http://schemas.openxmlformats.org/officeDocument/2006/relationships/slide" Target="/ppt/slides/slide11.xml" Id="Ree81fbcebe3641d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cf0387b19d4c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a473aad1ae445b4" /><Relationship Type="http://schemas.openxmlformats.org/officeDocument/2006/relationships/notesMaster" Target="/ppt/notesMasters/notesMaster1.xml" Id="R4863c94da0524eec" /></Relationships>
</file>

<file path=ppt/notesSlides/_rels/notesSlide2.xml.rels>&#65279;<?xml version="1.0" encoding="utf-8"?><Relationships xmlns="http://schemas.openxmlformats.org/package/2006/relationships"><Relationship Type="http://schemas.openxmlformats.org/officeDocument/2006/relationships/slide" Target="/ppt/slides/slide2.xml" Id="R2f643ab39ebb4bab" /><Relationship Type="http://schemas.openxmlformats.org/officeDocument/2006/relationships/notesMaster" Target="/ppt/notesMasters/notesMaster1.xml" Id="Re672f8926c0f4c38" /></Relationships>
</file>

<file path=ppt/notesSlides/_rels/notesSlide3.xml.rels>&#65279;<?xml version="1.0" encoding="utf-8"?><Relationships xmlns="http://schemas.openxmlformats.org/package/2006/relationships"><Relationship Type="http://schemas.openxmlformats.org/officeDocument/2006/relationships/slide" Target="/ppt/slides/slide3.xml" Id="Ra02b28e17b434f25" /><Relationship Type="http://schemas.openxmlformats.org/officeDocument/2006/relationships/notesMaster" Target="/ppt/notesMasters/notesMaster1.xml" Id="R95d90f11e4aa46cc" /></Relationships>
</file>

<file path=ppt/notesSlides/_rels/notesSlide4.xml.rels>&#65279;<?xml version="1.0" encoding="utf-8"?><Relationships xmlns="http://schemas.openxmlformats.org/package/2006/relationships"><Relationship Type="http://schemas.openxmlformats.org/officeDocument/2006/relationships/slide" Target="/ppt/slides/slide4.xml" Id="Rb27adf62d34f42af" /><Relationship Type="http://schemas.openxmlformats.org/officeDocument/2006/relationships/notesMaster" Target="/ppt/notesMasters/notesMaster1.xml" Id="R3429a45771b04c5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ce291d9521e4684" /><Relationship Type="http://schemas.openxmlformats.org/officeDocument/2006/relationships/notesMaster" Target="/ppt/notesMasters/notesMaster1.xml" Id="Rb5b4758cefa04489" /></Relationships>
</file>

<file path=ppt/notesSlides/_rels/notesSlide6.xml.rels>&#65279;<?xml version="1.0" encoding="utf-8"?><Relationships xmlns="http://schemas.openxmlformats.org/package/2006/relationships"><Relationship Type="http://schemas.openxmlformats.org/officeDocument/2006/relationships/slide" Target="/ppt/slides/slide6.xml" Id="R562736e5370d450b" /><Relationship Type="http://schemas.openxmlformats.org/officeDocument/2006/relationships/notesMaster" Target="/ppt/notesMasters/notesMaster1.xml" Id="Ref151c24e4f04b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1a19f537ae41a5" /><Relationship Type="http://schemas.openxmlformats.org/officeDocument/2006/relationships/notesMaster" Target="/ppt/notesMasters/notesMaster1.xml" Id="Rf8862ee24bba47e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47fa3aa15444e02" /><Relationship Type="http://schemas.openxmlformats.org/officeDocument/2006/relationships/notesMaster" Target="/ppt/notesMasters/notesMaster1.xml" Id="Reff6bbfd6f864a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276e73ef0f14185" /><Relationship Type="http://schemas.openxmlformats.org/officeDocument/2006/relationships/notesMaster" Target="/ppt/notesMasters/notesMaster1.xml" Id="R434351ebe2b546b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5aae28033cb455f" /><Relationship Type="http://schemas.openxmlformats.org/officeDocument/2006/relationships/notesMaster" Target="/ppt/notesMasters/notesMaster1.xml" Id="R72e8947097f1402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06acb6759045b9" /><Relationship Type="http://schemas.openxmlformats.org/officeDocument/2006/relationships/notesMaster" Target="/ppt/notesMasters/notesMaster1.xml" Id="R6f86d1eeaa9b464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slide. Keep the framing hardware-facing: software can provide hints, but hardware/runtime support can make those hints enforceable.</a:t>
            </a:r>
          </a:p>
          <a:p xmlns:a="http://schemas.openxmlformats.org/drawingml/2006/main">
            <a:r>
              <a:t>Goal: 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quantifies that gap and prototypes hint-guided KV movement as a path toward smarter DMA engines, KV-aware memory scheduling, and hardware/runtime co-design.</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replaces the earlier card-heavy setup with plain points.</a:t>
            </a:r>
          </a:p>
          <a:p xmlns:a="http://schemas.openxmlformats.org/drawingml/2006/main">
            <a:r>
              <a:t>Synthetic runs give clean control. Real DeepAgents/SWE-bench traces preserve coding-agent behavior.</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deliberately sparse. It should be easy to explain in one sentence.</a:t>
            </a:r>
          </a:p>
          <a:p xmlns:a="http://schemas.openxmlformats.org/drawingml/2006/main">
            <a:r>
              <a:t>The user asked to remove extra hardware/context-length details from this setup slide.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core problem slide. Keep it concise and hardware-focused.</a:t>
            </a:r>
          </a:p>
          <a:p xmlns:a="http://schemas.openxmlformats.org/drawingml/2006/main">
            <a:r>
              <a:t>Do not argue software cannot do this. The claim is that hardware can make enforcement cheaper, more predictable, and scalable.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main timeline slide. It should remain chart-dominant.</a:t>
            </a:r>
          </a:p>
          <a:p xmlns:a="http://schemas.openxmlformats.org/drawingml/2006/main">
            <a:r>
              <a:t>The chart shows initial model turn, tool wait, replay path, H2D, recompute, prefill, and decode.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Global prefetch margin evidence: 114 matched attempts, 112 late, 98.25% late.</a:t>
            </a:r>
          </a:p>
          <a:p xmlns:a="http://schemas.openxmlformats.org/drawingml/2006/main">
            <a:r>
              <a:t>This chart is useful for showing deadline misses at a glance.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profiled synthetic mechanism evidence.</a:t>
            </a:r>
          </a:p>
          <a:p xmlns:a="http://schemas.openxmlformats.org/drawingml/2006/main">
            <a:r>
              <a:t>It supports the claim that software/runtime scheduling and residency behavior can defeat a correct hint.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Aggregate no-prefetch evidence: 8 visible replay H2D gaps and 8 late H2D finishes.</a:t>
            </a:r>
          </a:p>
          <a:p xmlns:a="http://schemas.openxmlformats.org/drawingml/2006/main">
            <a:r>
              <a:t>This supports the deadline-aware scheduling argument.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separates queue timing from H2D timing.</a:t>
            </a:r>
          </a:p>
          <a:p xmlns:a="http://schemas.openxmlformats.org/drawingml/2006/main">
            <a:r>
              <a:t>Manager takeaway: a hint-aware system should affect admission, ordering, priority, and residency, not just copy calls.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synthesis of the research so far.</a:t>
            </a:r>
          </a:p>
          <a:p xmlns:a="http://schemas.openxmlformats.org/drawingml/2006/main">
            <a:r>
              <a:t>The finding list is intentionally short enough to present without reading dense boxes.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slide. Translate the evidence into concrete hardware support candidates.</a:t>
            </a:r>
          </a:p>
          <a:p xmlns:a="http://schemas.openxmlformats.org/drawingml/2006/main">
            <a:r>
              <a:t>These ideas map to the hardware proposal: KV metadata, semantic prefetch queue, priority-aware migration, residency protection, and telemetry.</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f0d1a8d3a144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890fb9ce204439f" /><Relationship Type="http://schemas.openxmlformats.org/officeDocument/2006/relationships/slideLayout" Target="/ppt/slideLayouts/slideLayout1.xml" Id="R7a586a2ea674487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586a2ea674487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8caeafb8a814da1" /><Relationship Type="http://schemas.openxmlformats.org/officeDocument/2006/relationships/notesSlide" Target="/ppt/notesSlides/notesSlide1.xml" Id="Rf2f5440a7c42458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5b1d130debf4d87" /><Relationship Type="http://schemas.openxmlformats.org/officeDocument/2006/relationships/notesSlide" Target="/ppt/notesSlides/notesSlide2.xml" Id="R74140e46bf5144d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7f5f6b179704bea" /><Relationship Type="http://schemas.openxmlformats.org/officeDocument/2006/relationships/notesSlide" Target="/ppt/notesSlides/notesSlide3.xml" Id="Rfb7bfeea388e4d6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44aa0904b1d4027" /><Relationship Type="http://schemas.openxmlformats.org/officeDocument/2006/relationships/notesSlide" Target="/ppt/notesSlides/notesSlide4.xml" Id="R5911abe7daf94a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52f723f456c415f" /><Relationship Type="http://schemas.openxmlformats.org/officeDocument/2006/relationships/image" Target="/ppt/media/image.png" Id="R565f879706f4468b" /><Relationship Type="http://schemas.openxmlformats.org/officeDocument/2006/relationships/notesSlide" Target="/ppt/notesSlides/notesSlide5.xml" Id="R062a8225ddc64ea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721873a335f4001" /><Relationship Type="http://schemas.openxmlformats.org/officeDocument/2006/relationships/image" Target="/ppt/media/image2.png" Id="R24591ba0485e4c12" /><Relationship Type="http://schemas.openxmlformats.org/officeDocument/2006/relationships/notesSlide" Target="/ppt/notesSlides/notesSlide6.xml" Id="R600b9ae1da7a44a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dc2960bcc8d4779" /><Relationship Type="http://schemas.openxmlformats.org/officeDocument/2006/relationships/image" Target="/ppt/media/image3.png" Id="Rd58270b99d6c4dc2" /><Relationship Type="http://schemas.openxmlformats.org/officeDocument/2006/relationships/notesSlide" Target="/ppt/notesSlides/notesSlide7.xml" Id="Ra926bec9831d4a4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ddfeaf4230a4d52" /><Relationship Type="http://schemas.openxmlformats.org/officeDocument/2006/relationships/image" Target="/ppt/media/image4.png" Id="R4ec59d47238145f7" /><Relationship Type="http://schemas.openxmlformats.org/officeDocument/2006/relationships/notesSlide" Target="/ppt/notesSlides/notesSlide8.xml" Id="R62d9865f9e97403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2cc8e1787814951" /><Relationship Type="http://schemas.openxmlformats.org/officeDocument/2006/relationships/image" Target="/ppt/media/image5.png" Id="R977fd1f6a7364997" /><Relationship Type="http://schemas.openxmlformats.org/officeDocument/2006/relationships/notesSlide" Target="/ppt/notesSlides/notesSlide9.xml" Id="Rabb48d2cce9c4ef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88c66c3848f494f" /><Relationship Type="http://schemas.openxmlformats.org/officeDocument/2006/relationships/notesSlide" Target="/ppt/notesSlides/notesSlide10.xml" Id="R75f605dd84de47e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62dca34ac2548ce" /><Relationship Type="http://schemas.openxmlformats.org/officeDocument/2006/relationships/notesSlide" Target="/ppt/notesSlides/notesSlide11.xml" Id="Rfee011a4af1a4f2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FC7523C-C444-4A2A-9304-79D6F1A41B0F}"/>
              </a:ext>
            </a:extLst>
          </p:cNvPr>
          <p:cNvSpPr>
            <a:spLocks xmlns:a="http://schemas.openxmlformats.org/drawingml/2006/main" noGrp="1"/>
          </p:cNvSpPr>
          <p:nvPr/>
        </p:nvSpPr>
        <p:spPr>
          <a:xfrm xmlns:a="http://schemas.openxmlformats.org/drawingml/2006/main">
            <a:off x="419100" y="552450"/>
            <a:ext cx="98107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200" b="1">
                <a:solidFill>
                  <a:srgbClr val="0F172A"/>
                </a:solidFill>
              </a:defRPr>
            </a:pPr>
            <a:r>
              <a:rPr sz="4200" b="1">
                <a:solidFill>
                  <a:srgbClr val="0F172A"/>
                </a:solidFill>
              </a:rPr>
              <a:t>Making KV Movement Agent-Aware</a:t>
            </a:r>
          </a:p>
        </p:txBody>
      </p:sp>
      <p:sp>
        <p:nvSpPr>
          <p:cNvPr id="2" name="">
            <a:extLst xmlns:a="http://schemas.openxmlformats.org/drawingml/2006/main">
              <a:ext uri="{FF2B5EF4-FFF2-40B4-BE49-F238E27FC236}">
                <a16:creationId xmlns:a16="http://schemas.microsoft.com/office/drawing/2014/main" id="{B946B008-5047-4094-9B15-09B1B243DFBF}"/>
              </a:ext>
            </a:extLst>
          </p:cNvPr>
          <p:cNvSpPr>
            <a:spLocks xmlns:a="http://schemas.openxmlformats.org/drawingml/2006/main" noGrp="1"/>
          </p:cNvSpPr>
          <p:nvPr/>
        </p:nvSpPr>
        <p:spPr>
          <a:xfrm xmlns:a="http://schemas.openxmlformats.org/drawingml/2006/main">
            <a:off x="457200" y="1809750"/>
            <a:ext cx="103822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334155"/>
                </a:solidFill>
              </a:defRPr>
            </a:pPr>
            <a:r>
              <a:rPr sz="1650" b="0">
                <a:solidFill>
                  <a:srgbClr val="334155"/>
                </a:solidFill>
              </a:rPr>
              <a:t>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quantifies that gap and prototypes hint-guided KV movement as a path toward smarter DMA engines, KV-aware memory scheduling, and hardware/runtime co-design.</a:t>
            </a:r>
          </a:p>
        </p:txBody>
      </p:sp>
      <p:sp>
        <p:nvSpPr>
          <p:cNvPr id="3" name="">
            <a:extLst xmlns:a="http://schemas.openxmlformats.org/drawingml/2006/main">
              <a:ext uri="{FF2B5EF4-FFF2-40B4-BE49-F238E27FC236}">
                <a16:creationId xmlns:a16="http://schemas.microsoft.com/office/drawing/2014/main" id="{9CA5556B-4CE9-4C15-A4C0-35FA6CB8E76C}"/>
              </a:ext>
            </a:extLst>
          </p:cNvPr>
          <p:cNvSpPr>
            <a:spLocks xmlns:a="http://schemas.openxmlformats.org/drawingml/2006/main" noGrp="1"/>
          </p:cNvSpPr>
          <p:nvPr/>
        </p:nvSpPr>
        <p:spPr>
          <a:xfrm xmlns:a="http://schemas.openxmlformats.org/drawingml/2006/main">
            <a:off x="419100" y="35433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9A9D1E8-D606-4B1E-9C5C-6C498D5963E2}"/>
              </a:ext>
            </a:extLst>
          </p:cNvPr>
          <p:cNvSpPr>
            <a:spLocks xmlns:a="http://schemas.openxmlformats.org/drawingml/2006/main" noGrp="1"/>
          </p:cNvSpPr>
          <p:nvPr/>
        </p:nvSpPr>
        <p:spPr>
          <a:xfrm xmlns:a="http://schemas.openxmlformats.org/drawingml/2006/main">
            <a:off x="876300" y="4000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DC2626"/>
                </a:solidFill>
              </a:defRPr>
            </a:pPr>
            <a:r>
              <a:rPr sz="1950" b="1">
                <a:solidFill>
                  <a:srgbClr val="DC2626"/>
                </a:solidFill>
              </a:rPr>
              <a:t>•</a:t>
            </a:r>
          </a:p>
        </p:txBody>
      </p:sp>
      <p:sp>
        <p:nvSpPr>
          <p:cNvPr id="5" name="">
            <a:extLst xmlns:a="http://schemas.openxmlformats.org/drawingml/2006/main">
              <a:ext uri="{FF2B5EF4-FFF2-40B4-BE49-F238E27FC236}">
                <a16:creationId xmlns:a16="http://schemas.microsoft.com/office/drawing/2014/main" id="{48CE3191-F12E-4145-9661-7CC772D26E35}"/>
              </a:ext>
            </a:extLst>
          </p:cNvPr>
          <p:cNvSpPr>
            <a:spLocks xmlns:a="http://schemas.openxmlformats.org/drawingml/2006/main" noGrp="1"/>
          </p:cNvSpPr>
          <p:nvPr/>
        </p:nvSpPr>
        <p:spPr>
          <a:xfrm xmlns:a="http://schemas.openxmlformats.org/drawingml/2006/main">
            <a:off x="1162050" y="40195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Core problem: memory movement sees bytes, not agent deadlines.</a:t>
            </a:r>
          </a:p>
        </p:txBody>
      </p:sp>
      <p:sp>
        <p:nvSpPr>
          <p:cNvPr id="6" name="">
            <a:extLst xmlns:a="http://schemas.openxmlformats.org/drawingml/2006/main">
              <a:ext uri="{FF2B5EF4-FFF2-40B4-BE49-F238E27FC236}">
                <a16:creationId xmlns:a16="http://schemas.microsoft.com/office/drawing/2014/main" id="{5091F809-8919-408F-9994-D8D322103088}"/>
              </a:ext>
            </a:extLst>
          </p:cNvPr>
          <p:cNvSpPr>
            <a:spLocks xmlns:a="http://schemas.openxmlformats.org/drawingml/2006/main" noGrp="1"/>
          </p:cNvSpPr>
          <p:nvPr/>
        </p:nvSpPr>
        <p:spPr>
          <a:xfrm xmlns:a="http://schemas.openxmlformats.org/drawingml/2006/main">
            <a:off x="876300" y="45529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563EB"/>
                </a:solidFill>
              </a:defRPr>
            </a:pPr>
            <a:r>
              <a:rPr sz="1950" b="1">
                <a:solidFill>
                  <a:srgbClr val="2563EB"/>
                </a:solidFill>
              </a:rPr>
              <a:t>•</a:t>
            </a:r>
          </a:p>
        </p:txBody>
      </p:sp>
      <p:sp>
        <p:nvSpPr>
          <p:cNvPr id="7" name="">
            <a:extLst xmlns:a="http://schemas.openxmlformats.org/drawingml/2006/main">
              <a:ext uri="{FF2B5EF4-FFF2-40B4-BE49-F238E27FC236}">
                <a16:creationId xmlns:a16="http://schemas.microsoft.com/office/drawing/2014/main" id="{D2FA7529-45F5-44A2-B171-AA9E2E2BEB8C}"/>
              </a:ext>
            </a:extLst>
          </p:cNvPr>
          <p:cNvSpPr>
            <a:spLocks xmlns:a="http://schemas.openxmlformats.org/drawingml/2006/main" noGrp="1"/>
          </p:cNvSpPr>
          <p:nvPr/>
        </p:nvSpPr>
        <p:spPr>
          <a:xfrm xmlns:a="http://schemas.openxmlformats.org/drawingml/2006/main">
            <a:off x="1162050" y="457200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Research target: make KV movement deadline-aware and session-aware.</a:t>
            </a:r>
          </a:p>
        </p:txBody>
      </p:sp>
      <p:sp>
        <p:nvSpPr>
          <p:cNvPr id="8" name="">
            <a:extLst xmlns:a="http://schemas.openxmlformats.org/drawingml/2006/main">
              <a:ext uri="{FF2B5EF4-FFF2-40B4-BE49-F238E27FC236}">
                <a16:creationId xmlns:a16="http://schemas.microsoft.com/office/drawing/2014/main" id="{6FF5949B-0D9E-4816-828B-B814B90B1C1A}"/>
              </a:ext>
            </a:extLst>
          </p:cNvPr>
          <p:cNvSpPr>
            <a:spLocks xmlns:a="http://schemas.openxmlformats.org/drawingml/2006/main" noGrp="1"/>
          </p:cNvSpPr>
          <p:nvPr/>
        </p:nvSpPr>
        <p:spPr>
          <a:xfrm xmlns:a="http://schemas.openxmlformats.org/drawingml/2006/main">
            <a:off x="876300" y="51054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16A34A"/>
                </a:solidFill>
              </a:defRPr>
            </a:pPr>
            <a:r>
              <a:rPr sz="1950" b="1">
                <a:solidFill>
                  <a:srgbClr val="16A34A"/>
                </a:solidFill>
              </a:rPr>
              <a:t>•</a:t>
            </a:r>
          </a:p>
        </p:txBody>
      </p:sp>
      <p:sp>
        <p:nvSpPr>
          <p:cNvPr id="9" name="">
            <a:extLst xmlns:a="http://schemas.openxmlformats.org/drawingml/2006/main">
              <a:ext uri="{FF2B5EF4-FFF2-40B4-BE49-F238E27FC236}">
                <a16:creationId xmlns:a16="http://schemas.microsoft.com/office/drawing/2014/main" id="{B19FC95B-2A6C-4626-9720-E6C1AE845201}"/>
              </a:ext>
            </a:extLst>
          </p:cNvPr>
          <p:cNvSpPr>
            <a:spLocks xmlns:a="http://schemas.openxmlformats.org/drawingml/2006/main" noGrp="1"/>
          </p:cNvSpPr>
          <p:nvPr/>
        </p:nvSpPr>
        <p:spPr>
          <a:xfrm xmlns:a="http://schemas.openxmlformats.org/drawingml/2006/main">
            <a:off x="1162050" y="51244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Hardware angle: smarter DMA queues, KV metadata, residency protection, and telemetry.</a:t>
            </a:r>
          </a:p>
        </p:txBody>
      </p:sp>
      <p:sp>
        <p:nvSpPr>
          <p:cNvPr id="10" name="">
            <a:extLst xmlns:a="http://schemas.openxmlformats.org/drawingml/2006/main">
              <a:ext uri="{FF2B5EF4-FFF2-40B4-BE49-F238E27FC236}">
                <a16:creationId xmlns:a16="http://schemas.microsoft.com/office/drawing/2014/main" id="{AD0898B3-EED3-424B-9B04-9720CAB78AF9}"/>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FF683914-53E2-4ECA-A7C0-D38A2FE0CFF0}"/>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01</a:t>
            </a:r>
          </a:p>
        </p:txBody>
      </p:sp>
    </p:spTree>
    <p:extLst>
      <p:ext uri="{BB962C8B-B14F-4D97-AF65-F5344CB8AC3E}">
        <p14:creationId xmlns:p14="http://schemas.microsoft.com/office/powerpoint/2010/main" val="6995052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00B649-4EEA-491C-AF89-EFEF0E9BBB48}"/>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The testbed has controlled and real traffic</a:t>
            </a:r>
          </a:p>
        </p:txBody>
      </p:sp>
      <p:sp>
        <p:nvSpPr>
          <p:cNvPr id="2" name="">
            <a:extLst xmlns:a="http://schemas.openxmlformats.org/drawingml/2006/main">
              <a:ext uri="{FF2B5EF4-FFF2-40B4-BE49-F238E27FC236}">
                <a16:creationId xmlns:a16="http://schemas.microsoft.com/office/drawing/2014/main" id="{8C5BB232-A6D5-4BB1-8B61-3219285FE92F}"/>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Controlled runs expose mechanisms; real traces keep the workload credible.</a:t>
            </a:r>
          </a:p>
        </p:txBody>
      </p:sp>
      <p:sp>
        <p:nvSpPr>
          <p:cNvPr id="3" name="">
            <a:extLst xmlns:a="http://schemas.openxmlformats.org/drawingml/2006/main">
              <a:ext uri="{FF2B5EF4-FFF2-40B4-BE49-F238E27FC236}">
                <a16:creationId xmlns:a16="http://schemas.microsoft.com/office/drawing/2014/main" id="{476A1B60-7F4F-4922-96B5-AF12CC974761}"/>
              </a:ext>
            </a:extLst>
          </p:cNvPr>
          <p:cNvSpPr>
            <a:spLocks xmlns:a="http://schemas.openxmlformats.org/drawingml/2006/main" noGrp="1"/>
          </p:cNvSpPr>
          <p:nvPr/>
        </p:nvSpPr>
        <p:spPr>
          <a:xfrm xmlns:a="http://schemas.openxmlformats.org/drawingml/2006/main">
            <a:off x="800100" y="17716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BC91FB7A-BAEE-46E9-A5AB-3FBEE5D52AF2}"/>
              </a:ext>
            </a:extLst>
          </p:cNvPr>
          <p:cNvSpPr>
            <a:spLocks xmlns:a="http://schemas.openxmlformats.org/drawingml/2006/main" noGrp="1"/>
          </p:cNvSpPr>
          <p:nvPr/>
        </p:nvSpPr>
        <p:spPr>
          <a:xfrm xmlns:a="http://schemas.openxmlformats.org/drawingml/2006/main">
            <a:off x="1085850" y="179070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Controlled synthetic path: prompt size, tool wait, filler pressure, and replay deadline are known.</a:t>
            </a:r>
          </a:p>
        </p:txBody>
      </p:sp>
      <p:sp>
        <p:nvSpPr>
          <p:cNvPr id="5" name="">
            <a:extLst xmlns:a="http://schemas.openxmlformats.org/drawingml/2006/main">
              <a:ext uri="{FF2B5EF4-FFF2-40B4-BE49-F238E27FC236}">
                <a16:creationId xmlns:a16="http://schemas.microsoft.com/office/drawing/2014/main" id="{503A79E9-7B85-47A6-83DA-57C3614EAECB}"/>
              </a:ext>
            </a:extLst>
          </p:cNvPr>
          <p:cNvSpPr>
            <a:spLocks xmlns:a="http://schemas.openxmlformats.org/drawingml/2006/main" noGrp="1"/>
          </p:cNvSpPr>
          <p:nvPr/>
        </p:nvSpPr>
        <p:spPr>
          <a:xfrm xmlns:a="http://schemas.openxmlformats.org/drawingml/2006/main">
            <a:off x="800100" y="2476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46873607-86FE-443D-8E81-B01E70D4D110}"/>
              </a:ext>
            </a:extLst>
          </p:cNvPr>
          <p:cNvSpPr>
            <a:spLocks xmlns:a="http://schemas.openxmlformats.org/drawingml/2006/main" noGrp="1"/>
          </p:cNvSpPr>
          <p:nvPr/>
        </p:nvSpPr>
        <p:spPr>
          <a:xfrm xmlns:a="http://schemas.openxmlformats.org/drawingml/2006/main">
            <a:off x="1085850" y="249555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Real coding-agent path: SWE-bench / AgentBench traces feed DeepAgents and SGLang.</a:t>
            </a:r>
          </a:p>
        </p:txBody>
      </p:sp>
      <p:sp>
        <p:nvSpPr>
          <p:cNvPr id="7" name="">
            <a:extLst xmlns:a="http://schemas.openxmlformats.org/drawingml/2006/main">
              <a:ext uri="{FF2B5EF4-FFF2-40B4-BE49-F238E27FC236}">
                <a16:creationId xmlns:a16="http://schemas.microsoft.com/office/drawing/2014/main" id="{A7FC6744-CA37-44F3-8CB0-FCD4BEF97038}"/>
              </a:ext>
            </a:extLst>
          </p:cNvPr>
          <p:cNvSpPr>
            <a:spLocks xmlns:a="http://schemas.openxmlformats.org/drawingml/2006/main" noGrp="1"/>
          </p:cNvSpPr>
          <p:nvPr/>
        </p:nvSpPr>
        <p:spPr>
          <a:xfrm xmlns:a="http://schemas.openxmlformats.org/drawingml/2006/main">
            <a:off x="800100" y="3181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8" name="">
            <a:extLst xmlns:a="http://schemas.openxmlformats.org/drawingml/2006/main">
              <a:ext uri="{FF2B5EF4-FFF2-40B4-BE49-F238E27FC236}">
                <a16:creationId xmlns:a16="http://schemas.microsoft.com/office/drawing/2014/main" id="{82706FF2-4D96-4B33-8B8C-DF39760D3454}"/>
              </a:ext>
            </a:extLst>
          </p:cNvPr>
          <p:cNvSpPr>
            <a:spLocks xmlns:a="http://schemas.openxmlformats.org/drawingml/2006/main" noGrp="1"/>
          </p:cNvSpPr>
          <p:nvPr/>
        </p:nvSpPr>
        <p:spPr>
          <a:xfrm xmlns:a="http://schemas.openxmlformats.org/drawingml/2006/main">
            <a:off x="1085850" y="320040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Both paths measure the same question: was useful KV ready before replay?</a:t>
            </a:r>
          </a:p>
        </p:txBody>
      </p:sp>
      <p:sp>
        <p:nvSpPr>
          <p:cNvPr id="9" name="">
            <a:extLst xmlns:a="http://schemas.openxmlformats.org/drawingml/2006/main">
              <a:ext uri="{FF2B5EF4-FFF2-40B4-BE49-F238E27FC236}">
                <a16:creationId xmlns:a16="http://schemas.microsoft.com/office/drawing/2014/main" id="{D9CD3F7B-D472-48D3-BF44-22339B9ABC23}"/>
              </a:ext>
            </a:extLst>
          </p:cNvPr>
          <p:cNvSpPr>
            <a:spLocks xmlns:a="http://schemas.openxmlformats.org/drawingml/2006/main" noGrp="1"/>
          </p:cNvSpPr>
          <p:nvPr/>
        </p:nvSpPr>
        <p:spPr>
          <a:xfrm xmlns:a="http://schemas.openxmlformats.org/drawingml/2006/main">
            <a:off x="914400" y="4533900"/>
            <a:ext cx="10096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400" b="1">
                <a:solidFill>
                  <a:srgbClr val="0F172A"/>
                </a:solidFill>
              </a:defRPr>
            </a:pPr>
            <a:r>
              <a:rPr sz="2400" b="1">
                <a:solidFill>
                  <a:srgbClr val="0F172A"/>
                </a:solidFill>
              </a:rPr>
              <a:t>agent task   →   tool wait   →   replay   →   KV ready?</a:t>
            </a:r>
          </a:p>
        </p:txBody>
      </p:sp>
      <p:sp>
        <p:nvSpPr>
          <p:cNvPr id="10" name="">
            <a:extLst xmlns:a="http://schemas.openxmlformats.org/drawingml/2006/main">
              <a:ext uri="{FF2B5EF4-FFF2-40B4-BE49-F238E27FC236}">
                <a16:creationId xmlns:a16="http://schemas.microsoft.com/office/drawing/2014/main" id="{699F9EB5-6011-48B4-A48D-59E35635334E}"/>
              </a:ext>
            </a:extLst>
          </p:cNvPr>
          <p:cNvSpPr>
            <a:spLocks xmlns:a="http://schemas.openxmlformats.org/drawingml/2006/main" noGrp="1"/>
          </p:cNvSpPr>
          <p:nvPr/>
        </p:nvSpPr>
        <p:spPr>
          <a:xfrm xmlns:a="http://schemas.openxmlformats.org/drawingml/2006/main">
            <a:off x="419100" y="6134100"/>
            <a:ext cx="933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Experiment Setup And Manager Summary</a:t>
            </a:r>
          </a:p>
        </p:txBody>
      </p:sp>
      <p:sp>
        <p:nvSpPr>
          <p:cNvPr id="11" name="">
            <a:extLst xmlns:a="http://schemas.openxmlformats.org/drawingml/2006/main">
              <a:ext uri="{FF2B5EF4-FFF2-40B4-BE49-F238E27FC236}">
                <a16:creationId xmlns:a16="http://schemas.microsoft.com/office/drawing/2014/main" id="{48E4EE69-D57A-47DD-B5A2-F77D6185A98F}"/>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2" name="">
            <a:extLst xmlns:a="http://schemas.openxmlformats.org/drawingml/2006/main">
              <a:ext uri="{FF2B5EF4-FFF2-40B4-BE49-F238E27FC236}">
                <a16:creationId xmlns:a16="http://schemas.microsoft.com/office/drawing/2014/main" id="{413920CA-C0E7-4ECA-8AA9-0290A0F00BF2}"/>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02</a:t>
            </a:r>
          </a:p>
        </p:txBody>
      </p:sp>
    </p:spTree>
    <p:extLst>
      <p:ext uri="{BB962C8B-B14F-4D97-AF65-F5344CB8AC3E}">
        <p14:creationId xmlns:p14="http://schemas.microsoft.com/office/powerpoint/2010/main" val="6138563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EDAAFC-CE44-4CFA-8FC9-677E089F3E4A}"/>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Experiment Testbed Setup</a:t>
            </a:r>
          </a:p>
        </p:txBody>
      </p:sp>
      <p:sp>
        <p:nvSpPr>
          <p:cNvPr id="2" name="">
            <a:extLst xmlns:a="http://schemas.openxmlformats.org/drawingml/2006/main">
              <a:ext uri="{FF2B5EF4-FFF2-40B4-BE49-F238E27FC236}">
                <a16:creationId xmlns:a16="http://schemas.microsoft.com/office/drawing/2014/main" id="{43EAC5A1-B0CF-4C03-8AD0-A21504DE2B3D}"/>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real-request path is intentionally simple.</a:t>
            </a:r>
          </a:p>
        </p:txBody>
      </p:sp>
      <p:sp>
        <p:nvSpPr>
          <p:cNvPr id="3" name="">
            <a:extLst xmlns:a="http://schemas.openxmlformats.org/drawingml/2006/main">
              <a:ext uri="{FF2B5EF4-FFF2-40B4-BE49-F238E27FC236}">
                <a16:creationId xmlns:a16="http://schemas.microsoft.com/office/drawing/2014/main" id="{E68E1F2B-9AA2-4AB5-8853-D687978F43F4}"/>
              </a:ext>
            </a:extLst>
          </p:cNvPr>
          <p:cNvSpPr>
            <a:spLocks xmlns:a="http://schemas.openxmlformats.org/drawingml/2006/main" noGrp="1"/>
          </p:cNvSpPr>
          <p:nvPr/>
        </p:nvSpPr>
        <p:spPr>
          <a:xfrm xmlns:a="http://schemas.openxmlformats.org/drawingml/2006/main">
            <a:off x="762000" y="2305050"/>
            <a:ext cx="1066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850" b="1">
                <a:solidFill>
                  <a:srgbClr val="0F172A"/>
                </a:solidFill>
              </a:defRPr>
            </a:pPr>
            <a:r>
              <a:rPr sz="2850" b="1">
                <a:solidFill>
                  <a:srgbClr val="0F172A"/>
                </a:solidFill>
              </a:rPr>
              <a:t>SWE-bench traces   →   DeepAgents   →   SGLang server</a:t>
            </a:r>
          </a:p>
        </p:txBody>
      </p:sp>
      <p:sp>
        <p:nvSpPr>
          <p:cNvPr id="4" name="">
            <a:extLst xmlns:a="http://schemas.openxmlformats.org/drawingml/2006/main">
              <a:ext uri="{FF2B5EF4-FFF2-40B4-BE49-F238E27FC236}">
                <a16:creationId xmlns:a16="http://schemas.microsoft.com/office/drawing/2014/main" id="{50CB75DE-AA18-4B18-B705-6FD0A3FE626D}"/>
              </a:ext>
            </a:extLst>
          </p:cNvPr>
          <p:cNvSpPr>
            <a:spLocks xmlns:a="http://schemas.openxmlformats.org/drawingml/2006/main" noGrp="1"/>
          </p:cNvSpPr>
          <p:nvPr/>
        </p:nvSpPr>
        <p:spPr>
          <a:xfrm xmlns:a="http://schemas.openxmlformats.org/drawingml/2006/main">
            <a:off x="1143000" y="38862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9333EA"/>
                </a:solidFill>
              </a:defRPr>
            </a:pPr>
            <a:r>
              <a:rPr sz="1875" b="1">
                <a:solidFill>
                  <a:srgbClr val="9333EA"/>
                </a:solidFill>
              </a:rPr>
              <a:t>•</a:t>
            </a:r>
          </a:p>
        </p:txBody>
      </p:sp>
      <p:sp>
        <p:nvSpPr>
          <p:cNvPr id="5" name="">
            <a:extLst xmlns:a="http://schemas.openxmlformats.org/drawingml/2006/main">
              <a:ext uri="{FF2B5EF4-FFF2-40B4-BE49-F238E27FC236}">
                <a16:creationId xmlns:a16="http://schemas.microsoft.com/office/drawing/2014/main" id="{202EF722-959F-4DC1-8360-1E7F09320084}"/>
              </a:ext>
            </a:extLst>
          </p:cNvPr>
          <p:cNvSpPr>
            <a:spLocks xmlns:a="http://schemas.openxmlformats.org/drawingml/2006/main" noGrp="1"/>
          </p:cNvSpPr>
          <p:nvPr/>
        </p:nvSpPr>
        <p:spPr>
          <a:xfrm xmlns:a="http://schemas.openxmlformats.org/drawingml/2006/main">
            <a:off x="1428750" y="39052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DeepAgents produces model turns and tool-call gaps.</a:t>
            </a:r>
          </a:p>
        </p:txBody>
      </p:sp>
      <p:sp>
        <p:nvSpPr>
          <p:cNvPr id="6" name="">
            <a:extLst xmlns:a="http://schemas.openxmlformats.org/drawingml/2006/main">
              <a:ext uri="{FF2B5EF4-FFF2-40B4-BE49-F238E27FC236}">
                <a16:creationId xmlns:a16="http://schemas.microsoft.com/office/drawing/2014/main" id="{1CD470D2-EE85-427E-8D04-25E372D8F78E}"/>
              </a:ext>
            </a:extLst>
          </p:cNvPr>
          <p:cNvSpPr>
            <a:spLocks xmlns:a="http://schemas.openxmlformats.org/drawingml/2006/main" noGrp="1"/>
          </p:cNvSpPr>
          <p:nvPr/>
        </p:nvSpPr>
        <p:spPr>
          <a:xfrm xmlns:a="http://schemas.openxmlformats.org/drawingml/2006/main">
            <a:off x="1143000" y="4381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891B2"/>
                </a:solidFill>
              </a:defRPr>
            </a:pPr>
            <a:r>
              <a:rPr sz="1875" b="1">
                <a:solidFill>
                  <a:srgbClr val="0891B2"/>
                </a:solidFill>
              </a:rPr>
              <a:t>•</a:t>
            </a:r>
          </a:p>
        </p:txBody>
      </p:sp>
      <p:sp>
        <p:nvSpPr>
          <p:cNvPr id="7" name="">
            <a:extLst xmlns:a="http://schemas.openxmlformats.org/drawingml/2006/main">
              <a:ext uri="{FF2B5EF4-FFF2-40B4-BE49-F238E27FC236}">
                <a16:creationId xmlns:a16="http://schemas.microsoft.com/office/drawing/2014/main" id="{8ED1FCD4-46F3-45F7-A1E5-56EEE1CE5D7E}"/>
              </a:ext>
            </a:extLst>
          </p:cNvPr>
          <p:cNvSpPr>
            <a:spLocks xmlns:a="http://schemas.openxmlformats.org/drawingml/2006/main" noGrp="1"/>
          </p:cNvSpPr>
          <p:nvPr/>
        </p:nvSpPr>
        <p:spPr>
          <a:xfrm xmlns:a="http://schemas.openxmlformats.org/drawingml/2006/main">
            <a:off x="1428750" y="44005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SGLang serves the model and exposes KV/cache behavior through our hooks.</a:t>
            </a:r>
          </a:p>
        </p:txBody>
      </p:sp>
      <p:sp>
        <p:nvSpPr>
          <p:cNvPr id="8" name="">
            <a:extLst xmlns:a="http://schemas.openxmlformats.org/drawingml/2006/main">
              <a:ext uri="{FF2B5EF4-FFF2-40B4-BE49-F238E27FC236}">
                <a16:creationId xmlns:a16="http://schemas.microsoft.com/office/drawing/2014/main" id="{1C0270AB-E1B5-49BD-86FE-8295FFFA73A9}"/>
              </a:ext>
            </a:extLst>
          </p:cNvPr>
          <p:cNvSpPr>
            <a:spLocks xmlns:a="http://schemas.openxmlformats.org/drawingml/2006/main" noGrp="1"/>
          </p:cNvSpPr>
          <p:nvPr/>
        </p:nvSpPr>
        <p:spPr>
          <a:xfrm xmlns:a="http://schemas.openxmlformats.org/drawingml/2006/main">
            <a:off x="1143000" y="48768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16A34A"/>
                </a:solidFill>
              </a:defRPr>
            </a:pPr>
            <a:r>
              <a:rPr sz="1875" b="1">
                <a:solidFill>
                  <a:srgbClr val="16A34A"/>
                </a:solidFill>
              </a:rPr>
              <a:t>•</a:t>
            </a:r>
          </a:p>
        </p:txBody>
      </p:sp>
      <p:sp>
        <p:nvSpPr>
          <p:cNvPr id="9" name="">
            <a:extLst xmlns:a="http://schemas.openxmlformats.org/drawingml/2006/main">
              <a:ext uri="{FF2B5EF4-FFF2-40B4-BE49-F238E27FC236}">
                <a16:creationId xmlns:a16="http://schemas.microsoft.com/office/drawing/2014/main" id="{CA9E6E5B-1FA3-4E60-A346-F23CF8F02A8E}"/>
              </a:ext>
            </a:extLst>
          </p:cNvPr>
          <p:cNvSpPr>
            <a:spLocks xmlns:a="http://schemas.openxmlformats.org/drawingml/2006/main" noGrp="1"/>
          </p:cNvSpPr>
          <p:nvPr/>
        </p:nvSpPr>
        <p:spPr>
          <a:xfrm xmlns:a="http://schemas.openxmlformats.org/drawingml/2006/main">
            <a:off x="1428750" y="48958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Reports compare replay timing, H2D movement, recompute, and prefetch readiness.</a:t>
            </a:r>
          </a:p>
        </p:txBody>
      </p:sp>
      <p:sp>
        <p:nvSpPr>
          <p:cNvPr id="10" name="">
            <a:extLst xmlns:a="http://schemas.openxmlformats.org/drawingml/2006/main">
              <a:ext uri="{FF2B5EF4-FFF2-40B4-BE49-F238E27FC236}">
                <a16:creationId xmlns:a16="http://schemas.microsoft.com/office/drawing/2014/main" id="{E885C58E-DAF6-4453-B345-82AD8347C59F}"/>
              </a:ext>
            </a:extLst>
          </p:cNvPr>
          <p:cNvSpPr>
            <a:spLocks xmlns:a="http://schemas.openxmlformats.org/drawingml/2006/main" noGrp="1"/>
          </p:cNvSpPr>
          <p:nvPr/>
        </p:nvSpPr>
        <p:spPr>
          <a:xfrm xmlns:a="http://schemas.openxmlformats.org/drawingml/2006/main">
            <a:off x="419100" y="6134100"/>
            <a:ext cx="933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Experiment Setup And Manager Summary</a:t>
            </a:r>
          </a:p>
        </p:txBody>
      </p:sp>
      <p:sp>
        <p:nvSpPr>
          <p:cNvPr id="11" name="">
            <a:extLst xmlns:a="http://schemas.openxmlformats.org/drawingml/2006/main">
              <a:ext uri="{FF2B5EF4-FFF2-40B4-BE49-F238E27FC236}">
                <a16:creationId xmlns:a16="http://schemas.microsoft.com/office/drawing/2014/main" id="{517562BF-BBF6-4EB0-B9C6-8131BEDFA783}"/>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2" name="">
            <a:extLst xmlns:a="http://schemas.openxmlformats.org/drawingml/2006/main">
              <a:ext uri="{FF2B5EF4-FFF2-40B4-BE49-F238E27FC236}">
                <a16:creationId xmlns:a16="http://schemas.microsoft.com/office/drawing/2014/main" id="{2EF5F4C4-0603-4322-AA0A-C0E42B3132ED}"/>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03</a:t>
            </a:r>
          </a:p>
        </p:txBody>
      </p:sp>
    </p:spTree>
    <p:extLst>
      <p:ext uri="{BB962C8B-B14F-4D97-AF65-F5344CB8AC3E}">
        <p14:creationId xmlns:p14="http://schemas.microsoft.com/office/powerpoint/2010/main" val="29885573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099DDF8-60CF-4C85-BFA6-0F5C13C5EA10}"/>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Today’s DMA engines move bytes, not intent</a:t>
            </a:r>
          </a:p>
        </p:txBody>
      </p:sp>
      <p:sp>
        <p:nvSpPr>
          <p:cNvPr id="2" name="">
            <a:extLst xmlns:a="http://schemas.openxmlformats.org/drawingml/2006/main">
              <a:ext uri="{FF2B5EF4-FFF2-40B4-BE49-F238E27FC236}">
                <a16:creationId xmlns:a16="http://schemas.microsoft.com/office/drawing/2014/main" id="{70667946-6A2F-431A-977A-61EBB9C5457A}"/>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That limits how well software hints can be enforced.</a:t>
            </a:r>
          </a:p>
        </p:txBody>
      </p:sp>
      <p:sp>
        <p:nvSpPr>
          <p:cNvPr id="3" name="">
            <a:extLst xmlns:a="http://schemas.openxmlformats.org/drawingml/2006/main">
              <a:ext uri="{FF2B5EF4-FFF2-40B4-BE49-F238E27FC236}">
                <a16:creationId xmlns:a16="http://schemas.microsoft.com/office/drawing/2014/main" id="{115AACE9-0180-494D-9A5A-1219A9521611}"/>
              </a:ext>
            </a:extLst>
          </p:cNvPr>
          <p:cNvSpPr>
            <a:spLocks xmlns:a="http://schemas.openxmlformats.org/drawingml/2006/main" noGrp="1"/>
          </p:cNvSpPr>
          <p:nvPr/>
        </p:nvSpPr>
        <p:spPr>
          <a:xfrm xmlns:a="http://schemas.openxmlformats.org/drawingml/2006/main">
            <a:off x="857250" y="17335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2563EB"/>
                </a:solidFill>
              </a:defRPr>
            </a:pPr>
            <a:r>
              <a:rPr sz="2100" b="1">
                <a:solidFill>
                  <a:srgbClr val="2563EB"/>
                </a:solidFill>
              </a:rPr>
              <a:t>•</a:t>
            </a:r>
          </a:p>
        </p:txBody>
      </p:sp>
      <p:sp>
        <p:nvSpPr>
          <p:cNvPr id="4" name="">
            <a:extLst xmlns:a="http://schemas.openxmlformats.org/drawingml/2006/main">
              <a:ext uri="{FF2B5EF4-FFF2-40B4-BE49-F238E27FC236}">
                <a16:creationId xmlns:a16="http://schemas.microsoft.com/office/drawing/2014/main" id="{2433E807-025F-4070-9E82-C074E53C7829}"/>
              </a:ext>
            </a:extLst>
          </p:cNvPr>
          <p:cNvSpPr>
            <a:spLocks xmlns:a="http://schemas.openxmlformats.org/drawingml/2006/main" noGrp="1"/>
          </p:cNvSpPr>
          <p:nvPr/>
        </p:nvSpPr>
        <p:spPr>
          <a:xfrm xmlns:a="http://schemas.openxmlformats.org/drawingml/2006/main">
            <a:off x="1143000" y="17526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which KV belongs to which agent session.</a:t>
            </a:r>
          </a:p>
        </p:txBody>
      </p:sp>
      <p:sp>
        <p:nvSpPr>
          <p:cNvPr id="5" name="">
            <a:extLst xmlns:a="http://schemas.openxmlformats.org/drawingml/2006/main">
              <a:ext uri="{FF2B5EF4-FFF2-40B4-BE49-F238E27FC236}">
                <a16:creationId xmlns:a16="http://schemas.microsoft.com/office/drawing/2014/main" id="{819522EE-90BB-4DF7-8571-8E0AA958BE77}"/>
              </a:ext>
            </a:extLst>
          </p:cNvPr>
          <p:cNvSpPr>
            <a:spLocks xmlns:a="http://schemas.openxmlformats.org/drawingml/2006/main" noGrp="1"/>
          </p:cNvSpPr>
          <p:nvPr/>
        </p:nvSpPr>
        <p:spPr>
          <a:xfrm xmlns:a="http://schemas.openxmlformats.org/drawingml/2006/main">
            <a:off x="857250" y="24574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9333EA"/>
                </a:solidFill>
              </a:defRPr>
            </a:pPr>
            <a:r>
              <a:rPr sz="2100" b="1">
                <a:solidFill>
                  <a:srgbClr val="9333EA"/>
                </a:solidFill>
              </a:rPr>
              <a:t>•</a:t>
            </a:r>
          </a:p>
        </p:txBody>
      </p:sp>
      <p:sp>
        <p:nvSpPr>
          <p:cNvPr id="6" name="">
            <a:extLst xmlns:a="http://schemas.openxmlformats.org/drawingml/2006/main">
              <a:ext uri="{FF2B5EF4-FFF2-40B4-BE49-F238E27FC236}">
                <a16:creationId xmlns:a16="http://schemas.microsoft.com/office/drawing/2014/main" id="{636F7F6D-1324-410F-B65B-BB76ECA12C99}"/>
              </a:ext>
            </a:extLst>
          </p:cNvPr>
          <p:cNvSpPr>
            <a:spLocks xmlns:a="http://schemas.openxmlformats.org/drawingml/2006/main" noGrp="1"/>
          </p:cNvSpPr>
          <p:nvPr/>
        </p:nvSpPr>
        <p:spPr>
          <a:xfrm xmlns:a="http://schemas.openxmlformats.org/drawingml/2006/main">
            <a:off x="1143000" y="2476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when the agent will replay after a tool call.</a:t>
            </a:r>
          </a:p>
        </p:txBody>
      </p:sp>
      <p:sp>
        <p:nvSpPr>
          <p:cNvPr id="7" name="">
            <a:extLst xmlns:a="http://schemas.openxmlformats.org/drawingml/2006/main">
              <a:ext uri="{FF2B5EF4-FFF2-40B4-BE49-F238E27FC236}">
                <a16:creationId xmlns:a16="http://schemas.microsoft.com/office/drawing/2014/main" id="{C897D364-AB65-45A0-A1B0-7C7984F43972}"/>
              </a:ext>
            </a:extLst>
          </p:cNvPr>
          <p:cNvSpPr>
            <a:spLocks xmlns:a="http://schemas.openxmlformats.org/drawingml/2006/main" noGrp="1"/>
          </p:cNvSpPr>
          <p:nvPr/>
        </p:nvSpPr>
        <p:spPr>
          <a:xfrm xmlns:a="http://schemas.openxmlformats.org/drawingml/2006/main">
            <a:off x="857250" y="3181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DC2626"/>
                </a:solidFill>
              </a:defRPr>
            </a:pPr>
            <a:r>
              <a:rPr sz="2100" b="1">
                <a:solidFill>
                  <a:srgbClr val="DC2626"/>
                </a:solidFill>
              </a:rPr>
              <a:t>•</a:t>
            </a:r>
          </a:p>
        </p:txBody>
      </p:sp>
      <p:sp>
        <p:nvSpPr>
          <p:cNvPr id="8" name="">
            <a:extLst xmlns:a="http://schemas.openxmlformats.org/drawingml/2006/main">
              <a:ext uri="{FF2B5EF4-FFF2-40B4-BE49-F238E27FC236}">
                <a16:creationId xmlns:a16="http://schemas.microsoft.com/office/drawing/2014/main" id="{3CA6797C-F5A9-443B-9444-9289BCE3C3B0}"/>
              </a:ext>
            </a:extLst>
          </p:cNvPr>
          <p:cNvSpPr>
            <a:spLocks xmlns:a="http://schemas.openxmlformats.org/drawingml/2006/main" noGrp="1"/>
          </p:cNvSpPr>
          <p:nvPr/>
        </p:nvSpPr>
        <p:spPr>
          <a:xfrm xmlns:a="http://schemas.openxmlformats.org/drawingml/2006/main">
            <a:off x="1143000" y="32004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whether evicting prefetched KV wastes the hint.</a:t>
            </a:r>
          </a:p>
        </p:txBody>
      </p:sp>
      <p:sp>
        <p:nvSpPr>
          <p:cNvPr id="9" name="">
            <a:extLst xmlns:a="http://schemas.openxmlformats.org/drawingml/2006/main">
              <a:ext uri="{FF2B5EF4-FFF2-40B4-BE49-F238E27FC236}">
                <a16:creationId xmlns:a16="http://schemas.microsoft.com/office/drawing/2014/main" id="{293519CA-F7BF-48AD-9664-82CA7777D070}"/>
              </a:ext>
            </a:extLst>
          </p:cNvPr>
          <p:cNvSpPr>
            <a:spLocks xmlns:a="http://schemas.openxmlformats.org/drawingml/2006/main" noGrp="1"/>
          </p:cNvSpPr>
          <p:nvPr/>
        </p:nvSpPr>
        <p:spPr>
          <a:xfrm xmlns:a="http://schemas.openxmlformats.org/drawingml/2006/main">
            <a:off x="857250" y="39052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6A34A"/>
                </a:solidFill>
              </a:defRPr>
            </a:pPr>
            <a:r>
              <a:rPr sz="2100" b="1">
                <a:solidFill>
                  <a:srgbClr val="16A34A"/>
                </a:solidFill>
              </a:rPr>
              <a:t>•</a:t>
            </a:r>
          </a:p>
        </p:txBody>
      </p:sp>
      <p:sp>
        <p:nvSpPr>
          <p:cNvPr id="10" name="">
            <a:extLst xmlns:a="http://schemas.openxmlformats.org/drawingml/2006/main">
              <a:ext uri="{FF2B5EF4-FFF2-40B4-BE49-F238E27FC236}">
                <a16:creationId xmlns:a16="http://schemas.microsoft.com/office/drawing/2014/main" id="{6011E1E7-459A-4DD1-AC1A-FB2AAFF0B60A}"/>
              </a:ext>
            </a:extLst>
          </p:cNvPr>
          <p:cNvSpPr>
            <a:spLocks xmlns:a="http://schemas.openxmlformats.org/drawingml/2006/main" noGrp="1"/>
          </p:cNvSpPr>
          <p:nvPr/>
        </p:nvSpPr>
        <p:spPr>
          <a:xfrm xmlns:a="http://schemas.openxmlformats.org/drawingml/2006/main">
            <a:off x="1143000" y="39243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expose enough semantic telemetry: useful, late, wasted, or evicted-before-use.</a:t>
            </a:r>
          </a:p>
        </p:txBody>
      </p:sp>
      <p:sp>
        <p:nvSpPr>
          <p:cNvPr id="11" name="">
            <a:extLst xmlns:a="http://schemas.openxmlformats.org/drawingml/2006/main">
              <a:ext uri="{FF2B5EF4-FFF2-40B4-BE49-F238E27FC236}">
                <a16:creationId xmlns:a16="http://schemas.microsoft.com/office/drawing/2014/main" id="{FB361BDA-069E-4988-B0ED-DFC5FE8F42A6}"/>
              </a:ext>
            </a:extLst>
          </p:cNvPr>
          <p:cNvSpPr>
            <a:spLocks xmlns:a="http://schemas.openxmlformats.org/drawingml/2006/main" noGrp="1"/>
          </p:cNvSpPr>
          <p:nvPr/>
        </p:nvSpPr>
        <p:spPr>
          <a:xfrm xmlns:a="http://schemas.openxmlformats.org/drawingml/2006/main">
            <a:off x="419100" y="51435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8C9B73D-7DED-4749-8665-2272A1B38EBD}"/>
              </a:ext>
            </a:extLst>
          </p:cNvPr>
          <p:cNvSpPr>
            <a:spLocks xmlns:a="http://schemas.openxmlformats.org/drawingml/2006/main" noGrp="1"/>
          </p:cNvSpPr>
          <p:nvPr/>
        </p:nvSpPr>
        <p:spPr>
          <a:xfrm xmlns:a="http://schemas.openxmlformats.org/drawingml/2006/main">
            <a:off x="876300" y="5448300"/>
            <a:ext cx="981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F172A"/>
                </a:solidFill>
              </a:defRPr>
            </a:pPr>
            <a:r>
              <a:rPr sz="1875" b="1">
                <a:solidFill>
                  <a:srgbClr val="0F172A"/>
                </a:solidFill>
              </a:rPr>
              <a:t>Hardware opportunity: add KV/session context to the memory movement path.</a:t>
            </a:r>
          </a:p>
        </p:txBody>
      </p:sp>
      <p:sp>
        <p:nvSpPr>
          <p:cNvPr id="13" name="">
            <a:extLst xmlns:a="http://schemas.openxmlformats.org/drawingml/2006/main">
              <a:ext uri="{FF2B5EF4-FFF2-40B4-BE49-F238E27FC236}">
                <a16:creationId xmlns:a16="http://schemas.microsoft.com/office/drawing/2014/main" id="{CFD6BF6D-FB11-4F89-8169-008EA63F339A}"/>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4" name="">
            <a:extLst xmlns:a="http://schemas.openxmlformats.org/drawingml/2006/main">
              <a:ext uri="{FF2B5EF4-FFF2-40B4-BE49-F238E27FC236}">
                <a16:creationId xmlns:a16="http://schemas.microsoft.com/office/drawing/2014/main" id="{7F02B8AA-56F2-47A3-A2C2-BAADF9A5EDBB}"/>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04</a:t>
            </a:r>
          </a:p>
        </p:txBody>
      </p:sp>
    </p:spTree>
    <p:extLst>
      <p:ext uri="{BB962C8B-B14F-4D97-AF65-F5344CB8AC3E}">
        <p14:creationId xmlns:p14="http://schemas.microsoft.com/office/powerpoint/2010/main" val="188960884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6ADB8B-BF7F-4205-9884-3C6AE8326CB1}"/>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Replay path exposes the bottleneck</a:t>
            </a:r>
          </a:p>
        </p:txBody>
      </p:sp>
      <p:sp>
        <p:nvSpPr>
          <p:cNvPr id="2" name="">
            <a:extLst xmlns:a="http://schemas.openxmlformats.org/drawingml/2006/main">
              <a:ext uri="{FF2B5EF4-FFF2-40B4-BE49-F238E27FC236}">
                <a16:creationId xmlns:a16="http://schemas.microsoft.com/office/drawing/2014/main" id="{92CC7DF5-9151-46B1-987C-8CFC254D946B}"/>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timeline shows where replay spends time before the first useful token.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65f879706f4468b"/>
          <a:stretch xmlns:a="http://schemas.openxmlformats.org/drawingml/2006/main"/>
        </p:blipFill>
        <p:spPr>
          <a:xfrm xmlns:a="http://schemas.openxmlformats.org/drawingml/2006/main">
            <a:off x="468276" y="1295400"/>
            <a:ext cx="11255448" cy="46291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D765EE8-68FC-41F1-9957-982CCF9C1897}"/>
              </a:ext>
            </a:extLst>
          </p:cNvPr>
          <p:cNvSpPr>
            <a:spLocks xmlns:a="http://schemas.openxmlformats.org/drawingml/2006/main" noGrp="1"/>
          </p:cNvSpPr>
          <p:nvPr/>
        </p:nvSpPr>
        <p:spPr>
          <a:xfrm xmlns:a="http://schemas.openxmlformats.org/drawingml/2006/main">
            <a:off x="419100" y="6134100"/>
            <a:ext cx="933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controlled run</a:t>
            </a:r>
          </a:p>
        </p:txBody>
      </p:sp>
      <p:sp>
        <p:nvSpPr>
          <p:cNvPr id="5" name="">
            <a:extLst xmlns:a="http://schemas.openxmlformats.org/drawingml/2006/main">
              <a:ext uri="{FF2B5EF4-FFF2-40B4-BE49-F238E27FC236}">
                <a16:creationId xmlns:a16="http://schemas.microsoft.com/office/drawing/2014/main" id="{F3D8D844-35EF-43D1-84E7-32F43F8FDB99}"/>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6" name="">
            <a:extLst xmlns:a="http://schemas.openxmlformats.org/drawingml/2006/main">
              <a:ext uri="{FF2B5EF4-FFF2-40B4-BE49-F238E27FC236}">
                <a16:creationId xmlns:a16="http://schemas.microsoft.com/office/drawing/2014/main" id="{D0DE714B-E1C8-4B4E-A17E-8A240EE16738}"/>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05</a:t>
            </a:r>
          </a:p>
        </p:txBody>
      </p:sp>
    </p:spTree>
    <p:extLst>
      <p:ext uri="{BB962C8B-B14F-4D97-AF65-F5344CB8AC3E}">
        <p14:creationId xmlns:p14="http://schemas.microsoft.com/office/powerpoint/2010/main" val="31130288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FC0132B-666E-41B8-AE90-0001F6A8337E}"/>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Software prefetch often missed replay</a:t>
            </a:r>
          </a:p>
        </p:txBody>
      </p:sp>
      <p:sp>
        <p:nvSpPr>
          <p:cNvPr id="2" name="">
            <a:extLst xmlns:a="http://schemas.openxmlformats.org/drawingml/2006/main">
              <a:ext uri="{FF2B5EF4-FFF2-40B4-BE49-F238E27FC236}">
                <a16:creationId xmlns:a16="http://schemas.microsoft.com/office/drawing/2014/main" id="{EFC3ADBA-4CDA-4EF1-8F2C-27CDB77E6C2F}"/>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In the live prefetch-margin run, almost every hint completed after replay was due.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24591ba0485e4c12"/>
          <a:stretch xmlns:a="http://schemas.openxmlformats.org/drawingml/2006/main"/>
        </p:blipFill>
        <p:spPr>
          <a:xfrm xmlns:a="http://schemas.openxmlformats.org/drawingml/2006/main">
            <a:off x="381000" y="1861432"/>
            <a:ext cx="8096250" cy="284938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F1A9AA5-0DDE-4C36-9AA4-0187BC1E8ADF}"/>
              </a:ext>
            </a:extLst>
          </p:cNvPr>
          <p:cNvSpPr>
            <a:spLocks xmlns:a="http://schemas.openxmlformats.org/drawingml/2006/main" noGrp="1"/>
          </p:cNvSpPr>
          <p:nvPr/>
        </p:nvSpPr>
        <p:spPr>
          <a:xfrm xmlns:a="http://schemas.openxmlformats.org/drawingml/2006/main">
            <a:off x="8953500" y="18669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DC2626"/>
                </a:solidFill>
              </a:defRPr>
            </a:pPr>
            <a:r>
              <a:rPr sz="2850" b="1">
                <a:solidFill>
                  <a:srgbClr val="DC2626"/>
                </a:solidFill>
              </a:rPr>
              <a:t>112 / 114</a:t>
            </a:r>
          </a:p>
        </p:txBody>
      </p:sp>
      <p:sp>
        <p:nvSpPr>
          <p:cNvPr id="5" name="">
            <a:extLst xmlns:a="http://schemas.openxmlformats.org/drawingml/2006/main">
              <a:ext uri="{FF2B5EF4-FFF2-40B4-BE49-F238E27FC236}">
                <a16:creationId xmlns:a16="http://schemas.microsoft.com/office/drawing/2014/main" id="{848A6E7C-524A-48B1-8A51-0C144F860AB5}"/>
              </a:ext>
            </a:extLst>
          </p:cNvPr>
          <p:cNvSpPr>
            <a:spLocks xmlns:a="http://schemas.openxmlformats.org/drawingml/2006/main" noGrp="1"/>
          </p:cNvSpPr>
          <p:nvPr/>
        </p:nvSpPr>
        <p:spPr>
          <a:xfrm xmlns:a="http://schemas.openxmlformats.org/drawingml/2006/main">
            <a:off x="8953500" y="23241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prefetch attempts were late</a:t>
            </a:r>
          </a:p>
        </p:txBody>
      </p:sp>
      <p:sp>
        <p:nvSpPr>
          <p:cNvPr id="6" name="">
            <a:extLst xmlns:a="http://schemas.openxmlformats.org/drawingml/2006/main">
              <a:ext uri="{FF2B5EF4-FFF2-40B4-BE49-F238E27FC236}">
                <a16:creationId xmlns:a16="http://schemas.microsoft.com/office/drawing/2014/main" id="{013A0A67-1C5E-4FEA-9E77-BFEFAE3BF47E}"/>
              </a:ext>
            </a:extLst>
          </p:cNvPr>
          <p:cNvSpPr>
            <a:spLocks xmlns:a="http://schemas.openxmlformats.org/drawingml/2006/main" noGrp="1"/>
          </p:cNvSpPr>
          <p:nvPr/>
        </p:nvSpPr>
        <p:spPr>
          <a:xfrm xmlns:a="http://schemas.openxmlformats.org/drawingml/2006/main">
            <a:off x="8953500" y="32385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C2410C"/>
                </a:solidFill>
              </a:defRPr>
            </a:pPr>
            <a:r>
              <a:rPr sz="2850" b="1">
                <a:solidFill>
                  <a:srgbClr val="C2410C"/>
                </a:solidFill>
              </a:rPr>
              <a:t>98.25%</a:t>
            </a:r>
          </a:p>
        </p:txBody>
      </p:sp>
      <p:sp>
        <p:nvSpPr>
          <p:cNvPr id="7" name="">
            <a:extLst xmlns:a="http://schemas.openxmlformats.org/drawingml/2006/main">
              <a:ext uri="{FF2B5EF4-FFF2-40B4-BE49-F238E27FC236}">
                <a16:creationId xmlns:a16="http://schemas.microsoft.com/office/drawing/2014/main" id="{748D1B02-9906-45B2-BF03-DC4A61673860}"/>
              </a:ext>
            </a:extLst>
          </p:cNvPr>
          <p:cNvSpPr>
            <a:spLocks xmlns:a="http://schemas.openxmlformats.org/drawingml/2006/main" noGrp="1"/>
          </p:cNvSpPr>
          <p:nvPr/>
        </p:nvSpPr>
        <p:spPr>
          <a:xfrm xmlns:a="http://schemas.openxmlformats.org/drawingml/2006/main">
            <a:off x="8953500" y="36957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missed the replay deadline</a:t>
            </a:r>
          </a:p>
        </p:txBody>
      </p:sp>
      <p:sp>
        <p:nvSpPr>
          <p:cNvPr id="8" name="">
            <a:extLst xmlns:a="http://schemas.openxmlformats.org/drawingml/2006/main">
              <a:ext uri="{FF2B5EF4-FFF2-40B4-BE49-F238E27FC236}">
                <a16:creationId xmlns:a16="http://schemas.microsoft.com/office/drawing/2014/main" id="{311822C4-208E-421B-B595-5ED32BAA710C}"/>
              </a:ext>
            </a:extLst>
          </p:cNvPr>
          <p:cNvSpPr>
            <a:spLocks xmlns:a="http://schemas.openxmlformats.org/drawingml/2006/main" noGrp="1"/>
          </p:cNvSpPr>
          <p:nvPr/>
        </p:nvSpPr>
        <p:spPr>
          <a:xfrm xmlns:a="http://schemas.openxmlformats.org/drawingml/2006/main">
            <a:off x="8953500" y="4705350"/>
            <a:ext cx="23336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Meaning: hints alone are not enough when the movement path cannot act predictably.</a:t>
            </a:r>
          </a:p>
        </p:txBody>
      </p:sp>
      <p:sp>
        <p:nvSpPr>
          <p:cNvPr id="9" name="">
            <a:extLst xmlns:a="http://schemas.openxmlformats.org/drawingml/2006/main">
              <a:ext uri="{FF2B5EF4-FFF2-40B4-BE49-F238E27FC236}">
                <a16:creationId xmlns:a16="http://schemas.microsoft.com/office/drawing/2014/main" id="{18C51214-E419-4520-AD58-230FE6A3110C}"/>
              </a:ext>
            </a:extLst>
          </p:cNvPr>
          <p:cNvSpPr>
            <a:spLocks xmlns:a="http://schemas.openxmlformats.org/drawingml/2006/main" noGrp="1"/>
          </p:cNvSpPr>
          <p:nvPr/>
        </p:nvSpPr>
        <p:spPr>
          <a:xfrm xmlns:a="http://schemas.openxmlformats.org/drawingml/2006/main">
            <a:off x="419100" y="6134100"/>
            <a:ext cx="933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backups/latest_master_report-1.html, Global Prefetch Margin</a:t>
            </a:r>
          </a:p>
        </p:txBody>
      </p:sp>
      <p:sp>
        <p:nvSpPr>
          <p:cNvPr id="10" name="">
            <a:extLst xmlns:a="http://schemas.openxmlformats.org/drawingml/2006/main">
              <a:ext uri="{FF2B5EF4-FFF2-40B4-BE49-F238E27FC236}">
                <a16:creationId xmlns:a16="http://schemas.microsoft.com/office/drawing/2014/main" id="{4AF83E6B-D6CD-4A42-B140-2BB89D61D0AE}"/>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4993B0F6-F3B9-41B2-89C9-50DE7DA60BDE}"/>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06</a:t>
            </a:r>
          </a:p>
        </p:txBody>
      </p:sp>
    </p:spTree>
    <p:extLst>
      <p:ext uri="{BB962C8B-B14F-4D97-AF65-F5344CB8AC3E}">
        <p14:creationId xmlns:p14="http://schemas.microsoft.com/office/powerpoint/2010/main" val="63489422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52AC5A3-099D-4479-A2FE-6A3DADCFC8F5}"/>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Mechanism traces explain the miss</a:t>
            </a:r>
          </a:p>
        </p:txBody>
      </p:sp>
      <p:sp>
        <p:nvSpPr>
          <p:cNvPr id="2" name="">
            <a:extLst xmlns:a="http://schemas.openxmlformats.org/drawingml/2006/main">
              <a:ext uri="{FF2B5EF4-FFF2-40B4-BE49-F238E27FC236}">
                <a16:creationId xmlns:a16="http://schemas.microsoft.com/office/drawing/2014/main" id="{D43B8401-94AE-4D00-B1DF-C6087598D019}"/>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hint existed, but KV readiness still landed too late for replay.</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d58270b99d6c4dc2"/>
          <a:stretch xmlns:a="http://schemas.openxmlformats.org/drawingml/2006/main"/>
        </p:blipFill>
        <p:spPr>
          <a:xfrm xmlns:a="http://schemas.openxmlformats.org/drawingml/2006/main">
            <a:off x="323850" y="1812925"/>
            <a:ext cx="7620000" cy="2794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6C6B26E-A11C-4BC9-877A-A28A77371905}"/>
              </a:ext>
            </a:extLst>
          </p:cNvPr>
          <p:cNvSpPr>
            <a:spLocks xmlns:a="http://schemas.openxmlformats.org/drawingml/2006/main" noGrp="1"/>
          </p:cNvSpPr>
          <p:nvPr/>
        </p:nvSpPr>
        <p:spPr>
          <a:xfrm xmlns:a="http://schemas.openxmlformats.org/drawingml/2006/main">
            <a:off x="8324850" y="20193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DC2626"/>
                </a:solidFill>
              </a:defRPr>
            </a:pPr>
            <a:r>
              <a:rPr sz="1950" b="1">
                <a:solidFill>
                  <a:srgbClr val="DC2626"/>
                </a:solidFill>
              </a:rPr>
              <a:t>•</a:t>
            </a:r>
          </a:p>
        </p:txBody>
      </p:sp>
      <p:sp>
        <p:nvSpPr>
          <p:cNvPr id="5" name="">
            <a:extLst xmlns:a="http://schemas.openxmlformats.org/drawingml/2006/main">
              <a:ext uri="{FF2B5EF4-FFF2-40B4-BE49-F238E27FC236}">
                <a16:creationId xmlns:a16="http://schemas.microsoft.com/office/drawing/2014/main" id="{B2888244-4713-49F1-8656-3C5D109888A0}"/>
              </a:ext>
            </a:extLst>
          </p:cNvPr>
          <p:cNvSpPr>
            <a:spLocks xmlns:a="http://schemas.openxmlformats.org/drawingml/2006/main" noGrp="1"/>
          </p:cNvSpPr>
          <p:nvPr/>
        </p:nvSpPr>
        <p:spPr>
          <a:xfrm xmlns:a="http://schemas.openxmlformats.org/drawingml/2006/main">
            <a:off x="8610600" y="203835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0 / 6 ready before replay</a:t>
            </a:r>
          </a:p>
        </p:txBody>
      </p:sp>
      <p:sp>
        <p:nvSpPr>
          <p:cNvPr id="6" name="">
            <a:extLst xmlns:a="http://schemas.openxmlformats.org/drawingml/2006/main">
              <a:ext uri="{FF2B5EF4-FFF2-40B4-BE49-F238E27FC236}">
                <a16:creationId xmlns:a16="http://schemas.microsoft.com/office/drawing/2014/main" id="{EA71AAE6-909E-4143-834D-FA7F7F62F1FB}"/>
              </a:ext>
            </a:extLst>
          </p:cNvPr>
          <p:cNvSpPr>
            <a:spLocks xmlns:a="http://schemas.openxmlformats.org/drawingml/2006/main" noGrp="1"/>
          </p:cNvSpPr>
          <p:nvPr/>
        </p:nvSpPr>
        <p:spPr>
          <a:xfrm xmlns:a="http://schemas.openxmlformats.org/drawingml/2006/main">
            <a:off x="8324850" y="27241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891B2"/>
                </a:solidFill>
              </a:defRPr>
            </a:pPr>
            <a:r>
              <a:rPr sz="1950" b="1">
                <a:solidFill>
                  <a:srgbClr val="0891B2"/>
                </a:solidFill>
              </a:rPr>
              <a:t>•</a:t>
            </a:r>
          </a:p>
        </p:txBody>
      </p:sp>
      <p:sp>
        <p:nvSpPr>
          <p:cNvPr id="7" name="">
            <a:extLst xmlns:a="http://schemas.openxmlformats.org/drawingml/2006/main">
              <a:ext uri="{FF2B5EF4-FFF2-40B4-BE49-F238E27FC236}">
                <a16:creationId xmlns:a16="http://schemas.microsoft.com/office/drawing/2014/main" id="{199F74D3-DD9E-452B-BD78-670830EE90AB}"/>
              </a:ext>
            </a:extLst>
          </p:cNvPr>
          <p:cNvSpPr>
            <a:spLocks xmlns:a="http://schemas.openxmlformats.org/drawingml/2006/main" noGrp="1"/>
          </p:cNvSpPr>
          <p:nvPr/>
        </p:nvSpPr>
        <p:spPr>
          <a:xfrm xmlns:a="http://schemas.openxmlformats.org/drawingml/2006/main">
            <a:off x="8610600" y="2743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3 / 6 visible CUDA HtoD</a:t>
            </a:r>
          </a:p>
        </p:txBody>
      </p:sp>
      <p:sp>
        <p:nvSpPr>
          <p:cNvPr id="8" name="">
            <a:extLst xmlns:a="http://schemas.openxmlformats.org/drawingml/2006/main">
              <a:ext uri="{FF2B5EF4-FFF2-40B4-BE49-F238E27FC236}">
                <a16:creationId xmlns:a16="http://schemas.microsoft.com/office/drawing/2014/main" id="{07DA02E2-F1D1-4B93-8D77-2CCF373A0434}"/>
              </a:ext>
            </a:extLst>
          </p:cNvPr>
          <p:cNvSpPr>
            <a:spLocks xmlns:a="http://schemas.openxmlformats.org/drawingml/2006/main" noGrp="1"/>
          </p:cNvSpPr>
          <p:nvPr/>
        </p:nvSpPr>
        <p:spPr>
          <a:xfrm xmlns:a="http://schemas.openxmlformats.org/drawingml/2006/main">
            <a:off x="8324850" y="34290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CA8A04"/>
                </a:solidFill>
              </a:defRPr>
            </a:pPr>
            <a:r>
              <a:rPr sz="1950" b="1">
                <a:solidFill>
                  <a:srgbClr val="CA8A04"/>
                </a:solidFill>
              </a:rPr>
              <a:t>•</a:t>
            </a:r>
          </a:p>
        </p:txBody>
      </p:sp>
      <p:sp>
        <p:nvSpPr>
          <p:cNvPr id="9" name="">
            <a:extLst xmlns:a="http://schemas.openxmlformats.org/drawingml/2006/main">
              <a:ext uri="{FF2B5EF4-FFF2-40B4-BE49-F238E27FC236}">
                <a16:creationId xmlns:a16="http://schemas.microsoft.com/office/drawing/2014/main" id="{1E38723F-D7C7-4ABA-A9A3-78DA4D999543}"/>
              </a:ext>
            </a:extLst>
          </p:cNvPr>
          <p:cNvSpPr>
            <a:spLocks xmlns:a="http://schemas.openxmlformats.org/drawingml/2006/main" noGrp="1"/>
          </p:cNvSpPr>
          <p:nvPr/>
        </p:nvSpPr>
        <p:spPr>
          <a:xfrm xmlns:a="http://schemas.openxmlformats.org/drawingml/2006/main">
            <a:off x="8610600" y="344805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6 / 6 replay reloaded KV</a:t>
            </a:r>
          </a:p>
        </p:txBody>
      </p:sp>
      <p:sp>
        <p:nvSpPr>
          <p:cNvPr id="10" name="">
            <a:extLst xmlns:a="http://schemas.openxmlformats.org/drawingml/2006/main">
              <a:ext uri="{FF2B5EF4-FFF2-40B4-BE49-F238E27FC236}">
                <a16:creationId xmlns:a16="http://schemas.microsoft.com/office/drawing/2014/main" id="{68BCDC75-535F-46F4-AC56-DC0A9EA4330E}"/>
              </a:ext>
            </a:extLst>
          </p:cNvPr>
          <p:cNvSpPr>
            <a:spLocks xmlns:a="http://schemas.openxmlformats.org/drawingml/2006/main" noGrp="1"/>
          </p:cNvSpPr>
          <p:nvPr/>
        </p:nvSpPr>
        <p:spPr>
          <a:xfrm xmlns:a="http://schemas.openxmlformats.org/drawingml/2006/main">
            <a:off x="914400" y="52578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64748B"/>
                </a:solidFill>
              </a:defRPr>
            </a:pPr>
            <a:r>
              <a:rPr sz="1350" b="0">
                <a:solidFill>
                  <a:srgbClr val="64748B"/>
                </a:solidFill>
              </a:rPr>
              <a:t>Use this as mechanism evidence, not clean TTFT evidence.</a:t>
            </a:r>
          </a:p>
        </p:txBody>
      </p:sp>
      <p:sp>
        <p:nvSpPr>
          <p:cNvPr id="11" name="">
            <a:extLst xmlns:a="http://schemas.openxmlformats.org/drawingml/2006/main">
              <a:ext uri="{FF2B5EF4-FFF2-40B4-BE49-F238E27FC236}">
                <a16:creationId xmlns:a16="http://schemas.microsoft.com/office/drawing/2014/main" id="{BD86E477-539D-4193-B6DB-5D8AC28D1573}"/>
              </a:ext>
            </a:extLst>
          </p:cNvPr>
          <p:cNvSpPr>
            <a:spLocks xmlns:a="http://schemas.openxmlformats.org/drawingml/2006/main" noGrp="1"/>
          </p:cNvSpPr>
          <p:nvPr/>
        </p:nvSpPr>
        <p:spPr>
          <a:xfrm xmlns:a="http://schemas.openxmlformats.org/drawingml/2006/main">
            <a:off x="419100" y="6134100"/>
            <a:ext cx="933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latest_synthetic_master_report.html, Profiled Mechanism Timelines</a:t>
            </a:r>
          </a:p>
        </p:txBody>
      </p:sp>
      <p:sp>
        <p:nvSpPr>
          <p:cNvPr id="12" name="">
            <a:extLst xmlns:a="http://schemas.openxmlformats.org/drawingml/2006/main">
              <a:ext uri="{FF2B5EF4-FFF2-40B4-BE49-F238E27FC236}">
                <a16:creationId xmlns:a16="http://schemas.microsoft.com/office/drawing/2014/main" id="{33E7ABCD-2E72-4D61-8725-F18FF0ACAED2}"/>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3" name="">
            <a:extLst xmlns:a="http://schemas.openxmlformats.org/drawingml/2006/main">
              <a:ext uri="{FF2B5EF4-FFF2-40B4-BE49-F238E27FC236}">
                <a16:creationId xmlns:a16="http://schemas.microsoft.com/office/drawing/2014/main" id="{3F53CB0F-5CD2-491E-B6EC-9414B3F88A91}"/>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07</a:t>
            </a:r>
          </a:p>
        </p:txBody>
      </p:sp>
    </p:spTree>
    <p:extLst>
      <p:ext uri="{BB962C8B-B14F-4D97-AF65-F5344CB8AC3E}">
        <p14:creationId xmlns:p14="http://schemas.microsoft.com/office/powerpoint/2010/main" val="495323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CD6CF57-5097-4588-B06F-E2BB3EFB325D}"/>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Replay-side KV loads missed the deadline</a:t>
            </a:r>
          </a:p>
        </p:txBody>
      </p:sp>
      <p:sp>
        <p:nvSpPr>
          <p:cNvPr id="2" name="">
            <a:extLst xmlns:a="http://schemas.openxmlformats.org/drawingml/2006/main">
              <a:ext uri="{FF2B5EF4-FFF2-40B4-BE49-F238E27FC236}">
                <a16:creationId xmlns:a16="http://schemas.microsoft.com/office/drawing/2014/main" id="{A54A5F45-A011-403D-BECA-D44565F93797}"/>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For this controlled no-prefetch run, visible H2D loads finished after replay was due.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4ec59d47238145f7"/>
          <a:stretch xmlns:a="http://schemas.openxmlformats.org/drawingml/2006/main"/>
        </p:blipFill>
        <p:spPr>
          <a:xfrm xmlns:a="http://schemas.openxmlformats.org/drawingml/2006/main">
            <a:off x="419100" y="1789323"/>
            <a:ext cx="8191500" cy="299360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01DCE38-BB11-418B-81BC-B09F88E986CC}"/>
              </a:ext>
            </a:extLst>
          </p:cNvPr>
          <p:cNvSpPr>
            <a:spLocks xmlns:a="http://schemas.openxmlformats.org/drawingml/2006/main" noGrp="1"/>
          </p:cNvSpPr>
          <p:nvPr/>
        </p:nvSpPr>
        <p:spPr>
          <a:xfrm xmlns:a="http://schemas.openxmlformats.org/drawingml/2006/main">
            <a:off x="9105900" y="23622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DC2626"/>
                </a:solidFill>
              </a:defRPr>
            </a:pPr>
            <a:r>
              <a:rPr sz="2850" b="1">
                <a:solidFill>
                  <a:srgbClr val="DC2626"/>
                </a:solidFill>
              </a:rPr>
              <a:t>8 / 8</a:t>
            </a:r>
          </a:p>
        </p:txBody>
      </p:sp>
      <p:sp>
        <p:nvSpPr>
          <p:cNvPr id="5" name="">
            <a:extLst xmlns:a="http://schemas.openxmlformats.org/drawingml/2006/main">
              <a:ext uri="{FF2B5EF4-FFF2-40B4-BE49-F238E27FC236}">
                <a16:creationId xmlns:a16="http://schemas.microsoft.com/office/drawing/2014/main" id="{51D3FBAA-DC3E-4F60-A445-852B85F5DBB5}"/>
              </a:ext>
            </a:extLst>
          </p:cNvPr>
          <p:cNvSpPr>
            <a:spLocks xmlns:a="http://schemas.openxmlformats.org/drawingml/2006/main" noGrp="1"/>
          </p:cNvSpPr>
          <p:nvPr/>
        </p:nvSpPr>
        <p:spPr>
          <a:xfrm xmlns:a="http://schemas.openxmlformats.org/drawingml/2006/main">
            <a:off x="9105900" y="28194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visible replay-side H2D loads finished late</a:t>
            </a:r>
          </a:p>
        </p:txBody>
      </p:sp>
      <p:sp>
        <p:nvSpPr>
          <p:cNvPr id="6" name="">
            <a:extLst xmlns:a="http://schemas.openxmlformats.org/drawingml/2006/main">
              <a:ext uri="{FF2B5EF4-FFF2-40B4-BE49-F238E27FC236}">
                <a16:creationId xmlns:a16="http://schemas.microsoft.com/office/drawing/2014/main" id="{1D98EAD6-FBBF-48C9-8BE0-0785C8578F21}"/>
              </a:ext>
            </a:extLst>
          </p:cNvPr>
          <p:cNvSpPr>
            <a:spLocks xmlns:a="http://schemas.openxmlformats.org/drawingml/2006/main" noGrp="1"/>
          </p:cNvSpPr>
          <p:nvPr/>
        </p:nvSpPr>
        <p:spPr>
          <a:xfrm xmlns:a="http://schemas.openxmlformats.org/drawingml/2006/main">
            <a:off x="9105900" y="3714750"/>
            <a:ext cx="22669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Meaning: the memory movement happened, but not early enough for the replay deadline.</a:t>
            </a:r>
          </a:p>
        </p:txBody>
      </p:sp>
      <p:sp>
        <p:nvSpPr>
          <p:cNvPr id="7" name="">
            <a:extLst xmlns:a="http://schemas.openxmlformats.org/drawingml/2006/main">
              <a:ext uri="{FF2B5EF4-FFF2-40B4-BE49-F238E27FC236}">
                <a16:creationId xmlns:a16="http://schemas.microsoft.com/office/drawing/2014/main" id="{F427FC2D-0DA2-48DD-90C8-6FAD78727591}"/>
              </a:ext>
            </a:extLst>
          </p:cNvPr>
          <p:cNvSpPr>
            <a:spLocks xmlns:a="http://schemas.openxmlformats.org/drawingml/2006/main" noGrp="1"/>
          </p:cNvSpPr>
          <p:nvPr/>
        </p:nvSpPr>
        <p:spPr>
          <a:xfrm xmlns:a="http://schemas.openxmlformats.org/drawingml/2006/main">
            <a:off x="419100" y="6134100"/>
            <a:ext cx="933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Global Replay H2D Readiness</a:t>
            </a:r>
          </a:p>
        </p:txBody>
      </p:sp>
      <p:sp>
        <p:nvSpPr>
          <p:cNvPr id="8" name="">
            <a:extLst xmlns:a="http://schemas.openxmlformats.org/drawingml/2006/main">
              <a:ext uri="{FF2B5EF4-FFF2-40B4-BE49-F238E27FC236}">
                <a16:creationId xmlns:a16="http://schemas.microsoft.com/office/drawing/2014/main" id="{AD64974A-8884-4235-9FC6-FE074C101044}"/>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9" name="">
            <a:extLst xmlns:a="http://schemas.openxmlformats.org/drawingml/2006/main">
              <a:ext uri="{FF2B5EF4-FFF2-40B4-BE49-F238E27FC236}">
                <a16:creationId xmlns:a16="http://schemas.microsoft.com/office/drawing/2014/main" id="{D21CAAFA-6549-4677-A5CB-40F8BBF561F9}"/>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08</a:t>
            </a:r>
          </a:p>
        </p:txBody>
      </p:sp>
    </p:spTree>
    <p:extLst>
      <p:ext uri="{BB962C8B-B14F-4D97-AF65-F5344CB8AC3E}">
        <p14:creationId xmlns:p14="http://schemas.microsoft.com/office/powerpoint/2010/main" val="12797035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4F0EFD-3F4E-43E0-9D59-23675673DC99}"/>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The delay is not just copy time</a:t>
            </a:r>
          </a:p>
        </p:txBody>
      </p:sp>
      <p:sp>
        <p:nvSpPr>
          <p:cNvPr id="2" name="">
            <a:extLst xmlns:a="http://schemas.openxmlformats.org/drawingml/2006/main">
              <a:ext uri="{FF2B5EF4-FFF2-40B4-BE49-F238E27FC236}">
                <a16:creationId xmlns:a16="http://schemas.microsoft.com/office/drawing/2014/main" id="{E745B048-AAC8-4B7B-9050-EF260B05F7C2}"/>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request passes through normal runtime scheduling before visible KV H2D begins.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77fd1f6a7364997"/>
          <a:stretch xmlns:a="http://schemas.openxmlformats.org/drawingml/2006/main"/>
        </p:blipFill>
        <p:spPr>
          <a:xfrm xmlns:a="http://schemas.openxmlformats.org/drawingml/2006/main">
            <a:off x="1329402" y="1371600"/>
            <a:ext cx="8809295" cy="41148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97CE6D9-A3D5-458E-A829-BEA6DEC46415}"/>
              </a:ext>
            </a:extLst>
          </p:cNvPr>
          <p:cNvSpPr>
            <a:spLocks xmlns:a="http://schemas.openxmlformats.org/drawingml/2006/main" noGrp="1"/>
          </p:cNvSpPr>
          <p:nvPr/>
        </p:nvSpPr>
        <p:spPr>
          <a:xfrm xmlns:a="http://schemas.openxmlformats.org/drawingml/2006/main">
            <a:off x="742950" y="567690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Stage markers separate client submit, SGLang receive, scheduler queue/admit, H2D start, and H2D finish.</a:t>
            </a:r>
          </a:p>
        </p:txBody>
      </p:sp>
      <p:sp>
        <p:nvSpPr>
          <p:cNvPr id="5" name="">
            <a:extLst xmlns:a="http://schemas.openxmlformats.org/drawingml/2006/main">
              <a:ext uri="{FF2B5EF4-FFF2-40B4-BE49-F238E27FC236}">
                <a16:creationId xmlns:a16="http://schemas.microsoft.com/office/drawing/2014/main" id="{22C6B8DD-0F70-4486-8AB9-50A539CBE3AA}"/>
              </a:ext>
            </a:extLst>
          </p:cNvPr>
          <p:cNvSpPr>
            <a:spLocks xmlns:a="http://schemas.openxmlformats.org/drawingml/2006/main" noGrp="1"/>
          </p:cNvSpPr>
          <p:nvPr/>
        </p:nvSpPr>
        <p:spPr>
          <a:xfrm xmlns:a="http://schemas.openxmlformats.org/drawingml/2006/main">
            <a:off x="419100" y="6134100"/>
            <a:ext cx="933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Replay Queue Timeline vs H2D Start</a:t>
            </a:r>
          </a:p>
        </p:txBody>
      </p:sp>
      <p:sp>
        <p:nvSpPr>
          <p:cNvPr id="6" name="">
            <a:extLst xmlns:a="http://schemas.openxmlformats.org/drawingml/2006/main">
              <a:ext uri="{FF2B5EF4-FFF2-40B4-BE49-F238E27FC236}">
                <a16:creationId xmlns:a16="http://schemas.microsoft.com/office/drawing/2014/main" id="{1C2DE477-474A-4C1B-973D-607C96324F39}"/>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7" name="">
            <a:extLst xmlns:a="http://schemas.openxmlformats.org/drawingml/2006/main">
              <a:ext uri="{FF2B5EF4-FFF2-40B4-BE49-F238E27FC236}">
                <a16:creationId xmlns:a16="http://schemas.microsoft.com/office/drawing/2014/main" id="{A0CE2C64-972B-47FB-9D40-0D7449633744}"/>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09</a:t>
            </a:r>
          </a:p>
        </p:txBody>
      </p:sp>
    </p:spTree>
    <p:extLst>
      <p:ext uri="{BB962C8B-B14F-4D97-AF65-F5344CB8AC3E}">
        <p14:creationId xmlns:p14="http://schemas.microsoft.com/office/powerpoint/2010/main" val="19343015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1DB210A-25A4-4A0B-B0BD-8B4EC1F32DED}"/>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Key findings make the hardware case</a:t>
            </a:r>
          </a:p>
        </p:txBody>
      </p:sp>
      <p:sp>
        <p:nvSpPr>
          <p:cNvPr id="2" name="">
            <a:extLst xmlns:a="http://schemas.openxmlformats.org/drawingml/2006/main">
              <a:ext uri="{FF2B5EF4-FFF2-40B4-BE49-F238E27FC236}">
                <a16:creationId xmlns:a16="http://schemas.microsoft.com/office/drawing/2014/main" id="{8F8840B8-F83C-4E9D-9179-D214E307826C}"/>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pattern points to missing context, deadlines, residency control, and telemetry.</a:t>
            </a:r>
          </a:p>
        </p:txBody>
      </p:sp>
      <p:sp>
        <p:nvSpPr>
          <p:cNvPr id="3" name="">
            <a:extLst xmlns:a="http://schemas.openxmlformats.org/drawingml/2006/main">
              <a:ext uri="{FF2B5EF4-FFF2-40B4-BE49-F238E27FC236}">
                <a16:creationId xmlns:a16="http://schemas.microsoft.com/office/drawing/2014/main" id="{60E9ADB8-108A-4F0F-83FC-3452331C4160}"/>
              </a:ext>
            </a:extLst>
          </p:cNvPr>
          <p:cNvSpPr>
            <a:spLocks xmlns:a="http://schemas.openxmlformats.org/drawingml/2006/main" noGrp="1"/>
          </p:cNvSpPr>
          <p:nvPr/>
        </p:nvSpPr>
        <p:spPr>
          <a:xfrm xmlns:a="http://schemas.openxmlformats.org/drawingml/2006/main">
            <a:off x="876300" y="15811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C214AFFD-9E48-406A-A2B4-75164C2C3128}"/>
              </a:ext>
            </a:extLst>
          </p:cNvPr>
          <p:cNvSpPr>
            <a:spLocks xmlns:a="http://schemas.openxmlformats.org/drawingml/2006/main" noGrp="1"/>
          </p:cNvSpPr>
          <p:nvPr/>
        </p:nvSpPr>
        <p:spPr>
          <a:xfrm xmlns:a="http://schemas.openxmlformats.org/drawingml/2006/main">
            <a:off x="1162050" y="16002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Agent tool gaps can be very short.</a:t>
            </a:r>
          </a:p>
        </p:txBody>
      </p:sp>
      <p:sp>
        <p:nvSpPr>
          <p:cNvPr id="5" name="">
            <a:extLst xmlns:a="http://schemas.openxmlformats.org/drawingml/2006/main">
              <a:ext uri="{FF2B5EF4-FFF2-40B4-BE49-F238E27FC236}">
                <a16:creationId xmlns:a16="http://schemas.microsoft.com/office/drawing/2014/main" id="{D6AF8C16-DDC8-402E-A57C-0DDDAFACF6D3}"/>
              </a:ext>
            </a:extLst>
          </p:cNvPr>
          <p:cNvSpPr>
            <a:spLocks xmlns:a="http://schemas.openxmlformats.org/drawingml/2006/main" noGrp="1"/>
          </p:cNvSpPr>
          <p:nvPr/>
        </p:nvSpPr>
        <p:spPr>
          <a:xfrm xmlns:a="http://schemas.openxmlformats.org/drawingml/2006/main">
            <a:off x="876300" y="22669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29EB4331-0504-4C90-BF64-467C24DA9AFA}"/>
              </a:ext>
            </a:extLst>
          </p:cNvPr>
          <p:cNvSpPr>
            <a:spLocks xmlns:a="http://schemas.openxmlformats.org/drawingml/2006/main" noGrp="1"/>
          </p:cNvSpPr>
          <p:nvPr/>
        </p:nvSpPr>
        <p:spPr>
          <a:xfrm xmlns:a="http://schemas.openxmlformats.org/drawingml/2006/main">
            <a:off x="1162050" y="22860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Correct hints can still finish late.</a:t>
            </a:r>
          </a:p>
        </p:txBody>
      </p:sp>
      <p:sp>
        <p:nvSpPr>
          <p:cNvPr id="7" name="">
            <a:extLst xmlns:a="http://schemas.openxmlformats.org/drawingml/2006/main">
              <a:ext uri="{FF2B5EF4-FFF2-40B4-BE49-F238E27FC236}">
                <a16:creationId xmlns:a16="http://schemas.microsoft.com/office/drawing/2014/main" id="{F8B4BF22-6434-47C7-8846-D1A02281E390}"/>
              </a:ext>
            </a:extLst>
          </p:cNvPr>
          <p:cNvSpPr>
            <a:spLocks xmlns:a="http://schemas.openxmlformats.org/drawingml/2006/main" noGrp="1"/>
          </p:cNvSpPr>
          <p:nvPr/>
        </p:nvSpPr>
        <p:spPr>
          <a:xfrm xmlns:a="http://schemas.openxmlformats.org/drawingml/2006/main">
            <a:off x="876300" y="29527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8" name="">
            <a:extLst xmlns:a="http://schemas.openxmlformats.org/drawingml/2006/main">
              <a:ext uri="{FF2B5EF4-FFF2-40B4-BE49-F238E27FC236}">
                <a16:creationId xmlns:a16="http://schemas.microsoft.com/office/drawing/2014/main" id="{94EEF04E-8104-46C4-A3B2-370FACB885B2}"/>
              </a:ext>
            </a:extLst>
          </p:cNvPr>
          <p:cNvSpPr>
            <a:spLocks xmlns:a="http://schemas.openxmlformats.org/drawingml/2006/main" noGrp="1"/>
          </p:cNvSpPr>
          <p:nvPr/>
        </p:nvSpPr>
        <p:spPr>
          <a:xfrm xmlns:a="http://schemas.openxmlformats.org/drawingml/2006/main">
            <a:off x="1162050" y="29718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Visible copy time is only part of end-to-end delay.</a:t>
            </a:r>
          </a:p>
        </p:txBody>
      </p:sp>
      <p:sp>
        <p:nvSpPr>
          <p:cNvPr id="9" name="">
            <a:extLst xmlns:a="http://schemas.openxmlformats.org/drawingml/2006/main">
              <a:ext uri="{FF2B5EF4-FFF2-40B4-BE49-F238E27FC236}">
                <a16:creationId xmlns:a16="http://schemas.microsoft.com/office/drawing/2014/main" id="{86FA9148-DFA0-4AFB-A6C9-AFE416943730}"/>
              </a:ext>
            </a:extLst>
          </p:cNvPr>
          <p:cNvSpPr>
            <a:spLocks xmlns:a="http://schemas.openxmlformats.org/drawingml/2006/main" noGrp="1"/>
          </p:cNvSpPr>
          <p:nvPr/>
        </p:nvSpPr>
        <p:spPr>
          <a:xfrm xmlns:a="http://schemas.openxmlformats.org/drawingml/2006/main">
            <a:off x="876300" y="36385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CA8A04"/>
                </a:solidFill>
              </a:defRPr>
            </a:pPr>
            <a:r>
              <a:rPr sz="2025" b="1">
                <a:solidFill>
                  <a:srgbClr val="CA8A04"/>
                </a:solidFill>
              </a:rPr>
              <a:t>•</a:t>
            </a:r>
          </a:p>
        </p:txBody>
      </p:sp>
      <p:sp>
        <p:nvSpPr>
          <p:cNvPr id="10" name="">
            <a:extLst xmlns:a="http://schemas.openxmlformats.org/drawingml/2006/main">
              <a:ext uri="{FF2B5EF4-FFF2-40B4-BE49-F238E27FC236}">
                <a16:creationId xmlns:a16="http://schemas.microsoft.com/office/drawing/2014/main" id="{D7E1BDAA-0E8F-4173-A340-1C568F864035}"/>
              </a:ext>
            </a:extLst>
          </p:cNvPr>
          <p:cNvSpPr>
            <a:spLocks xmlns:a="http://schemas.openxmlformats.org/drawingml/2006/main" noGrp="1"/>
          </p:cNvSpPr>
          <p:nvPr/>
        </p:nvSpPr>
        <p:spPr>
          <a:xfrm xmlns:a="http://schemas.openxmlformats.org/drawingml/2006/main">
            <a:off x="1162050" y="36576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KV can be written to host, evicted from GPU, then lost from host before replay.</a:t>
            </a:r>
          </a:p>
        </p:txBody>
      </p:sp>
      <p:sp>
        <p:nvSpPr>
          <p:cNvPr id="11" name="">
            <a:extLst xmlns:a="http://schemas.openxmlformats.org/drawingml/2006/main">
              <a:ext uri="{FF2B5EF4-FFF2-40B4-BE49-F238E27FC236}">
                <a16:creationId xmlns:a16="http://schemas.microsoft.com/office/drawing/2014/main" id="{E9A2D6CF-9D2F-43B2-AD43-9EE2B8C735FC}"/>
              </a:ext>
            </a:extLst>
          </p:cNvPr>
          <p:cNvSpPr>
            <a:spLocks xmlns:a="http://schemas.openxmlformats.org/drawingml/2006/main" noGrp="1"/>
          </p:cNvSpPr>
          <p:nvPr/>
        </p:nvSpPr>
        <p:spPr>
          <a:xfrm xmlns:a="http://schemas.openxmlformats.org/drawingml/2006/main">
            <a:off x="876300" y="4324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DC2626"/>
                </a:solidFill>
              </a:defRPr>
            </a:pPr>
            <a:r>
              <a:rPr sz="2025" b="1">
                <a:solidFill>
                  <a:srgbClr val="DC2626"/>
                </a:solidFill>
              </a:rPr>
              <a:t>•</a:t>
            </a:r>
          </a:p>
        </p:txBody>
      </p:sp>
      <p:sp>
        <p:nvSpPr>
          <p:cNvPr id="12" name="">
            <a:extLst xmlns:a="http://schemas.openxmlformats.org/drawingml/2006/main">
              <a:ext uri="{FF2B5EF4-FFF2-40B4-BE49-F238E27FC236}">
                <a16:creationId xmlns:a16="http://schemas.microsoft.com/office/drawing/2014/main" id="{4BECB439-7726-4097-A75E-D6F16F3CCACD}"/>
              </a:ext>
            </a:extLst>
          </p:cNvPr>
          <p:cNvSpPr>
            <a:spLocks xmlns:a="http://schemas.openxmlformats.org/drawingml/2006/main" noGrp="1"/>
          </p:cNvSpPr>
          <p:nvPr/>
        </p:nvSpPr>
        <p:spPr>
          <a:xfrm xmlns:a="http://schemas.openxmlformats.org/drawingml/2006/main">
            <a:off x="1162050" y="43434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Replay-side H2D movement can miss the deadline even when the replay request exists.</a:t>
            </a:r>
          </a:p>
        </p:txBody>
      </p:sp>
      <p:sp>
        <p:nvSpPr>
          <p:cNvPr id="13" name="">
            <a:extLst xmlns:a="http://schemas.openxmlformats.org/drawingml/2006/main">
              <a:ext uri="{FF2B5EF4-FFF2-40B4-BE49-F238E27FC236}">
                <a16:creationId xmlns:a16="http://schemas.microsoft.com/office/drawing/2014/main" id="{783577F5-4417-4D74-A8BA-851C772D5081}"/>
              </a:ext>
            </a:extLst>
          </p:cNvPr>
          <p:cNvSpPr>
            <a:spLocks xmlns:a="http://schemas.openxmlformats.org/drawingml/2006/main" noGrp="1"/>
          </p:cNvSpPr>
          <p:nvPr/>
        </p:nvSpPr>
        <p:spPr>
          <a:xfrm xmlns:a="http://schemas.openxmlformats.org/drawingml/2006/main">
            <a:off x="419100" y="542925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BEABC84-4FAF-4258-A5B9-F78B0F8329AE}"/>
              </a:ext>
            </a:extLst>
          </p:cNvPr>
          <p:cNvSpPr>
            <a:spLocks xmlns:a="http://schemas.openxmlformats.org/drawingml/2006/main" noGrp="1"/>
          </p:cNvSpPr>
          <p:nvPr/>
        </p:nvSpPr>
        <p:spPr>
          <a:xfrm xmlns:a="http://schemas.openxmlformats.org/drawingml/2006/main">
            <a:off x="876300" y="5657850"/>
            <a:ext cx="990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Conclusion: this is a scheduling and enforceability problem, not just a bandwidth problem.</a:t>
            </a:r>
          </a:p>
        </p:txBody>
      </p:sp>
      <p:sp>
        <p:nvSpPr>
          <p:cNvPr id="15" name="">
            <a:extLst xmlns:a="http://schemas.openxmlformats.org/drawingml/2006/main">
              <a:ext uri="{FF2B5EF4-FFF2-40B4-BE49-F238E27FC236}">
                <a16:creationId xmlns:a16="http://schemas.microsoft.com/office/drawing/2014/main" id="{32515FE4-0725-4A39-AAAF-04466838967F}"/>
              </a:ext>
            </a:extLst>
          </p:cNvPr>
          <p:cNvSpPr>
            <a:spLocks xmlns:a="http://schemas.openxmlformats.org/drawingml/2006/main" noGrp="1"/>
          </p:cNvSpPr>
          <p:nvPr/>
        </p:nvSpPr>
        <p:spPr>
          <a:xfrm xmlns:a="http://schemas.openxmlformats.org/drawingml/2006/main">
            <a:off x="419100" y="6134100"/>
            <a:ext cx="933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project traces and latest master/synthetic report observations</a:t>
            </a:r>
          </a:p>
        </p:txBody>
      </p:sp>
      <p:sp>
        <p:nvSpPr>
          <p:cNvPr id="16" name="">
            <a:extLst xmlns:a="http://schemas.openxmlformats.org/drawingml/2006/main">
              <a:ext uri="{FF2B5EF4-FFF2-40B4-BE49-F238E27FC236}">
                <a16:creationId xmlns:a16="http://schemas.microsoft.com/office/drawing/2014/main" id="{425BDFD2-0FD2-43BA-9675-F762D8DD7511}"/>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7" name="">
            <a:extLst xmlns:a="http://schemas.openxmlformats.org/drawingml/2006/main">
              <a:ext uri="{FF2B5EF4-FFF2-40B4-BE49-F238E27FC236}">
                <a16:creationId xmlns:a16="http://schemas.microsoft.com/office/drawing/2014/main" id="{027D9A8B-6529-41A8-B248-9D0F3813A1DB}"/>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10</a:t>
            </a:r>
          </a:p>
        </p:txBody>
      </p:sp>
    </p:spTree>
    <p:extLst>
      <p:ext uri="{BB962C8B-B14F-4D97-AF65-F5344CB8AC3E}">
        <p14:creationId xmlns:p14="http://schemas.microsoft.com/office/powerpoint/2010/main" val="15654122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E6937AA-7ED1-4955-8D89-6CF767309345}"/>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Hardware support can make hints enforceable</a:t>
            </a:r>
          </a:p>
        </p:txBody>
      </p:sp>
      <p:sp>
        <p:nvSpPr>
          <p:cNvPr id="2" name="">
            <a:extLst xmlns:a="http://schemas.openxmlformats.org/drawingml/2006/main">
              <a:ext uri="{FF2B5EF4-FFF2-40B4-BE49-F238E27FC236}">
                <a16:creationId xmlns:a16="http://schemas.microsoft.com/office/drawing/2014/main" id="{F54E1413-BCCA-4924-A78D-124D95775034}"/>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Treat KV as deadline-sensitive memory, not generic bytes.</a:t>
            </a:r>
          </a:p>
        </p:txBody>
      </p:sp>
      <p:sp>
        <p:nvSpPr>
          <p:cNvPr id="3" name="">
            <a:extLst xmlns:a="http://schemas.openxmlformats.org/drawingml/2006/main">
              <a:ext uri="{FF2B5EF4-FFF2-40B4-BE49-F238E27FC236}">
                <a16:creationId xmlns:a16="http://schemas.microsoft.com/office/drawing/2014/main" id="{77CBAB5D-07DF-40A3-A6AE-76CFCEAA1821}"/>
              </a:ext>
            </a:extLst>
          </p:cNvPr>
          <p:cNvSpPr>
            <a:spLocks xmlns:a="http://schemas.openxmlformats.org/drawingml/2006/main" noGrp="1"/>
          </p:cNvSpPr>
          <p:nvPr/>
        </p:nvSpPr>
        <p:spPr>
          <a:xfrm xmlns:a="http://schemas.openxmlformats.org/drawingml/2006/main">
            <a:off x="857250" y="16764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D66BF7F1-9F5A-44F6-A824-8B0FA9A0E69A}"/>
              </a:ext>
            </a:extLst>
          </p:cNvPr>
          <p:cNvSpPr>
            <a:spLocks xmlns:a="http://schemas.openxmlformats.org/drawingml/2006/main" noGrp="1"/>
          </p:cNvSpPr>
          <p:nvPr/>
        </p:nvSpPr>
        <p:spPr>
          <a:xfrm xmlns:a="http://schemas.openxmlformats.org/drawingml/2006/main">
            <a:off x="1143000" y="16954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KV page/session metadata: which agent owns this KV and how urgent is it?</a:t>
            </a:r>
          </a:p>
        </p:txBody>
      </p:sp>
      <p:sp>
        <p:nvSpPr>
          <p:cNvPr id="5" name="">
            <a:extLst xmlns:a="http://schemas.openxmlformats.org/drawingml/2006/main">
              <a:ext uri="{FF2B5EF4-FFF2-40B4-BE49-F238E27FC236}">
                <a16:creationId xmlns:a16="http://schemas.microsoft.com/office/drawing/2014/main" id="{BF3088F7-E772-4344-8BFD-7DF675114801}"/>
              </a:ext>
            </a:extLst>
          </p:cNvPr>
          <p:cNvSpPr>
            <a:spLocks xmlns:a="http://schemas.openxmlformats.org/drawingml/2006/main" noGrp="1"/>
          </p:cNvSpPr>
          <p:nvPr/>
        </p:nvSpPr>
        <p:spPr>
          <a:xfrm xmlns:a="http://schemas.openxmlformats.org/drawingml/2006/main">
            <a:off x="857250" y="23622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F3707825-552E-4DA5-BBA7-6EDE7E0AB5E7}"/>
              </a:ext>
            </a:extLst>
          </p:cNvPr>
          <p:cNvSpPr>
            <a:spLocks xmlns:a="http://schemas.openxmlformats.org/drawingml/2006/main" noGrp="1"/>
          </p:cNvSpPr>
          <p:nvPr/>
        </p:nvSpPr>
        <p:spPr>
          <a:xfrm xmlns:a="http://schemas.openxmlformats.org/drawingml/2006/main">
            <a:off x="1143000" y="23812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Deadline-aware migration queue: move urgent KV before less urgent traffic.</a:t>
            </a:r>
          </a:p>
        </p:txBody>
      </p:sp>
      <p:sp>
        <p:nvSpPr>
          <p:cNvPr id="7" name="">
            <a:extLst xmlns:a="http://schemas.openxmlformats.org/drawingml/2006/main">
              <a:ext uri="{FF2B5EF4-FFF2-40B4-BE49-F238E27FC236}">
                <a16:creationId xmlns:a16="http://schemas.microsoft.com/office/drawing/2014/main" id="{8943B917-1048-4752-AE70-A539A21A15B3}"/>
              </a:ext>
            </a:extLst>
          </p:cNvPr>
          <p:cNvSpPr>
            <a:spLocks xmlns:a="http://schemas.openxmlformats.org/drawingml/2006/main" noGrp="1"/>
          </p:cNvSpPr>
          <p:nvPr/>
        </p:nvSpPr>
        <p:spPr>
          <a:xfrm xmlns:a="http://schemas.openxmlformats.org/drawingml/2006/main">
            <a:off x="857250" y="30480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8" name="">
            <a:extLst xmlns:a="http://schemas.openxmlformats.org/drawingml/2006/main">
              <a:ext uri="{FF2B5EF4-FFF2-40B4-BE49-F238E27FC236}">
                <a16:creationId xmlns:a16="http://schemas.microsoft.com/office/drawing/2014/main" id="{3C9A5F95-4B9F-4DD3-95CA-5A0830830D50}"/>
              </a:ext>
            </a:extLst>
          </p:cNvPr>
          <p:cNvSpPr>
            <a:spLocks xmlns:a="http://schemas.openxmlformats.org/drawingml/2006/main" noGrp="1"/>
          </p:cNvSpPr>
          <p:nvPr/>
        </p:nvSpPr>
        <p:spPr>
          <a:xfrm xmlns:a="http://schemas.openxmlformats.org/drawingml/2006/main">
            <a:off x="1143000" y="30670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Residency protection: keep useful prefetched KV from being evicted too early.</a:t>
            </a:r>
          </a:p>
        </p:txBody>
      </p:sp>
      <p:sp>
        <p:nvSpPr>
          <p:cNvPr id="9" name="">
            <a:extLst xmlns:a="http://schemas.openxmlformats.org/drawingml/2006/main">
              <a:ext uri="{FF2B5EF4-FFF2-40B4-BE49-F238E27FC236}">
                <a16:creationId xmlns:a16="http://schemas.microsoft.com/office/drawing/2014/main" id="{76E21428-B143-46A2-88DE-76783CBAAC94}"/>
              </a:ext>
            </a:extLst>
          </p:cNvPr>
          <p:cNvSpPr>
            <a:spLocks xmlns:a="http://schemas.openxmlformats.org/drawingml/2006/main" noGrp="1"/>
          </p:cNvSpPr>
          <p:nvPr/>
        </p:nvSpPr>
        <p:spPr>
          <a:xfrm xmlns:a="http://schemas.openxmlformats.org/drawingml/2006/main">
            <a:off x="857250" y="37338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10" name="">
            <a:extLst xmlns:a="http://schemas.openxmlformats.org/drawingml/2006/main">
              <a:ext uri="{FF2B5EF4-FFF2-40B4-BE49-F238E27FC236}">
                <a16:creationId xmlns:a16="http://schemas.microsoft.com/office/drawing/2014/main" id="{A368743A-D401-435C-9F1A-2FE1B385E614}"/>
              </a:ext>
            </a:extLst>
          </p:cNvPr>
          <p:cNvSpPr>
            <a:spLocks xmlns:a="http://schemas.openxmlformats.org/drawingml/2006/main" noGrp="1"/>
          </p:cNvSpPr>
          <p:nvPr/>
        </p:nvSpPr>
        <p:spPr>
          <a:xfrm xmlns:a="http://schemas.openxmlformats.org/drawingml/2006/main">
            <a:off x="1143000" y="37528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Telemetry: count useful, late, wasted, and evicted-before-use movement.</a:t>
            </a:r>
          </a:p>
        </p:txBody>
      </p:sp>
      <p:sp>
        <p:nvSpPr>
          <p:cNvPr id="11" name="">
            <a:extLst xmlns:a="http://schemas.openxmlformats.org/drawingml/2006/main">
              <a:ext uri="{FF2B5EF4-FFF2-40B4-BE49-F238E27FC236}">
                <a16:creationId xmlns:a16="http://schemas.microsoft.com/office/drawing/2014/main" id="{EFEA2AE4-BD7F-4E37-B459-90B6B44105BC}"/>
              </a:ext>
            </a:extLst>
          </p:cNvPr>
          <p:cNvSpPr>
            <a:spLocks xmlns:a="http://schemas.openxmlformats.org/drawingml/2006/main" noGrp="1"/>
          </p:cNvSpPr>
          <p:nvPr/>
        </p:nvSpPr>
        <p:spPr>
          <a:xfrm xmlns:a="http://schemas.openxmlformats.org/drawingml/2006/main">
            <a:off x="419100" y="52578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DF91589-E793-4FA2-AD35-6D03A61B6932}"/>
              </a:ext>
            </a:extLst>
          </p:cNvPr>
          <p:cNvSpPr>
            <a:spLocks xmlns:a="http://schemas.openxmlformats.org/drawingml/2006/main" noGrp="1"/>
          </p:cNvSpPr>
          <p:nvPr/>
        </p:nvSpPr>
        <p:spPr>
          <a:xfrm xmlns:a="http://schemas.openxmlformats.org/drawingml/2006/main">
            <a:off x="857250" y="5524500"/>
            <a:ext cx="10191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F172A"/>
                </a:solidFill>
              </a:defRPr>
            </a:pPr>
            <a:r>
              <a:rPr sz="1575" b="1">
                <a:solidFill>
                  <a:srgbClr val="0F172A"/>
                </a:solidFill>
              </a:rPr>
              <a:t>Research question: how much replay latency and wasted movement can be avoided when KV movement has session context, priority, deadline, protection, and telemetry?</a:t>
            </a:r>
          </a:p>
        </p:txBody>
      </p:sp>
      <p:sp>
        <p:nvSpPr>
          <p:cNvPr id="13" name="">
            <a:extLst xmlns:a="http://schemas.openxmlformats.org/drawingml/2006/main">
              <a:ext uri="{FF2B5EF4-FFF2-40B4-BE49-F238E27FC236}">
                <a16:creationId xmlns:a16="http://schemas.microsoft.com/office/drawing/2014/main" id="{95978198-DB2C-4E0D-9A3D-1C740208B01F}"/>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4" name="">
            <a:extLst xmlns:a="http://schemas.openxmlformats.org/drawingml/2006/main">
              <a:ext uri="{FF2B5EF4-FFF2-40B4-BE49-F238E27FC236}">
                <a16:creationId xmlns:a16="http://schemas.microsoft.com/office/drawing/2014/main" id="{97F36FA5-D15F-4C9D-8554-C215CC38C810}"/>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11</a:t>
            </a:r>
          </a:p>
        </p:txBody>
      </p:sp>
    </p:spTree>
    <p:extLst>
      <p:ext uri="{BB962C8B-B14F-4D97-AF65-F5344CB8AC3E}">
        <p14:creationId xmlns:p14="http://schemas.microsoft.com/office/powerpoint/2010/main" val="6794601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2026-08-19T17:10:59.5170000Z</dcterms:created>
  <dcterms:modified xsi:type="dcterms:W3CDTF">2026-08-19T17:10:59.5170000Z</dcterms:modified>
</coreProperties>
</file>