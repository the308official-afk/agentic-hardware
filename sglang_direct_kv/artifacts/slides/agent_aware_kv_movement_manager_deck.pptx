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6e5d9748734f47ed" /><Relationship Type="http://schemas.openxmlformats.org/officeDocument/2006/relationships/extended-properties" Target="/docProps/app.xml" Id="R78f6c1ef64604345" /><Relationship Type="http://schemas.openxmlformats.org/officeDocument/2006/relationships/officeDocument" Target="/ppt/presentation.xml" Id="R172b87a4899a42e9" /></Relationships>
</file>

<file path=ppt/presentation.xml><?xml version="1.0" encoding="utf-8"?>
<p:presentation xmlns:p="http://schemas.openxmlformats.org/presentationml/2006/main">
  <p:sldMasterIdLst>
    <p:sldMasterId xmlns:r="http://schemas.openxmlformats.org/officeDocument/2006/relationships" id="2147483648" r:id="R40d3942bad664423"/>
  </p:sldMasterIdLst>
  <p:notesMasterIdLst>
    <p:notesMasterId xmlns:r="http://schemas.openxmlformats.org/officeDocument/2006/relationships" r:id="R4d113a97877a4b1a"/>
  </p:notesMasterIdLst>
  <p:sldIdLst>
    <p:sldId xmlns:r="http://schemas.openxmlformats.org/officeDocument/2006/relationships" id="256" r:id="R5dcec6d074154950"/>
    <p:sldId xmlns:r="http://schemas.openxmlformats.org/officeDocument/2006/relationships" id="257" r:id="R06ca5600d27144bf"/>
    <p:sldId xmlns:r="http://schemas.openxmlformats.org/officeDocument/2006/relationships" id="258" r:id="R1365626a08f14d75"/>
    <p:sldId xmlns:r="http://schemas.openxmlformats.org/officeDocument/2006/relationships" id="259" r:id="Rbc12651a76144b9e"/>
    <p:sldId xmlns:r="http://schemas.openxmlformats.org/officeDocument/2006/relationships" id="260" r:id="R92ef069b993c46fe"/>
    <p:sldId xmlns:r="http://schemas.openxmlformats.org/officeDocument/2006/relationships" id="261" r:id="Re24b14165cef44e6"/>
    <p:sldId xmlns:r="http://schemas.openxmlformats.org/officeDocument/2006/relationships" id="262" r:id="R75712280d49944ed"/>
    <p:sldId xmlns:r="http://schemas.openxmlformats.org/officeDocument/2006/relationships" id="263" r:id="R4e08a2964863474b"/>
    <p:sldId xmlns:r="http://schemas.openxmlformats.org/officeDocument/2006/relationships" id="264" r:id="R428e6f7cdb654358"/>
    <p:sldId xmlns:r="http://schemas.openxmlformats.org/officeDocument/2006/relationships" id="265" r:id="Rd8aa53cf8f614e1f"/>
    <p:sldId xmlns:r="http://schemas.openxmlformats.org/officeDocument/2006/relationships" id="266" r:id="R3443f83985f44ee5"/>
    <p:sldId xmlns:r="http://schemas.openxmlformats.org/officeDocument/2006/relationships" id="267" r:id="R0143f6f7023d4dd2"/>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1d1317d3cd94634" /><Relationship Type="http://schemas.openxmlformats.org/officeDocument/2006/relationships/slideMaster" Target="/ppt/slideMasters/slideMaster1.xml" Id="R40d3942bad664423" /><Relationship Type="http://schemas.openxmlformats.org/officeDocument/2006/relationships/notesMaster" Target="/ppt/notesMasters/notesMaster1.xml" Id="R4d113a97877a4b1a" /><Relationship Type="http://schemas.openxmlformats.org/officeDocument/2006/relationships/presProps" Target="/ppt/presProps.xml" Id="R9178bcb822524c80" /><Relationship Type="http://schemas.openxmlformats.org/officeDocument/2006/relationships/tableStyles" Target="/ppt/tableStyles.xml" Id="Rb70952fe49c24ad2" /><Relationship Type="http://schemas.openxmlformats.org/officeDocument/2006/relationships/slide" Target="/ppt/slides/slide1.xml" Id="R5dcec6d074154950" /><Relationship Type="http://schemas.openxmlformats.org/officeDocument/2006/relationships/slide" Target="/ppt/slides/slide2.xml" Id="R06ca5600d27144bf" /><Relationship Type="http://schemas.openxmlformats.org/officeDocument/2006/relationships/slide" Target="/ppt/slides/slide3.xml" Id="R1365626a08f14d75" /><Relationship Type="http://schemas.openxmlformats.org/officeDocument/2006/relationships/slide" Target="/ppt/slides/slide4.xml" Id="Rbc12651a76144b9e" /><Relationship Type="http://schemas.openxmlformats.org/officeDocument/2006/relationships/slide" Target="/ppt/slides/slide5.xml" Id="R92ef069b993c46fe" /><Relationship Type="http://schemas.openxmlformats.org/officeDocument/2006/relationships/slide" Target="/ppt/slides/slide6.xml" Id="Re24b14165cef44e6" /><Relationship Type="http://schemas.openxmlformats.org/officeDocument/2006/relationships/slide" Target="/ppt/slides/slide7.xml" Id="R75712280d49944ed" /><Relationship Type="http://schemas.openxmlformats.org/officeDocument/2006/relationships/slide" Target="/ppt/slides/slide8.xml" Id="R4e08a2964863474b" /><Relationship Type="http://schemas.openxmlformats.org/officeDocument/2006/relationships/slide" Target="/ppt/slides/slide9.xml" Id="R428e6f7cdb654358" /><Relationship Type="http://schemas.openxmlformats.org/officeDocument/2006/relationships/slide" Target="/ppt/slides/slide10.xml" Id="Rd8aa53cf8f614e1f" /><Relationship Type="http://schemas.openxmlformats.org/officeDocument/2006/relationships/slide" Target="/ppt/slides/slide11.xml" Id="R3443f83985f44ee5" /><Relationship Type="http://schemas.openxmlformats.org/officeDocument/2006/relationships/slide" Target="/ppt/slides/slide12.xml" Id="R0143f6f7023d4dd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767a5ccab0d41e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c7e8ff0c8c54361" /><Relationship Type="http://schemas.openxmlformats.org/officeDocument/2006/relationships/notesMaster" Target="/ppt/notesMasters/notesMaster1.xml" Id="R465115244db44bce" /></Relationships>
</file>

<file path=ppt/notesSlides/_rels/notesSlide2.xml.rels>&#65279;<?xml version="1.0" encoding="utf-8"?><Relationships xmlns="http://schemas.openxmlformats.org/package/2006/relationships"><Relationship Type="http://schemas.openxmlformats.org/officeDocument/2006/relationships/slide" Target="/ppt/slides/slide2.xml" Id="R2b8641fc10844e2c" /><Relationship Type="http://schemas.openxmlformats.org/officeDocument/2006/relationships/notesMaster" Target="/ppt/notesMasters/notesMaster1.xml" Id="Rdc416a2e90484e52" /></Relationships>
</file>

<file path=ppt/notesSlides/_rels/notesSlide3.xml.rels>&#65279;<?xml version="1.0" encoding="utf-8"?><Relationships xmlns="http://schemas.openxmlformats.org/package/2006/relationships"><Relationship Type="http://schemas.openxmlformats.org/officeDocument/2006/relationships/slide" Target="/ppt/slides/slide3.xml" Id="R45d669794416441a" /><Relationship Type="http://schemas.openxmlformats.org/officeDocument/2006/relationships/notesMaster" Target="/ppt/notesMasters/notesMaster1.xml" Id="R1f017026b87d41a7" /></Relationships>
</file>

<file path=ppt/notesSlides/_rels/notesSlide4.xml.rels>&#65279;<?xml version="1.0" encoding="utf-8"?><Relationships xmlns="http://schemas.openxmlformats.org/package/2006/relationships"><Relationship Type="http://schemas.openxmlformats.org/officeDocument/2006/relationships/slide" Target="/ppt/slides/slide4.xml" Id="Rd0dd530a60f04a36" /><Relationship Type="http://schemas.openxmlformats.org/officeDocument/2006/relationships/notesMaster" Target="/ppt/notesMasters/notesMaster1.xml" Id="Rbe91d5ee73774052" /></Relationships>
</file>

<file path=ppt/notesSlides/_rels/notesSlide5.xml.rels>&#65279;<?xml version="1.0" encoding="utf-8"?><Relationships xmlns="http://schemas.openxmlformats.org/package/2006/relationships"><Relationship Type="http://schemas.openxmlformats.org/officeDocument/2006/relationships/slide" Target="/ppt/slides/slide5.xml" Id="R3d62482c996647ba" /><Relationship Type="http://schemas.openxmlformats.org/officeDocument/2006/relationships/notesMaster" Target="/ppt/notesMasters/notesMaster1.xml" Id="R39f7dbcb01584fa2" /></Relationships>
</file>

<file path=ppt/notesSlides/_rels/notesSlide6.xml.rels>&#65279;<?xml version="1.0" encoding="utf-8"?><Relationships xmlns="http://schemas.openxmlformats.org/package/2006/relationships"><Relationship Type="http://schemas.openxmlformats.org/officeDocument/2006/relationships/slide" Target="/ppt/slides/slide6.xml" Id="R367d49fee87d442d" /><Relationship Type="http://schemas.openxmlformats.org/officeDocument/2006/relationships/notesMaster" Target="/ppt/notesMasters/notesMaster1.xml" Id="R9d5d5ebcd28848bc" /></Relationships>
</file>

<file path=ppt/notesSlides/_rels/notesSlide7.xml.rels>&#65279;<?xml version="1.0" encoding="utf-8"?><Relationships xmlns="http://schemas.openxmlformats.org/package/2006/relationships"><Relationship Type="http://schemas.openxmlformats.org/officeDocument/2006/relationships/slide" Target="/ppt/slides/slide7.xml" Id="R21adf677575245ce" /><Relationship Type="http://schemas.openxmlformats.org/officeDocument/2006/relationships/notesMaster" Target="/ppt/notesMasters/notesMaster1.xml" Id="R8cf069cdbf314228" /></Relationships>
</file>

<file path=ppt/notesSlides/_rels/notesSlide8.xml.rels>&#65279;<?xml version="1.0" encoding="utf-8"?><Relationships xmlns="http://schemas.openxmlformats.org/package/2006/relationships"><Relationship Type="http://schemas.openxmlformats.org/officeDocument/2006/relationships/slide" Target="/ppt/slides/slide8.xml" Id="Rc4bd75e07eb24471" /><Relationship Type="http://schemas.openxmlformats.org/officeDocument/2006/relationships/notesMaster" Target="/ppt/notesMasters/notesMaster1.xml" Id="Ra2e12b7d3ee34fac" /></Relationships>
</file>

<file path=ppt/notesSlides/_rels/notesSlide9.xml.rels>&#65279;<?xml version="1.0" encoding="utf-8"?><Relationships xmlns="http://schemas.openxmlformats.org/package/2006/relationships"><Relationship Type="http://schemas.openxmlformats.org/officeDocument/2006/relationships/slide" Target="/ppt/slides/slide9.xml" Id="Rd587dcb496e343f4" /><Relationship Type="http://schemas.openxmlformats.org/officeDocument/2006/relationships/notesMaster" Target="/ppt/notesMasters/notesMaster1.xml" Id="R3250d120e6d74573"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5b3ebaacf8ae4097" /><Relationship Type="http://schemas.openxmlformats.org/officeDocument/2006/relationships/notesMaster" Target="/ppt/notesMasters/notesMaster1.xml" Id="R6376ae4a31e94350"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b72fa13c9de343eb" /><Relationship Type="http://schemas.openxmlformats.org/officeDocument/2006/relationships/notesMaster" Target="/ppt/notesMasters/notesMaster1.xml" Id="Rf8b1d1f2e74a4fe6"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46823b76dc6544e7" /><Relationship Type="http://schemas.openxmlformats.org/officeDocument/2006/relationships/notesMaster" Target="/ppt/notesMasters/notesMaster1.xml" Id="R64ed278031014f1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Opening slide. Keep the framing hardware-facing: software can provide hints, but hardware/runtime support can make those hints enforceable.</a:t>
            </a:r>
          </a:p>
          <a:p xmlns:a="http://schemas.openxmlformats.org/drawingml/2006/main">
            <a:r>
              <a:t>Goal: Coding agents naturally pause during tool calls, then resume with tight latency expectations. Current memory movement paths are largely context-agnostic: they can move KV pages, but they do not know which agent needs them, when they are needed, or whether missing the deadline will stall replay. This project quantifies that gap and prototypes hint-guided KV movement as a path toward smarter DMA engines, KV-aware memory scheduling, and hardware/runtime co-design.</a:t>
            </a:r>
          </a:p>
          <a:p xmlns:a="http://schemas.openxmlformats.org/drawingml/2006/main">
            <a:r>
              <a:t/>
            </a:r>
          </a:p>
          <a:p xmlns:a="http://schemas.openxmlformats.org/drawingml/2006/main">
            <a:r>
              <a:t>[Sources]</a:t>
            </a:r>
          </a:p>
          <a:p xmlns:a="http://schemas.openxmlformats.org/drawingml/2006/main">
            <a:r>
              <a:t>Local report: /Users/oluwolejaiyeoba/Documents/GitHub/agentic_hardware/sglang_direct_kv/artifacts/results/latest_master_report.html</a:t>
            </a:r>
          </a:p>
          <a:p xmlns:a="http://schemas.openxmlformats.org/drawingml/2006/main">
            <a:r>
              <a:t>Synthetic report: /Users/oluwolejaiyeoba/Documents/GitHub/agentic_hardware/sglang_direct_kv/artifacts/results/latest_synthetic_master_report.html</a:t>
            </a:r>
          </a:p>
          <a:p xmlns:a="http://schemas.openxmlformats.org/drawingml/2006/main">
            <a:r>
              <a:t>Backup report: /Users/oluwolejaiyeoba/Documents/GitHub/agentic_hardware/backups/latest_master_report-1.html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replaces the earlier card-heavy setup with plain points.</a:t>
            </a:r>
          </a:p>
          <a:p xmlns:a="http://schemas.openxmlformats.org/drawingml/2006/main">
            <a:r>
              <a:t>Synthetic runs give clean control. Real DeepAgents/SWE-bench traces preserve coding-agent behavior.</a:t>
            </a:r>
          </a:p>
          <a:p xmlns:a="http://schemas.openxmlformats.org/drawingml/2006/main">
            <a:r>
              <a:t/>
            </a:r>
          </a:p>
          <a:p xmlns:a="http://schemas.openxmlformats.org/drawingml/2006/main">
            <a:r>
              <a:t>[Sources]</a:t>
            </a:r>
          </a:p>
          <a:p xmlns:a="http://schemas.openxmlformats.org/drawingml/2006/main">
            <a:r>
              <a:t>Local report: /Users/oluwolejaiyeoba/Documents/GitHub/agentic_hardware/sglang_direct_kv/artifacts/results/latest_master_report.html</a:t>
            </a:r>
          </a:p>
          <a:p xmlns:a="http://schemas.openxmlformats.org/drawingml/2006/main">
            <a:r>
              <a:t>Synthetic report: /Users/oluwolejaiyeoba/Documents/GitHub/agentic_hardware/sglang_direct_kv/artifacts/results/latest_synthetic_master_report.html</a:t>
            </a:r>
          </a:p>
          <a:p xmlns:a="http://schemas.openxmlformats.org/drawingml/2006/main">
            <a:r>
              <a:t>Backup report: /Users/oluwolejaiyeoba/Documents/GitHub/agentic_hardware/backups/latest_master_report-1.html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is deliberately sparse. It should be easy to explain in one sentence.</a:t>
            </a:r>
          </a:p>
          <a:p xmlns:a="http://schemas.openxmlformats.org/drawingml/2006/main">
            <a:r>
              <a:t>The user asked to remove extra hardware/context-length details from this setup slide.</a:t>
            </a:r>
          </a:p>
          <a:p xmlns:a="http://schemas.openxmlformats.org/drawingml/2006/main">
            <a:r>
              <a:t/>
            </a:r>
          </a:p>
          <a:p xmlns:a="http://schemas.openxmlformats.org/drawingml/2006/main">
            <a:r>
              <a:t>[Sources]</a:t>
            </a:r>
          </a:p>
          <a:p xmlns:a="http://schemas.openxmlformats.org/drawingml/2006/main">
            <a:r>
              <a:t>Local report: /Users/oluwolejaiyeoba/Documents/GitHub/agentic_hardware/sglang_direct_kv/artifacts/results/latest_master_report.html</a:t>
            </a:r>
          </a:p>
          <a:p xmlns:a="http://schemas.openxmlformats.org/drawingml/2006/main">
            <a:r>
              <a:t>Synthetic report: /Users/oluwolejaiyeoba/Documents/GitHub/agentic_hardware/sglang_direct_kv/artifacts/results/latest_synthetic_master_report.html</a:t>
            </a:r>
          </a:p>
          <a:p xmlns:a="http://schemas.openxmlformats.org/drawingml/2006/main">
            <a:r>
              <a:t>Backup report: /Users/oluwolejaiyeoba/Documents/GitHub/agentic_hardware/backups/latest_master_report-1.html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core problem slide. Keep it concise and hardware-focused.</a:t>
            </a:r>
          </a:p>
          <a:p xmlns:a="http://schemas.openxmlformats.org/drawingml/2006/main">
            <a:r>
              <a:t>Do not argue software cannot do this. The claim is that hardware can make enforcement cheaper, more predictable, and scalable.</a:t>
            </a:r>
          </a:p>
          <a:p xmlns:a="http://schemas.openxmlformats.org/drawingml/2006/main">
            <a:r>
              <a:t/>
            </a:r>
          </a:p>
          <a:p xmlns:a="http://schemas.openxmlformats.org/drawingml/2006/main">
            <a:r>
              <a:t>[Sources]</a:t>
            </a:r>
          </a:p>
          <a:p xmlns:a="http://schemas.openxmlformats.org/drawingml/2006/main">
            <a:r>
              <a:t>Local report: /Users/oluwolejaiyeoba/Documents/GitHub/agentic_hardware/sglang_direct_kv/artifacts/results/latest_master_report.html</a:t>
            </a:r>
          </a:p>
          <a:p xmlns:a="http://schemas.openxmlformats.org/drawingml/2006/main">
            <a:r>
              <a:t>Synthetic report: /Users/oluwolejaiyeoba/Documents/GitHub/agentic_hardware/sglang_direct_kv/artifacts/results/latest_synthetic_master_report.html</a:t>
            </a:r>
          </a:p>
          <a:p xmlns:a="http://schemas.openxmlformats.org/drawingml/2006/main">
            <a:r>
              <a:t>Backup report: /Users/oluwolejaiyeoba/Documents/GitHub/agentic_hardware/backups/latest_master_report-1.html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main timeline slide. It now shows a readable crop of G00 through G03 instead of compressing all rows.</a:t>
            </a:r>
          </a:p>
          <a:p xmlns:a="http://schemas.openxmlformats.org/drawingml/2006/main">
            <a:r>
              <a:t>The cropped chart shows initial model turn, tool wait, replay path, H2D, recompute, prefill, and decode.</a:t>
            </a:r>
          </a:p>
          <a:p xmlns:a="http://schemas.openxmlformats.org/drawingml/2006/main">
            <a:r>
              <a:t>The full timeline remains available in latest_master_report.html.</a:t>
            </a:r>
          </a:p>
          <a:p xmlns:a="http://schemas.openxmlformats.org/drawingml/2006/main">
            <a:r>
              <a:t/>
            </a:r>
          </a:p>
          <a:p xmlns:a="http://schemas.openxmlformats.org/drawingml/2006/main">
            <a:r>
              <a:t>[Sources]</a:t>
            </a:r>
          </a:p>
          <a:p xmlns:a="http://schemas.openxmlformats.org/drawingml/2006/main">
            <a:r>
              <a:t>Local report: /Users/oluwolejaiyeoba/Documents/GitHub/agentic_hardware/sglang_direct_kv/artifacts/results/latest_master_report.html</a:t>
            </a:r>
          </a:p>
          <a:p xmlns:a="http://schemas.openxmlformats.org/drawingml/2006/main">
            <a:r>
              <a:t>Synthetic report: /Users/oluwolejaiyeoba/Documents/GitHub/agentic_hardware/sglang_direct_kv/artifacts/results/latest_synthetic_master_report.html</a:t>
            </a:r>
          </a:p>
          <a:p xmlns:a="http://schemas.openxmlformats.org/drawingml/2006/main">
            <a:r>
              <a:t>Backup report: /Users/oluwolejaiyeoba/Documents/GitHub/agentic_hardware/backups/latest_master_report-1.html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Global prefetch margin evidence: 114 matched attempts, 112 late, 98.25% late.</a:t>
            </a:r>
          </a:p>
          <a:p xmlns:a="http://schemas.openxmlformats.org/drawingml/2006/main">
            <a:r>
              <a:t>This chart is useful for showing deadline misses at a glance.</a:t>
            </a:r>
          </a:p>
          <a:p xmlns:a="http://schemas.openxmlformats.org/drawingml/2006/main">
            <a:r>
              <a:t/>
            </a:r>
          </a:p>
          <a:p xmlns:a="http://schemas.openxmlformats.org/drawingml/2006/main">
            <a:r>
              <a:t>[Sources]</a:t>
            </a:r>
          </a:p>
          <a:p xmlns:a="http://schemas.openxmlformats.org/drawingml/2006/main">
            <a:r>
              <a:t>Local report: /Users/oluwolejaiyeoba/Documents/GitHub/agentic_hardware/sglang_direct_kv/artifacts/results/latest_master_report.html</a:t>
            </a:r>
          </a:p>
          <a:p xmlns:a="http://schemas.openxmlformats.org/drawingml/2006/main">
            <a:r>
              <a:t>Synthetic report: /Users/oluwolejaiyeoba/Documents/GitHub/agentic_hardware/sglang_direct_kv/artifacts/results/latest_synthetic_master_report.html</a:t>
            </a:r>
          </a:p>
          <a:p xmlns:a="http://schemas.openxmlformats.org/drawingml/2006/main">
            <a:r>
              <a:t>Backup report: /Users/oluwolejaiyeoba/Documents/GitHub/agentic_hardware/backups/latest_master_report-1.html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profiled synthetic mechanism evidence.</a:t>
            </a:r>
          </a:p>
          <a:p xmlns:a="http://schemas.openxmlformats.org/drawingml/2006/main">
            <a:r>
              <a:t>It supports the claim that software/runtime scheduling and residency behavior can defeat a correct hint.</a:t>
            </a:r>
          </a:p>
          <a:p xmlns:a="http://schemas.openxmlformats.org/drawingml/2006/main">
            <a:r>
              <a:t/>
            </a:r>
          </a:p>
          <a:p xmlns:a="http://schemas.openxmlformats.org/drawingml/2006/main">
            <a:r>
              <a:t>[Sources]</a:t>
            </a:r>
          </a:p>
          <a:p xmlns:a="http://schemas.openxmlformats.org/drawingml/2006/main">
            <a:r>
              <a:t>Local report: /Users/oluwolejaiyeoba/Documents/GitHub/agentic_hardware/sglang_direct_kv/artifacts/results/latest_master_report.html</a:t>
            </a:r>
          </a:p>
          <a:p xmlns:a="http://schemas.openxmlformats.org/drawingml/2006/main">
            <a:r>
              <a:t>Synthetic report: /Users/oluwolejaiyeoba/Documents/GitHub/agentic_hardware/sglang_direct_kv/artifacts/results/latest_synthetic_master_report.html</a:t>
            </a:r>
          </a:p>
          <a:p xmlns:a="http://schemas.openxmlformats.org/drawingml/2006/main">
            <a:r>
              <a:t>Backup report: /Users/oluwolejaiyeoba/Documents/GitHub/agentic_hardware/backups/latest_master_report-1.html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Aggregate no-prefetch evidence: 8 visible replay H2D gaps and 8 late H2D finishes.</a:t>
            </a:r>
          </a:p>
          <a:p xmlns:a="http://schemas.openxmlformats.org/drawingml/2006/main">
            <a:r>
              <a:t>This supports the deadline-aware scheduling argument.</a:t>
            </a:r>
          </a:p>
          <a:p xmlns:a="http://schemas.openxmlformats.org/drawingml/2006/main">
            <a:r>
              <a:t/>
            </a:r>
          </a:p>
          <a:p xmlns:a="http://schemas.openxmlformats.org/drawingml/2006/main">
            <a:r>
              <a:t>[Sources]</a:t>
            </a:r>
          </a:p>
          <a:p xmlns:a="http://schemas.openxmlformats.org/drawingml/2006/main">
            <a:r>
              <a:t>Local report: /Users/oluwolejaiyeoba/Documents/GitHub/agentic_hardware/sglang_direct_kv/artifacts/results/latest_master_report.html</a:t>
            </a:r>
          </a:p>
          <a:p xmlns:a="http://schemas.openxmlformats.org/drawingml/2006/main">
            <a:r>
              <a:t>Synthetic report: /Users/oluwolejaiyeoba/Documents/GitHub/agentic_hardware/sglang_direct_kv/artifacts/results/latest_synthetic_master_report.html</a:t>
            </a:r>
          </a:p>
          <a:p xmlns:a="http://schemas.openxmlformats.org/drawingml/2006/main">
            <a:r>
              <a:t>Backup report: /Users/oluwolejaiyeoba/Documents/GitHub/agentic_hardware/backups/latest_master_report-1.html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chart separates queue timing from H2D timing.</a:t>
            </a:r>
          </a:p>
          <a:p xmlns:a="http://schemas.openxmlformats.org/drawingml/2006/main">
            <a:r>
              <a:t>Manager takeaway: a hint-aware system should affect admission, ordering, priority, and residency, not just copy calls.</a:t>
            </a:r>
          </a:p>
          <a:p xmlns:a="http://schemas.openxmlformats.org/drawingml/2006/main">
            <a:r>
              <a:t/>
            </a:r>
          </a:p>
          <a:p xmlns:a="http://schemas.openxmlformats.org/drawingml/2006/main">
            <a:r>
              <a:t>[Sources]</a:t>
            </a:r>
          </a:p>
          <a:p xmlns:a="http://schemas.openxmlformats.org/drawingml/2006/main">
            <a:r>
              <a:t>Local report: /Users/oluwolejaiyeoba/Documents/GitHub/agentic_hardware/sglang_direct_kv/artifacts/results/latest_master_report.html</a:t>
            </a:r>
          </a:p>
          <a:p xmlns:a="http://schemas.openxmlformats.org/drawingml/2006/main">
            <a:r>
              <a:t>Synthetic report: /Users/oluwolejaiyeoba/Documents/GitHub/agentic_hardware/sglang_direct_kv/artifacts/results/latest_synthetic_master_report.html</a:t>
            </a:r>
          </a:p>
          <a:p xmlns:a="http://schemas.openxmlformats.org/drawingml/2006/main">
            <a:r>
              <a:t>Backup report: /Users/oluwolejaiyeoba/Documents/GitHub/agentic_hardware/backups/latest_master_report-1.html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slide as the synthesis of the research so far.</a:t>
            </a:r>
          </a:p>
          <a:p xmlns:a="http://schemas.openxmlformats.org/drawingml/2006/main">
            <a:r>
              <a:t>The finding list is intentionally short enough to present without reading dense boxes.</a:t>
            </a:r>
          </a:p>
          <a:p xmlns:a="http://schemas.openxmlformats.org/drawingml/2006/main">
            <a:r>
              <a:t/>
            </a:r>
          </a:p>
          <a:p xmlns:a="http://schemas.openxmlformats.org/drawingml/2006/main">
            <a:r>
              <a:t>[Sources]</a:t>
            </a:r>
          </a:p>
          <a:p xmlns:a="http://schemas.openxmlformats.org/drawingml/2006/main">
            <a:r>
              <a:t>Local report: /Users/oluwolejaiyeoba/Documents/GitHub/agentic_hardware/sglang_direct_kv/artifacts/results/latest_master_report.html</a:t>
            </a:r>
          </a:p>
          <a:p xmlns:a="http://schemas.openxmlformats.org/drawingml/2006/main">
            <a:r>
              <a:t>Synthetic report: /Users/oluwolejaiyeoba/Documents/GitHub/agentic_hardware/sglang_direct_kv/artifacts/results/latest_synthetic_master_report.html</a:t>
            </a:r>
          </a:p>
          <a:p xmlns:a="http://schemas.openxmlformats.org/drawingml/2006/main">
            <a:r>
              <a:t>Backup report: /Users/oluwolejaiyeoba/Documents/GitHub/agentic_hardware/backups/latest_master_report-1.html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intentionally frames benefits as ballpark expectations and research targets.</a:t>
            </a:r>
          </a:p>
          <a:p xmlns:a="http://schemas.openxmlformats.org/drawingml/2006/main">
            <a:r>
              <a:t>The table ties each benefit estimate to an observed mechanism: late replay H2D, recompute after KV loss, late hint completion, and wasted prefetch.</a:t>
            </a:r>
          </a:p>
          <a:p xmlns:a="http://schemas.openxmlformats.org/drawingml/2006/main">
            <a:r>
              <a:t>Low-end gains are plausible when KV is already mostly resident and only small stalls remain.</a:t>
            </a:r>
          </a:p>
          <a:p xmlns:a="http://schemas.openxmlformats.org/drawingml/2006/main">
            <a:r>
              <a:t>High-end gains are plausible when contexts are long, cache pressure is high, and replay falls back to H2D reload or recompute.</a:t>
            </a:r>
          </a:p>
          <a:p xmlns:a="http://schemas.openxmlformats.org/drawingml/2006/main">
            <a:r>
              <a:t>Potential benefit ranges are internal proposal estimates based on observed late prefetch/replay H2D patterns and expected gains from deadline-aware KV movement.</a:t>
            </a:r>
          </a:p>
          <a:p xmlns:a="http://schemas.openxmlformats.org/drawingml/2006/main">
            <a:r>
              <a:t/>
            </a:r>
          </a:p>
          <a:p xmlns:a="http://schemas.openxmlformats.org/drawingml/2006/main">
            <a:r>
              <a:t>[Sources]</a:t>
            </a:r>
          </a:p>
          <a:p xmlns:a="http://schemas.openxmlformats.org/drawingml/2006/main">
            <a:r>
              <a:t>Local report: /Users/oluwolejaiyeoba/Documents/GitHub/agentic_hardware/sglang_direct_kv/artifacts/results/latest_master_report.html</a:t>
            </a:r>
          </a:p>
          <a:p xmlns:a="http://schemas.openxmlformats.org/drawingml/2006/main">
            <a:r>
              <a:t>Synthetic report: /Users/oluwolejaiyeoba/Documents/GitHub/agentic_hardware/sglang_direct_kv/artifacts/results/latest_synthetic_master_report.html</a:t>
            </a:r>
          </a:p>
          <a:p xmlns:a="http://schemas.openxmlformats.org/drawingml/2006/main">
            <a:r>
              <a:t>Backup report: /Users/oluwolejaiyeoba/Documents/GitHub/agentic_hardware/backups/latest_master_report-1.html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Closing slide. Translate the evidence into concrete hardware support candidates.</a:t>
            </a:r>
          </a:p>
          <a:p xmlns:a="http://schemas.openxmlformats.org/drawingml/2006/main">
            <a:r>
              <a:t>These ideas map to the hardware proposal: KV metadata, semantic prefetch queue, priority-aware migration, residency protection, and telemetry.</a:t>
            </a:r>
          </a:p>
          <a:p xmlns:a="http://schemas.openxmlformats.org/drawingml/2006/main">
            <a:r>
              <a:t/>
            </a:r>
          </a:p>
          <a:p xmlns:a="http://schemas.openxmlformats.org/drawingml/2006/main">
            <a:r>
              <a:t>[Sources]</a:t>
            </a:r>
          </a:p>
          <a:p xmlns:a="http://schemas.openxmlformats.org/drawingml/2006/main">
            <a:r>
              <a:t>Local report: /Users/oluwolejaiyeoba/Documents/GitHub/agentic_hardware/sglang_direct_kv/artifacts/results/latest_master_report.html</a:t>
            </a:r>
          </a:p>
          <a:p xmlns:a="http://schemas.openxmlformats.org/drawingml/2006/main">
            <a:r>
              <a:t>Synthetic report: /Users/oluwolejaiyeoba/Documents/GitHub/agentic_hardware/sglang_direct_kv/artifacts/results/latest_synthetic_master_report.html</a:t>
            </a:r>
          </a:p>
          <a:p xmlns:a="http://schemas.openxmlformats.org/drawingml/2006/main">
            <a:r>
              <a:t>Backup report: /Users/oluwolejaiyeoba/Documents/GitHub/agentic_hardware/backups/latest_master_report-1.html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5da0032dc7b4c2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37ddded8a4740df" /><Relationship Type="http://schemas.openxmlformats.org/officeDocument/2006/relationships/slideLayout" Target="/ppt/slideLayouts/slideLayout1.xml" Id="R58678bbb0051414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8678bbb0051414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c20052d387934c66" /><Relationship Type="http://schemas.openxmlformats.org/officeDocument/2006/relationships/notesSlide" Target="/ppt/notesSlides/notesSlide1.xml" Id="Rdd42466e9bf4451b"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264353c43cfa442e" /><Relationship Type="http://schemas.openxmlformats.org/officeDocument/2006/relationships/notesSlide" Target="/ppt/notesSlides/notesSlide2.xml" Id="Ra50a9388950548c2"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c530a63043d0408a" /><Relationship Type="http://schemas.openxmlformats.org/officeDocument/2006/relationships/notesSlide" Target="/ppt/notesSlides/notesSlide3.xml" Id="R4c30628419634459"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3589bdec04b44825" /><Relationship Type="http://schemas.openxmlformats.org/officeDocument/2006/relationships/notesSlide" Target="/ppt/notesSlides/notesSlide4.xml" Id="Rd16138f98a2c475d"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f2cb6ae1795241b0" /><Relationship Type="http://schemas.openxmlformats.org/officeDocument/2006/relationships/image" Target="/ppt/media/image.png" Id="Rd1675278ea7a4416" /><Relationship Type="http://schemas.openxmlformats.org/officeDocument/2006/relationships/notesSlide" Target="/ppt/notesSlides/notesSlide5.xml" Id="Rcf60b400bba64538"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3ba617b55a6d4b68" /><Relationship Type="http://schemas.openxmlformats.org/officeDocument/2006/relationships/image" Target="/ppt/media/image2.png" Id="R7d62aa19976848e3" /><Relationship Type="http://schemas.openxmlformats.org/officeDocument/2006/relationships/notesSlide" Target="/ppt/notesSlides/notesSlide6.xml" Id="R29a9644603754c9e"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26b3345df0114d28" /><Relationship Type="http://schemas.openxmlformats.org/officeDocument/2006/relationships/image" Target="/ppt/media/image3.png" Id="Rffc454e21491477a" /><Relationship Type="http://schemas.openxmlformats.org/officeDocument/2006/relationships/notesSlide" Target="/ppt/notesSlides/notesSlide7.xml" Id="Red68221e509c4764"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d1d02cfe396841c4" /><Relationship Type="http://schemas.openxmlformats.org/officeDocument/2006/relationships/image" Target="/ppt/media/image4.png" Id="R83551dee1ca24116" /><Relationship Type="http://schemas.openxmlformats.org/officeDocument/2006/relationships/notesSlide" Target="/ppt/notesSlides/notesSlide8.xml" Id="Rd80408d7aa2445f0"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ca3bf28025924210" /><Relationship Type="http://schemas.openxmlformats.org/officeDocument/2006/relationships/image" Target="/ppt/media/image5.png" Id="R12ea939e569f430e" /><Relationship Type="http://schemas.openxmlformats.org/officeDocument/2006/relationships/notesSlide" Target="/ppt/notesSlides/notesSlide9.xml" Id="Rf02a22c823e44751"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019055fd6eb74b46" /><Relationship Type="http://schemas.openxmlformats.org/officeDocument/2006/relationships/notesSlide" Target="/ppt/notesSlides/notesSlide10.xml" Id="Rf79148762b5240f0"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5d6082133abc468f" /><Relationship Type="http://schemas.openxmlformats.org/officeDocument/2006/relationships/notesSlide" Target="/ppt/notesSlides/notesSlide11.xml" Id="R52a2acbe18f64e90"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eee518378777445e" /><Relationship Type="http://schemas.openxmlformats.org/officeDocument/2006/relationships/notesSlide" Target="/ppt/notesSlides/notesSlide12.xml" Id="Rc230785287b34904"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2BE8AC51-12DF-490F-B70B-0D599428BA7E}"/>
              </a:ext>
            </a:extLst>
          </p:cNvPr>
          <p:cNvSpPr>
            <a:spLocks xmlns:a="http://schemas.openxmlformats.org/drawingml/2006/main" noGrp="1"/>
          </p:cNvSpPr>
          <p:nvPr/>
        </p:nvSpPr>
        <p:spPr>
          <a:xfrm xmlns:a="http://schemas.openxmlformats.org/drawingml/2006/main">
            <a:off x="419100" y="552450"/>
            <a:ext cx="981075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4200" b="1">
                <a:solidFill>
                  <a:srgbClr val="0F172A"/>
                </a:solidFill>
              </a:defRPr>
            </a:pPr>
            <a:r>
              <a:rPr sz="4200" b="1">
                <a:solidFill>
                  <a:srgbClr val="0F172A"/>
                </a:solidFill>
              </a:rPr>
              <a:t>Making KV Movement Agent-Aware</a:t>
            </a:r>
          </a:p>
        </p:txBody>
      </p:sp>
      <p:sp>
        <p:nvSpPr>
          <p:cNvPr id="2" name="">
            <a:extLst xmlns:a="http://schemas.openxmlformats.org/drawingml/2006/main">
              <a:ext uri="{FF2B5EF4-FFF2-40B4-BE49-F238E27FC236}">
                <a16:creationId xmlns:a16="http://schemas.microsoft.com/office/drawing/2014/main" id="{4A36DC6C-D510-428A-9767-5E5944A41475}"/>
              </a:ext>
            </a:extLst>
          </p:cNvPr>
          <p:cNvSpPr>
            <a:spLocks xmlns:a="http://schemas.openxmlformats.org/drawingml/2006/main" noGrp="1"/>
          </p:cNvSpPr>
          <p:nvPr/>
        </p:nvSpPr>
        <p:spPr>
          <a:xfrm xmlns:a="http://schemas.openxmlformats.org/drawingml/2006/main">
            <a:off x="457200" y="1809750"/>
            <a:ext cx="10382250" cy="1352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0">
                <a:solidFill>
                  <a:srgbClr val="334155"/>
                </a:solidFill>
              </a:defRPr>
            </a:pPr>
            <a:r>
              <a:rPr sz="1650" b="0">
                <a:solidFill>
                  <a:srgbClr val="334155"/>
                </a:solidFill>
              </a:rPr>
              <a:t>Coding agents naturally pause during tool calls, then resume with tight latency expectations. Current memory movement paths are largely context-agnostic: they can move KV pages, but they do not know which agent needs them, when they are needed, or whether missing the deadline will stall replay. This project quantifies that gap and prototypes hint-guided KV movement as a path toward smarter DMA engines, KV-aware memory scheduling, and hardware/runtime co-design.</a:t>
            </a:r>
          </a:p>
        </p:txBody>
      </p:sp>
      <p:sp>
        <p:nvSpPr>
          <p:cNvPr id="3" name="">
            <a:extLst xmlns:a="http://schemas.openxmlformats.org/drawingml/2006/main">
              <a:ext uri="{FF2B5EF4-FFF2-40B4-BE49-F238E27FC236}">
                <a16:creationId xmlns:a16="http://schemas.microsoft.com/office/drawing/2014/main" id="{0D4EE2CF-12A0-4A99-907E-273C1D33B94F}"/>
              </a:ext>
            </a:extLst>
          </p:cNvPr>
          <p:cNvSpPr>
            <a:spLocks xmlns:a="http://schemas.openxmlformats.org/drawingml/2006/main" noGrp="1"/>
          </p:cNvSpPr>
          <p:nvPr/>
        </p:nvSpPr>
        <p:spPr>
          <a:xfrm xmlns:a="http://schemas.openxmlformats.org/drawingml/2006/main">
            <a:off x="419100" y="3543300"/>
            <a:ext cx="11353800" cy="11430"/>
          </a:xfrm>
          <a:prstGeom xmlns:a="http://schemas.openxmlformats.org/drawingml/2006/main" prst="rect">
            <a:avLst/>
          </a:prstGeom>
          <a:solidFill xmlns:a="http://schemas.openxmlformats.org/drawingml/2006/main">
            <a:srgbClr val="CBD5E1"/>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FDF0CBA-F550-4283-9D1D-99B526B7529F}"/>
              </a:ext>
            </a:extLst>
          </p:cNvPr>
          <p:cNvSpPr>
            <a:spLocks xmlns:a="http://schemas.openxmlformats.org/drawingml/2006/main" noGrp="1"/>
          </p:cNvSpPr>
          <p:nvPr/>
        </p:nvSpPr>
        <p:spPr>
          <a:xfrm xmlns:a="http://schemas.openxmlformats.org/drawingml/2006/main">
            <a:off x="876300" y="400050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950" b="1">
                <a:solidFill>
                  <a:srgbClr val="DC2626"/>
                </a:solidFill>
              </a:defRPr>
            </a:pPr>
            <a:r>
              <a:rPr sz="1950" b="1">
                <a:solidFill>
                  <a:srgbClr val="DC2626"/>
                </a:solidFill>
              </a:rPr>
              <a:t>•</a:t>
            </a:r>
          </a:p>
        </p:txBody>
      </p:sp>
      <p:sp>
        <p:nvSpPr>
          <p:cNvPr id="5" name="">
            <a:extLst xmlns:a="http://schemas.openxmlformats.org/drawingml/2006/main">
              <a:ext uri="{FF2B5EF4-FFF2-40B4-BE49-F238E27FC236}">
                <a16:creationId xmlns:a16="http://schemas.microsoft.com/office/drawing/2014/main" id="{6F98A2D3-3AB4-442D-B4DE-EFAFE4A4A861}"/>
              </a:ext>
            </a:extLst>
          </p:cNvPr>
          <p:cNvSpPr>
            <a:spLocks xmlns:a="http://schemas.openxmlformats.org/drawingml/2006/main" noGrp="1"/>
          </p:cNvSpPr>
          <p:nvPr/>
        </p:nvSpPr>
        <p:spPr>
          <a:xfrm xmlns:a="http://schemas.openxmlformats.org/drawingml/2006/main">
            <a:off x="1162050" y="4019550"/>
            <a:ext cx="904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0">
                <a:solidFill>
                  <a:srgbClr val="334155"/>
                </a:solidFill>
              </a:defRPr>
            </a:pPr>
            <a:r>
              <a:rPr sz="1800" b="0">
                <a:solidFill>
                  <a:srgbClr val="334155"/>
                </a:solidFill>
              </a:rPr>
              <a:t>Core problem: memory movement sees bytes, not agent deadlines.</a:t>
            </a:r>
          </a:p>
        </p:txBody>
      </p:sp>
      <p:sp>
        <p:nvSpPr>
          <p:cNvPr id="6" name="">
            <a:extLst xmlns:a="http://schemas.openxmlformats.org/drawingml/2006/main">
              <a:ext uri="{FF2B5EF4-FFF2-40B4-BE49-F238E27FC236}">
                <a16:creationId xmlns:a16="http://schemas.microsoft.com/office/drawing/2014/main" id="{F9E8F69B-E58E-4A44-8786-F99964D252E9}"/>
              </a:ext>
            </a:extLst>
          </p:cNvPr>
          <p:cNvSpPr>
            <a:spLocks xmlns:a="http://schemas.openxmlformats.org/drawingml/2006/main" noGrp="1"/>
          </p:cNvSpPr>
          <p:nvPr/>
        </p:nvSpPr>
        <p:spPr>
          <a:xfrm xmlns:a="http://schemas.openxmlformats.org/drawingml/2006/main">
            <a:off x="876300" y="455295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950" b="1">
                <a:solidFill>
                  <a:srgbClr val="2563EB"/>
                </a:solidFill>
              </a:defRPr>
            </a:pPr>
            <a:r>
              <a:rPr sz="1950" b="1">
                <a:solidFill>
                  <a:srgbClr val="2563EB"/>
                </a:solidFill>
              </a:rPr>
              <a:t>•</a:t>
            </a:r>
          </a:p>
        </p:txBody>
      </p:sp>
      <p:sp>
        <p:nvSpPr>
          <p:cNvPr id="7" name="">
            <a:extLst xmlns:a="http://schemas.openxmlformats.org/drawingml/2006/main">
              <a:ext uri="{FF2B5EF4-FFF2-40B4-BE49-F238E27FC236}">
                <a16:creationId xmlns:a16="http://schemas.microsoft.com/office/drawing/2014/main" id="{1979369D-7927-4796-9A72-5E0E95732E4B}"/>
              </a:ext>
            </a:extLst>
          </p:cNvPr>
          <p:cNvSpPr>
            <a:spLocks xmlns:a="http://schemas.openxmlformats.org/drawingml/2006/main" noGrp="1"/>
          </p:cNvSpPr>
          <p:nvPr/>
        </p:nvSpPr>
        <p:spPr>
          <a:xfrm xmlns:a="http://schemas.openxmlformats.org/drawingml/2006/main">
            <a:off x="1162050" y="4572000"/>
            <a:ext cx="904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0">
                <a:solidFill>
                  <a:srgbClr val="334155"/>
                </a:solidFill>
              </a:defRPr>
            </a:pPr>
            <a:r>
              <a:rPr sz="1800" b="0">
                <a:solidFill>
                  <a:srgbClr val="334155"/>
                </a:solidFill>
              </a:rPr>
              <a:t>Research target: make KV movement deadline-aware and session-aware.</a:t>
            </a:r>
          </a:p>
        </p:txBody>
      </p:sp>
      <p:sp>
        <p:nvSpPr>
          <p:cNvPr id="8" name="">
            <a:extLst xmlns:a="http://schemas.openxmlformats.org/drawingml/2006/main">
              <a:ext uri="{FF2B5EF4-FFF2-40B4-BE49-F238E27FC236}">
                <a16:creationId xmlns:a16="http://schemas.microsoft.com/office/drawing/2014/main" id="{86BD44E5-C814-4771-847F-EC61D2E96C03}"/>
              </a:ext>
            </a:extLst>
          </p:cNvPr>
          <p:cNvSpPr>
            <a:spLocks xmlns:a="http://schemas.openxmlformats.org/drawingml/2006/main" noGrp="1"/>
          </p:cNvSpPr>
          <p:nvPr/>
        </p:nvSpPr>
        <p:spPr>
          <a:xfrm xmlns:a="http://schemas.openxmlformats.org/drawingml/2006/main">
            <a:off x="876300" y="510540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950" b="1">
                <a:solidFill>
                  <a:srgbClr val="16A34A"/>
                </a:solidFill>
              </a:defRPr>
            </a:pPr>
            <a:r>
              <a:rPr sz="1950" b="1">
                <a:solidFill>
                  <a:srgbClr val="16A34A"/>
                </a:solidFill>
              </a:rPr>
              <a:t>•</a:t>
            </a:r>
          </a:p>
        </p:txBody>
      </p:sp>
      <p:sp>
        <p:nvSpPr>
          <p:cNvPr id="9" name="">
            <a:extLst xmlns:a="http://schemas.openxmlformats.org/drawingml/2006/main">
              <a:ext uri="{FF2B5EF4-FFF2-40B4-BE49-F238E27FC236}">
                <a16:creationId xmlns:a16="http://schemas.microsoft.com/office/drawing/2014/main" id="{84569A75-B9E3-41A0-B4B9-B0A3783D816E}"/>
              </a:ext>
            </a:extLst>
          </p:cNvPr>
          <p:cNvSpPr>
            <a:spLocks xmlns:a="http://schemas.openxmlformats.org/drawingml/2006/main" noGrp="1"/>
          </p:cNvSpPr>
          <p:nvPr/>
        </p:nvSpPr>
        <p:spPr>
          <a:xfrm xmlns:a="http://schemas.openxmlformats.org/drawingml/2006/main">
            <a:off x="1162050" y="5124450"/>
            <a:ext cx="904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0">
                <a:solidFill>
                  <a:srgbClr val="334155"/>
                </a:solidFill>
              </a:defRPr>
            </a:pPr>
            <a:r>
              <a:rPr sz="1800" b="0">
                <a:solidFill>
                  <a:srgbClr val="334155"/>
                </a:solidFill>
              </a:rPr>
              <a:t>Hardware angle: smarter DMA queues, KV metadata, residency protection, and telemetry.</a:t>
            </a:r>
          </a:p>
        </p:txBody>
      </p:sp>
      <p:sp>
        <p:nvSpPr>
          <p:cNvPr id="10" name="">
            <a:extLst xmlns:a="http://schemas.openxmlformats.org/drawingml/2006/main">
              <a:ext uri="{FF2B5EF4-FFF2-40B4-BE49-F238E27FC236}">
                <a16:creationId xmlns:a16="http://schemas.microsoft.com/office/drawing/2014/main" id="{846158E8-77EE-4599-87D5-186387181BAD}"/>
              </a:ext>
            </a:extLst>
          </p:cNvPr>
          <p:cNvSpPr>
            <a:spLocks xmlns:a="http://schemas.openxmlformats.org/drawingml/2006/main" noGrp="1"/>
          </p:cNvSpPr>
          <p:nvPr/>
        </p:nvSpPr>
        <p:spPr>
          <a:xfrm xmlns:a="http://schemas.openxmlformats.org/drawingml/2006/main">
            <a:off x="419100" y="6400800"/>
            <a:ext cx="3619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0">
                <a:solidFill>
                  <a:srgbClr val="64748B"/>
                </a:solidFill>
              </a:defRPr>
            </a:pPr>
            <a:r>
              <a:rPr sz="975" b="0">
                <a:solidFill>
                  <a:srgbClr val="64748B"/>
                </a:solidFill>
              </a:rPr>
              <a:t>Agent-aware KV movement</a:t>
            </a:r>
          </a:p>
        </p:txBody>
      </p:sp>
      <p:sp>
        <p:nvSpPr>
          <p:cNvPr id="11" name="">
            <a:extLst xmlns:a="http://schemas.openxmlformats.org/drawingml/2006/main">
              <a:ext uri="{FF2B5EF4-FFF2-40B4-BE49-F238E27FC236}">
                <a16:creationId xmlns:a16="http://schemas.microsoft.com/office/drawing/2014/main" id="{1662F6F2-F813-493F-BB83-1B8958ED0252}"/>
              </a:ext>
            </a:extLst>
          </p:cNvPr>
          <p:cNvSpPr>
            <a:spLocks xmlns:a="http://schemas.openxmlformats.org/drawingml/2006/main" noGrp="1"/>
          </p:cNvSpPr>
          <p:nvPr/>
        </p:nvSpPr>
        <p:spPr>
          <a:xfrm xmlns:a="http://schemas.openxmlformats.org/drawingml/2006/main">
            <a:off x="11315700" y="64008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64748B"/>
                </a:solidFill>
              </a:defRPr>
            </a:pPr>
            <a:r>
              <a:rPr sz="975" b="0">
                <a:solidFill>
                  <a:srgbClr val="64748B"/>
                </a:solidFill>
              </a:rPr>
              <a:t>01</a:t>
            </a:r>
          </a:p>
        </p:txBody>
      </p:sp>
    </p:spTree>
    <p:extLst>
      <p:ext uri="{BB962C8B-B14F-4D97-AF65-F5344CB8AC3E}">
        <p14:creationId xmlns:p14="http://schemas.microsoft.com/office/powerpoint/2010/main" val="779423332"/>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B8032C68-68D8-4E50-9C99-15ACDF549D4B}"/>
              </a:ext>
            </a:extLst>
          </p:cNvPr>
          <p:cNvSpPr>
            <a:spLocks xmlns:a="http://schemas.openxmlformats.org/drawingml/2006/main" noGrp="1"/>
          </p:cNvSpPr>
          <p:nvPr/>
        </p:nvSpPr>
        <p:spPr>
          <a:xfrm xmlns:a="http://schemas.openxmlformats.org/drawingml/2006/main">
            <a:off x="419100" y="32385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F172A"/>
                </a:solidFill>
              </a:defRPr>
            </a:pPr>
            <a:r>
              <a:rPr sz="2925" b="1">
                <a:solidFill>
                  <a:srgbClr val="0F172A"/>
                </a:solidFill>
              </a:rPr>
              <a:t>The testbed has controlled and real traffic</a:t>
            </a:r>
          </a:p>
        </p:txBody>
      </p:sp>
      <p:sp>
        <p:nvSpPr>
          <p:cNvPr id="2" name="">
            <a:extLst xmlns:a="http://schemas.openxmlformats.org/drawingml/2006/main">
              <a:ext uri="{FF2B5EF4-FFF2-40B4-BE49-F238E27FC236}">
                <a16:creationId xmlns:a16="http://schemas.microsoft.com/office/drawing/2014/main" id="{7D159159-C98C-4037-80B6-758E50588C20}"/>
              </a:ext>
            </a:extLst>
          </p:cNvPr>
          <p:cNvSpPr>
            <a:spLocks xmlns:a="http://schemas.openxmlformats.org/drawingml/2006/main" noGrp="1"/>
          </p:cNvSpPr>
          <p:nvPr/>
        </p:nvSpPr>
        <p:spPr>
          <a:xfrm xmlns:a="http://schemas.openxmlformats.org/drawingml/2006/main">
            <a:off x="438150" y="914400"/>
            <a:ext cx="1047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64748B"/>
                </a:solidFill>
              </a:defRPr>
            </a:pPr>
            <a:r>
              <a:rPr sz="1500" b="0">
                <a:solidFill>
                  <a:srgbClr val="64748B"/>
                </a:solidFill>
              </a:rPr>
              <a:t>Controlled runs expose mechanisms; real traces keep the workload credible.</a:t>
            </a:r>
          </a:p>
        </p:txBody>
      </p:sp>
      <p:sp>
        <p:nvSpPr>
          <p:cNvPr id="3" name="">
            <a:extLst xmlns:a="http://schemas.openxmlformats.org/drawingml/2006/main">
              <a:ext uri="{FF2B5EF4-FFF2-40B4-BE49-F238E27FC236}">
                <a16:creationId xmlns:a16="http://schemas.microsoft.com/office/drawing/2014/main" id="{F5AC69A0-D315-4264-A736-A12809F64593}"/>
              </a:ext>
            </a:extLst>
          </p:cNvPr>
          <p:cNvSpPr>
            <a:spLocks xmlns:a="http://schemas.openxmlformats.org/drawingml/2006/main" noGrp="1"/>
          </p:cNvSpPr>
          <p:nvPr/>
        </p:nvSpPr>
        <p:spPr>
          <a:xfrm xmlns:a="http://schemas.openxmlformats.org/drawingml/2006/main">
            <a:off x="800100" y="177165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1">
                <a:solidFill>
                  <a:srgbClr val="2563EB"/>
                </a:solidFill>
              </a:defRPr>
            </a:pPr>
            <a:r>
              <a:rPr sz="2025" b="1">
                <a:solidFill>
                  <a:srgbClr val="2563EB"/>
                </a:solidFill>
              </a:rPr>
              <a:t>•</a:t>
            </a:r>
          </a:p>
        </p:txBody>
      </p:sp>
      <p:sp>
        <p:nvSpPr>
          <p:cNvPr id="4" name="">
            <a:extLst xmlns:a="http://schemas.openxmlformats.org/drawingml/2006/main">
              <a:ext uri="{FF2B5EF4-FFF2-40B4-BE49-F238E27FC236}">
                <a16:creationId xmlns:a16="http://schemas.microsoft.com/office/drawing/2014/main" id="{FF16EFAB-93F6-4E59-BA78-7FDD2F720A99}"/>
              </a:ext>
            </a:extLst>
          </p:cNvPr>
          <p:cNvSpPr>
            <a:spLocks xmlns:a="http://schemas.openxmlformats.org/drawingml/2006/main" noGrp="1"/>
          </p:cNvSpPr>
          <p:nvPr/>
        </p:nvSpPr>
        <p:spPr>
          <a:xfrm xmlns:a="http://schemas.openxmlformats.org/drawingml/2006/main">
            <a:off x="1085850" y="1790700"/>
            <a:ext cx="9810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75" b="0">
                <a:solidFill>
                  <a:srgbClr val="334155"/>
                </a:solidFill>
              </a:defRPr>
            </a:pPr>
            <a:r>
              <a:rPr sz="1875" b="0">
                <a:solidFill>
                  <a:srgbClr val="334155"/>
                </a:solidFill>
              </a:rPr>
              <a:t>Controlled synthetic path: prompt size, tool wait, filler pressure, and replay deadline are known.</a:t>
            </a:r>
          </a:p>
        </p:txBody>
      </p:sp>
      <p:sp>
        <p:nvSpPr>
          <p:cNvPr id="5" name="">
            <a:extLst xmlns:a="http://schemas.openxmlformats.org/drawingml/2006/main">
              <a:ext uri="{FF2B5EF4-FFF2-40B4-BE49-F238E27FC236}">
                <a16:creationId xmlns:a16="http://schemas.microsoft.com/office/drawing/2014/main" id="{29EA0E5D-ECA5-4093-9736-0CE354546050}"/>
              </a:ext>
            </a:extLst>
          </p:cNvPr>
          <p:cNvSpPr>
            <a:spLocks xmlns:a="http://schemas.openxmlformats.org/drawingml/2006/main" noGrp="1"/>
          </p:cNvSpPr>
          <p:nvPr/>
        </p:nvSpPr>
        <p:spPr>
          <a:xfrm xmlns:a="http://schemas.openxmlformats.org/drawingml/2006/main">
            <a:off x="800100" y="247650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1">
                <a:solidFill>
                  <a:srgbClr val="9333EA"/>
                </a:solidFill>
              </a:defRPr>
            </a:pPr>
            <a:r>
              <a:rPr sz="2025" b="1">
                <a:solidFill>
                  <a:srgbClr val="9333EA"/>
                </a:solidFill>
              </a:rPr>
              <a:t>•</a:t>
            </a:r>
          </a:p>
        </p:txBody>
      </p:sp>
      <p:sp>
        <p:nvSpPr>
          <p:cNvPr id="6" name="">
            <a:extLst xmlns:a="http://schemas.openxmlformats.org/drawingml/2006/main">
              <a:ext uri="{FF2B5EF4-FFF2-40B4-BE49-F238E27FC236}">
                <a16:creationId xmlns:a16="http://schemas.microsoft.com/office/drawing/2014/main" id="{1C52FF47-2DCF-4F70-B466-7DD95BE1A772}"/>
              </a:ext>
            </a:extLst>
          </p:cNvPr>
          <p:cNvSpPr>
            <a:spLocks xmlns:a="http://schemas.openxmlformats.org/drawingml/2006/main" noGrp="1"/>
          </p:cNvSpPr>
          <p:nvPr/>
        </p:nvSpPr>
        <p:spPr>
          <a:xfrm xmlns:a="http://schemas.openxmlformats.org/drawingml/2006/main">
            <a:off x="1085850" y="2495550"/>
            <a:ext cx="9810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75" b="0">
                <a:solidFill>
                  <a:srgbClr val="334155"/>
                </a:solidFill>
              </a:defRPr>
            </a:pPr>
            <a:r>
              <a:rPr sz="1875" b="0">
                <a:solidFill>
                  <a:srgbClr val="334155"/>
                </a:solidFill>
              </a:rPr>
              <a:t>Real coding-agent path: SWE-bench / AgentBench traces feed DeepAgents and SGLang.</a:t>
            </a:r>
          </a:p>
        </p:txBody>
      </p:sp>
      <p:sp>
        <p:nvSpPr>
          <p:cNvPr id="7" name="">
            <a:extLst xmlns:a="http://schemas.openxmlformats.org/drawingml/2006/main">
              <a:ext uri="{FF2B5EF4-FFF2-40B4-BE49-F238E27FC236}">
                <a16:creationId xmlns:a16="http://schemas.microsoft.com/office/drawing/2014/main" id="{E7523849-E8A3-47D8-A752-ABBD87847193}"/>
              </a:ext>
            </a:extLst>
          </p:cNvPr>
          <p:cNvSpPr>
            <a:spLocks xmlns:a="http://schemas.openxmlformats.org/drawingml/2006/main" noGrp="1"/>
          </p:cNvSpPr>
          <p:nvPr/>
        </p:nvSpPr>
        <p:spPr>
          <a:xfrm xmlns:a="http://schemas.openxmlformats.org/drawingml/2006/main">
            <a:off x="800100" y="318135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1">
                <a:solidFill>
                  <a:srgbClr val="16A34A"/>
                </a:solidFill>
              </a:defRPr>
            </a:pPr>
            <a:r>
              <a:rPr sz="2025" b="1">
                <a:solidFill>
                  <a:srgbClr val="16A34A"/>
                </a:solidFill>
              </a:rPr>
              <a:t>•</a:t>
            </a:r>
          </a:p>
        </p:txBody>
      </p:sp>
      <p:sp>
        <p:nvSpPr>
          <p:cNvPr id="8" name="">
            <a:extLst xmlns:a="http://schemas.openxmlformats.org/drawingml/2006/main">
              <a:ext uri="{FF2B5EF4-FFF2-40B4-BE49-F238E27FC236}">
                <a16:creationId xmlns:a16="http://schemas.microsoft.com/office/drawing/2014/main" id="{9719DDCB-3290-4CB9-88FC-470C3CEF3EED}"/>
              </a:ext>
            </a:extLst>
          </p:cNvPr>
          <p:cNvSpPr>
            <a:spLocks xmlns:a="http://schemas.openxmlformats.org/drawingml/2006/main" noGrp="1"/>
          </p:cNvSpPr>
          <p:nvPr/>
        </p:nvSpPr>
        <p:spPr>
          <a:xfrm xmlns:a="http://schemas.openxmlformats.org/drawingml/2006/main">
            <a:off x="1085850" y="3200400"/>
            <a:ext cx="9810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75" b="0">
                <a:solidFill>
                  <a:srgbClr val="334155"/>
                </a:solidFill>
              </a:defRPr>
            </a:pPr>
            <a:r>
              <a:rPr sz="1875" b="0">
                <a:solidFill>
                  <a:srgbClr val="334155"/>
                </a:solidFill>
              </a:rPr>
              <a:t>Both paths measure the same question: was useful KV ready before replay?</a:t>
            </a:r>
          </a:p>
        </p:txBody>
      </p:sp>
      <p:sp>
        <p:nvSpPr>
          <p:cNvPr id="9" name="">
            <a:extLst xmlns:a="http://schemas.openxmlformats.org/drawingml/2006/main">
              <a:ext uri="{FF2B5EF4-FFF2-40B4-BE49-F238E27FC236}">
                <a16:creationId xmlns:a16="http://schemas.microsoft.com/office/drawing/2014/main" id="{6AAAF10B-62CF-450C-B501-27E3C23856C0}"/>
              </a:ext>
            </a:extLst>
          </p:cNvPr>
          <p:cNvSpPr>
            <a:spLocks xmlns:a="http://schemas.openxmlformats.org/drawingml/2006/main" noGrp="1"/>
          </p:cNvSpPr>
          <p:nvPr/>
        </p:nvSpPr>
        <p:spPr>
          <a:xfrm xmlns:a="http://schemas.openxmlformats.org/drawingml/2006/main">
            <a:off x="914400" y="4533900"/>
            <a:ext cx="10096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2400" b="1">
                <a:solidFill>
                  <a:srgbClr val="0F172A"/>
                </a:solidFill>
              </a:defRPr>
            </a:pPr>
            <a:r>
              <a:rPr sz="2400" b="1">
                <a:solidFill>
                  <a:srgbClr val="0F172A"/>
                </a:solidFill>
              </a:rPr>
              <a:t>agent task   →   tool wait   →   replay   →   KV ready?</a:t>
            </a:r>
          </a:p>
        </p:txBody>
      </p:sp>
      <p:sp>
        <p:nvSpPr>
          <p:cNvPr id="10" name="">
            <a:extLst xmlns:a="http://schemas.openxmlformats.org/drawingml/2006/main">
              <a:ext uri="{FF2B5EF4-FFF2-40B4-BE49-F238E27FC236}">
                <a16:creationId xmlns:a16="http://schemas.microsoft.com/office/drawing/2014/main" id="{241BE25E-8A1B-4E3C-9E66-9831F905403D}"/>
              </a:ext>
            </a:extLst>
          </p:cNvPr>
          <p:cNvSpPr>
            <a:spLocks xmlns:a="http://schemas.openxmlformats.org/drawingml/2006/main" noGrp="1"/>
          </p:cNvSpPr>
          <p:nvPr/>
        </p:nvSpPr>
        <p:spPr>
          <a:xfrm xmlns:a="http://schemas.openxmlformats.org/drawingml/2006/main">
            <a:off x="419100" y="6400800"/>
            <a:ext cx="3619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0">
                <a:solidFill>
                  <a:srgbClr val="64748B"/>
                </a:solidFill>
              </a:defRPr>
            </a:pPr>
            <a:r>
              <a:rPr sz="975" b="0">
                <a:solidFill>
                  <a:srgbClr val="64748B"/>
                </a:solidFill>
              </a:rPr>
              <a:t>Agent-aware KV movement</a:t>
            </a:r>
          </a:p>
        </p:txBody>
      </p:sp>
      <p:sp>
        <p:nvSpPr>
          <p:cNvPr id="11" name="">
            <a:extLst xmlns:a="http://schemas.openxmlformats.org/drawingml/2006/main">
              <a:ext uri="{FF2B5EF4-FFF2-40B4-BE49-F238E27FC236}">
                <a16:creationId xmlns:a16="http://schemas.microsoft.com/office/drawing/2014/main" id="{0654C8BF-1FB4-45F6-BF0C-5B83AD32AC81}"/>
              </a:ext>
            </a:extLst>
          </p:cNvPr>
          <p:cNvSpPr>
            <a:spLocks xmlns:a="http://schemas.openxmlformats.org/drawingml/2006/main" noGrp="1"/>
          </p:cNvSpPr>
          <p:nvPr/>
        </p:nvSpPr>
        <p:spPr>
          <a:xfrm xmlns:a="http://schemas.openxmlformats.org/drawingml/2006/main">
            <a:off x="11315700" y="64008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64748B"/>
                </a:solidFill>
              </a:defRPr>
            </a:pPr>
            <a:r>
              <a:rPr sz="975" b="0">
                <a:solidFill>
                  <a:srgbClr val="64748B"/>
                </a:solidFill>
              </a:rPr>
              <a:t>02</a:t>
            </a:r>
          </a:p>
        </p:txBody>
      </p:sp>
    </p:spTree>
    <p:extLst>
      <p:ext uri="{BB962C8B-B14F-4D97-AF65-F5344CB8AC3E}">
        <p14:creationId xmlns:p14="http://schemas.microsoft.com/office/powerpoint/2010/main" val="1258909754"/>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58C8B68F-261E-48B8-B1C2-257B1A54212B}"/>
              </a:ext>
            </a:extLst>
          </p:cNvPr>
          <p:cNvSpPr>
            <a:spLocks xmlns:a="http://schemas.openxmlformats.org/drawingml/2006/main" noGrp="1"/>
          </p:cNvSpPr>
          <p:nvPr/>
        </p:nvSpPr>
        <p:spPr>
          <a:xfrm xmlns:a="http://schemas.openxmlformats.org/drawingml/2006/main">
            <a:off x="419100" y="32385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F172A"/>
                </a:solidFill>
              </a:defRPr>
            </a:pPr>
            <a:r>
              <a:rPr sz="2925" b="1">
                <a:solidFill>
                  <a:srgbClr val="0F172A"/>
                </a:solidFill>
              </a:rPr>
              <a:t>Experiment Testbed Setup</a:t>
            </a:r>
          </a:p>
        </p:txBody>
      </p:sp>
      <p:sp>
        <p:nvSpPr>
          <p:cNvPr id="2" name="">
            <a:extLst xmlns:a="http://schemas.openxmlformats.org/drawingml/2006/main">
              <a:ext uri="{FF2B5EF4-FFF2-40B4-BE49-F238E27FC236}">
                <a16:creationId xmlns:a16="http://schemas.microsoft.com/office/drawing/2014/main" id="{D4595595-CA61-49A5-813A-99BE2BB12F96}"/>
              </a:ext>
            </a:extLst>
          </p:cNvPr>
          <p:cNvSpPr>
            <a:spLocks xmlns:a="http://schemas.openxmlformats.org/drawingml/2006/main" noGrp="1"/>
          </p:cNvSpPr>
          <p:nvPr/>
        </p:nvSpPr>
        <p:spPr>
          <a:xfrm xmlns:a="http://schemas.openxmlformats.org/drawingml/2006/main">
            <a:off x="438150" y="914400"/>
            <a:ext cx="1047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64748B"/>
                </a:solidFill>
              </a:defRPr>
            </a:pPr>
            <a:r>
              <a:rPr sz="1500" b="0">
                <a:solidFill>
                  <a:srgbClr val="64748B"/>
                </a:solidFill>
              </a:rPr>
              <a:t>The real-request path is intentionally simple.</a:t>
            </a:r>
          </a:p>
        </p:txBody>
      </p:sp>
      <p:sp>
        <p:nvSpPr>
          <p:cNvPr id="3" name="">
            <a:extLst xmlns:a="http://schemas.openxmlformats.org/drawingml/2006/main">
              <a:ext uri="{FF2B5EF4-FFF2-40B4-BE49-F238E27FC236}">
                <a16:creationId xmlns:a16="http://schemas.microsoft.com/office/drawing/2014/main" id="{CACF41CA-D2AD-472C-AB46-1A499C7C17A2}"/>
              </a:ext>
            </a:extLst>
          </p:cNvPr>
          <p:cNvSpPr>
            <a:spLocks xmlns:a="http://schemas.openxmlformats.org/drawingml/2006/main" noGrp="1"/>
          </p:cNvSpPr>
          <p:nvPr/>
        </p:nvSpPr>
        <p:spPr>
          <a:xfrm xmlns:a="http://schemas.openxmlformats.org/drawingml/2006/main">
            <a:off x="723900" y="1943100"/>
            <a:ext cx="2243138" cy="990600"/>
          </a:xfrm>
          <a:prstGeom xmlns:a="http://schemas.openxmlformats.org/drawingml/2006/main" prst="roundRect">
            <a:avLst>
              <a:gd name="adj" fmla="val 5769"/>
            </a:avLst>
          </a:prstGeom>
          <a:solidFill xmlns:a="http://schemas.openxmlformats.org/drawingml/2006/main">
            <a:srgbClr val="FFFFFF"/>
          </a:solidFill>
          <a:ln xmlns:a="http://schemas.openxmlformats.org/drawingml/2006/main" w="13335">
            <a:solidFill>
              <a:srgbClr val="2563EB"/>
            </a:solidFill>
            <a:prstDash val="solid"/>
          </a:ln>
        </p:spPr>
      </p:sp>
      <p:sp>
        <p:nvSpPr>
          <p:cNvPr id="4" name="">
            <a:extLst xmlns:a="http://schemas.openxmlformats.org/drawingml/2006/main">
              <a:ext uri="{FF2B5EF4-FFF2-40B4-BE49-F238E27FC236}">
                <a16:creationId xmlns:a16="http://schemas.microsoft.com/office/drawing/2014/main" id="{1E61DC6F-666F-42DB-99DB-280732054B98}"/>
              </a:ext>
            </a:extLst>
          </p:cNvPr>
          <p:cNvSpPr>
            <a:spLocks xmlns:a="http://schemas.openxmlformats.org/drawingml/2006/main" noGrp="1"/>
          </p:cNvSpPr>
          <p:nvPr/>
        </p:nvSpPr>
        <p:spPr>
          <a:xfrm xmlns:a="http://schemas.openxmlformats.org/drawingml/2006/main">
            <a:off x="857250" y="2114550"/>
            <a:ext cx="1976438"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575" b="1">
                <a:solidFill>
                  <a:srgbClr val="0F172A"/>
                </a:solidFill>
              </a:defRPr>
            </a:pPr>
            <a:r>
              <a:rPr sz="1575" b="1">
                <a:solidFill>
                  <a:srgbClr val="0F172A"/>
                </a:solidFill>
              </a:rPr>
              <a:t>SWE-bench</a:t>
            </a:r>
          </a:p>
          <a:p xmlns:a="http://schemas.openxmlformats.org/drawingml/2006/main">
            <a:pPr algn="ctr">
              <a:defRPr sz="1575" b="1">
                <a:solidFill>
                  <a:srgbClr val="0F172A"/>
                </a:solidFill>
              </a:defRPr>
            </a:pPr>
            <a:r>
              <a:rPr sz="1575" b="1">
                <a:solidFill>
                  <a:srgbClr val="0F172A"/>
                </a:solidFill>
              </a:rPr>
              <a:t>traces</a:t>
            </a:r>
          </a:p>
        </p:txBody>
      </p:sp>
      <p:sp>
        <p:nvSpPr>
          <p:cNvPr id="5" name="">
            <a:extLst xmlns:a="http://schemas.openxmlformats.org/drawingml/2006/main">
              <a:ext uri="{FF2B5EF4-FFF2-40B4-BE49-F238E27FC236}">
                <a16:creationId xmlns:a16="http://schemas.microsoft.com/office/drawing/2014/main" id="{D76F8753-24D0-4CA2-AA06-EBDCB4D652BE}"/>
              </a:ext>
            </a:extLst>
          </p:cNvPr>
          <p:cNvSpPr>
            <a:spLocks xmlns:a="http://schemas.openxmlformats.org/drawingml/2006/main" noGrp="1"/>
          </p:cNvSpPr>
          <p:nvPr/>
        </p:nvSpPr>
        <p:spPr>
          <a:xfrm xmlns:a="http://schemas.openxmlformats.org/drawingml/2006/main">
            <a:off x="3043238" y="2209800"/>
            <a:ext cx="4381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250" b="1">
                <a:solidFill>
                  <a:srgbClr val="64748B"/>
                </a:solidFill>
              </a:defRPr>
            </a:pPr>
            <a:r>
              <a:rPr sz="2250" b="1">
                <a:solidFill>
                  <a:srgbClr val="64748B"/>
                </a:solidFill>
              </a:rPr>
              <a:t>→</a:t>
            </a:r>
          </a:p>
        </p:txBody>
      </p:sp>
      <p:sp>
        <p:nvSpPr>
          <p:cNvPr id="6" name="">
            <a:extLst xmlns:a="http://schemas.openxmlformats.org/drawingml/2006/main">
              <a:ext uri="{FF2B5EF4-FFF2-40B4-BE49-F238E27FC236}">
                <a16:creationId xmlns:a16="http://schemas.microsoft.com/office/drawing/2014/main" id="{88ED699D-3AF6-4906-82E5-5140B21FE4AA}"/>
              </a:ext>
            </a:extLst>
          </p:cNvPr>
          <p:cNvSpPr>
            <a:spLocks xmlns:a="http://schemas.openxmlformats.org/drawingml/2006/main" noGrp="1"/>
          </p:cNvSpPr>
          <p:nvPr/>
        </p:nvSpPr>
        <p:spPr>
          <a:xfrm xmlns:a="http://schemas.openxmlformats.org/drawingml/2006/main">
            <a:off x="3557588" y="1943100"/>
            <a:ext cx="2243138" cy="990600"/>
          </a:xfrm>
          <a:prstGeom xmlns:a="http://schemas.openxmlformats.org/drawingml/2006/main" prst="roundRect">
            <a:avLst>
              <a:gd name="adj" fmla="val 5769"/>
            </a:avLst>
          </a:prstGeom>
          <a:solidFill xmlns:a="http://schemas.openxmlformats.org/drawingml/2006/main">
            <a:srgbClr val="FFFFFF"/>
          </a:solidFill>
          <a:ln xmlns:a="http://schemas.openxmlformats.org/drawingml/2006/main" w="13335">
            <a:solidFill>
              <a:srgbClr val="9333EA"/>
            </a:solidFill>
            <a:prstDash val="solid"/>
          </a:ln>
        </p:spPr>
      </p:sp>
      <p:sp>
        <p:nvSpPr>
          <p:cNvPr id="7" name="">
            <a:extLst xmlns:a="http://schemas.openxmlformats.org/drawingml/2006/main">
              <a:ext uri="{FF2B5EF4-FFF2-40B4-BE49-F238E27FC236}">
                <a16:creationId xmlns:a16="http://schemas.microsoft.com/office/drawing/2014/main" id="{4A4D3AD1-3A7F-4797-9F46-1EB04CB4BE6E}"/>
              </a:ext>
            </a:extLst>
          </p:cNvPr>
          <p:cNvSpPr>
            <a:spLocks xmlns:a="http://schemas.openxmlformats.org/drawingml/2006/main" noGrp="1"/>
          </p:cNvSpPr>
          <p:nvPr/>
        </p:nvSpPr>
        <p:spPr>
          <a:xfrm xmlns:a="http://schemas.openxmlformats.org/drawingml/2006/main">
            <a:off x="3690938" y="2114550"/>
            <a:ext cx="1976438"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575" b="1">
                <a:solidFill>
                  <a:srgbClr val="0F172A"/>
                </a:solidFill>
              </a:defRPr>
            </a:pPr>
            <a:r>
              <a:rPr sz="1575" b="1">
                <a:solidFill>
                  <a:srgbClr val="0F172A"/>
                </a:solidFill>
              </a:rPr>
              <a:t>DeepAgents</a:t>
            </a:r>
          </a:p>
          <a:p xmlns:a="http://schemas.openxmlformats.org/drawingml/2006/main">
            <a:pPr algn="ctr">
              <a:defRPr sz="1575" b="1">
                <a:solidFill>
                  <a:srgbClr val="0F172A"/>
                </a:solidFill>
              </a:defRPr>
            </a:pPr>
            <a:r>
              <a:rPr sz="1575" b="1">
                <a:solidFill>
                  <a:srgbClr val="0F172A"/>
                </a:solidFill>
              </a:rPr>
              <a:t>tool loop</a:t>
            </a:r>
          </a:p>
        </p:txBody>
      </p:sp>
      <p:sp>
        <p:nvSpPr>
          <p:cNvPr id="8" name="">
            <a:extLst xmlns:a="http://schemas.openxmlformats.org/drawingml/2006/main">
              <a:ext uri="{FF2B5EF4-FFF2-40B4-BE49-F238E27FC236}">
                <a16:creationId xmlns:a16="http://schemas.microsoft.com/office/drawing/2014/main" id="{FAD6A26B-2D54-4ED4-8AA1-2AA078C8F0AA}"/>
              </a:ext>
            </a:extLst>
          </p:cNvPr>
          <p:cNvSpPr>
            <a:spLocks xmlns:a="http://schemas.openxmlformats.org/drawingml/2006/main" noGrp="1"/>
          </p:cNvSpPr>
          <p:nvPr/>
        </p:nvSpPr>
        <p:spPr>
          <a:xfrm xmlns:a="http://schemas.openxmlformats.org/drawingml/2006/main">
            <a:off x="5876925" y="2209800"/>
            <a:ext cx="4381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250" b="1">
                <a:solidFill>
                  <a:srgbClr val="64748B"/>
                </a:solidFill>
              </a:defRPr>
            </a:pPr>
            <a:r>
              <a:rPr sz="2250" b="1">
                <a:solidFill>
                  <a:srgbClr val="64748B"/>
                </a:solidFill>
              </a:rPr>
              <a:t>→</a:t>
            </a:r>
          </a:p>
        </p:txBody>
      </p:sp>
      <p:sp>
        <p:nvSpPr>
          <p:cNvPr id="9" name="">
            <a:extLst xmlns:a="http://schemas.openxmlformats.org/drawingml/2006/main">
              <a:ext uri="{FF2B5EF4-FFF2-40B4-BE49-F238E27FC236}">
                <a16:creationId xmlns:a16="http://schemas.microsoft.com/office/drawing/2014/main" id="{CB38301F-CF08-4907-9249-3FD3048C3270}"/>
              </a:ext>
            </a:extLst>
          </p:cNvPr>
          <p:cNvSpPr>
            <a:spLocks xmlns:a="http://schemas.openxmlformats.org/drawingml/2006/main" noGrp="1"/>
          </p:cNvSpPr>
          <p:nvPr/>
        </p:nvSpPr>
        <p:spPr>
          <a:xfrm xmlns:a="http://schemas.openxmlformats.org/drawingml/2006/main">
            <a:off x="6391275" y="1943100"/>
            <a:ext cx="2243138" cy="990600"/>
          </a:xfrm>
          <a:prstGeom xmlns:a="http://schemas.openxmlformats.org/drawingml/2006/main" prst="roundRect">
            <a:avLst>
              <a:gd name="adj" fmla="val 5769"/>
            </a:avLst>
          </a:prstGeom>
          <a:solidFill xmlns:a="http://schemas.openxmlformats.org/drawingml/2006/main">
            <a:srgbClr val="FFFFFF"/>
          </a:solidFill>
          <a:ln xmlns:a="http://schemas.openxmlformats.org/drawingml/2006/main" w="13335">
            <a:solidFill>
              <a:srgbClr val="0891B2"/>
            </a:solidFill>
            <a:prstDash val="solid"/>
          </a:ln>
        </p:spPr>
      </p:sp>
      <p:sp>
        <p:nvSpPr>
          <p:cNvPr id="10" name="">
            <a:extLst xmlns:a="http://schemas.openxmlformats.org/drawingml/2006/main">
              <a:ext uri="{FF2B5EF4-FFF2-40B4-BE49-F238E27FC236}">
                <a16:creationId xmlns:a16="http://schemas.microsoft.com/office/drawing/2014/main" id="{0B183D6D-AE2F-4961-B1E2-0BCBF2C63E94}"/>
              </a:ext>
            </a:extLst>
          </p:cNvPr>
          <p:cNvSpPr>
            <a:spLocks xmlns:a="http://schemas.openxmlformats.org/drawingml/2006/main" noGrp="1"/>
          </p:cNvSpPr>
          <p:nvPr/>
        </p:nvSpPr>
        <p:spPr>
          <a:xfrm xmlns:a="http://schemas.openxmlformats.org/drawingml/2006/main">
            <a:off x="6524625" y="2114550"/>
            <a:ext cx="1976438"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575" b="1">
                <a:solidFill>
                  <a:srgbClr val="0F172A"/>
                </a:solidFill>
              </a:defRPr>
            </a:pPr>
            <a:r>
              <a:rPr sz="1575" b="1">
                <a:solidFill>
                  <a:srgbClr val="0F172A"/>
                </a:solidFill>
              </a:rPr>
              <a:t>SGLang</a:t>
            </a:r>
          </a:p>
          <a:p xmlns:a="http://schemas.openxmlformats.org/drawingml/2006/main">
            <a:pPr algn="ctr">
              <a:defRPr sz="1575" b="1">
                <a:solidFill>
                  <a:srgbClr val="0F172A"/>
                </a:solidFill>
              </a:defRPr>
            </a:pPr>
            <a:r>
              <a:rPr sz="1575" b="1">
                <a:solidFill>
                  <a:srgbClr val="0F172A"/>
                </a:solidFill>
              </a:rPr>
              <a:t>server</a:t>
            </a:r>
          </a:p>
        </p:txBody>
      </p:sp>
      <p:sp>
        <p:nvSpPr>
          <p:cNvPr id="11" name="">
            <a:extLst xmlns:a="http://schemas.openxmlformats.org/drawingml/2006/main">
              <a:ext uri="{FF2B5EF4-FFF2-40B4-BE49-F238E27FC236}">
                <a16:creationId xmlns:a16="http://schemas.microsoft.com/office/drawing/2014/main" id="{6AEA85BB-478D-4ECC-88CE-653DC4F40D8C}"/>
              </a:ext>
            </a:extLst>
          </p:cNvPr>
          <p:cNvSpPr>
            <a:spLocks xmlns:a="http://schemas.openxmlformats.org/drawingml/2006/main" noGrp="1"/>
          </p:cNvSpPr>
          <p:nvPr/>
        </p:nvSpPr>
        <p:spPr>
          <a:xfrm xmlns:a="http://schemas.openxmlformats.org/drawingml/2006/main">
            <a:off x="8710613" y="2209800"/>
            <a:ext cx="4381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250" b="1">
                <a:solidFill>
                  <a:srgbClr val="64748B"/>
                </a:solidFill>
              </a:defRPr>
            </a:pPr>
            <a:r>
              <a:rPr sz="2250" b="1">
                <a:solidFill>
                  <a:srgbClr val="64748B"/>
                </a:solidFill>
              </a:rPr>
              <a:t>→</a:t>
            </a:r>
          </a:p>
        </p:txBody>
      </p:sp>
      <p:sp>
        <p:nvSpPr>
          <p:cNvPr id="12" name="">
            <a:extLst xmlns:a="http://schemas.openxmlformats.org/drawingml/2006/main">
              <a:ext uri="{FF2B5EF4-FFF2-40B4-BE49-F238E27FC236}">
                <a16:creationId xmlns:a16="http://schemas.microsoft.com/office/drawing/2014/main" id="{268FFA50-31C1-40A3-8C92-0B995F5CE0CE}"/>
              </a:ext>
            </a:extLst>
          </p:cNvPr>
          <p:cNvSpPr>
            <a:spLocks xmlns:a="http://schemas.openxmlformats.org/drawingml/2006/main" noGrp="1"/>
          </p:cNvSpPr>
          <p:nvPr/>
        </p:nvSpPr>
        <p:spPr>
          <a:xfrm xmlns:a="http://schemas.openxmlformats.org/drawingml/2006/main">
            <a:off x="9224963" y="1943100"/>
            <a:ext cx="2243138" cy="990600"/>
          </a:xfrm>
          <a:prstGeom xmlns:a="http://schemas.openxmlformats.org/drawingml/2006/main" prst="roundRect">
            <a:avLst>
              <a:gd name="adj" fmla="val 5769"/>
            </a:avLst>
          </a:prstGeom>
          <a:solidFill xmlns:a="http://schemas.openxmlformats.org/drawingml/2006/main">
            <a:srgbClr val="FFFFFF"/>
          </a:solidFill>
          <a:ln xmlns:a="http://schemas.openxmlformats.org/drawingml/2006/main" w="13335">
            <a:solidFill>
              <a:srgbClr val="16A34A"/>
            </a:solidFill>
            <a:prstDash val="solid"/>
          </a:ln>
        </p:spPr>
      </p:sp>
      <p:sp>
        <p:nvSpPr>
          <p:cNvPr id="13" name="">
            <a:extLst xmlns:a="http://schemas.openxmlformats.org/drawingml/2006/main">
              <a:ext uri="{FF2B5EF4-FFF2-40B4-BE49-F238E27FC236}">
                <a16:creationId xmlns:a16="http://schemas.microsoft.com/office/drawing/2014/main" id="{AF86E3E3-11C7-41E1-A9FF-00C2AD55BAFF}"/>
              </a:ext>
            </a:extLst>
          </p:cNvPr>
          <p:cNvSpPr>
            <a:spLocks xmlns:a="http://schemas.openxmlformats.org/drawingml/2006/main" noGrp="1"/>
          </p:cNvSpPr>
          <p:nvPr/>
        </p:nvSpPr>
        <p:spPr>
          <a:xfrm xmlns:a="http://schemas.openxmlformats.org/drawingml/2006/main">
            <a:off x="9358313" y="2114550"/>
            <a:ext cx="1976438"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575" b="1">
                <a:solidFill>
                  <a:srgbClr val="0F172A"/>
                </a:solidFill>
              </a:defRPr>
            </a:pPr>
            <a:r>
              <a:rPr sz="1575" b="1">
                <a:solidFill>
                  <a:srgbClr val="0F172A"/>
                </a:solidFill>
              </a:rPr>
              <a:t>KV/cache</a:t>
            </a:r>
          </a:p>
          <a:p xmlns:a="http://schemas.openxmlformats.org/drawingml/2006/main">
            <a:pPr algn="ctr">
              <a:defRPr sz="1575" b="1">
                <a:solidFill>
                  <a:srgbClr val="0F172A"/>
                </a:solidFill>
              </a:defRPr>
            </a:pPr>
            <a:r>
              <a:rPr sz="1575" b="1">
                <a:solidFill>
                  <a:srgbClr val="0F172A"/>
                </a:solidFill>
              </a:rPr>
              <a:t>observations</a:t>
            </a:r>
          </a:p>
        </p:txBody>
      </p:sp>
      <p:sp>
        <p:nvSpPr>
          <p:cNvPr id="14" name="">
            <a:extLst xmlns:a="http://schemas.openxmlformats.org/drawingml/2006/main">
              <a:ext uri="{FF2B5EF4-FFF2-40B4-BE49-F238E27FC236}">
                <a16:creationId xmlns:a16="http://schemas.microsoft.com/office/drawing/2014/main" id="{D0BA1036-B8C6-4767-B710-F1BBB980F267}"/>
              </a:ext>
            </a:extLst>
          </p:cNvPr>
          <p:cNvSpPr>
            <a:spLocks xmlns:a="http://schemas.openxmlformats.org/drawingml/2006/main" noGrp="1"/>
          </p:cNvSpPr>
          <p:nvPr/>
        </p:nvSpPr>
        <p:spPr>
          <a:xfrm xmlns:a="http://schemas.openxmlformats.org/drawingml/2006/main">
            <a:off x="1143000" y="388620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75" b="1">
                <a:solidFill>
                  <a:srgbClr val="9333EA"/>
                </a:solidFill>
              </a:defRPr>
            </a:pPr>
            <a:r>
              <a:rPr sz="1875" b="1">
                <a:solidFill>
                  <a:srgbClr val="9333EA"/>
                </a:solidFill>
              </a:rPr>
              <a:t>•</a:t>
            </a:r>
          </a:p>
        </p:txBody>
      </p:sp>
      <p:sp>
        <p:nvSpPr>
          <p:cNvPr id="15" name="">
            <a:extLst xmlns:a="http://schemas.openxmlformats.org/drawingml/2006/main">
              <a:ext uri="{FF2B5EF4-FFF2-40B4-BE49-F238E27FC236}">
                <a16:creationId xmlns:a16="http://schemas.microsoft.com/office/drawing/2014/main" id="{4ACC93DD-B8DF-4914-B627-F3D4D0CD4FFA}"/>
              </a:ext>
            </a:extLst>
          </p:cNvPr>
          <p:cNvSpPr>
            <a:spLocks xmlns:a="http://schemas.openxmlformats.org/drawingml/2006/main" noGrp="1"/>
          </p:cNvSpPr>
          <p:nvPr/>
        </p:nvSpPr>
        <p:spPr>
          <a:xfrm xmlns:a="http://schemas.openxmlformats.org/drawingml/2006/main">
            <a:off x="1428750" y="3905250"/>
            <a:ext cx="904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0">
                <a:solidFill>
                  <a:srgbClr val="334155"/>
                </a:solidFill>
              </a:defRPr>
            </a:pPr>
            <a:r>
              <a:rPr sz="1725" b="0">
                <a:solidFill>
                  <a:srgbClr val="334155"/>
                </a:solidFill>
              </a:rPr>
              <a:t>DeepAgents produces model turns and tool-call gaps.</a:t>
            </a:r>
          </a:p>
        </p:txBody>
      </p:sp>
      <p:sp>
        <p:nvSpPr>
          <p:cNvPr id="16" name="">
            <a:extLst xmlns:a="http://schemas.openxmlformats.org/drawingml/2006/main">
              <a:ext uri="{FF2B5EF4-FFF2-40B4-BE49-F238E27FC236}">
                <a16:creationId xmlns:a16="http://schemas.microsoft.com/office/drawing/2014/main" id="{3B9EDF85-5D83-424A-960F-B2D793EF8EA4}"/>
              </a:ext>
            </a:extLst>
          </p:cNvPr>
          <p:cNvSpPr>
            <a:spLocks xmlns:a="http://schemas.openxmlformats.org/drawingml/2006/main" noGrp="1"/>
          </p:cNvSpPr>
          <p:nvPr/>
        </p:nvSpPr>
        <p:spPr>
          <a:xfrm xmlns:a="http://schemas.openxmlformats.org/drawingml/2006/main">
            <a:off x="1143000" y="438150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75" b="1">
                <a:solidFill>
                  <a:srgbClr val="0891B2"/>
                </a:solidFill>
              </a:defRPr>
            </a:pPr>
            <a:r>
              <a:rPr sz="1875" b="1">
                <a:solidFill>
                  <a:srgbClr val="0891B2"/>
                </a:solidFill>
              </a:rPr>
              <a:t>•</a:t>
            </a:r>
          </a:p>
        </p:txBody>
      </p:sp>
      <p:sp>
        <p:nvSpPr>
          <p:cNvPr id="17" name="">
            <a:extLst xmlns:a="http://schemas.openxmlformats.org/drawingml/2006/main">
              <a:ext uri="{FF2B5EF4-FFF2-40B4-BE49-F238E27FC236}">
                <a16:creationId xmlns:a16="http://schemas.microsoft.com/office/drawing/2014/main" id="{C59F22D1-9137-43DC-9200-1AE4145E96D7}"/>
              </a:ext>
            </a:extLst>
          </p:cNvPr>
          <p:cNvSpPr>
            <a:spLocks xmlns:a="http://schemas.openxmlformats.org/drawingml/2006/main" noGrp="1"/>
          </p:cNvSpPr>
          <p:nvPr/>
        </p:nvSpPr>
        <p:spPr>
          <a:xfrm xmlns:a="http://schemas.openxmlformats.org/drawingml/2006/main">
            <a:off x="1428750" y="4400550"/>
            <a:ext cx="904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0">
                <a:solidFill>
                  <a:srgbClr val="334155"/>
                </a:solidFill>
              </a:defRPr>
            </a:pPr>
            <a:r>
              <a:rPr sz="1725" b="0">
                <a:solidFill>
                  <a:srgbClr val="334155"/>
                </a:solidFill>
              </a:rPr>
              <a:t>SGLang serves the model and exposes KV/cache behavior through our hooks.</a:t>
            </a:r>
          </a:p>
        </p:txBody>
      </p:sp>
      <p:sp>
        <p:nvSpPr>
          <p:cNvPr id="18" name="">
            <a:extLst xmlns:a="http://schemas.openxmlformats.org/drawingml/2006/main">
              <a:ext uri="{FF2B5EF4-FFF2-40B4-BE49-F238E27FC236}">
                <a16:creationId xmlns:a16="http://schemas.microsoft.com/office/drawing/2014/main" id="{433AADAD-D5F9-4EA1-8B39-8B1F7C47E2BA}"/>
              </a:ext>
            </a:extLst>
          </p:cNvPr>
          <p:cNvSpPr>
            <a:spLocks xmlns:a="http://schemas.openxmlformats.org/drawingml/2006/main" noGrp="1"/>
          </p:cNvSpPr>
          <p:nvPr/>
        </p:nvSpPr>
        <p:spPr>
          <a:xfrm xmlns:a="http://schemas.openxmlformats.org/drawingml/2006/main">
            <a:off x="1143000" y="487680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75" b="1">
                <a:solidFill>
                  <a:srgbClr val="16A34A"/>
                </a:solidFill>
              </a:defRPr>
            </a:pPr>
            <a:r>
              <a:rPr sz="1875" b="1">
                <a:solidFill>
                  <a:srgbClr val="16A34A"/>
                </a:solidFill>
              </a:rPr>
              <a:t>•</a:t>
            </a:r>
          </a:p>
        </p:txBody>
      </p:sp>
      <p:sp>
        <p:nvSpPr>
          <p:cNvPr id="19" name="">
            <a:extLst xmlns:a="http://schemas.openxmlformats.org/drawingml/2006/main">
              <a:ext uri="{FF2B5EF4-FFF2-40B4-BE49-F238E27FC236}">
                <a16:creationId xmlns:a16="http://schemas.microsoft.com/office/drawing/2014/main" id="{3B93C9A2-D2F6-4CB3-8FC4-6904602EA6BA}"/>
              </a:ext>
            </a:extLst>
          </p:cNvPr>
          <p:cNvSpPr>
            <a:spLocks xmlns:a="http://schemas.openxmlformats.org/drawingml/2006/main" noGrp="1"/>
          </p:cNvSpPr>
          <p:nvPr/>
        </p:nvSpPr>
        <p:spPr>
          <a:xfrm xmlns:a="http://schemas.openxmlformats.org/drawingml/2006/main">
            <a:off x="1428750" y="4895850"/>
            <a:ext cx="904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0">
                <a:solidFill>
                  <a:srgbClr val="334155"/>
                </a:solidFill>
              </a:defRPr>
            </a:pPr>
            <a:r>
              <a:rPr sz="1725" b="0">
                <a:solidFill>
                  <a:srgbClr val="334155"/>
                </a:solidFill>
              </a:rPr>
              <a:t>Reports compare replay timing, H2D movement, recompute, and prefetch readiness.</a:t>
            </a:r>
          </a:p>
        </p:txBody>
      </p:sp>
      <p:sp>
        <p:nvSpPr>
          <p:cNvPr id="20" name="">
            <a:extLst xmlns:a="http://schemas.openxmlformats.org/drawingml/2006/main">
              <a:ext uri="{FF2B5EF4-FFF2-40B4-BE49-F238E27FC236}">
                <a16:creationId xmlns:a16="http://schemas.microsoft.com/office/drawing/2014/main" id="{6872D377-1DB9-4B96-BAA5-7B07590C6AF7}"/>
              </a:ext>
            </a:extLst>
          </p:cNvPr>
          <p:cNvSpPr>
            <a:spLocks xmlns:a="http://schemas.openxmlformats.org/drawingml/2006/main" noGrp="1"/>
          </p:cNvSpPr>
          <p:nvPr/>
        </p:nvSpPr>
        <p:spPr>
          <a:xfrm xmlns:a="http://schemas.openxmlformats.org/drawingml/2006/main">
            <a:off x="419100" y="6400800"/>
            <a:ext cx="3619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0">
                <a:solidFill>
                  <a:srgbClr val="64748B"/>
                </a:solidFill>
              </a:defRPr>
            </a:pPr>
            <a:r>
              <a:rPr sz="975" b="0">
                <a:solidFill>
                  <a:srgbClr val="64748B"/>
                </a:solidFill>
              </a:rPr>
              <a:t>Agent-aware KV movement</a:t>
            </a:r>
          </a:p>
        </p:txBody>
      </p:sp>
      <p:sp>
        <p:nvSpPr>
          <p:cNvPr id="21" name="">
            <a:extLst xmlns:a="http://schemas.openxmlformats.org/drawingml/2006/main">
              <a:ext uri="{FF2B5EF4-FFF2-40B4-BE49-F238E27FC236}">
                <a16:creationId xmlns:a16="http://schemas.microsoft.com/office/drawing/2014/main" id="{45F6FF87-08F6-4483-B464-35BC1D98FBA7}"/>
              </a:ext>
            </a:extLst>
          </p:cNvPr>
          <p:cNvSpPr>
            <a:spLocks xmlns:a="http://schemas.openxmlformats.org/drawingml/2006/main" noGrp="1"/>
          </p:cNvSpPr>
          <p:nvPr/>
        </p:nvSpPr>
        <p:spPr>
          <a:xfrm xmlns:a="http://schemas.openxmlformats.org/drawingml/2006/main">
            <a:off x="11315700" y="64008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64748B"/>
                </a:solidFill>
              </a:defRPr>
            </a:pPr>
            <a:r>
              <a:rPr sz="975" b="0">
                <a:solidFill>
                  <a:srgbClr val="64748B"/>
                </a:solidFill>
              </a:rPr>
              <a:t>03</a:t>
            </a:r>
          </a:p>
        </p:txBody>
      </p:sp>
    </p:spTree>
    <p:extLst>
      <p:ext uri="{BB962C8B-B14F-4D97-AF65-F5344CB8AC3E}">
        <p14:creationId xmlns:p14="http://schemas.microsoft.com/office/powerpoint/2010/main" val="337880034"/>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09A504ED-D1F0-4BCF-AAD4-3E2433BAEC4D}"/>
              </a:ext>
            </a:extLst>
          </p:cNvPr>
          <p:cNvSpPr>
            <a:spLocks xmlns:a="http://schemas.openxmlformats.org/drawingml/2006/main" noGrp="1"/>
          </p:cNvSpPr>
          <p:nvPr/>
        </p:nvSpPr>
        <p:spPr>
          <a:xfrm xmlns:a="http://schemas.openxmlformats.org/drawingml/2006/main">
            <a:off x="419100" y="32385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F172A"/>
                </a:solidFill>
              </a:defRPr>
            </a:pPr>
            <a:r>
              <a:rPr sz="2925" b="1">
                <a:solidFill>
                  <a:srgbClr val="0F172A"/>
                </a:solidFill>
              </a:rPr>
              <a:t>Today’s DMA engines move bytes, not intent</a:t>
            </a:r>
          </a:p>
        </p:txBody>
      </p:sp>
      <p:sp>
        <p:nvSpPr>
          <p:cNvPr id="2" name="">
            <a:extLst xmlns:a="http://schemas.openxmlformats.org/drawingml/2006/main">
              <a:ext uri="{FF2B5EF4-FFF2-40B4-BE49-F238E27FC236}">
                <a16:creationId xmlns:a16="http://schemas.microsoft.com/office/drawing/2014/main" id="{68B2278D-3BC7-4413-B38F-F10586ED9345}"/>
              </a:ext>
            </a:extLst>
          </p:cNvPr>
          <p:cNvSpPr>
            <a:spLocks xmlns:a="http://schemas.openxmlformats.org/drawingml/2006/main" noGrp="1"/>
          </p:cNvSpPr>
          <p:nvPr/>
        </p:nvSpPr>
        <p:spPr>
          <a:xfrm xmlns:a="http://schemas.openxmlformats.org/drawingml/2006/main">
            <a:off x="438150" y="914400"/>
            <a:ext cx="1047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64748B"/>
                </a:solidFill>
              </a:defRPr>
            </a:pPr>
            <a:r>
              <a:rPr sz="1500" b="0">
                <a:solidFill>
                  <a:srgbClr val="64748B"/>
                </a:solidFill>
              </a:rPr>
              <a:t>That limits how well software hints can be enforced.</a:t>
            </a:r>
          </a:p>
        </p:txBody>
      </p:sp>
      <p:sp>
        <p:nvSpPr>
          <p:cNvPr id="3" name="">
            <a:extLst xmlns:a="http://schemas.openxmlformats.org/drawingml/2006/main">
              <a:ext uri="{FF2B5EF4-FFF2-40B4-BE49-F238E27FC236}">
                <a16:creationId xmlns:a16="http://schemas.microsoft.com/office/drawing/2014/main" id="{0785AB17-1DF2-4113-90B6-C9E7F1307098}"/>
              </a:ext>
            </a:extLst>
          </p:cNvPr>
          <p:cNvSpPr>
            <a:spLocks xmlns:a="http://schemas.openxmlformats.org/drawingml/2006/main" noGrp="1"/>
          </p:cNvSpPr>
          <p:nvPr/>
        </p:nvSpPr>
        <p:spPr>
          <a:xfrm xmlns:a="http://schemas.openxmlformats.org/drawingml/2006/main">
            <a:off x="857250" y="173355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1">
                <a:solidFill>
                  <a:srgbClr val="2563EB"/>
                </a:solidFill>
              </a:defRPr>
            </a:pPr>
            <a:r>
              <a:rPr sz="2100" b="1">
                <a:solidFill>
                  <a:srgbClr val="2563EB"/>
                </a:solidFill>
              </a:rPr>
              <a:t>•</a:t>
            </a:r>
          </a:p>
        </p:txBody>
      </p:sp>
      <p:sp>
        <p:nvSpPr>
          <p:cNvPr id="4" name="">
            <a:extLst xmlns:a="http://schemas.openxmlformats.org/drawingml/2006/main">
              <a:ext uri="{FF2B5EF4-FFF2-40B4-BE49-F238E27FC236}">
                <a16:creationId xmlns:a16="http://schemas.microsoft.com/office/drawing/2014/main" id="{E432BAD8-991A-44ED-9DA3-2457524271A3}"/>
              </a:ext>
            </a:extLst>
          </p:cNvPr>
          <p:cNvSpPr>
            <a:spLocks xmlns:a="http://schemas.openxmlformats.org/drawingml/2006/main" noGrp="1"/>
          </p:cNvSpPr>
          <p:nvPr/>
        </p:nvSpPr>
        <p:spPr>
          <a:xfrm xmlns:a="http://schemas.openxmlformats.org/drawingml/2006/main">
            <a:off x="1143000" y="1752600"/>
            <a:ext cx="97155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950" b="0">
                <a:solidFill>
                  <a:srgbClr val="334155"/>
                </a:solidFill>
              </a:defRPr>
            </a:pPr>
            <a:r>
              <a:rPr sz="1950" b="0">
                <a:solidFill>
                  <a:srgbClr val="334155"/>
                </a:solidFill>
              </a:rPr>
              <a:t>They do not know which KV belongs to which agent session.</a:t>
            </a:r>
          </a:p>
        </p:txBody>
      </p:sp>
      <p:sp>
        <p:nvSpPr>
          <p:cNvPr id="5" name="">
            <a:extLst xmlns:a="http://schemas.openxmlformats.org/drawingml/2006/main">
              <a:ext uri="{FF2B5EF4-FFF2-40B4-BE49-F238E27FC236}">
                <a16:creationId xmlns:a16="http://schemas.microsoft.com/office/drawing/2014/main" id="{A9BFD9E2-0872-4DFA-ADDF-E50B1B7A7EAE}"/>
              </a:ext>
            </a:extLst>
          </p:cNvPr>
          <p:cNvSpPr>
            <a:spLocks xmlns:a="http://schemas.openxmlformats.org/drawingml/2006/main" noGrp="1"/>
          </p:cNvSpPr>
          <p:nvPr/>
        </p:nvSpPr>
        <p:spPr>
          <a:xfrm xmlns:a="http://schemas.openxmlformats.org/drawingml/2006/main">
            <a:off x="857250" y="245745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1">
                <a:solidFill>
                  <a:srgbClr val="9333EA"/>
                </a:solidFill>
              </a:defRPr>
            </a:pPr>
            <a:r>
              <a:rPr sz="2100" b="1">
                <a:solidFill>
                  <a:srgbClr val="9333EA"/>
                </a:solidFill>
              </a:rPr>
              <a:t>•</a:t>
            </a:r>
          </a:p>
        </p:txBody>
      </p:sp>
      <p:sp>
        <p:nvSpPr>
          <p:cNvPr id="6" name="">
            <a:extLst xmlns:a="http://schemas.openxmlformats.org/drawingml/2006/main">
              <a:ext uri="{FF2B5EF4-FFF2-40B4-BE49-F238E27FC236}">
                <a16:creationId xmlns:a16="http://schemas.microsoft.com/office/drawing/2014/main" id="{459E9D6B-371A-4ACF-9A21-4E0323D4F274}"/>
              </a:ext>
            </a:extLst>
          </p:cNvPr>
          <p:cNvSpPr>
            <a:spLocks xmlns:a="http://schemas.openxmlformats.org/drawingml/2006/main" noGrp="1"/>
          </p:cNvSpPr>
          <p:nvPr/>
        </p:nvSpPr>
        <p:spPr>
          <a:xfrm xmlns:a="http://schemas.openxmlformats.org/drawingml/2006/main">
            <a:off x="1143000" y="2476500"/>
            <a:ext cx="97155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950" b="0">
                <a:solidFill>
                  <a:srgbClr val="334155"/>
                </a:solidFill>
              </a:defRPr>
            </a:pPr>
            <a:r>
              <a:rPr sz="1950" b="0">
                <a:solidFill>
                  <a:srgbClr val="334155"/>
                </a:solidFill>
              </a:rPr>
              <a:t>They do not know when the agent will replay after a tool call.</a:t>
            </a:r>
          </a:p>
        </p:txBody>
      </p:sp>
      <p:sp>
        <p:nvSpPr>
          <p:cNvPr id="7" name="">
            <a:extLst xmlns:a="http://schemas.openxmlformats.org/drawingml/2006/main">
              <a:ext uri="{FF2B5EF4-FFF2-40B4-BE49-F238E27FC236}">
                <a16:creationId xmlns:a16="http://schemas.microsoft.com/office/drawing/2014/main" id="{82D8BDE3-CC5B-410A-88B7-403020489D38}"/>
              </a:ext>
            </a:extLst>
          </p:cNvPr>
          <p:cNvSpPr>
            <a:spLocks xmlns:a="http://schemas.openxmlformats.org/drawingml/2006/main" noGrp="1"/>
          </p:cNvSpPr>
          <p:nvPr/>
        </p:nvSpPr>
        <p:spPr>
          <a:xfrm xmlns:a="http://schemas.openxmlformats.org/drawingml/2006/main">
            <a:off x="857250" y="318135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1">
                <a:solidFill>
                  <a:srgbClr val="DC2626"/>
                </a:solidFill>
              </a:defRPr>
            </a:pPr>
            <a:r>
              <a:rPr sz="2100" b="1">
                <a:solidFill>
                  <a:srgbClr val="DC2626"/>
                </a:solidFill>
              </a:rPr>
              <a:t>•</a:t>
            </a:r>
          </a:p>
        </p:txBody>
      </p:sp>
      <p:sp>
        <p:nvSpPr>
          <p:cNvPr id="8" name="">
            <a:extLst xmlns:a="http://schemas.openxmlformats.org/drawingml/2006/main">
              <a:ext uri="{FF2B5EF4-FFF2-40B4-BE49-F238E27FC236}">
                <a16:creationId xmlns:a16="http://schemas.microsoft.com/office/drawing/2014/main" id="{F166C464-1515-4A80-9E7E-5203316C4B94}"/>
              </a:ext>
            </a:extLst>
          </p:cNvPr>
          <p:cNvSpPr>
            <a:spLocks xmlns:a="http://schemas.openxmlformats.org/drawingml/2006/main" noGrp="1"/>
          </p:cNvSpPr>
          <p:nvPr/>
        </p:nvSpPr>
        <p:spPr>
          <a:xfrm xmlns:a="http://schemas.openxmlformats.org/drawingml/2006/main">
            <a:off x="1143000" y="3200400"/>
            <a:ext cx="97155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950" b="0">
                <a:solidFill>
                  <a:srgbClr val="334155"/>
                </a:solidFill>
              </a:defRPr>
            </a:pPr>
            <a:r>
              <a:rPr sz="1950" b="0">
                <a:solidFill>
                  <a:srgbClr val="334155"/>
                </a:solidFill>
              </a:rPr>
              <a:t>They do not know whether evicting prefetched KV wastes the hint.</a:t>
            </a:r>
          </a:p>
        </p:txBody>
      </p:sp>
      <p:sp>
        <p:nvSpPr>
          <p:cNvPr id="9" name="">
            <a:extLst xmlns:a="http://schemas.openxmlformats.org/drawingml/2006/main">
              <a:ext uri="{FF2B5EF4-FFF2-40B4-BE49-F238E27FC236}">
                <a16:creationId xmlns:a16="http://schemas.microsoft.com/office/drawing/2014/main" id="{6DE31DEF-8F63-49CB-8455-C14319ACE546}"/>
              </a:ext>
            </a:extLst>
          </p:cNvPr>
          <p:cNvSpPr>
            <a:spLocks xmlns:a="http://schemas.openxmlformats.org/drawingml/2006/main" noGrp="1"/>
          </p:cNvSpPr>
          <p:nvPr/>
        </p:nvSpPr>
        <p:spPr>
          <a:xfrm xmlns:a="http://schemas.openxmlformats.org/drawingml/2006/main">
            <a:off x="857250" y="390525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1">
                <a:solidFill>
                  <a:srgbClr val="16A34A"/>
                </a:solidFill>
              </a:defRPr>
            </a:pPr>
            <a:r>
              <a:rPr sz="2100" b="1">
                <a:solidFill>
                  <a:srgbClr val="16A34A"/>
                </a:solidFill>
              </a:rPr>
              <a:t>•</a:t>
            </a:r>
          </a:p>
        </p:txBody>
      </p:sp>
      <p:sp>
        <p:nvSpPr>
          <p:cNvPr id="10" name="">
            <a:extLst xmlns:a="http://schemas.openxmlformats.org/drawingml/2006/main">
              <a:ext uri="{FF2B5EF4-FFF2-40B4-BE49-F238E27FC236}">
                <a16:creationId xmlns:a16="http://schemas.microsoft.com/office/drawing/2014/main" id="{C4677FBF-2706-4758-83AB-7306E4790457}"/>
              </a:ext>
            </a:extLst>
          </p:cNvPr>
          <p:cNvSpPr>
            <a:spLocks xmlns:a="http://schemas.openxmlformats.org/drawingml/2006/main" noGrp="1"/>
          </p:cNvSpPr>
          <p:nvPr/>
        </p:nvSpPr>
        <p:spPr>
          <a:xfrm xmlns:a="http://schemas.openxmlformats.org/drawingml/2006/main">
            <a:off x="1143000" y="3924300"/>
            <a:ext cx="97155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950" b="0">
                <a:solidFill>
                  <a:srgbClr val="334155"/>
                </a:solidFill>
              </a:defRPr>
            </a:pPr>
            <a:r>
              <a:rPr sz="1950" b="0">
                <a:solidFill>
                  <a:srgbClr val="334155"/>
                </a:solidFill>
              </a:rPr>
              <a:t>They do not expose enough semantic telemetry: useful, late, wasted, or evicted-before-use.</a:t>
            </a:r>
          </a:p>
        </p:txBody>
      </p:sp>
      <p:sp>
        <p:nvSpPr>
          <p:cNvPr id="11" name="">
            <a:extLst xmlns:a="http://schemas.openxmlformats.org/drawingml/2006/main">
              <a:ext uri="{FF2B5EF4-FFF2-40B4-BE49-F238E27FC236}">
                <a16:creationId xmlns:a16="http://schemas.microsoft.com/office/drawing/2014/main" id="{2354027A-D097-4DA0-BDDF-23100CD5061A}"/>
              </a:ext>
            </a:extLst>
          </p:cNvPr>
          <p:cNvSpPr>
            <a:spLocks xmlns:a="http://schemas.openxmlformats.org/drawingml/2006/main" noGrp="1"/>
          </p:cNvSpPr>
          <p:nvPr/>
        </p:nvSpPr>
        <p:spPr>
          <a:xfrm xmlns:a="http://schemas.openxmlformats.org/drawingml/2006/main">
            <a:off x="419100" y="5143500"/>
            <a:ext cx="11353800" cy="11430"/>
          </a:xfrm>
          <a:prstGeom xmlns:a="http://schemas.openxmlformats.org/drawingml/2006/main" prst="rect">
            <a:avLst/>
          </a:prstGeom>
          <a:solidFill xmlns:a="http://schemas.openxmlformats.org/drawingml/2006/main">
            <a:srgbClr val="CBD5E1"/>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6B9E938-6151-4C16-993D-80075D6C130C}"/>
              </a:ext>
            </a:extLst>
          </p:cNvPr>
          <p:cNvSpPr>
            <a:spLocks xmlns:a="http://schemas.openxmlformats.org/drawingml/2006/main" noGrp="1"/>
          </p:cNvSpPr>
          <p:nvPr/>
        </p:nvSpPr>
        <p:spPr>
          <a:xfrm xmlns:a="http://schemas.openxmlformats.org/drawingml/2006/main">
            <a:off x="876300" y="5448300"/>
            <a:ext cx="9810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75" b="1">
                <a:solidFill>
                  <a:srgbClr val="0F172A"/>
                </a:solidFill>
              </a:defRPr>
            </a:pPr>
            <a:r>
              <a:rPr sz="1875" b="1">
                <a:solidFill>
                  <a:srgbClr val="0F172A"/>
                </a:solidFill>
              </a:rPr>
              <a:t>Hardware opportunity: add KV/session context to the memory movement path.</a:t>
            </a:r>
          </a:p>
        </p:txBody>
      </p:sp>
      <p:sp>
        <p:nvSpPr>
          <p:cNvPr id="13" name="">
            <a:extLst xmlns:a="http://schemas.openxmlformats.org/drawingml/2006/main">
              <a:ext uri="{FF2B5EF4-FFF2-40B4-BE49-F238E27FC236}">
                <a16:creationId xmlns:a16="http://schemas.microsoft.com/office/drawing/2014/main" id="{C4E9F532-5FC9-483D-A0A8-0A691F375FB1}"/>
              </a:ext>
            </a:extLst>
          </p:cNvPr>
          <p:cNvSpPr>
            <a:spLocks xmlns:a="http://schemas.openxmlformats.org/drawingml/2006/main" noGrp="1"/>
          </p:cNvSpPr>
          <p:nvPr/>
        </p:nvSpPr>
        <p:spPr>
          <a:xfrm xmlns:a="http://schemas.openxmlformats.org/drawingml/2006/main">
            <a:off x="419100" y="6400800"/>
            <a:ext cx="3619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0">
                <a:solidFill>
                  <a:srgbClr val="64748B"/>
                </a:solidFill>
              </a:defRPr>
            </a:pPr>
            <a:r>
              <a:rPr sz="975" b="0">
                <a:solidFill>
                  <a:srgbClr val="64748B"/>
                </a:solidFill>
              </a:rPr>
              <a:t>Agent-aware KV movement</a:t>
            </a:r>
          </a:p>
        </p:txBody>
      </p:sp>
      <p:sp>
        <p:nvSpPr>
          <p:cNvPr id="14" name="">
            <a:extLst xmlns:a="http://schemas.openxmlformats.org/drawingml/2006/main">
              <a:ext uri="{FF2B5EF4-FFF2-40B4-BE49-F238E27FC236}">
                <a16:creationId xmlns:a16="http://schemas.microsoft.com/office/drawing/2014/main" id="{A9C268DE-EF80-462C-A3B1-9ADF1D5B714E}"/>
              </a:ext>
            </a:extLst>
          </p:cNvPr>
          <p:cNvSpPr>
            <a:spLocks xmlns:a="http://schemas.openxmlformats.org/drawingml/2006/main" noGrp="1"/>
          </p:cNvSpPr>
          <p:nvPr/>
        </p:nvSpPr>
        <p:spPr>
          <a:xfrm xmlns:a="http://schemas.openxmlformats.org/drawingml/2006/main">
            <a:off x="11315700" y="64008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64748B"/>
                </a:solidFill>
              </a:defRPr>
            </a:pPr>
            <a:r>
              <a:rPr sz="975" b="0">
                <a:solidFill>
                  <a:srgbClr val="64748B"/>
                </a:solidFill>
              </a:rPr>
              <a:t>04</a:t>
            </a:r>
          </a:p>
        </p:txBody>
      </p:sp>
    </p:spTree>
    <p:extLst>
      <p:ext uri="{BB962C8B-B14F-4D97-AF65-F5344CB8AC3E}">
        <p14:creationId xmlns:p14="http://schemas.microsoft.com/office/powerpoint/2010/main" val="843098074"/>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6EB642C-5B29-40CF-91F5-8791F9E735E5}"/>
              </a:ext>
            </a:extLst>
          </p:cNvPr>
          <p:cNvSpPr>
            <a:spLocks xmlns:a="http://schemas.openxmlformats.org/drawingml/2006/main" noGrp="1"/>
          </p:cNvSpPr>
          <p:nvPr/>
        </p:nvSpPr>
        <p:spPr>
          <a:xfrm xmlns:a="http://schemas.openxmlformats.org/drawingml/2006/main">
            <a:off x="419100" y="32385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F172A"/>
                </a:solidFill>
              </a:defRPr>
            </a:pPr>
            <a:r>
              <a:rPr sz="2925" b="1">
                <a:solidFill>
                  <a:srgbClr val="0F172A"/>
                </a:solidFill>
              </a:rPr>
              <a:t>Replay path exposes the bottleneck</a:t>
            </a:r>
          </a:p>
        </p:txBody>
      </p:sp>
      <p:sp>
        <p:nvSpPr>
          <p:cNvPr id="2" name="">
            <a:extLst xmlns:a="http://schemas.openxmlformats.org/drawingml/2006/main">
              <a:ext uri="{FF2B5EF4-FFF2-40B4-BE49-F238E27FC236}">
                <a16:creationId xmlns:a16="http://schemas.microsoft.com/office/drawing/2014/main" id="{3989FB80-91BE-49E4-B8D2-9F52CB063719}"/>
              </a:ext>
            </a:extLst>
          </p:cNvPr>
          <p:cNvSpPr>
            <a:spLocks xmlns:a="http://schemas.openxmlformats.org/drawingml/2006/main" noGrp="1"/>
          </p:cNvSpPr>
          <p:nvPr/>
        </p:nvSpPr>
        <p:spPr>
          <a:xfrm xmlns:a="http://schemas.openxmlformats.org/drawingml/2006/main">
            <a:off x="438150" y="914400"/>
            <a:ext cx="1047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64748B"/>
                </a:solidFill>
              </a:defRPr>
            </a:pPr>
            <a:r>
              <a:rPr sz="1500" b="0">
                <a:solidFill>
                  <a:srgbClr val="64748B"/>
                </a:solidFill>
              </a:rPr>
              <a:t>Each row is one tool-gap replay; the replay path shows where time goes before the first token.</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d1675278ea7a4416"/>
          <a:stretch xmlns:a="http://schemas.openxmlformats.org/drawingml/2006/main"/>
        </p:blipFill>
        <p:spPr>
          <a:xfrm xmlns:a="http://schemas.openxmlformats.org/drawingml/2006/main">
            <a:off x="1024101" y="1295400"/>
            <a:ext cx="10143798" cy="417195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73D9F1E0-4CDF-4EC7-BD83-D07F50E0B7F4}"/>
              </a:ext>
            </a:extLst>
          </p:cNvPr>
          <p:cNvSpPr>
            <a:spLocks xmlns:a="http://schemas.openxmlformats.org/drawingml/2006/main" noGrp="1"/>
          </p:cNvSpPr>
          <p:nvPr/>
        </p:nvSpPr>
        <p:spPr>
          <a:xfrm xmlns:a="http://schemas.openxmlformats.org/drawingml/2006/main">
            <a:off x="952500" y="5619750"/>
            <a:ext cx="10287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725" b="1">
                <a:solidFill>
                  <a:srgbClr val="64748B"/>
                </a:solidFill>
              </a:defRPr>
            </a:pPr>
            <a:r>
              <a:rPr sz="1725" b="1">
                <a:solidFill>
                  <a:srgbClr val="64748B"/>
                </a:solidFill>
              </a:rPr>
              <a:t>... more replay gaps observed in the full report</a:t>
            </a:r>
          </a:p>
        </p:txBody>
      </p:sp>
      <p:sp>
        <p:nvSpPr>
          <p:cNvPr id="5" name="">
            <a:extLst xmlns:a="http://schemas.openxmlformats.org/drawingml/2006/main">
              <a:ext uri="{FF2B5EF4-FFF2-40B4-BE49-F238E27FC236}">
                <a16:creationId xmlns:a16="http://schemas.microsoft.com/office/drawing/2014/main" id="{4ED53949-7F52-4E29-B9F0-42C42A3FC374}"/>
              </a:ext>
            </a:extLst>
          </p:cNvPr>
          <p:cNvSpPr>
            <a:spLocks xmlns:a="http://schemas.openxmlformats.org/drawingml/2006/main" noGrp="1"/>
          </p:cNvSpPr>
          <p:nvPr/>
        </p:nvSpPr>
        <p:spPr>
          <a:xfrm xmlns:a="http://schemas.openxmlformats.org/drawingml/2006/main">
            <a:off x="419100" y="6400800"/>
            <a:ext cx="3619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0">
                <a:solidFill>
                  <a:srgbClr val="64748B"/>
                </a:solidFill>
              </a:defRPr>
            </a:pPr>
            <a:r>
              <a:rPr sz="975" b="0">
                <a:solidFill>
                  <a:srgbClr val="64748B"/>
                </a:solidFill>
              </a:rPr>
              <a:t>Agent-aware KV movement</a:t>
            </a:r>
          </a:p>
        </p:txBody>
      </p:sp>
      <p:sp>
        <p:nvSpPr>
          <p:cNvPr id="6" name="">
            <a:extLst xmlns:a="http://schemas.openxmlformats.org/drawingml/2006/main">
              <a:ext uri="{FF2B5EF4-FFF2-40B4-BE49-F238E27FC236}">
                <a16:creationId xmlns:a16="http://schemas.microsoft.com/office/drawing/2014/main" id="{883CD310-6664-44B5-8937-5E779FDB9C15}"/>
              </a:ext>
            </a:extLst>
          </p:cNvPr>
          <p:cNvSpPr>
            <a:spLocks xmlns:a="http://schemas.openxmlformats.org/drawingml/2006/main" noGrp="1"/>
          </p:cNvSpPr>
          <p:nvPr/>
        </p:nvSpPr>
        <p:spPr>
          <a:xfrm xmlns:a="http://schemas.openxmlformats.org/drawingml/2006/main">
            <a:off x="11315700" y="64008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64748B"/>
                </a:solidFill>
              </a:defRPr>
            </a:pPr>
            <a:r>
              <a:rPr sz="975" b="0">
                <a:solidFill>
                  <a:srgbClr val="64748B"/>
                </a:solidFill>
              </a:rPr>
              <a:t>05</a:t>
            </a:r>
          </a:p>
        </p:txBody>
      </p:sp>
    </p:spTree>
    <p:extLst>
      <p:ext uri="{BB962C8B-B14F-4D97-AF65-F5344CB8AC3E}">
        <p14:creationId xmlns:p14="http://schemas.microsoft.com/office/powerpoint/2010/main" val="910095904"/>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5DEDB76-9A0B-45B9-8BC7-92B842B99444}"/>
              </a:ext>
            </a:extLst>
          </p:cNvPr>
          <p:cNvSpPr>
            <a:spLocks xmlns:a="http://schemas.openxmlformats.org/drawingml/2006/main" noGrp="1"/>
          </p:cNvSpPr>
          <p:nvPr/>
        </p:nvSpPr>
        <p:spPr>
          <a:xfrm xmlns:a="http://schemas.openxmlformats.org/drawingml/2006/main">
            <a:off x="419100" y="32385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F172A"/>
                </a:solidFill>
              </a:defRPr>
            </a:pPr>
            <a:r>
              <a:rPr sz="2925" b="1">
                <a:solidFill>
                  <a:srgbClr val="0F172A"/>
                </a:solidFill>
              </a:rPr>
              <a:t>Software prefetch often missed replay</a:t>
            </a:r>
          </a:p>
        </p:txBody>
      </p:sp>
      <p:sp>
        <p:nvSpPr>
          <p:cNvPr id="2" name="">
            <a:extLst xmlns:a="http://schemas.openxmlformats.org/drawingml/2006/main">
              <a:ext uri="{FF2B5EF4-FFF2-40B4-BE49-F238E27FC236}">
                <a16:creationId xmlns:a16="http://schemas.microsoft.com/office/drawing/2014/main" id="{7B312CE4-0653-4CC1-A011-C38E24005B80}"/>
              </a:ext>
            </a:extLst>
          </p:cNvPr>
          <p:cNvSpPr>
            <a:spLocks xmlns:a="http://schemas.openxmlformats.org/drawingml/2006/main" noGrp="1"/>
          </p:cNvSpPr>
          <p:nvPr/>
        </p:nvSpPr>
        <p:spPr>
          <a:xfrm xmlns:a="http://schemas.openxmlformats.org/drawingml/2006/main">
            <a:off x="438150" y="914400"/>
            <a:ext cx="1047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64748B"/>
                </a:solidFill>
              </a:defRPr>
            </a:pPr>
            <a:r>
              <a:rPr sz="1500" b="0">
                <a:solidFill>
                  <a:srgbClr val="64748B"/>
                </a:solidFill>
              </a:rPr>
              <a:t>In the live prefetch-margin run, almost every hint completed after replay was due.</a:t>
            </a:r>
          </a:p>
        </p:txBody>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7d62aa19976848e3"/>
          <a:stretch xmlns:a="http://schemas.openxmlformats.org/drawingml/2006/main"/>
        </p:blipFill>
        <p:spPr>
          <a:xfrm xmlns:a="http://schemas.openxmlformats.org/drawingml/2006/main">
            <a:off x="381000" y="1861432"/>
            <a:ext cx="8096250" cy="284938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B77D43B4-1A83-4397-B653-ED6B82C973E0}"/>
              </a:ext>
            </a:extLst>
          </p:cNvPr>
          <p:cNvSpPr>
            <a:spLocks xmlns:a="http://schemas.openxmlformats.org/drawingml/2006/main" noGrp="1"/>
          </p:cNvSpPr>
          <p:nvPr/>
        </p:nvSpPr>
        <p:spPr>
          <a:xfrm xmlns:a="http://schemas.openxmlformats.org/drawingml/2006/main">
            <a:off x="8953500" y="1866900"/>
            <a:ext cx="1809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850" b="1">
                <a:solidFill>
                  <a:srgbClr val="DC2626"/>
                </a:solidFill>
              </a:defRPr>
            </a:pPr>
            <a:r>
              <a:rPr sz="2850" b="1">
                <a:solidFill>
                  <a:srgbClr val="DC2626"/>
                </a:solidFill>
              </a:rPr>
              <a:t>112 / 114</a:t>
            </a:r>
          </a:p>
        </p:txBody>
      </p:sp>
      <p:sp>
        <p:nvSpPr>
          <p:cNvPr id="5" name="">
            <a:extLst xmlns:a="http://schemas.openxmlformats.org/drawingml/2006/main">
              <a:ext uri="{FF2B5EF4-FFF2-40B4-BE49-F238E27FC236}">
                <a16:creationId xmlns:a16="http://schemas.microsoft.com/office/drawing/2014/main" id="{61F16353-F6C2-4940-9355-2E598FAF0EA8}"/>
              </a:ext>
            </a:extLst>
          </p:cNvPr>
          <p:cNvSpPr>
            <a:spLocks xmlns:a="http://schemas.openxmlformats.org/drawingml/2006/main" noGrp="1"/>
          </p:cNvSpPr>
          <p:nvPr/>
        </p:nvSpPr>
        <p:spPr>
          <a:xfrm xmlns:a="http://schemas.openxmlformats.org/drawingml/2006/main">
            <a:off x="8953500" y="2324100"/>
            <a:ext cx="238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425" b="0">
                <a:solidFill>
                  <a:srgbClr val="334155"/>
                </a:solidFill>
              </a:defRPr>
            </a:pPr>
            <a:r>
              <a:rPr sz="1425" b="0">
                <a:solidFill>
                  <a:srgbClr val="334155"/>
                </a:solidFill>
              </a:rPr>
              <a:t>prefetch attempts were late</a:t>
            </a:r>
          </a:p>
        </p:txBody>
      </p:sp>
      <p:sp>
        <p:nvSpPr>
          <p:cNvPr id="6" name="">
            <a:extLst xmlns:a="http://schemas.openxmlformats.org/drawingml/2006/main">
              <a:ext uri="{FF2B5EF4-FFF2-40B4-BE49-F238E27FC236}">
                <a16:creationId xmlns:a16="http://schemas.microsoft.com/office/drawing/2014/main" id="{7869CA2A-555D-433E-8A14-ADE2ABB3D093}"/>
              </a:ext>
            </a:extLst>
          </p:cNvPr>
          <p:cNvSpPr>
            <a:spLocks xmlns:a="http://schemas.openxmlformats.org/drawingml/2006/main" noGrp="1"/>
          </p:cNvSpPr>
          <p:nvPr/>
        </p:nvSpPr>
        <p:spPr>
          <a:xfrm xmlns:a="http://schemas.openxmlformats.org/drawingml/2006/main">
            <a:off x="8953500" y="3238500"/>
            <a:ext cx="1809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850" b="1">
                <a:solidFill>
                  <a:srgbClr val="C2410C"/>
                </a:solidFill>
              </a:defRPr>
            </a:pPr>
            <a:r>
              <a:rPr sz="2850" b="1">
                <a:solidFill>
                  <a:srgbClr val="C2410C"/>
                </a:solidFill>
              </a:rPr>
              <a:t>98.25%</a:t>
            </a:r>
          </a:p>
        </p:txBody>
      </p:sp>
      <p:sp>
        <p:nvSpPr>
          <p:cNvPr id="7" name="">
            <a:extLst xmlns:a="http://schemas.openxmlformats.org/drawingml/2006/main">
              <a:ext uri="{FF2B5EF4-FFF2-40B4-BE49-F238E27FC236}">
                <a16:creationId xmlns:a16="http://schemas.microsoft.com/office/drawing/2014/main" id="{1E778660-C82E-476E-8143-BA4F27F2B49C}"/>
              </a:ext>
            </a:extLst>
          </p:cNvPr>
          <p:cNvSpPr>
            <a:spLocks xmlns:a="http://schemas.openxmlformats.org/drawingml/2006/main" noGrp="1"/>
          </p:cNvSpPr>
          <p:nvPr/>
        </p:nvSpPr>
        <p:spPr>
          <a:xfrm xmlns:a="http://schemas.openxmlformats.org/drawingml/2006/main">
            <a:off x="8953500" y="3695700"/>
            <a:ext cx="238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425" b="0">
                <a:solidFill>
                  <a:srgbClr val="334155"/>
                </a:solidFill>
              </a:defRPr>
            </a:pPr>
            <a:r>
              <a:rPr sz="1425" b="0">
                <a:solidFill>
                  <a:srgbClr val="334155"/>
                </a:solidFill>
              </a:rPr>
              <a:t>missed the replay deadline</a:t>
            </a:r>
          </a:p>
        </p:txBody>
      </p:sp>
      <p:sp>
        <p:nvSpPr>
          <p:cNvPr id="8" name="">
            <a:extLst xmlns:a="http://schemas.openxmlformats.org/drawingml/2006/main">
              <a:ext uri="{FF2B5EF4-FFF2-40B4-BE49-F238E27FC236}">
                <a16:creationId xmlns:a16="http://schemas.microsoft.com/office/drawing/2014/main" id="{7FF06F40-DCFB-4687-B1AA-A347499496AF}"/>
              </a:ext>
            </a:extLst>
          </p:cNvPr>
          <p:cNvSpPr>
            <a:spLocks xmlns:a="http://schemas.openxmlformats.org/drawingml/2006/main" noGrp="1"/>
          </p:cNvSpPr>
          <p:nvPr/>
        </p:nvSpPr>
        <p:spPr>
          <a:xfrm xmlns:a="http://schemas.openxmlformats.org/drawingml/2006/main">
            <a:off x="8953500" y="4705350"/>
            <a:ext cx="23336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1">
                <a:solidFill>
                  <a:srgbClr val="0F172A"/>
                </a:solidFill>
              </a:defRPr>
            </a:pPr>
            <a:r>
              <a:rPr sz="1500" b="1">
                <a:solidFill>
                  <a:srgbClr val="0F172A"/>
                </a:solidFill>
              </a:rPr>
              <a:t>Meaning: hints alone are not enough when the movement path cannot act predictably.</a:t>
            </a:r>
          </a:p>
        </p:txBody>
      </p:sp>
      <p:sp>
        <p:nvSpPr>
          <p:cNvPr id="9" name="">
            <a:extLst xmlns:a="http://schemas.openxmlformats.org/drawingml/2006/main">
              <a:ext uri="{FF2B5EF4-FFF2-40B4-BE49-F238E27FC236}">
                <a16:creationId xmlns:a16="http://schemas.microsoft.com/office/drawing/2014/main" id="{24A5E46C-95D7-49ED-93F4-9DD6C4E0640F}"/>
              </a:ext>
            </a:extLst>
          </p:cNvPr>
          <p:cNvSpPr>
            <a:spLocks xmlns:a="http://schemas.openxmlformats.org/drawingml/2006/main" noGrp="1"/>
          </p:cNvSpPr>
          <p:nvPr/>
        </p:nvSpPr>
        <p:spPr>
          <a:xfrm xmlns:a="http://schemas.openxmlformats.org/drawingml/2006/main">
            <a:off x="419100" y="6400800"/>
            <a:ext cx="3619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0">
                <a:solidFill>
                  <a:srgbClr val="64748B"/>
                </a:solidFill>
              </a:defRPr>
            </a:pPr>
            <a:r>
              <a:rPr sz="975" b="0">
                <a:solidFill>
                  <a:srgbClr val="64748B"/>
                </a:solidFill>
              </a:rPr>
              <a:t>Agent-aware KV movement</a:t>
            </a:r>
          </a:p>
        </p:txBody>
      </p:sp>
      <p:sp>
        <p:nvSpPr>
          <p:cNvPr id="10" name="">
            <a:extLst xmlns:a="http://schemas.openxmlformats.org/drawingml/2006/main">
              <a:ext uri="{FF2B5EF4-FFF2-40B4-BE49-F238E27FC236}">
                <a16:creationId xmlns:a16="http://schemas.microsoft.com/office/drawing/2014/main" id="{3828E3EF-5D5C-4C46-BCFA-0E96C935ECF9}"/>
              </a:ext>
            </a:extLst>
          </p:cNvPr>
          <p:cNvSpPr>
            <a:spLocks xmlns:a="http://schemas.openxmlformats.org/drawingml/2006/main" noGrp="1"/>
          </p:cNvSpPr>
          <p:nvPr/>
        </p:nvSpPr>
        <p:spPr>
          <a:xfrm xmlns:a="http://schemas.openxmlformats.org/drawingml/2006/main">
            <a:off x="11315700" y="64008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64748B"/>
                </a:solidFill>
              </a:defRPr>
            </a:pPr>
            <a:r>
              <a:rPr sz="975" b="0">
                <a:solidFill>
                  <a:srgbClr val="64748B"/>
                </a:solidFill>
              </a:rPr>
              <a:t>06</a:t>
            </a:r>
          </a:p>
        </p:txBody>
      </p:sp>
    </p:spTree>
    <p:extLst>
      <p:ext uri="{BB962C8B-B14F-4D97-AF65-F5344CB8AC3E}">
        <p14:creationId xmlns:p14="http://schemas.microsoft.com/office/powerpoint/2010/main" val="1079977351"/>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20A89CC-69AD-497C-AF8D-FA5079C6EE06}"/>
              </a:ext>
            </a:extLst>
          </p:cNvPr>
          <p:cNvSpPr>
            <a:spLocks xmlns:a="http://schemas.openxmlformats.org/drawingml/2006/main" noGrp="1"/>
          </p:cNvSpPr>
          <p:nvPr/>
        </p:nvSpPr>
        <p:spPr>
          <a:xfrm xmlns:a="http://schemas.openxmlformats.org/drawingml/2006/main">
            <a:off x="419100" y="32385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F172A"/>
                </a:solidFill>
              </a:defRPr>
            </a:pPr>
            <a:r>
              <a:rPr sz="2925" b="1">
                <a:solidFill>
                  <a:srgbClr val="0F172A"/>
                </a:solidFill>
              </a:rPr>
              <a:t>Mechanism traces explain the miss</a:t>
            </a:r>
          </a:p>
        </p:txBody>
      </p:sp>
      <p:sp>
        <p:nvSpPr>
          <p:cNvPr id="2" name="">
            <a:extLst xmlns:a="http://schemas.openxmlformats.org/drawingml/2006/main">
              <a:ext uri="{FF2B5EF4-FFF2-40B4-BE49-F238E27FC236}">
                <a16:creationId xmlns:a16="http://schemas.microsoft.com/office/drawing/2014/main" id="{E469EF6B-D2DB-433F-B7D1-59EE7517313E}"/>
              </a:ext>
            </a:extLst>
          </p:cNvPr>
          <p:cNvSpPr>
            <a:spLocks xmlns:a="http://schemas.openxmlformats.org/drawingml/2006/main" noGrp="1"/>
          </p:cNvSpPr>
          <p:nvPr/>
        </p:nvSpPr>
        <p:spPr>
          <a:xfrm xmlns:a="http://schemas.openxmlformats.org/drawingml/2006/main">
            <a:off x="438150" y="914400"/>
            <a:ext cx="1047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64748B"/>
                </a:solidFill>
              </a:defRPr>
            </a:pPr>
            <a:r>
              <a:rPr sz="1500" b="0">
                <a:solidFill>
                  <a:srgbClr val="64748B"/>
                </a:solidFill>
              </a:rPr>
              <a:t>The hint existed, but KV readiness still landed too late for replay.</a:t>
            </a:r>
          </a:p>
        </p:txBody>
      </p:sp>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ffc454e21491477a"/>
          <a:stretch xmlns:a="http://schemas.openxmlformats.org/drawingml/2006/main"/>
        </p:blipFill>
        <p:spPr>
          <a:xfrm xmlns:a="http://schemas.openxmlformats.org/drawingml/2006/main">
            <a:off x="323850" y="1812925"/>
            <a:ext cx="7620000" cy="279400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5822D81E-5978-483F-BB48-2944842FD18F}"/>
              </a:ext>
            </a:extLst>
          </p:cNvPr>
          <p:cNvSpPr>
            <a:spLocks xmlns:a="http://schemas.openxmlformats.org/drawingml/2006/main" noGrp="1"/>
          </p:cNvSpPr>
          <p:nvPr/>
        </p:nvSpPr>
        <p:spPr>
          <a:xfrm xmlns:a="http://schemas.openxmlformats.org/drawingml/2006/main">
            <a:off x="8324850" y="201930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950" b="1">
                <a:solidFill>
                  <a:srgbClr val="DC2626"/>
                </a:solidFill>
              </a:defRPr>
            </a:pPr>
            <a:r>
              <a:rPr sz="1950" b="1">
                <a:solidFill>
                  <a:srgbClr val="DC2626"/>
                </a:solidFill>
              </a:rPr>
              <a:t>•</a:t>
            </a:r>
          </a:p>
        </p:txBody>
      </p:sp>
      <p:sp>
        <p:nvSpPr>
          <p:cNvPr id="5" name="">
            <a:extLst xmlns:a="http://schemas.openxmlformats.org/drawingml/2006/main">
              <a:ext uri="{FF2B5EF4-FFF2-40B4-BE49-F238E27FC236}">
                <a16:creationId xmlns:a16="http://schemas.microsoft.com/office/drawing/2014/main" id="{F296E73F-2FC1-4D37-828C-0165FB21803F}"/>
              </a:ext>
            </a:extLst>
          </p:cNvPr>
          <p:cNvSpPr>
            <a:spLocks xmlns:a="http://schemas.openxmlformats.org/drawingml/2006/main" noGrp="1"/>
          </p:cNvSpPr>
          <p:nvPr/>
        </p:nvSpPr>
        <p:spPr>
          <a:xfrm xmlns:a="http://schemas.openxmlformats.org/drawingml/2006/main">
            <a:off x="8610600" y="2038350"/>
            <a:ext cx="2571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1">
                <a:solidFill>
                  <a:srgbClr val="334155"/>
                </a:solidFill>
              </a:defRPr>
            </a:pPr>
            <a:r>
              <a:rPr sz="1800" b="1">
                <a:solidFill>
                  <a:srgbClr val="334155"/>
                </a:solidFill>
              </a:rPr>
              <a:t>0 / 6 ready before replay</a:t>
            </a:r>
          </a:p>
        </p:txBody>
      </p:sp>
      <p:sp>
        <p:nvSpPr>
          <p:cNvPr id="6" name="">
            <a:extLst xmlns:a="http://schemas.openxmlformats.org/drawingml/2006/main">
              <a:ext uri="{FF2B5EF4-FFF2-40B4-BE49-F238E27FC236}">
                <a16:creationId xmlns:a16="http://schemas.microsoft.com/office/drawing/2014/main" id="{77C01BB6-9C5E-4401-95D9-864684348BA0}"/>
              </a:ext>
            </a:extLst>
          </p:cNvPr>
          <p:cNvSpPr>
            <a:spLocks xmlns:a="http://schemas.openxmlformats.org/drawingml/2006/main" noGrp="1"/>
          </p:cNvSpPr>
          <p:nvPr/>
        </p:nvSpPr>
        <p:spPr>
          <a:xfrm xmlns:a="http://schemas.openxmlformats.org/drawingml/2006/main">
            <a:off x="8324850" y="272415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950" b="1">
                <a:solidFill>
                  <a:srgbClr val="0891B2"/>
                </a:solidFill>
              </a:defRPr>
            </a:pPr>
            <a:r>
              <a:rPr sz="1950" b="1">
                <a:solidFill>
                  <a:srgbClr val="0891B2"/>
                </a:solidFill>
              </a:rPr>
              <a:t>•</a:t>
            </a:r>
          </a:p>
        </p:txBody>
      </p:sp>
      <p:sp>
        <p:nvSpPr>
          <p:cNvPr id="7" name="">
            <a:extLst xmlns:a="http://schemas.openxmlformats.org/drawingml/2006/main">
              <a:ext uri="{FF2B5EF4-FFF2-40B4-BE49-F238E27FC236}">
                <a16:creationId xmlns:a16="http://schemas.microsoft.com/office/drawing/2014/main" id="{50724CF8-DC14-4C4E-87A1-94E2FC01C63B}"/>
              </a:ext>
            </a:extLst>
          </p:cNvPr>
          <p:cNvSpPr>
            <a:spLocks xmlns:a="http://schemas.openxmlformats.org/drawingml/2006/main" noGrp="1"/>
          </p:cNvSpPr>
          <p:nvPr/>
        </p:nvSpPr>
        <p:spPr>
          <a:xfrm xmlns:a="http://schemas.openxmlformats.org/drawingml/2006/main">
            <a:off x="8610600" y="2743200"/>
            <a:ext cx="2571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1">
                <a:solidFill>
                  <a:srgbClr val="334155"/>
                </a:solidFill>
              </a:defRPr>
            </a:pPr>
            <a:r>
              <a:rPr sz="1800" b="1">
                <a:solidFill>
                  <a:srgbClr val="334155"/>
                </a:solidFill>
              </a:rPr>
              <a:t>3 / 6 visible CUDA HtoD</a:t>
            </a:r>
          </a:p>
        </p:txBody>
      </p:sp>
      <p:sp>
        <p:nvSpPr>
          <p:cNvPr id="8" name="">
            <a:extLst xmlns:a="http://schemas.openxmlformats.org/drawingml/2006/main">
              <a:ext uri="{FF2B5EF4-FFF2-40B4-BE49-F238E27FC236}">
                <a16:creationId xmlns:a16="http://schemas.microsoft.com/office/drawing/2014/main" id="{BC8BB289-4DDE-46E7-8352-B627B59EDE62}"/>
              </a:ext>
            </a:extLst>
          </p:cNvPr>
          <p:cNvSpPr>
            <a:spLocks xmlns:a="http://schemas.openxmlformats.org/drawingml/2006/main" noGrp="1"/>
          </p:cNvSpPr>
          <p:nvPr/>
        </p:nvSpPr>
        <p:spPr>
          <a:xfrm xmlns:a="http://schemas.openxmlformats.org/drawingml/2006/main">
            <a:off x="8324850" y="342900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950" b="1">
                <a:solidFill>
                  <a:srgbClr val="CA8A04"/>
                </a:solidFill>
              </a:defRPr>
            </a:pPr>
            <a:r>
              <a:rPr sz="1950" b="1">
                <a:solidFill>
                  <a:srgbClr val="CA8A04"/>
                </a:solidFill>
              </a:rPr>
              <a:t>•</a:t>
            </a:r>
          </a:p>
        </p:txBody>
      </p:sp>
      <p:sp>
        <p:nvSpPr>
          <p:cNvPr id="9" name="">
            <a:extLst xmlns:a="http://schemas.openxmlformats.org/drawingml/2006/main">
              <a:ext uri="{FF2B5EF4-FFF2-40B4-BE49-F238E27FC236}">
                <a16:creationId xmlns:a16="http://schemas.microsoft.com/office/drawing/2014/main" id="{BB975225-ED79-4E81-A012-E44E2FE233AA}"/>
              </a:ext>
            </a:extLst>
          </p:cNvPr>
          <p:cNvSpPr>
            <a:spLocks xmlns:a="http://schemas.openxmlformats.org/drawingml/2006/main" noGrp="1"/>
          </p:cNvSpPr>
          <p:nvPr/>
        </p:nvSpPr>
        <p:spPr>
          <a:xfrm xmlns:a="http://schemas.openxmlformats.org/drawingml/2006/main">
            <a:off x="8610600" y="3448050"/>
            <a:ext cx="2571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1">
                <a:solidFill>
                  <a:srgbClr val="334155"/>
                </a:solidFill>
              </a:defRPr>
            </a:pPr>
            <a:r>
              <a:rPr sz="1800" b="1">
                <a:solidFill>
                  <a:srgbClr val="334155"/>
                </a:solidFill>
              </a:rPr>
              <a:t>6 / 6 replay reloaded KV</a:t>
            </a:r>
          </a:p>
        </p:txBody>
      </p:sp>
      <p:sp>
        <p:nvSpPr>
          <p:cNvPr id="10" name="">
            <a:extLst xmlns:a="http://schemas.openxmlformats.org/drawingml/2006/main">
              <a:ext uri="{FF2B5EF4-FFF2-40B4-BE49-F238E27FC236}">
                <a16:creationId xmlns:a16="http://schemas.microsoft.com/office/drawing/2014/main" id="{C938E1E5-7678-4BE5-AFF4-5E9D406E2010}"/>
              </a:ext>
            </a:extLst>
          </p:cNvPr>
          <p:cNvSpPr>
            <a:spLocks xmlns:a="http://schemas.openxmlformats.org/drawingml/2006/main" noGrp="1"/>
          </p:cNvSpPr>
          <p:nvPr/>
        </p:nvSpPr>
        <p:spPr>
          <a:xfrm xmlns:a="http://schemas.openxmlformats.org/drawingml/2006/main">
            <a:off x="914400" y="5257800"/>
            <a:ext cx="990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0">
                <a:solidFill>
                  <a:srgbClr val="64748B"/>
                </a:solidFill>
              </a:defRPr>
            </a:pPr>
            <a:r>
              <a:rPr sz="1350" b="0">
                <a:solidFill>
                  <a:srgbClr val="64748B"/>
                </a:solidFill>
              </a:rPr>
              <a:t>Use this as mechanism evidence, not clean TTFT evidence.</a:t>
            </a:r>
          </a:p>
        </p:txBody>
      </p:sp>
      <p:sp>
        <p:nvSpPr>
          <p:cNvPr id="11" name="">
            <a:extLst xmlns:a="http://schemas.openxmlformats.org/drawingml/2006/main">
              <a:ext uri="{FF2B5EF4-FFF2-40B4-BE49-F238E27FC236}">
                <a16:creationId xmlns:a16="http://schemas.microsoft.com/office/drawing/2014/main" id="{844740DF-B636-460D-97C1-AD4E8E63F06A}"/>
              </a:ext>
            </a:extLst>
          </p:cNvPr>
          <p:cNvSpPr>
            <a:spLocks xmlns:a="http://schemas.openxmlformats.org/drawingml/2006/main" noGrp="1"/>
          </p:cNvSpPr>
          <p:nvPr/>
        </p:nvSpPr>
        <p:spPr>
          <a:xfrm xmlns:a="http://schemas.openxmlformats.org/drawingml/2006/main">
            <a:off x="419100" y="6400800"/>
            <a:ext cx="3619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0">
                <a:solidFill>
                  <a:srgbClr val="64748B"/>
                </a:solidFill>
              </a:defRPr>
            </a:pPr>
            <a:r>
              <a:rPr sz="975" b="0">
                <a:solidFill>
                  <a:srgbClr val="64748B"/>
                </a:solidFill>
              </a:rPr>
              <a:t>Agent-aware KV movement</a:t>
            </a:r>
          </a:p>
        </p:txBody>
      </p:sp>
      <p:sp>
        <p:nvSpPr>
          <p:cNvPr id="12" name="">
            <a:extLst xmlns:a="http://schemas.openxmlformats.org/drawingml/2006/main">
              <a:ext uri="{FF2B5EF4-FFF2-40B4-BE49-F238E27FC236}">
                <a16:creationId xmlns:a16="http://schemas.microsoft.com/office/drawing/2014/main" id="{1F1A2E76-8942-4151-BF81-4A93E85AFEEF}"/>
              </a:ext>
            </a:extLst>
          </p:cNvPr>
          <p:cNvSpPr>
            <a:spLocks xmlns:a="http://schemas.openxmlformats.org/drawingml/2006/main" noGrp="1"/>
          </p:cNvSpPr>
          <p:nvPr/>
        </p:nvSpPr>
        <p:spPr>
          <a:xfrm xmlns:a="http://schemas.openxmlformats.org/drawingml/2006/main">
            <a:off x="11315700" y="64008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64748B"/>
                </a:solidFill>
              </a:defRPr>
            </a:pPr>
            <a:r>
              <a:rPr sz="975" b="0">
                <a:solidFill>
                  <a:srgbClr val="64748B"/>
                </a:solidFill>
              </a:rPr>
              <a:t>07</a:t>
            </a:r>
          </a:p>
        </p:txBody>
      </p:sp>
    </p:spTree>
    <p:extLst>
      <p:ext uri="{BB962C8B-B14F-4D97-AF65-F5344CB8AC3E}">
        <p14:creationId xmlns:p14="http://schemas.microsoft.com/office/powerpoint/2010/main" val="1528600922"/>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DF5D210-C04A-45D1-A4AA-45D8A764DC74}"/>
              </a:ext>
            </a:extLst>
          </p:cNvPr>
          <p:cNvSpPr>
            <a:spLocks xmlns:a="http://schemas.openxmlformats.org/drawingml/2006/main" noGrp="1"/>
          </p:cNvSpPr>
          <p:nvPr/>
        </p:nvSpPr>
        <p:spPr>
          <a:xfrm xmlns:a="http://schemas.openxmlformats.org/drawingml/2006/main">
            <a:off x="419100" y="32385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F172A"/>
                </a:solidFill>
              </a:defRPr>
            </a:pPr>
            <a:r>
              <a:rPr sz="2925" b="1">
                <a:solidFill>
                  <a:srgbClr val="0F172A"/>
                </a:solidFill>
              </a:rPr>
              <a:t>Replay-side KV loads missed the deadline</a:t>
            </a:r>
          </a:p>
        </p:txBody>
      </p:sp>
      <p:sp>
        <p:nvSpPr>
          <p:cNvPr id="2" name="">
            <a:extLst xmlns:a="http://schemas.openxmlformats.org/drawingml/2006/main">
              <a:ext uri="{FF2B5EF4-FFF2-40B4-BE49-F238E27FC236}">
                <a16:creationId xmlns:a16="http://schemas.microsoft.com/office/drawing/2014/main" id="{FE4FFDE3-75E1-46D0-833B-0E3869F3D7C3}"/>
              </a:ext>
            </a:extLst>
          </p:cNvPr>
          <p:cNvSpPr>
            <a:spLocks xmlns:a="http://schemas.openxmlformats.org/drawingml/2006/main" noGrp="1"/>
          </p:cNvSpPr>
          <p:nvPr/>
        </p:nvSpPr>
        <p:spPr>
          <a:xfrm xmlns:a="http://schemas.openxmlformats.org/drawingml/2006/main">
            <a:off x="438150" y="914400"/>
            <a:ext cx="1047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64748B"/>
                </a:solidFill>
              </a:defRPr>
            </a:pPr>
            <a:r>
              <a:rPr sz="1500" b="0">
                <a:solidFill>
                  <a:srgbClr val="64748B"/>
                </a:solidFill>
              </a:rPr>
              <a:t>For this controlled no-prefetch run, visible H2D loads finished after replay was due.</a:t>
            </a:r>
          </a:p>
        </p:txBody>
      </p:sp>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83551dee1ca24116"/>
          <a:stretch xmlns:a="http://schemas.openxmlformats.org/drawingml/2006/main"/>
        </p:blipFill>
        <p:spPr>
          <a:xfrm xmlns:a="http://schemas.openxmlformats.org/drawingml/2006/main">
            <a:off x="419100" y="1789323"/>
            <a:ext cx="8191500" cy="2993603"/>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4FCF7857-70C1-4435-A928-1B258A0FACE1}"/>
              </a:ext>
            </a:extLst>
          </p:cNvPr>
          <p:cNvSpPr>
            <a:spLocks xmlns:a="http://schemas.openxmlformats.org/drawingml/2006/main" noGrp="1"/>
          </p:cNvSpPr>
          <p:nvPr/>
        </p:nvSpPr>
        <p:spPr>
          <a:xfrm xmlns:a="http://schemas.openxmlformats.org/drawingml/2006/main">
            <a:off x="9105900" y="2362200"/>
            <a:ext cx="1809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850" b="1">
                <a:solidFill>
                  <a:srgbClr val="DC2626"/>
                </a:solidFill>
              </a:defRPr>
            </a:pPr>
            <a:r>
              <a:rPr sz="2850" b="1">
                <a:solidFill>
                  <a:srgbClr val="DC2626"/>
                </a:solidFill>
              </a:rPr>
              <a:t>8 / 8</a:t>
            </a:r>
          </a:p>
        </p:txBody>
      </p:sp>
      <p:sp>
        <p:nvSpPr>
          <p:cNvPr id="5" name="">
            <a:extLst xmlns:a="http://schemas.openxmlformats.org/drawingml/2006/main">
              <a:ext uri="{FF2B5EF4-FFF2-40B4-BE49-F238E27FC236}">
                <a16:creationId xmlns:a16="http://schemas.microsoft.com/office/drawing/2014/main" id="{D41D5194-78B9-49F7-A082-7971DF82B795}"/>
              </a:ext>
            </a:extLst>
          </p:cNvPr>
          <p:cNvSpPr>
            <a:spLocks xmlns:a="http://schemas.openxmlformats.org/drawingml/2006/main" noGrp="1"/>
          </p:cNvSpPr>
          <p:nvPr/>
        </p:nvSpPr>
        <p:spPr>
          <a:xfrm xmlns:a="http://schemas.openxmlformats.org/drawingml/2006/main">
            <a:off x="9105900" y="2819400"/>
            <a:ext cx="238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425" b="0">
                <a:solidFill>
                  <a:srgbClr val="334155"/>
                </a:solidFill>
              </a:defRPr>
            </a:pPr>
            <a:r>
              <a:rPr sz="1425" b="0">
                <a:solidFill>
                  <a:srgbClr val="334155"/>
                </a:solidFill>
              </a:rPr>
              <a:t>visible replay-side H2D loads finished late</a:t>
            </a:r>
          </a:p>
        </p:txBody>
      </p:sp>
      <p:sp>
        <p:nvSpPr>
          <p:cNvPr id="6" name="">
            <a:extLst xmlns:a="http://schemas.openxmlformats.org/drawingml/2006/main">
              <a:ext uri="{FF2B5EF4-FFF2-40B4-BE49-F238E27FC236}">
                <a16:creationId xmlns:a16="http://schemas.microsoft.com/office/drawing/2014/main" id="{DF79C20E-972E-4653-8879-34F973531F4E}"/>
              </a:ext>
            </a:extLst>
          </p:cNvPr>
          <p:cNvSpPr>
            <a:spLocks xmlns:a="http://schemas.openxmlformats.org/drawingml/2006/main" noGrp="1"/>
          </p:cNvSpPr>
          <p:nvPr/>
        </p:nvSpPr>
        <p:spPr>
          <a:xfrm xmlns:a="http://schemas.openxmlformats.org/drawingml/2006/main">
            <a:off x="9105900" y="3714750"/>
            <a:ext cx="22669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1">
                <a:solidFill>
                  <a:srgbClr val="0F172A"/>
                </a:solidFill>
              </a:defRPr>
            </a:pPr>
            <a:r>
              <a:rPr sz="1500" b="1">
                <a:solidFill>
                  <a:srgbClr val="0F172A"/>
                </a:solidFill>
              </a:rPr>
              <a:t>Meaning: the memory movement happened, but not early enough for the replay deadline.</a:t>
            </a:r>
          </a:p>
        </p:txBody>
      </p:sp>
      <p:sp>
        <p:nvSpPr>
          <p:cNvPr id="7" name="">
            <a:extLst xmlns:a="http://schemas.openxmlformats.org/drawingml/2006/main">
              <a:ext uri="{FF2B5EF4-FFF2-40B4-BE49-F238E27FC236}">
                <a16:creationId xmlns:a16="http://schemas.microsoft.com/office/drawing/2014/main" id="{6ED84EEA-141E-4C1B-ABF4-4594CB70F98C}"/>
              </a:ext>
            </a:extLst>
          </p:cNvPr>
          <p:cNvSpPr>
            <a:spLocks xmlns:a="http://schemas.openxmlformats.org/drawingml/2006/main" noGrp="1"/>
          </p:cNvSpPr>
          <p:nvPr/>
        </p:nvSpPr>
        <p:spPr>
          <a:xfrm xmlns:a="http://schemas.openxmlformats.org/drawingml/2006/main">
            <a:off x="419100" y="6400800"/>
            <a:ext cx="3619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0">
                <a:solidFill>
                  <a:srgbClr val="64748B"/>
                </a:solidFill>
              </a:defRPr>
            </a:pPr>
            <a:r>
              <a:rPr sz="975" b="0">
                <a:solidFill>
                  <a:srgbClr val="64748B"/>
                </a:solidFill>
              </a:rPr>
              <a:t>Agent-aware KV movement</a:t>
            </a:r>
          </a:p>
        </p:txBody>
      </p:sp>
      <p:sp>
        <p:nvSpPr>
          <p:cNvPr id="8" name="">
            <a:extLst xmlns:a="http://schemas.openxmlformats.org/drawingml/2006/main">
              <a:ext uri="{FF2B5EF4-FFF2-40B4-BE49-F238E27FC236}">
                <a16:creationId xmlns:a16="http://schemas.microsoft.com/office/drawing/2014/main" id="{FBA3D3DB-73F5-4D97-9477-CD7B8666EC2D}"/>
              </a:ext>
            </a:extLst>
          </p:cNvPr>
          <p:cNvSpPr>
            <a:spLocks xmlns:a="http://schemas.openxmlformats.org/drawingml/2006/main" noGrp="1"/>
          </p:cNvSpPr>
          <p:nvPr/>
        </p:nvSpPr>
        <p:spPr>
          <a:xfrm xmlns:a="http://schemas.openxmlformats.org/drawingml/2006/main">
            <a:off x="11315700" y="64008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64748B"/>
                </a:solidFill>
              </a:defRPr>
            </a:pPr>
            <a:r>
              <a:rPr sz="975" b="0">
                <a:solidFill>
                  <a:srgbClr val="64748B"/>
                </a:solidFill>
              </a:rPr>
              <a:t>08</a:t>
            </a:r>
          </a:p>
        </p:txBody>
      </p:sp>
    </p:spTree>
    <p:extLst>
      <p:ext uri="{BB962C8B-B14F-4D97-AF65-F5344CB8AC3E}">
        <p14:creationId xmlns:p14="http://schemas.microsoft.com/office/powerpoint/2010/main" val="1106869428"/>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DBEF49C-69B0-4F0E-951C-27ECBDB7FE28}"/>
              </a:ext>
            </a:extLst>
          </p:cNvPr>
          <p:cNvSpPr>
            <a:spLocks xmlns:a="http://schemas.openxmlformats.org/drawingml/2006/main" noGrp="1"/>
          </p:cNvSpPr>
          <p:nvPr/>
        </p:nvSpPr>
        <p:spPr>
          <a:xfrm xmlns:a="http://schemas.openxmlformats.org/drawingml/2006/main">
            <a:off x="419100" y="32385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F172A"/>
                </a:solidFill>
              </a:defRPr>
            </a:pPr>
            <a:r>
              <a:rPr sz="2925" b="1">
                <a:solidFill>
                  <a:srgbClr val="0F172A"/>
                </a:solidFill>
              </a:rPr>
              <a:t>The delay is not just copy time</a:t>
            </a:r>
          </a:p>
        </p:txBody>
      </p:sp>
      <p:sp>
        <p:nvSpPr>
          <p:cNvPr id="2" name="">
            <a:extLst xmlns:a="http://schemas.openxmlformats.org/drawingml/2006/main">
              <a:ext uri="{FF2B5EF4-FFF2-40B4-BE49-F238E27FC236}">
                <a16:creationId xmlns:a16="http://schemas.microsoft.com/office/drawing/2014/main" id="{F48DE9FB-5859-4DE0-AC11-C626FF7B7073}"/>
              </a:ext>
            </a:extLst>
          </p:cNvPr>
          <p:cNvSpPr>
            <a:spLocks xmlns:a="http://schemas.openxmlformats.org/drawingml/2006/main" noGrp="1"/>
          </p:cNvSpPr>
          <p:nvPr/>
        </p:nvSpPr>
        <p:spPr>
          <a:xfrm xmlns:a="http://schemas.openxmlformats.org/drawingml/2006/main">
            <a:off x="438150" y="914400"/>
            <a:ext cx="1047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64748B"/>
                </a:solidFill>
              </a:defRPr>
            </a:pPr>
            <a:r>
              <a:rPr sz="1500" b="0">
                <a:solidFill>
                  <a:srgbClr val="64748B"/>
                </a:solidFill>
              </a:rPr>
              <a:t>The request passes through normal runtime scheduling before visible KV H2D begins.</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12ea939e569f430e"/>
          <a:stretch xmlns:a="http://schemas.openxmlformats.org/drawingml/2006/main"/>
        </p:blipFill>
        <p:spPr>
          <a:xfrm xmlns:a="http://schemas.openxmlformats.org/drawingml/2006/main">
            <a:off x="1329402" y="1371600"/>
            <a:ext cx="8809295" cy="411480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F9361A23-936D-4741-9FCB-14880B88186F}"/>
              </a:ext>
            </a:extLst>
          </p:cNvPr>
          <p:cNvSpPr>
            <a:spLocks xmlns:a="http://schemas.openxmlformats.org/drawingml/2006/main" noGrp="1"/>
          </p:cNvSpPr>
          <p:nvPr/>
        </p:nvSpPr>
        <p:spPr>
          <a:xfrm xmlns:a="http://schemas.openxmlformats.org/drawingml/2006/main">
            <a:off x="742950" y="5676900"/>
            <a:ext cx="9906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425" b="0">
                <a:solidFill>
                  <a:srgbClr val="334155"/>
                </a:solidFill>
              </a:defRPr>
            </a:pPr>
            <a:r>
              <a:rPr sz="1425" b="0">
                <a:solidFill>
                  <a:srgbClr val="334155"/>
                </a:solidFill>
              </a:rPr>
              <a:t>Stage markers separate client submit, SGLang receive, scheduler queue/admit, H2D start, and H2D finish.</a:t>
            </a:r>
          </a:p>
        </p:txBody>
      </p:sp>
      <p:sp>
        <p:nvSpPr>
          <p:cNvPr id="5" name="">
            <a:extLst xmlns:a="http://schemas.openxmlformats.org/drawingml/2006/main">
              <a:ext uri="{FF2B5EF4-FFF2-40B4-BE49-F238E27FC236}">
                <a16:creationId xmlns:a16="http://schemas.microsoft.com/office/drawing/2014/main" id="{C6547F55-D01C-4F76-8864-D776F41855EE}"/>
              </a:ext>
            </a:extLst>
          </p:cNvPr>
          <p:cNvSpPr>
            <a:spLocks xmlns:a="http://schemas.openxmlformats.org/drawingml/2006/main" noGrp="1"/>
          </p:cNvSpPr>
          <p:nvPr/>
        </p:nvSpPr>
        <p:spPr>
          <a:xfrm xmlns:a="http://schemas.openxmlformats.org/drawingml/2006/main">
            <a:off x="419100" y="6400800"/>
            <a:ext cx="3619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0">
                <a:solidFill>
                  <a:srgbClr val="64748B"/>
                </a:solidFill>
              </a:defRPr>
            </a:pPr>
            <a:r>
              <a:rPr sz="975" b="0">
                <a:solidFill>
                  <a:srgbClr val="64748B"/>
                </a:solidFill>
              </a:rPr>
              <a:t>Agent-aware KV movement</a:t>
            </a:r>
          </a:p>
        </p:txBody>
      </p:sp>
      <p:sp>
        <p:nvSpPr>
          <p:cNvPr id="6" name="">
            <a:extLst xmlns:a="http://schemas.openxmlformats.org/drawingml/2006/main">
              <a:ext uri="{FF2B5EF4-FFF2-40B4-BE49-F238E27FC236}">
                <a16:creationId xmlns:a16="http://schemas.microsoft.com/office/drawing/2014/main" id="{9F4613CE-FDCF-4F2D-9FD0-28DC6C1321DC}"/>
              </a:ext>
            </a:extLst>
          </p:cNvPr>
          <p:cNvSpPr>
            <a:spLocks xmlns:a="http://schemas.openxmlformats.org/drawingml/2006/main" noGrp="1"/>
          </p:cNvSpPr>
          <p:nvPr/>
        </p:nvSpPr>
        <p:spPr>
          <a:xfrm xmlns:a="http://schemas.openxmlformats.org/drawingml/2006/main">
            <a:off x="11315700" y="64008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64748B"/>
                </a:solidFill>
              </a:defRPr>
            </a:pPr>
            <a:r>
              <a:rPr sz="975" b="0">
                <a:solidFill>
                  <a:srgbClr val="64748B"/>
                </a:solidFill>
              </a:rPr>
              <a:t>09</a:t>
            </a:r>
          </a:p>
        </p:txBody>
      </p:sp>
    </p:spTree>
    <p:extLst>
      <p:ext uri="{BB962C8B-B14F-4D97-AF65-F5344CB8AC3E}">
        <p14:creationId xmlns:p14="http://schemas.microsoft.com/office/powerpoint/2010/main" val="914692184"/>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0909186F-299F-4F0A-A072-48757DBCAE02}"/>
              </a:ext>
            </a:extLst>
          </p:cNvPr>
          <p:cNvSpPr>
            <a:spLocks xmlns:a="http://schemas.openxmlformats.org/drawingml/2006/main" noGrp="1"/>
          </p:cNvSpPr>
          <p:nvPr/>
        </p:nvSpPr>
        <p:spPr>
          <a:xfrm xmlns:a="http://schemas.openxmlformats.org/drawingml/2006/main">
            <a:off x="419100" y="32385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F172A"/>
                </a:solidFill>
              </a:defRPr>
            </a:pPr>
            <a:r>
              <a:rPr sz="2925" b="1">
                <a:solidFill>
                  <a:srgbClr val="0F172A"/>
                </a:solidFill>
              </a:rPr>
              <a:t>Key findings make the hardware case</a:t>
            </a:r>
          </a:p>
        </p:txBody>
      </p:sp>
      <p:sp>
        <p:nvSpPr>
          <p:cNvPr id="2" name="">
            <a:extLst xmlns:a="http://schemas.openxmlformats.org/drawingml/2006/main">
              <a:ext uri="{FF2B5EF4-FFF2-40B4-BE49-F238E27FC236}">
                <a16:creationId xmlns:a16="http://schemas.microsoft.com/office/drawing/2014/main" id="{4A88393E-98CD-458C-B2C0-2798CF88B3E7}"/>
              </a:ext>
            </a:extLst>
          </p:cNvPr>
          <p:cNvSpPr>
            <a:spLocks xmlns:a="http://schemas.openxmlformats.org/drawingml/2006/main" noGrp="1"/>
          </p:cNvSpPr>
          <p:nvPr/>
        </p:nvSpPr>
        <p:spPr>
          <a:xfrm xmlns:a="http://schemas.openxmlformats.org/drawingml/2006/main">
            <a:off x="438150" y="914400"/>
            <a:ext cx="1047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64748B"/>
                </a:solidFill>
              </a:defRPr>
            </a:pPr>
            <a:r>
              <a:rPr sz="1500" b="0">
                <a:solidFill>
                  <a:srgbClr val="64748B"/>
                </a:solidFill>
              </a:rPr>
              <a:t>The pattern points to missing context, deadlines, residency control, and telemetry.</a:t>
            </a:r>
          </a:p>
        </p:txBody>
      </p:sp>
      <p:sp>
        <p:nvSpPr>
          <p:cNvPr id="3" name="">
            <a:extLst xmlns:a="http://schemas.openxmlformats.org/drawingml/2006/main">
              <a:ext uri="{FF2B5EF4-FFF2-40B4-BE49-F238E27FC236}">
                <a16:creationId xmlns:a16="http://schemas.microsoft.com/office/drawing/2014/main" id="{EF11D1F2-7F96-4791-BDE8-9640A48C7A8B}"/>
              </a:ext>
            </a:extLst>
          </p:cNvPr>
          <p:cNvSpPr>
            <a:spLocks xmlns:a="http://schemas.openxmlformats.org/drawingml/2006/main" noGrp="1"/>
          </p:cNvSpPr>
          <p:nvPr/>
        </p:nvSpPr>
        <p:spPr>
          <a:xfrm xmlns:a="http://schemas.openxmlformats.org/drawingml/2006/main">
            <a:off x="876300" y="158115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1">
                <a:solidFill>
                  <a:srgbClr val="2563EB"/>
                </a:solidFill>
              </a:defRPr>
            </a:pPr>
            <a:r>
              <a:rPr sz="2025" b="1">
                <a:solidFill>
                  <a:srgbClr val="2563EB"/>
                </a:solidFill>
              </a:rPr>
              <a:t>•</a:t>
            </a:r>
          </a:p>
        </p:txBody>
      </p:sp>
      <p:sp>
        <p:nvSpPr>
          <p:cNvPr id="4" name="">
            <a:extLst xmlns:a="http://schemas.openxmlformats.org/drawingml/2006/main">
              <a:ext uri="{FF2B5EF4-FFF2-40B4-BE49-F238E27FC236}">
                <a16:creationId xmlns:a16="http://schemas.microsoft.com/office/drawing/2014/main" id="{587D8C23-1119-41C4-8145-1C0AE95A5B78}"/>
              </a:ext>
            </a:extLst>
          </p:cNvPr>
          <p:cNvSpPr>
            <a:spLocks xmlns:a="http://schemas.openxmlformats.org/drawingml/2006/main" noGrp="1"/>
          </p:cNvSpPr>
          <p:nvPr/>
        </p:nvSpPr>
        <p:spPr>
          <a:xfrm xmlns:a="http://schemas.openxmlformats.org/drawingml/2006/main">
            <a:off x="1162050" y="1600200"/>
            <a:ext cx="9525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75" b="0">
                <a:solidFill>
                  <a:srgbClr val="334155"/>
                </a:solidFill>
              </a:defRPr>
            </a:pPr>
            <a:r>
              <a:rPr sz="1875" b="0">
                <a:solidFill>
                  <a:srgbClr val="334155"/>
                </a:solidFill>
              </a:rPr>
              <a:t>Agent tool gaps can be very short.</a:t>
            </a:r>
          </a:p>
        </p:txBody>
      </p:sp>
      <p:sp>
        <p:nvSpPr>
          <p:cNvPr id="5" name="">
            <a:extLst xmlns:a="http://schemas.openxmlformats.org/drawingml/2006/main">
              <a:ext uri="{FF2B5EF4-FFF2-40B4-BE49-F238E27FC236}">
                <a16:creationId xmlns:a16="http://schemas.microsoft.com/office/drawing/2014/main" id="{1C9EB440-8330-4926-9E2E-C476D03A967E}"/>
              </a:ext>
            </a:extLst>
          </p:cNvPr>
          <p:cNvSpPr>
            <a:spLocks xmlns:a="http://schemas.openxmlformats.org/drawingml/2006/main" noGrp="1"/>
          </p:cNvSpPr>
          <p:nvPr/>
        </p:nvSpPr>
        <p:spPr>
          <a:xfrm xmlns:a="http://schemas.openxmlformats.org/drawingml/2006/main">
            <a:off x="876300" y="226695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1">
                <a:solidFill>
                  <a:srgbClr val="9333EA"/>
                </a:solidFill>
              </a:defRPr>
            </a:pPr>
            <a:r>
              <a:rPr sz="2025" b="1">
                <a:solidFill>
                  <a:srgbClr val="9333EA"/>
                </a:solidFill>
              </a:rPr>
              <a:t>•</a:t>
            </a:r>
          </a:p>
        </p:txBody>
      </p:sp>
      <p:sp>
        <p:nvSpPr>
          <p:cNvPr id="6" name="">
            <a:extLst xmlns:a="http://schemas.openxmlformats.org/drawingml/2006/main">
              <a:ext uri="{FF2B5EF4-FFF2-40B4-BE49-F238E27FC236}">
                <a16:creationId xmlns:a16="http://schemas.microsoft.com/office/drawing/2014/main" id="{5D4AC944-59FC-4FAF-98A8-5C0D93B32F81}"/>
              </a:ext>
            </a:extLst>
          </p:cNvPr>
          <p:cNvSpPr>
            <a:spLocks xmlns:a="http://schemas.openxmlformats.org/drawingml/2006/main" noGrp="1"/>
          </p:cNvSpPr>
          <p:nvPr/>
        </p:nvSpPr>
        <p:spPr>
          <a:xfrm xmlns:a="http://schemas.openxmlformats.org/drawingml/2006/main">
            <a:off x="1162050" y="2286000"/>
            <a:ext cx="9525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75" b="0">
                <a:solidFill>
                  <a:srgbClr val="334155"/>
                </a:solidFill>
              </a:defRPr>
            </a:pPr>
            <a:r>
              <a:rPr sz="1875" b="0">
                <a:solidFill>
                  <a:srgbClr val="334155"/>
                </a:solidFill>
              </a:rPr>
              <a:t>Correct hints can still finish late.</a:t>
            </a:r>
          </a:p>
        </p:txBody>
      </p:sp>
      <p:sp>
        <p:nvSpPr>
          <p:cNvPr id="7" name="">
            <a:extLst xmlns:a="http://schemas.openxmlformats.org/drawingml/2006/main">
              <a:ext uri="{FF2B5EF4-FFF2-40B4-BE49-F238E27FC236}">
                <a16:creationId xmlns:a16="http://schemas.microsoft.com/office/drawing/2014/main" id="{8D98494F-EFE6-4668-B8A8-AA63DE8FD7CD}"/>
              </a:ext>
            </a:extLst>
          </p:cNvPr>
          <p:cNvSpPr>
            <a:spLocks xmlns:a="http://schemas.openxmlformats.org/drawingml/2006/main" noGrp="1"/>
          </p:cNvSpPr>
          <p:nvPr/>
        </p:nvSpPr>
        <p:spPr>
          <a:xfrm xmlns:a="http://schemas.openxmlformats.org/drawingml/2006/main">
            <a:off x="876300" y="295275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1">
                <a:solidFill>
                  <a:srgbClr val="0891B2"/>
                </a:solidFill>
              </a:defRPr>
            </a:pPr>
            <a:r>
              <a:rPr sz="2025" b="1">
                <a:solidFill>
                  <a:srgbClr val="0891B2"/>
                </a:solidFill>
              </a:rPr>
              <a:t>•</a:t>
            </a:r>
          </a:p>
        </p:txBody>
      </p:sp>
      <p:sp>
        <p:nvSpPr>
          <p:cNvPr id="8" name="">
            <a:extLst xmlns:a="http://schemas.openxmlformats.org/drawingml/2006/main">
              <a:ext uri="{FF2B5EF4-FFF2-40B4-BE49-F238E27FC236}">
                <a16:creationId xmlns:a16="http://schemas.microsoft.com/office/drawing/2014/main" id="{62A54583-B8AC-4007-AFFA-D144C98A5DC7}"/>
              </a:ext>
            </a:extLst>
          </p:cNvPr>
          <p:cNvSpPr>
            <a:spLocks xmlns:a="http://schemas.openxmlformats.org/drawingml/2006/main" noGrp="1"/>
          </p:cNvSpPr>
          <p:nvPr/>
        </p:nvSpPr>
        <p:spPr>
          <a:xfrm xmlns:a="http://schemas.openxmlformats.org/drawingml/2006/main">
            <a:off x="1162050" y="2971800"/>
            <a:ext cx="9525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75" b="0">
                <a:solidFill>
                  <a:srgbClr val="334155"/>
                </a:solidFill>
              </a:defRPr>
            </a:pPr>
            <a:r>
              <a:rPr sz="1875" b="0">
                <a:solidFill>
                  <a:srgbClr val="334155"/>
                </a:solidFill>
              </a:rPr>
              <a:t>Visible copy time is only part of end-to-end delay.</a:t>
            </a:r>
          </a:p>
        </p:txBody>
      </p:sp>
      <p:sp>
        <p:nvSpPr>
          <p:cNvPr id="9" name="">
            <a:extLst xmlns:a="http://schemas.openxmlformats.org/drawingml/2006/main">
              <a:ext uri="{FF2B5EF4-FFF2-40B4-BE49-F238E27FC236}">
                <a16:creationId xmlns:a16="http://schemas.microsoft.com/office/drawing/2014/main" id="{6418B938-7E7C-4B95-A8CD-1580DC5167CC}"/>
              </a:ext>
            </a:extLst>
          </p:cNvPr>
          <p:cNvSpPr>
            <a:spLocks xmlns:a="http://schemas.openxmlformats.org/drawingml/2006/main" noGrp="1"/>
          </p:cNvSpPr>
          <p:nvPr/>
        </p:nvSpPr>
        <p:spPr>
          <a:xfrm xmlns:a="http://schemas.openxmlformats.org/drawingml/2006/main">
            <a:off x="876300" y="363855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1">
                <a:solidFill>
                  <a:srgbClr val="CA8A04"/>
                </a:solidFill>
              </a:defRPr>
            </a:pPr>
            <a:r>
              <a:rPr sz="2025" b="1">
                <a:solidFill>
                  <a:srgbClr val="CA8A04"/>
                </a:solidFill>
              </a:rPr>
              <a:t>•</a:t>
            </a:r>
          </a:p>
        </p:txBody>
      </p:sp>
      <p:sp>
        <p:nvSpPr>
          <p:cNvPr id="10" name="">
            <a:extLst xmlns:a="http://schemas.openxmlformats.org/drawingml/2006/main">
              <a:ext uri="{FF2B5EF4-FFF2-40B4-BE49-F238E27FC236}">
                <a16:creationId xmlns:a16="http://schemas.microsoft.com/office/drawing/2014/main" id="{64CE8A19-588D-485C-8D1D-974BB44CF09B}"/>
              </a:ext>
            </a:extLst>
          </p:cNvPr>
          <p:cNvSpPr>
            <a:spLocks xmlns:a="http://schemas.openxmlformats.org/drawingml/2006/main" noGrp="1"/>
          </p:cNvSpPr>
          <p:nvPr/>
        </p:nvSpPr>
        <p:spPr>
          <a:xfrm xmlns:a="http://schemas.openxmlformats.org/drawingml/2006/main">
            <a:off x="1162050" y="3657600"/>
            <a:ext cx="9525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75" b="0">
                <a:solidFill>
                  <a:srgbClr val="334155"/>
                </a:solidFill>
              </a:defRPr>
            </a:pPr>
            <a:r>
              <a:rPr sz="1875" b="0">
                <a:solidFill>
                  <a:srgbClr val="334155"/>
                </a:solidFill>
              </a:rPr>
              <a:t>KV can be written to host, evicted from GPU, then lost from host before replay.</a:t>
            </a:r>
          </a:p>
        </p:txBody>
      </p:sp>
      <p:sp>
        <p:nvSpPr>
          <p:cNvPr id="11" name="">
            <a:extLst xmlns:a="http://schemas.openxmlformats.org/drawingml/2006/main">
              <a:ext uri="{FF2B5EF4-FFF2-40B4-BE49-F238E27FC236}">
                <a16:creationId xmlns:a16="http://schemas.microsoft.com/office/drawing/2014/main" id="{16F47999-2E50-4376-8CB3-782293C942C3}"/>
              </a:ext>
            </a:extLst>
          </p:cNvPr>
          <p:cNvSpPr>
            <a:spLocks xmlns:a="http://schemas.openxmlformats.org/drawingml/2006/main" noGrp="1"/>
          </p:cNvSpPr>
          <p:nvPr/>
        </p:nvSpPr>
        <p:spPr>
          <a:xfrm xmlns:a="http://schemas.openxmlformats.org/drawingml/2006/main">
            <a:off x="876300" y="432435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1">
                <a:solidFill>
                  <a:srgbClr val="DC2626"/>
                </a:solidFill>
              </a:defRPr>
            </a:pPr>
            <a:r>
              <a:rPr sz="2025" b="1">
                <a:solidFill>
                  <a:srgbClr val="DC2626"/>
                </a:solidFill>
              </a:rPr>
              <a:t>•</a:t>
            </a:r>
          </a:p>
        </p:txBody>
      </p:sp>
      <p:sp>
        <p:nvSpPr>
          <p:cNvPr id="12" name="">
            <a:extLst xmlns:a="http://schemas.openxmlformats.org/drawingml/2006/main">
              <a:ext uri="{FF2B5EF4-FFF2-40B4-BE49-F238E27FC236}">
                <a16:creationId xmlns:a16="http://schemas.microsoft.com/office/drawing/2014/main" id="{35D53424-E5EF-495F-A691-A7D970DC5AF9}"/>
              </a:ext>
            </a:extLst>
          </p:cNvPr>
          <p:cNvSpPr>
            <a:spLocks xmlns:a="http://schemas.openxmlformats.org/drawingml/2006/main" noGrp="1"/>
          </p:cNvSpPr>
          <p:nvPr/>
        </p:nvSpPr>
        <p:spPr>
          <a:xfrm xmlns:a="http://schemas.openxmlformats.org/drawingml/2006/main">
            <a:off x="1162050" y="4343400"/>
            <a:ext cx="9525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75" b="0">
                <a:solidFill>
                  <a:srgbClr val="334155"/>
                </a:solidFill>
              </a:defRPr>
            </a:pPr>
            <a:r>
              <a:rPr sz="1875" b="0">
                <a:solidFill>
                  <a:srgbClr val="334155"/>
                </a:solidFill>
              </a:rPr>
              <a:t>Replay-side H2D movement can miss the deadline even when the replay request exists.</a:t>
            </a:r>
          </a:p>
        </p:txBody>
      </p:sp>
      <p:sp>
        <p:nvSpPr>
          <p:cNvPr id="13" name="">
            <a:extLst xmlns:a="http://schemas.openxmlformats.org/drawingml/2006/main">
              <a:ext uri="{FF2B5EF4-FFF2-40B4-BE49-F238E27FC236}">
                <a16:creationId xmlns:a16="http://schemas.microsoft.com/office/drawing/2014/main" id="{E40A1E29-39A0-4831-8297-2F8A6782D6FA}"/>
              </a:ext>
            </a:extLst>
          </p:cNvPr>
          <p:cNvSpPr>
            <a:spLocks xmlns:a="http://schemas.openxmlformats.org/drawingml/2006/main" noGrp="1"/>
          </p:cNvSpPr>
          <p:nvPr/>
        </p:nvSpPr>
        <p:spPr>
          <a:xfrm xmlns:a="http://schemas.openxmlformats.org/drawingml/2006/main">
            <a:off x="419100" y="5429250"/>
            <a:ext cx="11353800" cy="11430"/>
          </a:xfrm>
          <a:prstGeom xmlns:a="http://schemas.openxmlformats.org/drawingml/2006/main" prst="rect">
            <a:avLst/>
          </a:prstGeom>
          <a:solidFill xmlns:a="http://schemas.openxmlformats.org/drawingml/2006/main">
            <a:srgbClr val="CBD5E1"/>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BB5ED05-9F3B-4725-8A99-CF91D7E31A2C}"/>
              </a:ext>
            </a:extLst>
          </p:cNvPr>
          <p:cNvSpPr>
            <a:spLocks xmlns:a="http://schemas.openxmlformats.org/drawingml/2006/main" noGrp="1"/>
          </p:cNvSpPr>
          <p:nvPr/>
        </p:nvSpPr>
        <p:spPr>
          <a:xfrm xmlns:a="http://schemas.openxmlformats.org/drawingml/2006/main">
            <a:off x="876300" y="5657850"/>
            <a:ext cx="990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650" b="1">
                <a:solidFill>
                  <a:srgbClr val="0F172A"/>
                </a:solidFill>
              </a:defRPr>
            </a:pPr>
            <a:r>
              <a:rPr sz="1650" b="1">
                <a:solidFill>
                  <a:srgbClr val="0F172A"/>
                </a:solidFill>
              </a:rPr>
              <a:t>Conclusion: this is a scheduling and enforceability problem, not just a bandwidth problem.</a:t>
            </a:r>
          </a:p>
        </p:txBody>
      </p:sp>
      <p:sp>
        <p:nvSpPr>
          <p:cNvPr id="15" name="">
            <a:extLst xmlns:a="http://schemas.openxmlformats.org/drawingml/2006/main">
              <a:ext uri="{FF2B5EF4-FFF2-40B4-BE49-F238E27FC236}">
                <a16:creationId xmlns:a16="http://schemas.microsoft.com/office/drawing/2014/main" id="{7E5EDB16-C868-4D2D-AC11-42D4459C0F43}"/>
              </a:ext>
            </a:extLst>
          </p:cNvPr>
          <p:cNvSpPr>
            <a:spLocks xmlns:a="http://schemas.openxmlformats.org/drawingml/2006/main" noGrp="1"/>
          </p:cNvSpPr>
          <p:nvPr/>
        </p:nvSpPr>
        <p:spPr>
          <a:xfrm xmlns:a="http://schemas.openxmlformats.org/drawingml/2006/main">
            <a:off x="419100" y="6400800"/>
            <a:ext cx="3619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0">
                <a:solidFill>
                  <a:srgbClr val="64748B"/>
                </a:solidFill>
              </a:defRPr>
            </a:pPr>
            <a:r>
              <a:rPr sz="975" b="0">
                <a:solidFill>
                  <a:srgbClr val="64748B"/>
                </a:solidFill>
              </a:rPr>
              <a:t>Agent-aware KV movement</a:t>
            </a:r>
          </a:p>
        </p:txBody>
      </p:sp>
      <p:sp>
        <p:nvSpPr>
          <p:cNvPr id="16" name="">
            <a:extLst xmlns:a="http://schemas.openxmlformats.org/drawingml/2006/main">
              <a:ext uri="{FF2B5EF4-FFF2-40B4-BE49-F238E27FC236}">
                <a16:creationId xmlns:a16="http://schemas.microsoft.com/office/drawing/2014/main" id="{C363CAAA-A22F-452D-9262-ED1DE289DDA3}"/>
              </a:ext>
            </a:extLst>
          </p:cNvPr>
          <p:cNvSpPr>
            <a:spLocks xmlns:a="http://schemas.openxmlformats.org/drawingml/2006/main" noGrp="1"/>
          </p:cNvSpPr>
          <p:nvPr/>
        </p:nvSpPr>
        <p:spPr>
          <a:xfrm xmlns:a="http://schemas.openxmlformats.org/drawingml/2006/main">
            <a:off x="11315700" y="64008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64748B"/>
                </a:solidFill>
              </a:defRPr>
            </a:pPr>
            <a:r>
              <a:rPr sz="975" b="0">
                <a:solidFill>
                  <a:srgbClr val="64748B"/>
                </a:solidFill>
              </a:rPr>
              <a:t>10</a:t>
            </a:r>
          </a:p>
        </p:txBody>
      </p:sp>
    </p:spTree>
    <p:extLst>
      <p:ext uri="{BB962C8B-B14F-4D97-AF65-F5344CB8AC3E}">
        <p14:creationId xmlns:p14="http://schemas.microsoft.com/office/powerpoint/2010/main" val="406075102"/>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4" name="">
            <a:extLst xmlns:a="http://schemas.openxmlformats.org/drawingml/2006/main">
              <a:ext uri="{FF2B5EF4-FFF2-40B4-BE49-F238E27FC236}">
                <a16:creationId xmlns:a16="http://schemas.microsoft.com/office/drawing/2014/main" id="{C9BEB51E-4CE4-4925-A706-CA51504F6AF4}"/>
              </a:ext>
            </a:extLst>
          </p:cNvPr>
          <p:cNvSpPr>
            <a:spLocks xmlns:a="http://schemas.openxmlformats.org/drawingml/2006/main" noGrp="1"/>
          </p:cNvSpPr>
          <p:nvPr/>
        </p:nvSpPr>
        <p:spPr>
          <a:xfrm xmlns:a="http://schemas.openxmlformats.org/drawingml/2006/main">
            <a:off x="419100" y="32385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F172A"/>
                </a:solidFill>
              </a:defRPr>
            </a:pPr>
            <a:r>
              <a:rPr sz="2925" b="1">
                <a:solidFill>
                  <a:srgbClr val="0F172A"/>
                </a:solidFill>
              </a:rPr>
              <a:t>Potential hardware impact</a:t>
            </a:r>
          </a:p>
        </p:txBody>
      </p:sp>
      <p:sp>
        <p:nvSpPr>
          <p:cNvPr id="2" name="">
            <a:extLst xmlns:a="http://schemas.openxmlformats.org/drawingml/2006/main">
              <a:ext uri="{FF2B5EF4-FFF2-40B4-BE49-F238E27FC236}">
                <a16:creationId xmlns:a16="http://schemas.microsoft.com/office/drawing/2014/main" id="{B1A445DC-2DBE-41D6-A284-D4D5B4322341}"/>
              </a:ext>
            </a:extLst>
          </p:cNvPr>
          <p:cNvSpPr>
            <a:spLocks xmlns:a="http://schemas.openxmlformats.org/drawingml/2006/main" noGrp="1"/>
          </p:cNvSpPr>
          <p:nvPr/>
        </p:nvSpPr>
        <p:spPr>
          <a:xfrm xmlns:a="http://schemas.openxmlformats.org/drawingml/2006/main">
            <a:off x="438150" y="914400"/>
            <a:ext cx="1047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64748B"/>
                </a:solidFill>
              </a:defRPr>
            </a:pPr>
            <a:r>
              <a:rPr sz="1500" b="0">
                <a:solidFill>
                  <a:srgbClr val="64748B"/>
                </a:solidFill>
              </a:rPr>
              <a:t>The ranges are tied to observed failure modes, not standalone guesses.</a:t>
            </a:r>
          </a:p>
        </p:txBody>
      </p:sp>
      <p:sp>
        <p:nvSpPr>
          <p:cNvPr id="3" name="">
            <a:extLst xmlns:a="http://schemas.openxmlformats.org/drawingml/2006/main">
              <a:ext uri="{FF2B5EF4-FFF2-40B4-BE49-F238E27FC236}">
                <a16:creationId xmlns:a16="http://schemas.microsoft.com/office/drawing/2014/main" id="{0A48BA8D-68CD-4B54-8A58-7F59B86751C8}"/>
              </a:ext>
            </a:extLst>
          </p:cNvPr>
          <p:cNvSpPr>
            <a:spLocks xmlns:a="http://schemas.openxmlformats.org/drawingml/2006/main" noGrp="1"/>
          </p:cNvSpPr>
          <p:nvPr/>
        </p:nvSpPr>
        <p:spPr>
          <a:xfrm xmlns:a="http://schemas.openxmlformats.org/drawingml/2006/main">
            <a:off x="514350" y="1485900"/>
            <a:ext cx="10906125" cy="381000"/>
          </a:xfrm>
          <a:prstGeom xmlns:a="http://schemas.openxmlformats.org/drawingml/2006/main" prst="rect">
            <a:avLst/>
          </a:prstGeom>
          <a:solidFill xmlns:a="http://schemas.openxmlformats.org/drawingml/2006/main">
            <a:srgbClr val="EEF2FF"/>
          </a:solidFill>
          <a:ln xmlns:a="http://schemas.openxmlformats.org/drawingml/2006/main" w="9525">
            <a:solidFill>
              <a:srgbClr val="CBD5E1"/>
            </a:solidFill>
            <a:prstDash val="solid"/>
          </a:ln>
        </p:spPr>
      </p:sp>
      <p:sp>
        <p:nvSpPr>
          <p:cNvPr id="4" name="">
            <a:extLst xmlns:a="http://schemas.openxmlformats.org/drawingml/2006/main">
              <a:ext uri="{FF2B5EF4-FFF2-40B4-BE49-F238E27FC236}">
                <a16:creationId xmlns:a16="http://schemas.microsoft.com/office/drawing/2014/main" id="{4C8DC447-E395-4491-90E9-1C5688383ED3}"/>
              </a:ext>
            </a:extLst>
          </p:cNvPr>
          <p:cNvSpPr>
            <a:spLocks xmlns:a="http://schemas.openxmlformats.org/drawingml/2006/main" noGrp="1"/>
          </p:cNvSpPr>
          <p:nvPr/>
        </p:nvSpPr>
        <p:spPr>
          <a:xfrm xmlns:a="http://schemas.openxmlformats.org/drawingml/2006/main">
            <a:off x="600075" y="1581150"/>
            <a:ext cx="23050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125" b="1">
                <a:solidFill>
                  <a:srgbClr val="0F172A"/>
                </a:solidFill>
              </a:defRPr>
            </a:pPr>
            <a:r>
              <a:rPr sz="1125" b="1">
                <a:solidFill>
                  <a:srgbClr val="0F172A"/>
                </a:solidFill>
              </a:rPr>
              <a:t>Observed in our traces</a:t>
            </a:r>
          </a:p>
        </p:txBody>
      </p:sp>
      <p:sp>
        <p:nvSpPr>
          <p:cNvPr id="5" name="">
            <a:extLst xmlns:a="http://schemas.openxmlformats.org/drawingml/2006/main">
              <a:ext uri="{FF2B5EF4-FFF2-40B4-BE49-F238E27FC236}">
                <a16:creationId xmlns:a16="http://schemas.microsoft.com/office/drawing/2014/main" id="{D21E7E54-B614-4473-94B6-BD3460361472}"/>
              </a:ext>
            </a:extLst>
          </p:cNvPr>
          <p:cNvSpPr>
            <a:spLocks xmlns:a="http://schemas.openxmlformats.org/drawingml/2006/main" noGrp="1"/>
          </p:cNvSpPr>
          <p:nvPr/>
        </p:nvSpPr>
        <p:spPr>
          <a:xfrm xmlns:a="http://schemas.openxmlformats.org/drawingml/2006/main">
            <a:off x="3076575" y="1581150"/>
            <a:ext cx="2209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125" b="1">
                <a:solidFill>
                  <a:srgbClr val="0F172A"/>
                </a:solidFill>
              </a:defRPr>
            </a:pPr>
            <a:r>
              <a:rPr sz="1125" b="1">
                <a:solidFill>
                  <a:srgbClr val="0F172A"/>
                </a:solidFill>
              </a:rPr>
              <a:t>Hardware assist</a:t>
            </a:r>
          </a:p>
        </p:txBody>
      </p:sp>
      <p:sp>
        <p:nvSpPr>
          <p:cNvPr id="6" name="">
            <a:extLst xmlns:a="http://schemas.openxmlformats.org/drawingml/2006/main">
              <a:ext uri="{FF2B5EF4-FFF2-40B4-BE49-F238E27FC236}">
                <a16:creationId xmlns:a16="http://schemas.microsoft.com/office/drawing/2014/main" id="{518E3EE8-E58D-4ED8-9281-F896CBD46A86}"/>
              </a:ext>
            </a:extLst>
          </p:cNvPr>
          <p:cNvSpPr>
            <a:spLocks xmlns:a="http://schemas.openxmlformats.org/drawingml/2006/main" noGrp="1"/>
          </p:cNvSpPr>
          <p:nvPr/>
        </p:nvSpPr>
        <p:spPr>
          <a:xfrm xmlns:a="http://schemas.openxmlformats.org/drawingml/2006/main">
            <a:off x="5457825" y="1581150"/>
            <a:ext cx="34956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125" b="1">
                <a:solidFill>
                  <a:srgbClr val="0F172A"/>
                </a:solidFill>
              </a:defRPr>
            </a:pPr>
            <a:r>
              <a:rPr sz="1125" b="1">
                <a:solidFill>
                  <a:srgbClr val="0F172A"/>
                </a:solidFill>
              </a:rPr>
              <a:t>Why it moves the number</a:t>
            </a:r>
          </a:p>
        </p:txBody>
      </p:sp>
      <p:sp>
        <p:nvSpPr>
          <p:cNvPr id="7" name="">
            <a:extLst xmlns:a="http://schemas.openxmlformats.org/drawingml/2006/main">
              <a:ext uri="{FF2B5EF4-FFF2-40B4-BE49-F238E27FC236}">
                <a16:creationId xmlns:a16="http://schemas.microsoft.com/office/drawing/2014/main" id="{CBB1DB0F-2035-40EC-8998-93FF00840625}"/>
              </a:ext>
            </a:extLst>
          </p:cNvPr>
          <p:cNvSpPr>
            <a:spLocks xmlns:a="http://schemas.openxmlformats.org/drawingml/2006/main" noGrp="1"/>
          </p:cNvSpPr>
          <p:nvPr/>
        </p:nvSpPr>
        <p:spPr>
          <a:xfrm xmlns:a="http://schemas.openxmlformats.org/drawingml/2006/main">
            <a:off x="9124950" y="1581150"/>
            <a:ext cx="2209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125" b="1">
                <a:solidFill>
                  <a:srgbClr val="0F172A"/>
                </a:solidFill>
              </a:defRPr>
            </a:pPr>
            <a:r>
              <a:rPr sz="1125" b="1">
                <a:solidFill>
                  <a:srgbClr val="0F172A"/>
                </a:solidFill>
              </a:rPr>
              <a:t>Target impact</a:t>
            </a:r>
          </a:p>
        </p:txBody>
      </p:sp>
      <p:sp>
        <p:nvSpPr>
          <p:cNvPr id="8" name="">
            <a:extLst xmlns:a="http://schemas.openxmlformats.org/drawingml/2006/main">
              <a:ext uri="{FF2B5EF4-FFF2-40B4-BE49-F238E27FC236}">
                <a16:creationId xmlns:a16="http://schemas.microsoft.com/office/drawing/2014/main" id="{E5134F14-23A3-4FE0-AC4D-9D95E91E94FD}"/>
              </a:ext>
            </a:extLst>
          </p:cNvPr>
          <p:cNvSpPr>
            <a:spLocks xmlns:a="http://schemas.openxmlformats.org/drawingml/2006/main" noGrp="1"/>
          </p:cNvSpPr>
          <p:nvPr/>
        </p:nvSpPr>
        <p:spPr>
          <a:xfrm xmlns:a="http://schemas.openxmlformats.org/drawingml/2006/main">
            <a:off x="514350" y="1866900"/>
            <a:ext cx="10906125" cy="628650"/>
          </a:xfrm>
          <a:prstGeom xmlns:a="http://schemas.openxmlformats.org/drawingml/2006/main" prst="rect">
            <a:avLst/>
          </a:prstGeom>
          <a:solidFill xmlns:a="http://schemas.openxmlformats.org/drawingml/2006/main">
            <a:srgbClr val="FFFFFF"/>
          </a:solidFill>
          <a:ln xmlns:a="http://schemas.openxmlformats.org/drawingml/2006/main" w="7620">
            <a:solidFill>
              <a:srgbClr val="CBD5E1"/>
            </a:solidFill>
            <a:prstDash val="solid"/>
          </a:ln>
        </p:spPr>
      </p:sp>
      <p:sp>
        <p:nvSpPr>
          <p:cNvPr id="9" name="">
            <a:extLst xmlns:a="http://schemas.openxmlformats.org/drawingml/2006/main">
              <a:ext uri="{FF2B5EF4-FFF2-40B4-BE49-F238E27FC236}">
                <a16:creationId xmlns:a16="http://schemas.microsoft.com/office/drawing/2014/main" id="{ABFB8220-236F-45CB-8D7B-2082AA85C7C6}"/>
              </a:ext>
            </a:extLst>
          </p:cNvPr>
          <p:cNvSpPr>
            <a:spLocks xmlns:a="http://schemas.openxmlformats.org/drawingml/2006/main" noGrp="1"/>
          </p:cNvSpPr>
          <p:nvPr/>
        </p:nvSpPr>
        <p:spPr>
          <a:xfrm xmlns:a="http://schemas.openxmlformats.org/drawingml/2006/main">
            <a:off x="600075" y="1952625"/>
            <a:ext cx="230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125" b="1">
                <a:solidFill>
                  <a:srgbClr val="DC2626"/>
                </a:solidFill>
              </a:defRPr>
            </a:pPr>
            <a:r>
              <a:rPr sz="1125" b="1">
                <a:solidFill>
                  <a:srgbClr val="DC2626"/>
                </a:solidFill>
              </a:rPr>
              <a:t>Late replay H2D</a:t>
            </a:r>
          </a:p>
        </p:txBody>
      </p:sp>
      <p:sp>
        <p:nvSpPr>
          <p:cNvPr id="10" name="">
            <a:extLst xmlns:a="http://schemas.openxmlformats.org/drawingml/2006/main">
              <a:ext uri="{FF2B5EF4-FFF2-40B4-BE49-F238E27FC236}">
                <a16:creationId xmlns:a16="http://schemas.microsoft.com/office/drawing/2014/main" id="{1B944896-6C53-472E-8BE5-94614E9E7C17}"/>
              </a:ext>
            </a:extLst>
          </p:cNvPr>
          <p:cNvSpPr>
            <a:spLocks xmlns:a="http://schemas.openxmlformats.org/drawingml/2006/main" noGrp="1"/>
          </p:cNvSpPr>
          <p:nvPr/>
        </p:nvSpPr>
        <p:spPr>
          <a:xfrm xmlns:a="http://schemas.openxmlformats.org/drawingml/2006/main">
            <a:off x="3076575" y="1952625"/>
            <a:ext cx="22098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125" b="0">
                <a:solidFill>
                  <a:srgbClr val="334155"/>
                </a:solidFill>
              </a:defRPr>
            </a:pPr>
            <a:r>
              <a:rPr sz="1125" b="0">
                <a:solidFill>
                  <a:srgbClr val="334155"/>
                </a:solidFill>
              </a:rPr>
              <a:t>deadline-aware KV queue</a:t>
            </a:r>
          </a:p>
        </p:txBody>
      </p:sp>
      <p:sp>
        <p:nvSpPr>
          <p:cNvPr id="11" name="">
            <a:extLst xmlns:a="http://schemas.openxmlformats.org/drawingml/2006/main">
              <a:ext uri="{FF2B5EF4-FFF2-40B4-BE49-F238E27FC236}">
                <a16:creationId xmlns:a16="http://schemas.microsoft.com/office/drawing/2014/main" id="{4A95457C-6754-4E7C-A608-230CC9DAA33E}"/>
              </a:ext>
            </a:extLst>
          </p:cNvPr>
          <p:cNvSpPr>
            <a:spLocks xmlns:a="http://schemas.openxmlformats.org/drawingml/2006/main" noGrp="1"/>
          </p:cNvSpPr>
          <p:nvPr/>
        </p:nvSpPr>
        <p:spPr>
          <a:xfrm xmlns:a="http://schemas.openxmlformats.org/drawingml/2006/main">
            <a:off x="5457825" y="1952625"/>
            <a:ext cx="3495675"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125" b="0">
                <a:solidFill>
                  <a:srgbClr val="334155"/>
                </a:solidFill>
              </a:defRPr>
            </a:pPr>
            <a:r>
              <a:rPr sz="1125" b="0">
                <a:solidFill>
                  <a:srgbClr val="334155"/>
                </a:solidFill>
              </a:rPr>
              <a:t>cuts time spent waiting for urgent KV</a:t>
            </a:r>
          </a:p>
        </p:txBody>
      </p:sp>
      <p:sp>
        <p:nvSpPr>
          <p:cNvPr id="12" name="">
            <a:extLst xmlns:a="http://schemas.openxmlformats.org/drawingml/2006/main">
              <a:ext uri="{FF2B5EF4-FFF2-40B4-BE49-F238E27FC236}">
                <a16:creationId xmlns:a16="http://schemas.microsoft.com/office/drawing/2014/main" id="{C88DF3DE-418F-4A38-A1AF-6D82D9AE12C3}"/>
              </a:ext>
            </a:extLst>
          </p:cNvPr>
          <p:cNvSpPr>
            <a:spLocks xmlns:a="http://schemas.openxmlformats.org/drawingml/2006/main" noGrp="1"/>
          </p:cNvSpPr>
          <p:nvPr/>
        </p:nvSpPr>
        <p:spPr>
          <a:xfrm xmlns:a="http://schemas.openxmlformats.org/drawingml/2006/main">
            <a:off x="9124950" y="1952625"/>
            <a:ext cx="22098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125" b="1">
                <a:solidFill>
                  <a:srgbClr val="2563EB"/>
                </a:solidFill>
              </a:defRPr>
            </a:pPr>
            <a:r>
              <a:rPr sz="1125" b="1">
                <a:solidFill>
                  <a:srgbClr val="2563EB"/>
                </a:solidFill>
              </a:rPr>
              <a:t>10-20% replay latency</a:t>
            </a:r>
          </a:p>
        </p:txBody>
      </p:sp>
      <p:sp>
        <p:nvSpPr>
          <p:cNvPr id="13" name="">
            <a:extLst xmlns:a="http://schemas.openxmlformats.org/drawingml/2006/main">
              <a:ext uri="{FF2B5EF4-FFF2-40B4-BE49-F238E27FC236}">
                <a16:creationId xmlns:a16="http://schemas.microsoft.com/office/drawing/2014/main" id="{43F9E836-9FA0-46AA-91A1-343DB91D5A2A}"/>
              </a:ext>
            </a:extLst>
          </p:cNvPr>
          <p:cNvSpPr>
            <a:spLocks xmlns:a="http://schemas.openxmlformats.org/drawingml/2006/main" noGrp="1"/>
          </p:cNvSpPr>
          <p:nvPr/>
        </p:nvSpPr>
        <p:spPr>
          <a:xfrm xmlns:a="http://schemas.openxmlformats.org/drawingml/2006/main">
            <a:off x="514350" y="2495550"/>
            <a:ext cx="10906125" cy="628650"/>
          </a:xfrm>
          <a:prstGeom xmlns:a="http://schemas.openxmlformats.org/drawingml/2006/main" prst="rect">
            <a:avLst/>
          </a:prstGeom>
          <a:solidFill xmlns:a="http://schemas.openxmlformats.org/drawingml/2006/main">
            <a:srgbClr val="F8FAFC"/>
          </a:solidFill>
          <a:ln xmlns:a="http://schemas.openxmlformats.org/drawingml/2006/main" w="7620">
            <a:solidFill>
              <a:srgbClr val="CBD5E1"/>
            </a:solidFill>
            <a:prstDash val="solid"/>
          </a:ln>
        </p:spPr>
      </p:sp>
      <p:sp>
        <p:nvSpPr>
          <p:cNvPr id="14" name="">
            <a:extLst xmlns:a="http://schemas.openxmlformats.org/drawingml/2006/main">
              <a:ext uri="{FF2B5EF4-FFF2-40B4-BE49-F238E27FC236}">
                <a16:creationId xmlns:a16="http://schemas.microsoft.com/office/drawing/2014/main" id="{400E382B-1EBA-4A9D-A7FF-85068CC0DFDD}"/>
              </a:ext>
            </a:extLst>
          </p:cNvPr>
          <p:cNvSpPr>
            <a:spLocks xmlns:a="http://schemas.openxmlformats.org/drawingml/2006/main" noGrp="1"/>
          </p:cNvSpPr>
          <p:nvPr/>
        </p:nvSpPr>
        <p:spPr>
          <a:xfrm xmlns:a="http://schemas.openxmlformats.org/drawingml/2006/main">
            <a:off x="600075" y="2581275"/>
            <a:ext cx="230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125" b="1">
                <a:solidFill>
                  <a:srgbClr val="CA8A04"/>
                </a:solidFill>
              </a:defRPr>
            </a:pPr>
            <a:r>
              <a:rPr sz="1125" b="1">
                <a:solidFill>
                  <a:srgbClr val="CA8A04"/>
                </a:solidFill>
              </a:rPr>
              <a:t>Replay recomputes old prefix</a:t>
            </a:r>
          </a:p>
        </p:txBody>
      </p:sp>
      <p:sp>
        <p:nvSpPr>
          <p:cNvPr id="15" name="">
            <a:extLst xmlns:a="http://schemas.openxmlformats.org/drawingml/2006/main">
              <a:ext uri="{FF2B5EF4-FFF2-40B4-BE49-F238E27FC236}">
                <a16:creationId xmlns:a16="http://schemas.microsoft.com/office/drawing/2014/main" id="{019C9FE1-AD6D-44E9-B7BE-A52810251BD3}"/>
              </a:ext>
            </a:extLst>
          </p:cNvPr>
          <p:cNvSpPr>
            <a:spLocks xmlns:a="http://schemas.openxmlformats.org/drawingml/2006/main" noGrp="1"/>
          </p:cNvSpPr>
          <p:nvPr/>
        </p:nvSpPr>
        <p:spPr>
          <a:xfrm xmlns:a="http://schemas.openxmlformats.org/drawingml/2006/main">
            <a:off x="3076575" y="2581275"/>
            <a:ext cx="22098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125" b="0">
                <a:solidFill>
                  <a:srgbClr val="334155"/>
                </a:solidFill>
              </a:defRPr>
            </a:pPr>
            <a:r>
              <a:rPr sz="1125" b="0">
                <a:solidFill>
                  <a:srgbClr val="334155"/>
                </a:solidFill>
              </a:rPr>
              <a:t>residency protection</a:t>
            </a:r>
          </a:p>
        </p:txBody>
      </p:sp>
      <p:sp>
        <p:nvSpPr>
          <p:cNvPr id="16" name="">
            <a:extLst xmlns:a="http://schemas.openxmlformats.org/drawingml/2006/main">
              <a:ext uri="{FF2B5EF4-FFF2-40B4-BE49-F238E27FC236}">
                <a16:creationId xmlns:a16="http://schemas.microsoft.com/office/drawing/2014/main" id="{423FA0F1-FB27-4EB9-9ACE-6CAAFF4DC8BA}"/>
              </a:ext>
            </a:extLst>
          </p:cNvPr>
          <p:cNvSpPr>
            <a:spLocks xmlns:a="http://schemas.openxmlformats.org/drawingml/2006/main" noGrp="1"/>
          </p:cNvSpPr>
          <p:nvPr/>
        </p:nvSpPr>
        <p:spPr>
          <a:xfrm xmlns:a="http://schemas.openxmlformats.org/drawingml/2006/main">
            <a:off x="5457825" y="2581275"/>
            <a:ext cx="3495675"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125" b="0">
                <a:solidFill>
                  <a:srgbClr val="334155"/>
                </a:solidFill>
              </a:defRPr>
            </a:pPr>
            <a:r>
              <a:rPr sz="1125" b="0">
                <a:solidFill>
                  <a:srgbClr val="334155"/>
                </a:solidFill>
              </a:rPr>
              <a:t>keeps useful KV available until reuse</a:t>
            </a:r>
          </a:p>
        </p:txBody>
      </p:sp>
      <p:sp>
        <p:nvSpPr>
          <p:cNvPr id="17" name="">
            <a:extLst xmlns:a="http://schemas.openxmlformats.org/drawingml/2006/main">
              <a:ext uri="{FF2B5EF4-FFF2-40B4-BE49-F238E27FC236}">
                <a16:creationId xmlns:a16="http://schemas.microsoft.com/office/drawing/2014/main" id="{789C0981-73BC-436E-B1C4-253CFD5A5FD1}"/>
              </a:ext>
            </a:extLst>
          </p:cNvPr>
          <p:cNvSpPr>
            <a:spLocks xmlns:a="http://schemas.openxmlformats.org/drawingml/2006/main" noGrp="1"/>
          </p:cNvSpPr>
          <p:nvPr/>
        </p:nvSpPr>
        <p:spPr>
          <a:xfrm xmlns:a="http://schemas.openxmlformats.org/drawingml/2006/main">
            <a:off x="9124950" y="2581275"/>
            <a:ext cx="22098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125" b="1">
                <a:solidFill>
                  <a:srgbClr val="9333EA"/>
                </a:solidFill>
              </a:defRPr>
            </a:pPr>
            <a:r>
              <a:rPr sz="1125" b="1">
                <a:solidFill>
                  <a:srgbClr val="9333EA"/>
                </a:solidFill>
              </a:rPr>
              <a:t>up to 20-30%</a:t>
            </a:r>
          </a:p>
        </p:txBody>
      </p:sp>
      <p:sp>
        <p:nvSpPr>
          <p:cNvPr id="18" name="">
            <a:extLst xmlns:a="http://schemas.openxmlformats.org/drawingml/2006/main">
              <a:ext uri="{FF2B5EF4-FFF2-40B4-BE49-F238E27FC236}">
                <a16:creationId xmlns:a16="http://schemas.microsoft.com/office/drawing/2014/main" id="{9D9381C7-ABE4-47AC-B032-DEBE03B10F85}"/>
              </a:ext>
            </a:extLst>
          </p:cNvPr>
          <p:cNvSpPr>
            <a:spLocks xmlns:a="http://schemas.openxmlformats.org/drawingml/2006/main" noGrp="1"/>
          </p:cNvSpPr>
          <p:nvPr/>
        </p:nvSpPr>
        <p:spPr>
          <a:xfrm xmlns:a="http://schemas.openxmlformats.org/drawingml/2006/main">
            <a:off x="514350" y="3124200"/>
            <a:ext cx="10906125" cy="628650"/>
          </a:xfrm>
          <a:prstGeom xmlns:a="http://schemas.openxmlformats.org/drawingml/2006/main" prst="rect">
            <a:avLst/>
          </a:prstGeom>
          <a:solidFill xmlns:a="http://schemas.openxmlformats.org/drawingml/2006/main">
            <a:srgbClr val="FFFFFF"/>
          </a:solidFill>
          <a:ln xmlns:a="http://schemas.openxmlformats.org/drawingml/2006/main" w="7620">
            <a:solidFill>
              <a:srgbClr val="CBD5E1"/>
            </a:solidFill>
            <a:prstDash val="solid"/>
          </a:ln>
        </p:spPr>
      </p:sp>
      <p:sp>
        <p:nvSpPr>
          <p:cNvPr id="19" name="">
            <a:extLst xmlns:a="http://schemas.openxmlformats.org/drawingml/2006/main">
              <a:ext uri="{FF2B5EF4-FFF2-40B4-BE49-F238E27FC236}">
                <a16:creationId xmlns:a16="http://schemas.microsoft.com/office/drawing/2014/main" id="{A6172B88-46C9-4964-B18A-29D3E3AC4579}"/>
              </a:ext>
            </a:extLst>
          </p:cNvPr>
          <p:cNvSpPr>
            <a:spLocks xmlns:a="http://schemas.openxmlformats.org/drawingml/2006/main" noGrp="1"/>
          </p:cNvSpPr>
          <p:nvPr/>
        </p:nvSpPr>
        <p:spPr>
          <a:xfrm xmlns:a="http://schemas.openxmlformats.org/drawingml/2006/main">
            <a:off x="600075" y="3209925"/>
            <a:ext cx="230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125" b="1">
                <a:solidFill>
                  <a:srgbClr val="9333EA"/>
                </a:solidFill>
              </a:defRPr>
            </a:pPr>
            <a:r>
              <a:rPr sz="1125" b="1">
                <a:solidFill>
                  <a:srgbClr val="9333EA"/>
                </a:solidFill>
              </a:rPr>
              <a:t>Hints finish after deadline</a:t>
            </a:r>
          </a:p>
        </p:txBody>
      </p:sp>
      <p:sp>
        <p:nvSpPr>
          <p:cNvPr id="20" name="">
            <a:extLst xmlns:a="http://schemas.openxmlformats.org/drawingml/2006/main">
              <a:ext uri="{FF2B5EF4-FFF2-40B4-BE49-F238E27FC236}">
                <a16:creationId xmlns:a16="http://schemas.microsoft.com/office/drawing/2014/main" id="{A9418E71-4CE4-4075-8DD0-8FBB88D3C6E2}"/>
              </a:ext>
            </a:extLst>
          </p:cNvPr>
          <p:cNvSpPr>
            <a:spLocks xmlns:a="http://schemas.openxmlformats.org/drawingml/2006/main" noGrp="1"/>
          </p:cNvSpPr>
          <p:nvPr/>
        </p:nvSpPr>
        <p:spPr>
          <a:xfrm xmlns:a="http://schemas.openxmlformats.org/drawingml/2006/main">
            <a:off x="3076575" y="3209925"/>
            <a:ext cx="22098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125" b="0">
                <a:solidFill>
                  <a:srgbClr val="334155"/>
                </a:solidFill>
              </a:defRPr>
            </a:pPr>
            <a:r>
              <a:rPr sz="1125" b="0">
                <a:solidFill>
                  <a:srgbClr val="334155"/>
                </a:solidFill>
              </a:rPr>
              <a:t>session priority metadata</a:t>
            </a:r>
          </a:p>
        </p:txBody>
      </p:sp>
      <p:sp>
        <p:nvSpPr>
          <p:cNvPr id="21" name="">
            <a:extLst xmlns:a="http://schemas.openxmlformats.org/drawingml/2006/main">
              <a:ext uri="{FF2B5EF4-FFF2-40B4-BE49-F238E27FC236}">
                <a16:creationId xmlns:a16="http://schemas.microsoft.com/office/drawing/2014/main" id="{85C97FC5-629A-478E-9073-4F40CCF9B670}"/>
              </a:ext>
            </a:extLst>
          </p:cNvPr>
          <p:cNvSpPr>
            <a:spLocks xmlns:a="http://schemas.openxmlformats.org/drawingml/2006/main" noGrp="1"/>
          </p:cNvSpPr>
          <p:nvPr/>
        </p:nvSpPr>
        <p:spPr>
          <a:xfrm xmlns:a="http://schemas.openxmlformats.org/drawingml/2006/main">
            <a:off x="5457825" y="3209925"/>
            <a:ext cx="3495675"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125" b="0">
                <a:solidFill>
                  <a:srgbClr val="334155"/>
                </a:solidFill>
              </a:defRPr>
            </a:pPr>
            <a:r>
              <a:rPr sz="1125" b="0">
                <a:solidFill>
                  <a:srgbClr val="334155"/>
                </a:solidFill>
              </a:rPr>
              <a:t>lets urgent agents preempt low-value movement</a:t>
            </a:r>
          </a:p>
        </p:txBody>
      </p:sp>
      <p:sp>
        <p:nvSpPr>
          <p:cNvPr id="22" name="">
            <a:extLst xmlns:a="http://schemas.openxmlformats.org/drawingml/2006/main">
              <a:ext uri="{FF2B5EF4-FFF2-40B4-BE49-F238E27FC236}">
                <a16:creationId xmlns:a16="http://schemas.microsoft.com/office/drawing/2014/main" id="{293005FE-C61F-4419-BFE7-7A9789E0CCDC}"/>
              </a:ext>
            </a:extLst>
          </p:cNvPr>
          <p:cNvSpPr>
            <a:spLocks xmlns:a="http://schemas.openxmlformats.org/drawingml/2006/main" noGrp="1"/>
          </p:cNvSpPr>
          <p:nvPr/>
        </p:nvSpPr>
        <p:spPr>
          <a:xfrm xmlns:a="http://schemas.openxmlformats.org/drawingml/2006/main">
            <a:off x="9124950" y="3209925"/>
            <a:ext cx="22098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125" b="1">
                <a:solidFill>
                  <a:srgbClr val="16A34A"/>
                </a:solidFill>
              </a:defRPr>
            </a:pPr>
            <a:r>
              <a:rPr sz="1125" b="1">
                <a:solidFill>
                  <a:srgbClr val="16A34A"/>
                </a:solidFill>
              </a:rPr>
              <a:t>20-50% fewer late reloads</a:t>
            </a:r>
          </a:p>
        </p:txBody>
      </p:sp>
      <p:sp>
        <p:nvSpPr>
          <p:cNvPr id="23" name="">
            <a:extLst xmlns:a="http://schemas.openxmlformats.org/drawingml/2006/main">
              <a:ext uri="{FF2B5EF4-FFF2-40B4-BE49-F238E27FC236}">
                <a16:creationId xmlns:a16="http://schemas.microsoft.com/office/drawing/2014/main" id="{60531866-68C7-47EF-B369-094086949282}"/>
              </a:ext>
            </a:extLst>
          </p:cNvPr>
          <p:cNvSpPr>
            <a:spLocks xmlns:a="http://schemas.openxmlformats.org/drawingml/2006/main" noGrp="1"/>
          </p:cNvSpPr>
          <p:nvPr/>
        </p:nvSpPr>
        <p:spPr>
          <a:xfrm xmlns:a="http://schemas.openxmlformats.org/drawingml/2006/main">
            <a:off x="514350" y="3752850"/>
            <a:ext cx="10906125" cy="628650"/>
          </a:xfrm>
          <a:prstGeom xmlns:a="http://schemas.openxmlformats.org/drawingml/2006/main" prst="rect">
            <a:avLst/>
          </a:prstGeom>
          <a:solidFill xmlns:a="http://schemas.openxmlformats.org/drawingml/2006/main">
            <a:srgbClr val="F8FAFC"/>
          </a:solidFill>
          <a:ln xmlns:a="http://schemas.openxmlformats.org/drawingml/2006/main" w="7620">
            <a:solidFill>
              <a:srgbClr val="CBD5E1"/>
            </a:solidFill>
            <a:prstDash val="solid"/>
          </a:ln>
        </p:spPr>
      </p:sp>
      <p:sp>
        <p:nvSpPr>
          <p:cNvPr id="24" name="">
            <a:extLst xmlns:a="http://schemas.openxmlformats.org/drawingml/2006/main">
              <a:ext uri="{FF2B5EF4-FFF2-40B4-BE49-F238E27FC236}">
                <a16:creationId xmlns:a16="http://schemas.microsoft.com/office/drawing/2014/main" id="{3B0F4BC0-95FC-4922-AADB-B914F2CD58D1}"/>
              </a:ext>
            </a:extLst>
          </p:cNvPr>
          <p:cNvSpPr>
            <a:spLocks xmlns:a="http://schemas.openxmlformats.org/drawingml/2006/main" noGrp="1"/>
          </p:cNvSpPr>
          <p:nvPr/>
        </p:nvSpPr>
        <p:spPr>
          <a:xfrm xmlns:a="http://schemas.openxmlformats.org/drawingml/2006/main">
            <a:off x="600075" y="3838575"/>
            <a:ext cx="230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125" b="1">
                <a:solidFill>
                  <a:srgbClr val="0891B2"/>
                </a:solidFill>
              </a:defRPr>
            </a:pPr>
            <a:r>
              <a:rPr sz="1125" b="1">
                <a:solidFill>
                  <a:srgbClr val="0891B2"/>
                </a:solidFill>
              </a:rPr>
              <a:t>Useful prefetch is wasted</a:t>
            </a:r>
          </a:p>
        </p:txBody>
      </p:sp>
      <p:sp>
        <p:nvSpPr>
          <p:cNvPr id="25" name="">
            <a:extLst xmlns:a="http://schemas.openxmlformats.org/drawingml/2006/main">
              <a:ext uri="{FF2B5EF4-FFF2-40B4-BE49-F238E27FC236}">
                <a16:creationId xmlns:a16="http://schemas.microsoft.com/office/drawing/2014/main" id="{E338A250-3F34-41EB-95BE-DB3AEABF20AC}"/>
              </a:ext>
            </a:extLst>
          </p:cNvPr>
          <p:cNvSpPr>
            <a:spLocks xmlns:a="http://schemas.openxmlformats.org/drawingml/2006/main" noGrp="1"/>
          </p:cNvSpPr>
          <p:nvPr/>
        </p:nvSpPr>
        <p:spPr>
          <a:xfrm xmlns:a="http://schemas.openxmlformats.org/drawingml/2006/main">
            <a:off x="3076575" y="3838575"/>
            <a:ext cx="22098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125" b="0">
                <a:solidFill>
                  <a:srgbClr val="334155"/>
                </a:solidFill>
              </a:defRPr>
            </a:pPr>
            <a:r>
              <a:rPr sz="1125" b="0">
                <a:solidFill>
                  <a:srgbClr val="334155"/>
                </a:solidFill>
              </a:rPr>
              <a:t>KV-aware telemetry</a:t>
            </a:r>
          </a:p>
        </p:txBody>
      </p:sp>
      <p:sp>
        <p:nvSpPr>
          <p:cNvPr id="26" name="">
            <a:extLst xmlns:a="http://schemas.openxmlformats.org/drawingml/2006/main">
              <a:ext uri="{FF2B5EF4-FFF2-40B4-BE49-F238E27FC236}">
                <a16:creationId xmlns:a16="http://schemas.microsoft.com/office/drawing/2014/main" id="{DBEEC0E7-FA74-4B64-9821-799B51DC5FE8}"/>
              </a:ext>
            </a:extLst>
          </p:cNvPr>
          <p:cNvSpPr>
            <a:spLocks xmlns:a="http://schemas.openxmlformats.org/drawingml/2006/main" noGrp="1"/>
          </p:cNvSpPr>
          <p:nvPr/>
        </p:nvSpPr>
        <p:spPr>
          <a:xfrm xmlns:a="http://schemas.openxmlformats.org/drawingml/2006/main">
            <a:off x="5457825" y="3838575"/>
            <a:ext cx="3495675"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125" b="0">
                <a:solidFill>
                  <a:srgbClr val="334155"/>
                </a:solidFill>
              </a:defRPr>
            </a:pPr>
            <a:r>
              <a:rPr sz="1125" b="0">
                <a:solidFill>
                  <a:srgbClr val="334155"/>
                </a:solidFill>
              </a:rPr>
              <a:t>detects late, wasted, and evicted-before-use KV</a:t>
            </a:r>
          </a:p>
        </p:txBody>
      </p:sp>
      <p:sp>
        <p:nvSpPr>
          <p:cNvPr id="27" name="">
            <a:extLst xmlns:a="http://schemas.openxmlformats.org/drawingml/2006/main">
              <a:ext uri="{FF2B5EF4-FFF2-40B4-BE49-F238E27FC236}">
                <a16:creationId xmlns:a16="http://schemas.microsoft.com/office/drawing/2014/main" id="{84D1EA7E-03F6-4715-8325-C6E0DA1F4F53}"/>
              </a:ext>
            </a:extLst>
          </p:cNvPr>
          <p:cNvSpPr>
            <a:spLocks xmlns:a="http://schemas.openxmlformats.org/drawingml/2006/main" noGrp="1"/>
          </p:cNvSpPr>
          <p:nvPr/>
        </p:nvSpPr>
        <p:spPr>
          <a:xfrm xmlns:a="http://schemas.openxmlformats.org/drawingml/2006/main">
            <a:off x="9124950" y="3838575"/>
            <a:ext cx="22098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125" b="1">
                <a:solidFill>
                  <a:srgbClr val="0891B2"/>
                </a:solidFill>
              </a:defRPr>
            </a:pPr>
            <a:r>
              <a:rPr sz="1125" b="1">
                <a:solidFill>
                  <a:srgbClr val="0891B2"/>
                </a:solidFill>
              </a:rPr>
              <a:t>less bandwidth waste</a:t>
            </a:r>
          </a:p>
        </p:txBody>
      </p:sp>
      <p:sp>
        <p:nvSpPr>
          <p:cNvPr id="28" name="">
            <a:extLst xmlns:a="http://schemas.openxmlformats.org/drawingml/2006/main">
              <a:ext uri="{FF2B5EF4-FFF2-40B4-BE49-F238E27FC236}">
                <a16:creationId xmlns:a16="http://schemas.microsoft.com/office/drawing/2014/main" id="{6B1E9538-3885-4B5E-A4F9-760C0697A257}"/>
              </a:ext>
            </a:extLst>
          </p:cNvPr>
          <p:cNvSpPr>
            <a:spLocks xmlns:a="http://schemas.openxmlformats.org/drawingml/2006/main" noGrp="1"/>
          </p:cNvSpPr>
          <p:nvPr/>
        </p:nvSpPr>
        <p:spPr>
          <a:xfrm xmlns:a="http://schemas.openxmlformats.org/drawingml/2006/main">
            <a:off x="609600" y="459105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1">
                <a:solidFill>
                  <a:srgbClr val="0F172A"/>
                </a:solidFill>
              </a:defRPr>
            </a:pPr>
            <a:r>
              <a:rPr sz="1500" b="1">
                <a:solidFill>
                  <a:srgbClr val="0F172A"/>
                </a:solidFill>
              </a:rPr>
              <a:t>Range rationale</a:t>
            </a:r>
          </a:p>
        </p:txBody>
      </p:sp>
      <p:sp>
        <p:nvSpPr>
          <p:cNvPr id="29" name="">
            <a:extLst xmlns:a="http://schemas.openxmlformats.org/drawingml/2006/main">
              <a:ext uri="{FF2B5EF4-FFF2-40B4-BE49-F238E27FC236}">
                <a16:creationId xmlns:a16="http://schemas.microsoft.com/office/drawing/2014/main" id="{6B852242-037E-4AD6-BD2A-1709DD5294EB}"/>
              </a:ext>
            </a:extLst>
          </p:cNvPr>
          <p:cNvSpPr>
            <a:spLocks xmlns:a="http://schemas.openxmlformats.org/drawingml/2006/main" noGrp="1"/>
          </p:cNvSpPr>
          <p:nvPr/>
        </p:nvSpPr>
        <p:spPr>
          <a:xfrm xmlns:a="http://schemas.openxmlformats.org/drawingml/2006/main">
            <a:off x="609600" y="4857750"/>
            <a:ext cx="10668000" cy="323850"/>
          </a:xfrm>
          <a:prstGeom xmlns:a="http://schemas.openxmlformats.org/drawingml/2006/main" prst="rect">
            <a:avLst/>
          </a:prstGeom>
          <a:solidFill xmlns:a="http://schemas.openxmlformats.org/drawingml/2006/main">
            <a:srgbClr val="F1F5F9"/>
          </a:solidFill>
          <a:ln xmlns:a="http://schemas.openxmlformats.org/drawingml/2006/main" w="9525">
            <a:solidFill>
              <a:srgbClr val="CBD5E1"/>
            </a:solidFill>
            <a:prstDash val="solid"/>
          </a:ln>
        </p:spPr>
      </p:sp>
      <p:sp>
        <p:nvSpPr>
          <p:cNvPr id="30" name="">
            <a:extLst xmlns:a="http://schemas.openxmlformats.org/drawingml/2006/main">
              <a:ext uri="{FF2B5EF4-FFF2-40B4-BE49-F238E27FC236}">
                <a16:creationId xmlns:a16="http://schemas.microsoft.com/office/drawing/2014/main" id="{FAD62488-C574-4F7A-8D30-CACAA71337DF}"/>
              </a:ext>
            </a:extLst>
          </p:cNvPr>
          <p:cNvSpPr>
            <a:spLocks xmlns:a="http://schemas.openxmlformats.org/drawingml/2006/main" noGrp="1"/>
          </p:cNvSpPr>
          <p:nvPr/>
        </p:nvSpPr>
        <p:spPr>
          <a:xfrm xmlns:a="http://schemas.openxmlformats.org/drawingml/2006/main">
            <a:off x="695325" y="4953000"/>
            <a:ext cx="2019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1">
                <a:solidFill>
                  <a:srgbClr val="0F172A"/>
                </a:solidFill>
              </a:defRPr>
            </a:pPr>
            <a:r>
              <a:rPr sz="1050" b="1">
                <a:solidFill>
                  <a:srgbClr val="0F172A"/>
                </a:solidFill>
              </a:rPr>
              <a:t>Range</a:t>
            </a:r>
          </a:p>
        </p:txBody>
      </p:sp>
      <p:sp>
        <p:nvSpPr>
          <p:cNvPr id="31" name="">
            <a:extLst xmlns:a="http://schemas.openxmlformats.org/drawingml/2006/main">
              <a:ext uri="{FF2B5EF4-FFF2-40B4-BE49-F238E27FC236}">
                <a16:creationId xmlns:a16="http://schemas.microsoft.com/office/drawing/2014/main" id="{E3355BC7-3D95-42D0-85AC-F85F37A39D60}"/>
              </a:ext>
            </a:extLst>
          </p:cNvPr>
          <p:cNvSpPr>
            <a:spLocks xmlns:a="http://schemas.openxmlformats.org/drawingml/2006/main" noGrp="1"/>
          </p:cNvSpPr>
          <p:nvPr/>
        </p:nvSpPr>
        <p:spPr>
          <a:xfrm xmlns:a="http://schemas.openxmlformats.org/drawingml/2006/main">
            <a:off x="2886075" y="4953000"/>
            <a:ext cx="45910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1">
                <a:solidFill>
                  <a:srgbClr val="0F172A"/>
                </a:solidFill>
              </a:defRPr>
            </a:pPr>
            <a:r>
              <a:rPr sz="1050" b="1">
                <a:solidFill>
                  <a:srgbClr val="0F172A"/>
                </a:solidFill>
              </a:rPr>
              <a:t>When it applies</a:t>
            </a:r>
          </a:p>
        </p:txBody>
      </p:sp>
      <p:sp>
        <p:nvSpPr>
          <p:cNvPr id="32" name="">
            <a:extLst xmlns:a="http://schemas.openxmlformats.org/drawingml/2006/main">
              <a:ext uri="{FF2B5EF4-FFF2-40B4-BE49-F238E27FC236}">
                <a16:creationId xmlns:a16="http://schemas.microsoft.com/office/drawing/2014/main" id="{36C27F19-E49F-4D71-8229-6BCF30BA4766}"/>
              </a:ext>
            </a:extLst>
          </p:cNvPr>
          <p:cNvSpPr>
            <a:spLocks xmlns:a="http://schemas.openxmlformats.org/drawingml/2006/main" noGrp="1"/>
          </p:cNvSpPr>
          <p:nvPr/>
        </p:nvSpPr>
        <p:spPr>
          <a:xfrm xmlns:a="http://schemas.openxmlformats.org/drawingml/2006/main">
            <a:off x="7648575" y="4953000"/>
            <a:ext cx="3543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1">
                <a:solidFill>
                  <a:srgbClr val="0F172A"/>
                </a:solidFill>
              </a:defRPr>
            </a:pPr>
            <a:r>
              <a:rPr sz="1050" b="1">
                <a:solidFill>
                  <a:srgbClr val="0F172A"/>
                </a:solidFill>
              </a:rPr>
              <a:t>Reason</a:t>
            </a:r>
          </a:p>
        </p:txBody>
      </p:sp>
      <p:sp>
        <p:nvSpPr>
          <p:cNvPr id="33" name="">
            <a:extLst xmlns:a="http://schemas.openxmlformats.org/drawingml/2006/main">
              <a:ext uri="{FF2B5EF4-FFF2-40B4-BE49-F238E27FC236}">
                <a16:creationId xmlns:a16="http://schemas.microsoft.com/office/drawing/2014/main" id="{ABF17381-88CB-45DA-961D-470E12EF03FE}"/>
              </a:ext>
            </a:extLst>
          </p:cNvPr>
          <p:cNvSpPr>
            <a:spLocks xmlns:a="http://schemas.openxmlformats.org/drawingml/2006/main" noGrp="1"/>
          </p:cNvSpPr>
          <p:nvPr/>
        </p:nvSpPr>
        <p:spPr>
          <a:xfrm xmlns:a="http://schemas.openxmlformats.org/drawingml/2006/main">
            <a:off x="609600" y="5181600"/>
            <a:ext cx="10668000" cy="361950"/>
          </a:xfrm>
          <a:prstGeom xmlns:a="http://schemas.openxmlformats.org/drawingml/2006/main" prst="rect">
            <a:avLst/>
          </a:prstGeom>
          <a:solidFill xmlns:a="http://schemas.openxmlformats.org/drawingml/2006/main">
            <a:srgbClr val="FFFFFF"/>
          </a:solidFill>
          <a:ln xmlns:a="http://schemas.openxmlformats.org/drawingml/2006/main" w="7620">
            <a:solidFill>
              <a:srgbClr val="CBD5E1"/>
            </a:solidFill>
            <a:prstDash val="solid"/>
          </a:ln>
        </p:spPr>
      </p:sp>
      <p:sp>
        <p:nvSpPr>
          <p:cNvPr id="34" name="">
            <a:extLst xmlns:a="http://schemas.openxmlformats.org/drawingml/2006/main">
              <a:ext uri="{FF2B5EF4-FFF2-40B4-BE49-F238E27FC236}">
                <a16:creationId xmlns:a16="http://schemas.microsoft.com/office/drawing/2014/main" id="{D3E75873-5A83-40D1-B44B-E350B69E6671}"/>
              </a:ext>
            </a:extLst>
          </p:cNvPr>
          <p:cNvSpPr>
            <a:spLocks xmlns:a="http://schemas.openxmlformats.org/drawingml/2006/main" noGrp="1"/>
          </p:cNvSpPr>
          <p:nvPr/>
        </p:nvSpPr>
        <p:spPr>
          <a:xfrm xmlns:a="http://schemas.openxmlformats.org/drawingml/2006/main">
            <a:off x="695325" y="5267325"/>
            <a:ext cx="2019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1">
                <a:solidFill>
                  <a:srgbClr val="2563EB"/>
                </a:solidFill>
              </a:defRPr>
            </a:pPr>
            <a:r>
              <a:rPr sz="1050" b="1">
                <a:solidFill>
                  <a:srgbClr val="2563EB"/>
                </a:solidFill>
              </a:rPr>
              <a:t>Low end: 10-15%</a:t>
            </a:r>
          </a:p>
        </p:txBody>
      </p:sp>
      <p:sp>
        <p:nvSpPr>
          <p:cNvPr id="35" name="">
            <a:extLst xmlns:a="http://schemas.openxmlformats.org/drawingml/2006/main">
              <a:ext uri="{FF2B5EF4-FFF2-40B4-BE49-F238E27FC236}">
                <a16:creationId xmlns:a16="http://schemas.microsoft.com/office/drawing/2014/main" id="{98E28E80-1178-4D29-8307-3B099EED6F78}"/>
              </a:ext>
            </a:extLst>
          </p:cNvPr>
          <p:cNvSpPr>
            <a:spLocks xmlns:a="http://schemas.openxmlformats.org/drawingml/2006/main" noGrp="1"/>
          </p:cNvSpPr>
          <p:nvPr/>
        </p:nvSpPr>
        <p:spPr>
          <a:xfrm xmlns:a="http://schemas.openxmlformats.org/drawingml/2006/main">
            <a:off x="2886075" y="5267325"/>
            <a:ext cx="45910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334155"/>
                </a:solidFill>
              </a:defRPr>
            </a:pPr>
            <a:r>
              <a:rPr sz="1050" b="0">
                <a:solidFill>
                  <a:srgbClr val="334155"/>
                </a:solidFill>
              </a:rPr>
              <a:t>KV is mostly hot, contexts are short, or pressure is light.</a:t>
            </a:r>
          </a:p>
        </p:txBody>
      </p:sp>
      <p:sp>
        <p:nvSpPr>
          <p:cNvPr id="36" name="">
            <a:extLst xmlns:a="http://schemas.openxmlformats.org/drawingml/2006/main">
              <a:ext uri="{FF2B5EF4-FFF2-40B4-BE49-F238E27FC236}">
                <a16:creationId xmlns:a16="http://schemas.microsoft.com/office/drawing/2014/main" id="{ECBAF44D-5376-4FB1-A561-1C97E755FC10}"/>
              </a:ext>
            </a:extLst>
          </p:cNvPr>
          <p:cNvSpPr>
            <a:spLocks xmlns:a="http://schemas.openxmlformats.org/drawingml/2006/main" noGrp="1"/>
          </p:cNvSpPr>
          <p:nvPr/>
        </p:nvSpPr>
        <p:spPr>
          <a:xfrm xmlns:a="http://schemas.openxmlformats.org/drawingml/2006/main">
            <a:off x="7648575" y="5267325"/>
            <a:ext cx="3543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334155"/>
                </a:solidFill>
              </a:defRPr>
            </a:pPr>
            <a:r>
              <a:rPr sz="1050" b="0">
                <a:solidFill>
                  <a:srgbClr val="334155"/>
                </a:solidFill>
              </a:rPr>
              <a:t>Hardware mainly removes small replay stalls.</a:t>
            </a:r>
          </a:p>
        </p:txBody>
      </p:sp>
      <p:sp>
        <p:nvSpPr>
          <p:cNvPr id="37" name="">
            <a:extLst xmlns:a="http://schemas.openxmlformats.org/drawingml/2006/main">
              <a:ext uri="{FF2B5EF4-FFF2-40B4-BE49-F238E27FC236}">
                <a16:creationId xmlns:a16="http://schemas.microsoft.com/office/drawing/2014/main" id="{6BDE23D1-365B-492D-9889-F8706AD0A995}"/>
              </a:ext>
            </a:extLst>
          </p:cNvPr>
          <p:cNvSpPr>
            <a:spLocks xmlns:a="http://schemas.openxmlformats.org/drawingml/2006/main" noGrp="1"/>
          </p:cNvSpPr>
          <p:nvPr/>
        </p:nvSpPr>
        <p:spPr>
          <a:xfrm xmlns:a="http://schemas.openxmlformats.org/drawingml/2006/main">
            <a:off x="609600" y="5543550"/>
            <a:ext cx="10668000" cy="361950"/>
          </a:xfrm>
          <a:prstGeom xmlns:a="http://schemas.openxmlformats.org/drawingml/2006/main" prst="rect">
            <a:avLst/>
          </a:prstGeom>
          <a:solidFill xmlns:a="http://schemas.openxmlformats.org/drawingml/2006/main">
            <a:srgbClr val="F8FAFC"/>
          </a:solidFill>
          <a:ln xmlns:a="http://schemas.openxmlformats.org/drawingml/2006/main" w="7620">
            <a:solidFill>
              <a:srgbClr val="CBD5E1"/>
            </a:solidFill>
            <a:prstDash val="solid"/>
          </a:ln>
        </p:spPr>
      </p:sp>
      <p:sp>
        <p:nvSpPr>
          <p:cNvPr id="38" name="">
            <a:extLst xmlns:a="http://schemas.openxmlformats.org/drawingml/2006/main">
              <a:ext uri="{FF2B5EF4-FFF2-40B4-BE49-F238E27FC236}">
                <a16:creationId xmlns:a16="http://schemas.microsoft.com/office/drawing/2014/main" id="{7BE61C62-835F-4575-83E8-B04EB02CCF05}"/>
              </a:ext>
            </a:extLst>
          </p:cNvPr>
          <p:cNvSpPr>
            <a:spLocks xmlns:a="http://schemas.openxmlformats.org/drawingml/2006/main" noGrp="1"/>
          </p:cNvSpPr>
          <p:nvPr/>
        </p:nvSpPr>
        <p:spPr>
          <a:xfrm xmlns:a="http://schemas.openxmlformats.org/drawingml/2006/main">
            <a:off x="695325" y="5629275"/>
            <a:ext cx="2019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1">
                <a:solidFill>
                  <a:srgbClr val="DC2626"/>
                </a:solidFill>
              </a:defRPr>
            </a:pPr>
            <a:r>
              <a:rPr sz="1050" b="1">
                <a:solidFill>
                  <a:srgbClr val="DC2626"/>
                </a:solidFill>
              </a:rPr>
              <a:t>High end: 25-30%+</a:t>
            </a:r>
          </a:p>
        </p:txBody>
      </p:sp>
      <p:sp>
        <p:nvSpPr>
          <p:cNvPr id="39" name="">
            <a:extLst xmlns:a="http://schemas.openxmlformats.org/drawingml/2006/main">
              <a:ext uri="{FF2B5EF4-FFF2-40B4-BE49-F238E27FC236}">
                <a16:creationId xmlns:a16="http://schemas.microsoft.com/office/drawing/2014/main" id="{2C6C85F1-3AC8-4547-8C0B-2C9FCCF65336}"/>
              </a:ext>
            </a:extLst>
          </p:cNvPr>
          <p:cNvSpPr>
            <a:spLocks xmlns:a="http://schemas.openxmlformats.org/drawingml/2006/main" noGrp="1"/>
          </p:cNvSpPr>
          <p:nvPr/>
        </p:nvSpPr>
        <p:spPr>
          <a:xfrm xmlns:a="http://schemas.openxmlformats.org/drawingml/2006/main">
            <a:off x="2886075" y="5629275"/>
            <a:ext cx="45910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334155"/>
                </a:solidFill>
              </a:defRPr>
            </a:pPr>
            <a:r>
              <a:rPr sz="1050" b="0">
                <a:solidFill>
                  <a:srgbClr val="334155"/>
                </a:solidFill>
              </a:rPr>
              <a:t>Long contexts, high pressure, frequent offload/reload, or recompute.</a:t>
            </a:r>
          </a:p>
        </p:txBody>
      </p:sp>
      <p:sp>
        <p:nvSpPr>
          <p:cNvPr id="40" name="">
            <a:extLst xmlns:a="http://schemas.openxmlformats.org/drawingml/2006/main">
              <a:ext uri="{FF2B5EF4-FFF2-40B4-BE49-F238E27FC236}">
                <a16:creationId xmlns:a16="http://schemas.microsoft.com/office/drawing/2014/main" id="{71048D73-7EBF-4C8B-ACB3-6EF2DB3F1FB8}"/>
              </a:ext>
            </a:extLst>
          </p:cNvPr>
          <p:cNvSpPr>
            <a:spLocks xmlns:a="http://schemas.openxmlformats.org/drawingml/2006/main" noGrp="1"/>
          </p:cNvSpPr>
          <p:nvPr/>
        </p:nvSpPr>
        <p:spPr>
          <a:xfrm xmlns:a="http://schemas.openxmlformats.org/drawingml/2006/main">
            <a:off x="7648575" y="5629275"/>
            <a:ext cx="3543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334155"/>
                </a:solidFill>
              </a:defRPr>
            </a:pPr>
            <a:r>
              <a:rPr sz="1050" b="0">
                <a:solidFill>
                  <a:srgbClr val="334155"/>
                </a:solidFill>
              </a:rPr>
              <a:t>Hardware avoids the expensive replay path.</a:t>
            </a:r>
          </a:p>
        </p:txBody>
      </p:sp>
      <p:sp>
        <p:nvSpPr>
          <p:cNvPr id="41" name="">
            <a:extLst xmlns:a="http://schemas.openxmlformats.org/drawingml/2006/main">
              <a:ext uri="{FF2B5EF4-FFF2-40B4-BE49-F238E27FC236}">
                <a16:creationId xmlns:a16="http://schemas.microsoft.com/office/drawing/2014/main" id="{3D16E2E6-695B-427B-A2BA-D569A2270624}"/>
              </a:ext>
            </a:extLst>
          </p:cNvPr>
          <p:cNvSpPr>
            <a:spLocks xmlns:a="http://schemas.openxmlformats.org/drawingml/2006/main" noGrp="1"/>
          </p:cNvSpPr>
          <p:nvPr/>
        </p:nvSpPr>
        <p:spPr>
          <a:xfrm xmlns:a="http://schemas.openxmlformats.org/drawingml/2006/main">
            <a:off x="876300" y="6029325"/>
            <a:ext cx="9906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425" b="1">
                <a:solidFill>
                  <a:srgbClr val="0F172A"/>
                </a:solidFill>
              </a:defRPr>
            </a:pPr>
            <a:r>
              <a:rPr sz="1425" b="1">
                <a:solidFill>
                  <a:srgbClr val="0F172A"/>
                </a:solidFill>
              </a:rPr>
              <a:t>Framing: these are conservative research targets; the prototype is meant to turn them into measured numbers.</a:t>
            </a:r>
          </a:p>
        </p:txBody>
      </p:sp>
      <p:sp>
        <p:nvSpPr>
          <p:cNvPr id="42" name="">
            <a:extLst xmlns:a="http://schemas.openxmlformats.org/drawingml/2006/main">
              <a:ext uri="{FF2B5EF4-FFF2-40B4-BE49-F238E27FC236}">
                <a16:creationId xmlns:a16="http://schemas.microsoft.com/office/drawing/2014/main" id="{83F94061-1833-4185-B3F0-29FA684265A9}"/>
              </a:ext>
            </a:extLst>
          </p:cNvPr>
          <p:cNvSpPr>
            <a:spLocks xmlns:a="http://schemas.openxmlformats.org/drawingml/2006/main" noGrp="1"/>
          </p:cNvSpPr>
          <p:nvPr/>
        </p:nvSpPr>
        <p:spPr>
          <a:xfrm xmlns:a="http://schemas.openxmlformats.org/drawingml/2006/main">
            <a:off x="419100" y="6400800"/>
            <a:ext cx="3619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0">
                <a:solidFill>
                  <a:srgbClr val="64748B"/>
                </a:solidFill>
              </a:defRPr>
            </a:pPr>
            <a:r>
              <a:rPr sz="975" b="0">
                <a:solidFill>
                  <a:srgbClr val="64748B"/>
                </a:solidFill>
              </a:rPr>
              <a:t>Agent-aware KV movement</a:t>
            </a:r>
          </a:p>
        </p:txBody>
      </p:sp>
      <p:sp>
        <p:nvSpPr>
          <p:cNvPr id="43" name="">
            <a:extLst xmlns:a="http://schemas.openxmlformats.org/drawingml/2006/main">
              <a:ext uri="{FF2B5EF4-FFF2-40B4-BE49-F238E27FC236}">
                <a16:creationId xmlns:a16="http://schemas.microsoft.com/office/drawing/2014/main" id="{A8B5DDA3-30C9-494B-8E37-79B3106E508F}"/>
              </a:ext>
            </a:extLst>
          </p:cNvPr>
          <p:cNvSpPr>
            <a:spLocks xmlns:a="http://schemas.openxmlformats.org/drawingml/2006/main" noGrp="1"/>
          </p:cNvSpPr>
          <p:nvPr/>
        </p:nvSpPr>
        <p:spPr>
          <a:xfrm xmlns:a="http://schemas.openxmlformats.org/drawingml/2006/main">
            <a:off x="11315700" y="64008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64748B"/>
                </a:solidFill>
              </a:defRPr>
            </a:pPr>
            <a:r>
              <a:rPr sz="975" b="0">
                <a:solidFill>
                  <a:srgbClr val="64748B"/>
                </a:solidFill>
              </a:rPr>
              <a:t>11</a:t>
            </a:r>
          </a:p>
        </p:txBody>
      </p:sp>
    </p:spTree>
    <p:extLst>
      <p:ext uri="{BB962C8B-B14F-4D97-AF65-F5344CB8AC3E}">
        <p14:creationId xmlns:p14="http://schemas.microsoft.com/office/powerpoint/2010/main" val="496324710"/>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57FF6920-A6BF-4A4F-A963-9BC9D42DBA0B}"/>
              </a:ext>
            </a:extLst>
          </p:cNvPr>
          <p:cNvSpPr>
            <a:spLocks xmlns:a="http://schemas.openxmlformats.org/drawingml/2006/main" noGrp="1"/>
          </p:cNvSpPr>
          <p:nvPr/>
        </p:nvSpPr>
        <p:spPr>
          <a:xfrm xmlns:a="http://schemas.openxmlformats.org/drawingml/2006/main">
            <a:off x="419100" y="32385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F172A"/>
                </a:solidFill>
              </a:defRPr>
            </a:pPr>
            <a:r>
              <a:rPr sz="2925" b="1">
                <a:solidFill>
                  <a:srgbClr val="0F172A"/>
                </a:solidFill>
              </a:rPr>
              <a:t>Hardware support can make hints enforceable</a:t>
            </a:r>
          </a:p>
        </p:txBody>
      </p:sp>
      <p:sp>
        <p:nvSpPr>
          <p:cNvPr id="2" name="">
            <a:extLst xmlns:a="http://schemas.openxmlformats.org/drawingml/2006/main">
              <a:ext uri="{FF2B5EF4-FFF2-40B4-BE49-F238E27FC236}">
                <a16:creationId xmlns:a16="http://schemas.microsoft.com/office/drawing/2014/main" id="{22C3FB72-7F7D-45CA-8CAA-EB17BB02B42D}"/>
              </a:ext>
            </a:extLst>
          </p:cNvPr>
          <p:cNvSpPr>
            <a:spLocks xmlns:a="http://schemas.openxmlformats.org/drawingml/2006/main" noGrp="1"/>
          </p:cNvSpPr>
          <p:nvPr/>
        </p:nvSpPr>
        <p:spPr>
          <a:xfrm xmlns:a="http://schemas.openxmlformats.org/drawingml/2006/main">
            <a:off x="438150" y="914400"/>
            <a:ext cx="1047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64748B"/>
                </a:solidFill>
              </a:defRPr>
            </a:pPr>
            <a:r>
              <a:rPr sz="1500" b="0">
                <a:solidFill>
                  <a:srgbClr val="64748B"/>
                </a:solidFill>
              </a:rPr>
              <a:t>Treat KV as deadline-sensitive memory, not generic bytes.</a:t>
            </a:r>
          </a:p>
        </p:txBody>
      </p:sp>
      <p:sp>
        <p:nvSpPr>
          <p:cNvPr id="3" name="">
            <a:extLst xmlns:a="http://schemas.openxmlformats.org/drawingml/2006/main">
              <a:ext uri="{FF2B5EF4-FFF2-40B4-BE49-F238E27FC236}">
                <a16:creationId xmlns:a16="http://schemas.microsoft.com/office/drawing/2014/main" id="{F29F3426-107A-49BA-8F95-2B2111188A12}"/>
              </a:ext>
            </a:extLst>
          </p:cNvPr>
          <p:cNvSpPr>
            <a:spLocks xmlns:a="http://schemas.openxmlformats.org/drawingml/2006/main" noGrp="1"/>
          </p:cNvSpPr>
          <p:nvPr/>
        </p:nvSpPr>
        <p:spPr>
          <a:xfrm xmlns:a="http://schemas.openxmlformats.org/drawingml/2006/main">
            <a:off x="857250" y="167640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1">
                <a:solidFill>
                  <a:srgbClr val="2563EB"/>
                </a:solidFill>
              </a:defRPr>
            </a:pPr>
            <a:r>
              <a:rPr sz="2025" b="1">
                <a:solidFill>
                  <a:srgbClr val="2563EB"/>
                </a:solidFill>
              </a:rPr>
              <a:t>•</a:t>
            </a:r>
          </a:p>
        </p:txBody>
      </p:sp>
      <p:sp>
        <p:nvSpPr>
          <p:cNvPr id="4" name="">
            <a:extLst xmlns:a="http://schemas.openxmlformats.org/drawingml/2006/main">
              <a:ext uri="{FF2B5EF4-FFF2-40B4-BE49-F238E27FC236}">
                <a16:creationId xmlns:a16="http://schemas.microsoft.com/office/drawing/2014/main" id="{B67F276E-06E0-477E-934A-47FC1F0E55B3}"/>
              </a:ext>
            </a:extLst>
          </p:cNvPr>
          <p:cNvSpPr>
            <a:spLocks xmlns:a="http://schemas.openxmlformats.org/drawingml/2006/main" noGrp="1"/>
          </p:cNvSpPr>
          <p:nvPr/>
        </p:nvSpPr>
        <p:spPr>
          <a:xfrm xmlns:a="http://schemas.openxmlformats.org/drawingml/2006/main">
            <a:off x="1143000" y="1695450"/>
            <a:ext cx="9715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75" b="0">
                <a:solidFill>
                  <a:srgbClr val="334155"/>
                </a:solidFill>
              </a:defRPr>
            </a:pPr>
            <a:r>
              <a:rPr sz="1875" b="0">
                <a:solidFill>
                  <a:srgbClr val="334155"/>
                </a:solidFill>
              </a:rPr>
              <a:t>KV page/session metadata: which agent owns this KV and how urgent is it?</a:t>
            </a:r>
          </a:p>
        </p:txBody>
      </p:sp>
      <p:sp>
        <p:nvSpPr>
          <p:cNvPr id="5" name="">
            <a:extLst xmlns:a="http://schemas.openxmlformats.org/drawingml/2006/main">
              <a:ext uri="{FF2B5EF4-FFF2-40B4-BE49-F238E27FC236}">
                <a16:creationId xmlns:a16="http://schemas.microsoft.com/office/drawing/2014/main" id="{D14FFE8F-4AFE-4F53-B466-CBBFF05FA262}"/>
              </a:ext>
            </a:extLst>
          </p:cNvPr>
          <p:cNvSpPr>
            <a:spLocks xmlns:a="http://schemas.openxmlformats.org/drawingml/2006/main" noGrp="1"/>
          </p:cNvSpPr>
          <p:nvPr/>
        </p:nvSpPr>
        <p:spPr>
          <a:xfrm xmlns:a="http://schemas.openxmlformats.org/drawingml/2006/main">
            <a:off x="857250" y="236220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1">
                <a:solidFill>
                  <a:srgbClr val="9333EA"/>
                </a:solidFill>
              </a:defRPr>
            </a:pPr>
            <a:r>
              <a:rPr sz="2025" b="1">
                <a:solidFill>
                  <a:srgbClr val="9333EA"/>
                </a:solidFill>
              </a:rPr>
              <a:t>•</a:t>
            </a:r>
          </a:p>
        </p:txBody>
      </p:sp>
      <p:sp>
        <p:nvSpPr>
          <p:cNvPr id="6" name="">
            <a:extLst xmlns:a="http://schemas.openxmlformats.org/drawingml/2006/main">
              <a:ext uri="{FF2B5EF4-FFF2-40B4-BE49-F238E27FC236}">
                <a16:creationId xmlns:a16="http://schemas.microsoft.com/office/drawing/2014/main" id="{6B4750E0-9356-4DDE-8CA9-5CA794160CD0}"/>
              </a:ext>
            </a:extLst>
          </p:cNvPr>
          <p:cNvSpPr>
            <a:spLocks xmlns:a="http://schemas.openxmlformats.org/drawingml/2006/main" noGrp="1"/>
          </p:cNvSpPr>
          <p:nvPr/>
        </p:nvSpPr>
        <p:spPr>
          <a:xfrm xmlns:a="http://schemas.openxmlformats.org/drawingml/2006/main">
            <a:off x="1143000" y="2381250"/>
            <a:ext cx="9715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75" b="0">
                <a:solidFill>
                  <a:srgbClr val="334155"/>
                </a:solidFill>
              </a:defRPr>
            </a:pPr>
            <a:r>
              <a:rPr sz="1875" b="0">
                <a:solidFill>
                  <a:srgbClr val="334155"/>
                </a:solidFill>
              </a:rPr>
              <a:t>Deadline-aware migration queue: move urgent KV before less urgent traffic.</a:t>
            </a:r>
          </a:p>
        </p:txBody>
      </p:sp>
      <p:sp>
        <p:nvSpPr>
          <p:cNvPr id="7" name="">
            <a:extLst xmlns:a="http://schemas.openxmlformats.org/drawingml/2006/main">
              <a:ext uri="{FF2B5EF4-FFF2-40B4-BE49-F238E27FC236}">
                <a16:creationId xmlns:a16="http://schemas.microsoft.com/office/drawing/2014/main" id="{8A347B0F-D736-4503-A755-E0212033ADAB}"/>
              </a:ext>
            </a:extLst>
          </p:cNvPr>
          <p:cNvSpPr>
            <a:spLocks xmlns:a="http://schemas.openxmlformats.org/drawingml/2006/main" noGrp="1"/>
          </p:cNvSpPr>
          <p:nvPr/>
        </p:nvSpPr>
        <p:spPr>
          <a:xfrm xmlns:a="http://schemas.openxmlformats.org/drawingml/2006/main">
            <a:off x="857250" y="304800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1">
                <a:solidFill>
                  <a:srgbClr val="16A34A"/>
                </a:solidFill>
              </a:defRPr>
            </a:pPr>
            <a:r>
              <a:rPr sz="2025" b="1">
                <a:solidFill>
                  <a:srgbClr val="16A34A"/>
                </a:solidFill>
              </a:rPr>
              <a:t>•</a:t>
            </a:r>
          </a:p>
        </p:txBody>
      </p:sp>
      <p:sp>
        <p:nvSpPr>
          <p:cNvPr id="8" name="">
            <a:extLst xmlns:a="http://schemas.openxmlformats.org/drawingml/2006/main">
              <a:ext uri="{FF2B5EF4-FFF2-40B4-BE49-F238E27FC236}">
                <a16:creationId xmlns:a16="http://schemas.microsoft.com/office/drawing/2014/main" id="{38052B10-C9F3-4995-91D9-C5CE375822E6}"/>
              </a:ext>
            </a:extLst>
          </p:cNvPr>
          <p:cNvSpPr>
            <a:spLocks xmlns:a="http://schemas.openxmlformats.org/drawingml/2006/main" noGrp="1"/>
          </p:cNvSpPr>
          <p:nvPr/>
        </p:nvSpPr>
        <p:spPr>
          <a:xfrm xmlns:a="http://schemas.openxmlformats.org/drawingml/2006/main">
            <a:off x="1143000" y="3067050"/>
            <a:ext cx="9715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75" b="0">
                <a:solidFill>
                  <a:srgbClr val="334155"/>
                </a:solidFill>
              </a:defRPr>
            </a:pPr>
            <a:r>
              <a:rPr sz="1875" b="0">
                <a:solidFill>
                  <a:srgbClr val="334155"/>
                </a:solidFill>
              </a:rPr>
              <a:t>Residency protection: keep useful prefetched KV from being evicted too early.</a:t>
            </a:r>
          </a:p>
        </p:txBody>
      </p:sp>
      <p:sp>
        <p:nvSpPr>
          <p:cNvPr id="9" name="">
            <a:extLst xmlns:a="http://schemas.openxmlformats.org/drawingml/2006/main">
              <a:ext uri="{FF2B5EF4-FFF2-40B4-BE49-F238E27FC236}">
                <a16:creationId xmlns:a16="http://schemas.microsoft.com/office/drawing/2014/main" id="{CA153E0A-45DA-483C-8DBA-3DB57AC72815}"/>
              </a:ext>
            </a:extLst>
          </p:cNvPr>
          <p:cNvSpPr>
            <a:spLocks xmlns:a="http://schemas.openxmlformats.org/drawingml/2006/main" noGrp="1"/>
          </p:cNvSpPr>
          <p:nvPr/>
        </p:nvSpPr>
        <p:spPr>
          <a:xfrm xmlns:a="http://schemas.openxmlformats.org/drawingml/2006/main">
            <a:off x="857250" y="373380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1">
                <a:solidFill>
                  <a:srgbClr val="0891B2"/>
                </a:solidFill>
              </a:defRPr>
            </a:pPr>
            <a:r>
              <a:rPr sz="2025" b="1">
                <a:solidFill>
                  <a:srgbClr val="0891B2"/>
                </a:solidFill>
              </a:rPr>
              <a:t>•</a:t>
            </a:r>
          </a:p>
        </p:txBody>
      </p:sp>
      <p:sp>
        <p:nvSpPr>
          <p:cNvPr id="10" name="">
            <a:extLst xmlns:a="http://schemas.openxmlformats.org/drawingml/2006/main">
              <a:ext uri="{FF2B5EF4-FFF2-40B4-BE49-F238E27FC236}">
                <a16:creationId xmlns:a16="http://schemas.microsoft.com/office/drawing/2014/main" id="{CAB8B715-1E09-44EB-9423-980AF2C0C312}"/>
              </a:ext>
            </a:extLst>
          </p:cNvPr>
          <p:cNvSpPr>
            <a:spLocks xmlns:a="http://schemas.openxmlformats.org/drawingml/2006/main" noGrp="1"/>
          </p:cNvSpPr>
          <p:nvPr/>
        </p:nvSpPr>
        <p:spPr>
          <a:xfrm xmlns:a="http://schemas.openxmlformats.org/drawingml/2006/main">
            <a:off x="1143000" y="3752850"/>
            <a:ext cx="9715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75" b="0">
                <a:solidFill>
                  <a:srgbClr val="334155"/>
                </a:solidFill>
              </a:defRPr>
            </a:pPr>
            <a:r>
              <a:rPr sz="1875" b="0">
                <a:solidFill>
                  <a:srgbClr val="334155"/>
                </a:solidFill>
              </a:rPr>
              <a:t>Telemetry: count useful, late, wasted, and evicted-before-use movement.</a:t>
            </a:r>
          </a:p>
        </p:txBody>
      </p:sp>
      <p:sp>
        <p:nvSpPr>
          <p:cNvPr id="11" name="">
            <a:extLst xmlns:a="http://schemas.openxmlformats.org/drawingml/2006/main">
              <a:ext uri="{FF2B5EF4-FFF2-40B4-BE49-F238E27FC236}">
                <a16:creationId xmlns:a16="http://schemas.microsoft.com/office/drawing/2014/main" id="{9A5644F5-9A20-467E-A72B-9016BD4CC8FA}"/>
              </a:ext>
            </a:extLst>
          </p:cNvPr>
          <p:cNvSpPr>
            <a:spLocks xmlns:a="http://schemas.openxmlformats.org/drawingml/2006/main" noGrp="1"/>
          </p:cNvSpPr>
          <p:nvPr/>
        </p:nvSpPr>
        <p:spPr>
          <a:xfrm xmlns:a="http://schemas.openxmlformats.org/drawingml/2006/main">
            <a:off x="419100" y="5257800"/>
            <a:ext cx="11353800" cy="11430"/>
          </a:xfrm>
          <a:prstGeom xmlns:a="http://schemas.openxmlformats.org/drawingml/2006/main" prst="rect">
            <a:avLst/>
          </a:prstGeom>
          <a:solidFill xmlns:a="http://schemas.openxmlformats.org/drawingml/2006/main">
            <a:srgbClr val="CBD5E1"/>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AB716F4-E1D2-433A-B8D1-38767E4E5E34}"/>
              </a:ext>
            </a:extLst>
          </p:cNvPr>
          <p:cNvSpPr>
            <a:spLocks xmlns:a="http://schemas.openxmlformats.org/drawingml/2006/main" noGrp="1"/>
          </p:cNvSpPr>
          <p:nvPr/>
        </p:nvSpPr>
        <p:spPr>
          <a:xfrm xmlns:a="http://schemas.openxmlformats.org/drawingml/2006/main">
            <a:off x="857250" y="5524500"/>
            <a:ext cx="10191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575" b="1">
                <a:solidFill>
                  <a:srgbClr val="0F172A"/>
                </a:solidFill>
              </a:defRPr>
            </a:pPr>
            <a:r>
              <a:rPr sz="1575" b="1">
                <a:solidFill>
                  <a:srgbClr val="0F172A"/>
                </a:solidFill>
              </a:rPr>
              <a:t>Research question: how much replay latency and wasted movement can be avoided when KV movement has session context, priority, deadline, protection, and telemetry?</a:t>
            </a:r>
          </a:p>
        </p:txBody>
      </p:sp>
      <p:sp>
        <p:nvSpPr>
          <p:cNvPr id="13" name="">
            <a:extLst xmlns:a="http://schemas.openxmlformats.org/drawingml/2006/main">
              <a:ext uri="{FF2B5EF4-FFF2-40B4-BE49-F238E27FC236}">
                <a16:creationId xmlns:a16="http://schemas.microsoft.com/office/drawing/2014/main" id="{65472C9F-39F7-42E3-A5CE-645F885A1B37}"/>
              </a:ext>
            </a:extLst>
          </p:cNvPr>
          <p:cNvSpPr>
            <a:spLocks xmlns:a="http://schemas.openxmlformats.org/drawingml/2006/main" noGrp="1"/>
          </p:cNvSpPr>
          <p:nvPr/>
        </p:nvSpPr>
        <p:spPr>
          <a:xfrm xmlns:a="http://schemas.openxmlformats.org/drawingml/2006/main">
            <a:off x="419100" y="6400800"/>
            <a:ext cx="3619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0">
                <a:solidFill>
                  <a:srgbClr val="64748B"/>
                </a:solidFill>
              </a:defRPr>
            </a:pPr>
            <a:r>
              <a:rPr sz="975" b="0">
                <a:solidFill>
                  <a:srgbClr val="64748B"/>
                </a:solidFill>
              </a:rPr>
              <a:t>Agent-aware KV movement</a:t>
            </a:r>
          </a:p>
        </p:txBody>
      </p:sp>
      <p:sp>
        <p:nvSpPr>
          <p:cNvPr id="14" name="">
            <a:extLst xmlns:a="http://schemas.openxmlformats.org/drawingml/2006/main">
              <a:ext uri="{FF2B5EF4-FFF2-40B4-BE49-F238E27FC236}">
                <a16:creationId xmlns:a16="http://schemas.microsoft.com/office/drawing/2014/main" id="{9318CD37-BC14-4927-AE5A-6B94EC7F3BFA}"/>
              </a:ext>
            </a:extLst>
          </p:cNvPr>
          <p:cNvSpPr>
            <a:spLocks xmlns:a="http://schemas.openxmlformats.org/drawingml/2006/main" noGrp="1"/>
          </p:cNvSpPr>
          <p:nvPr/>
        </p:nvSpPr>
        <p:spPr>
          <a:xfrm xmlns:a="http://schemas.openxmlformats.org/drawingml/2006/main">
            <a:off x="11315700" y="64008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64748B"/>
                </a:solidFill>
              </a:defRPr>
            </a:pPr>
            <a:r>
              <a:rPr sz="975" b="0">
                <a:solidFill>
                  <a:srgbClr val="64748B"/>
                </a:solidFill>
              </a:rPr>
              <a:t>12</a:t>
            </a:r>
          </a:p>
        </p:txBody>
      </p:sp>
    </p:spTree>
    <p:extLst>
      <p:ext uri="{BB962C8B-B14F-4D97-AF65-F5344CB8AC3E}">
        <p14:creationId xmlns:p14="http://schemas.microsoft.com/office/powerpoint/2010/main" val="125403689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2026-08-19T17:29:56.5000000Z</dcterms:created>
  <dcterms:modified xsi:type="dcterms:W3CDTF">2026-08-19T17:29:56.5000000Z</dcterms:modified>
</coreProperties>
</file>