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9f7be4193c49db" /><Relationship Type="http://schemas.openxmlformats.org/officeDocument/2006/relationships/extended-properties" Target="/docProps/app.xml" Id="Re39aff80f1c641c7" /><Relationship Type="http://schemas.openxmlformats.org/officeDocument/2006/relationships/officeDocument" Target="/ppt/presentation.xml" Id="R154ba191af734d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2f3b2e08af44f7"/>
  </p:sldMasterIdLst>
  <p:notesMasterIdLst>
    <p:notesMasterId xmlns:r="http://schemas.openxmlformats.org/officeDocument/2006/relationships" r:id="Rede9b1d8cd8847b6"/>
  </p:notesMasterIdLst>
  <p:sldIdLst>
    <p:sldId xmlns:r="http://schemas.openxmlformats.org/officeDocument/2006/relationships" id="256" r:id="R47780e98d4ba4e89"/>
    <p:sldId xmlns:r="http://schemas.openxmlformats.org/officeDocument/2006/relationships" id="257" r:id="R93251a3c4ceb449c"/>
    <p:sldId xmlns:r="http://schemas.openxmlformats.org/officeDocument/2006/relationships" id="258" r:id="R842fadeab3894f37"/>
    <p:sldId xmlns:r="http://schemas.openxmlformats.org/officeDocument/2006/relationships" id="259" r:id="Rffe7b6e06a754a9d"/>
    <p:sldId xmlns:r="http://schemas.openxmlformats.org/officeDocument/2006/relationships" id="260" r:id="R01057d24ff7e4320"/>
    <p:sldId xmlns:r="http://schemas.openxmlformats.org/officeDocument/2006/relationships" id="261" r:id="R7677af7031d44c2c"/>
    <p:sldId xmlns:r="http://schemas.openxmlformats.org/officeDocument/2006/relationships" id="262" r:id="Rf7c85b66392b4b7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21048b706346e8" /><Relationship Type="http://schemas.openxmlformats.org/officeDocument/2006/relationships/slideMaster" Target="/ppt/slideMasters/slideMaster1.xml" Id="Rea2f3b2e08af44f7" /><Relationship Type="http://schemas.openxmlformats.org/officeDocument/2006/relationships/notesMaster" Target="/ppt/notesMasters/notesMaster1.xml" Id="Rede9b1d8cd8847b6" /><Relationship Type="http://schemas.openxmlformats.org/officeDocument/2006/relationships/presProps" Target="/ppt/presProps.xml" Id="Rb1d036a7a3f14279" /><Relationship Type="http://schemas.openxmlformats.org/officeDocument/2006/relationships/tableStyles" Target="/ppt/tableStyles.xml" Id="R114fbb3c71af4c67" /><Relationship Type="http://schemas.openxmlformats.org/officeDocument/2006/relationships/slide" Target="/ppt/slides/slide1.xml" Id="R47780e98d4ba4e89" /><Relationship Type="http://schemas.openxmlformats.org/officeDocument/2006/relationships/slide" Target="/ppt/slides/slide2.xml" Id="R93251a3c4ceb449c" /><Relationship Type="http://schemas.openxmlformats.org/officeDocument/2006/relationships/slide" Target="/ppt/slides/slide3.xml" Id="R842fadeab3894f37" /><Relationship Type="http://schemas.openxmlformats.org/officeDocument/2006/relationships/slide" Target="/ppt/slides/slide4.xml" Id="Rffe7b6e06a754a9d" /><Relationship Type="http://schemas.openxmlformats.org/officeDocument/2006/relationships/slide" Target="/ppt/slides/slide5.xml" Id="R01057d24ff7e4320" /><Relationship Type="http://schemas.openxmlformats.org/officeDocument/2006/relationships/slide" Target="/ppt/slides/slide6.xml" Id="R7677af7031d44c2c" /><Relationship Type="http://schemas.openxmlformats.org/officeDocument/2006/relationships/slide" Target="/ppt/slides/slide7.xml" Id="Rf7c85b66392b4b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7f541b664b48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fc04d55efa41a0" /><Relationship Type="http://schemas.openxmlformats.org/officeDocument/2006/relationships/notesMaster" Target="/ppt/notesMasters/notesMaster1.xml" Id="Rd1eada0c4cf34f4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21c27208884fd4" /><Relationship Type="http://schemas.openxmlformats.org/officeDocument/2006/relationships/notesMaster" Target="/ppt/notesMasters/notesMaster1.xml" Id="R9d0e8571da8a46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8dbf0e12c44ff1" /><Relationship Type="http://schemas.openxmlformats.org/officeDocument/2006/relationships/notesMaster" Target="/ppt/notesMasters/notesMaster1.xml" Id="R43f35993e86041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9ae08d3c034ec1" /><Relationship Type="http://schemas.openxmlformats.org/officeDocument/2006/relationships/notesMaster" Target="/ppt/notesMasters/notesMaster1.xml" Id="R964cb184386f415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900b53162140a2" /><Relationship Type="http://schemas.openxmlformats.org/officeDocument/2006/relationships/notesMaster" Target="/ppt/notesMasters/notesMaster1.xml" Id="Rc54d5de436f34c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03d28ea6b64b49" /><Relationship Type="http://schemas.openxmlformats.org/officeDocument/2006/relationships/notesMaster" Target="/ppt/notesMasters/notesMaster1.xml" Id="R9f67b222302f469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359afbe4682487a" /><Relationship Type="http://schemas.openxmlformats.org/officeDocument/2006/relationships/notesMaster" Target="/ppt/notesMasters/notesMaster1.xml" Id="Rfbafa4f0547d41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 slide. Position this as a hardware/runtime co-design question, not just an SGLang software optimization.</a:t>
            </a:r>
          </a:p>
          <a:p xmlns:a="http://schemas.openxmlformats.org/drawingml/2006/main">
            <a:r>
              <a:t>The goal statement is based on the project framing discussed in this thread.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  <a:p xmlns:a="http://schemas.openxmlformats.org/drawingml/2006/main">
            <a:r>
              <a:t>Backup report: /Users/oluwolejaiyeoba/Documents/GitHub/agentic_hardware/backups/latest_master_report-1.html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frames the hardware opportunity: hints must become enforceable by the memory movement path.</a:t>
            </a:r>
          </a:p>
          <a:p xmlns:a="http://schemas.openxmlformats.org/drawingml/2006/main">
            <a:r>
              <a:t>Hardware examples include SDMA, CPU-side DMA, NIC DMA, SSD DMA, and copy/migration engines.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  <a:p xmlns:a="http://schemas.openxmlformats.org/drawingml/2006/main">
            <a:r>
              <a:t>Backup report: /Users/oluwolejaiyeoba/Documents/GitHub/agentic_hardware/backups/latest_master_report-1.html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narrative chart. It shows the initial model turn, tool wait, replay path, replay-side H2D, recompute, prefill, and decode.</a:t>
            </a:r>
          </a:p>
          <a:p xmlns:a="http://schemas.openxmlformats.org/drawingml/2006/main">
            <a:r>
              <a:t>The image is a cropped view of the Readable Phase Timeline in latest_master_report.html.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  <a:p xmlns:a="http://schemas.openxmlformats.org/drawingml/2006/main">
            <a:r>
              <a:t>Backup report: /Users/oluwolejaiyeoba/Documents/GitHub/agentic_hardware/backups/latest_master_report-1.html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global prefetch-attempt evidence. The backup report shows 114 matched prefetch attempts, 112 late, and 98.25% late.</a:t>
            </a:r>
          </a:p>
          <a:p xmlns:a="http://schemas.openxmlformats.org/drawingml/2006/main">
            <a:r>
              <a:t>Use it to show that software prefetch through the normal serving path often misses tight replay windows.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  <a:p xmlns:a="http://schemas.openxmlformats.org/drawingml/2006/main">
            <a:r>
              <a:t>Backup report: /Users/oluwolejaiyeoba/Documents/GitHub/agentic_hardware/backups/latest_master_report-1.html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aggregate evidence slide. The current controlled no-prefetch run reports 8 no-prefetch replay H2D gaps and 8 late H2D finishes.</a:t>
            </a:r>
          </a:p>
          <a:p xmlns:a="http://schemas.openxmlformats.org/drawingml/2006/main">
            <a:r>
              <a:t>Measured claim source: Global Replay H2D Readiness table and dot plot in latest_master_report.html.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  <a:p xmlns:a="http://schemas.openxmlformats.org/drawingml/2006/main">
            <a:r>
              <a:t>Backup report: /Users/oluwolejaiyeoba/Documents/GitHub/agentic_hardware/backups/latest_master_report-1.html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chart separates replay due, client submit, SGLang receive, scheduler queue/admit, H2D start, and H2D finish.</a:t>
            </a:r>
          </a:p>
          <a:p xmlns:a="http://schemas.openxmlformats.org/drawingml/2006/main">
            <a:r>
              <a:t>The key manager takeaway: a hint-aware design should influence scheduling and priority, not merely request more copies.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  <a:p xmlns:a="http://schemas.openxmlformats.org/drawingml/2006/main">
            <a:r>
              <a:t>Backup report: /Users/oluwolejaiyeoba/Documents/GitHub/agentic_hardware/backups/latest_master_report-1.html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Closing slide. This translates observed software/runtime behavior into concrete hardware support candidates.</a:t>
            </a:r>
          </a:p>
          <a:p xmlns:a="http://schemas.openxmlformats.org/drawingml/2006/main">
            <a:r>
              <a:t>Hardware ideas come from the project proposal: KV metadata, deadline-aware queues, priority-aware migration, residency protection, and telemetry.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report: /Users/oluwolejaiyeoba/Documents/GitHub/agentic_hardware/sglang_direct_kv/artifacts/results/latest_master_report.html</a:t>
            </a:r>
          </a:p>
          <a:p xmlns:a="http://schemas.openxmlformats.org/drawingml/2006/main">
            <a:r>
              <a:t>Backup report: /Users/oluwolejaiyeoba/Documents/GitHub/agentic_hardware/backups/latest_master_report-1.html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09b6707ab247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e40c96a323473c" /><Relationship Type="http://schemas.openxmlformats.org/officeDocument/2006/relationships/slideLayout" Target="/ppt/slideLayouts/slideLayout1.xml" Id="R2785d58bf67c4c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85d58bf67c4c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3e5b1155f43a2" /><Relationship Type="http://schemas.openxmlformats.org/officeDocument/2006/relationships/notesSlide" Target="/ppt/notesSlides/notesSlide1.xml" Id="Rca0fdcb4e33246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e097298514ded" /><Relationship Type="http://schemas.openxmlformats.org/officeDocument/2006/relationships/notesSlide" Target="/ppt/notesSlides/notesSlide2.xml" Id="Rb39ff67996fa4b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4154fd1ff84292" /><Relationship Type="http://schemas.openxmlformats.org/officeDocument/2006/relationships/image" Target="/ppt/media/image.png" Id="Rd205bdf265774c30" /><Relationship Type="http://schemas.openxmlformats.org/officeDocument/2006/relationships/notesSlide" Target="/ppt/notesSlides/notesSlide3.xml" Id="Rf953a7a1f09146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6d509b4874723" /><Relationship Type="http://schemas.openxmlformats.org/officeDocument/2006/relationships/image" Target="/ppt/media/image2.png" Id="Rd8aac8461c814508" /><Relationship Type="http://schemas.openxmlformats.org/officeDocument/2006/relationships/notesSlide" Target="/ppt/notesSlides/notesSlide4.xml" Id="R7501868a86fa48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28eb6e07e4882" /><Relationship Type="http://schemas.openxmlformats.org/officeDocument/2006/relationships/image" Target="/ppt/media/image3.png" Id="Rd0e0a79e4b864b1d" /><Relationship Type="http://schemas.openxmlformats.org/officeDocument/2006/relationships/notesSlide" Target="/ppt/notesSlides/notesSlide5.xml" Id="Rc52d0d70a4af49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10b3decfae471b" /><Relationship Type="http://schemas.openxmlformats.org/officeDocument/2006/relationships/image" Target="/ppt/media/image4.png" Id="Rfaf9b8baf3cf40c3" /><Relationship Type="http://schemas.openxmlformats.org/officeDocument/2006/relationships/notesSlide" Target="/ppt/notesSlides/notesSlide6.xml" Id="Rdb804b55933e43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5cbd693724fe3" /><Relationship Type="http://schemas.openxmlformats.org/officeDocument/2006/relationships/notesSlide" Target="/ppt/notesSlides/notesSlide7.xml" Id="Rf79f4eb3786f4b8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958EC4-084F-43BB-A1DF-CD708528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8382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</a:defRPr>
            </a:pPr>
            <a:r>
              <a:rPr sz="4350" b="1">
                <a:solidFill>
                  <a:srgbClr val="0F172A"/>
                </a:solidFill>
              </a:rPr>
              <a:t>Making KV Movement Agent-Aware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6BBBD2-6EE6-4ECA-8239-23AF8406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885950"/>
            <a:ext cx="6667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34155"/>
                </a:solidFill>
              </a:defRPr>
            </a:pPr>
            <a:r>
              <a:rPr sz="1800" b="0">
                <a:solidFill>
                  <a:srgbClr val="334155"/>
                </a:solidFill>
              </a:rPr>
              <a:t>Coding agents pause during tool calls, then resume with tight latency expectations. The question is whether the memory system can move the right KV before replay arrives.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4E77F-CD02-47D5-AAEF-DE45FC5B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0"/>
            <a:ext cx="16192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5EC0E3-6AB8-4D2E-9C63-CB8E4A05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57625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model turn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8B087B-1ECE-4428-B50C-16198F8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147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4748B"/>
                </a:solidFill>
              </a:defRPr>
            </a:pPr>
            <a:r>
              <a:rPr sz="24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FCF74-2AB3-4C7F-83B6-CB6784D7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714750"/>
            <a:ext cx="16192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9F69EF-6C4C-4083-8A32-48E931A8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857625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tool wait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F886A2-E72D-4E46-8EBF-9AC24BAA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39147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4748B"/>
                </a:solidFill>
              </a:defRPr>
            </a:pPr>
            <a:r>
              <a:rPr sz="24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150986-ADBA-4011-98F3-5CE43E19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14750"/>
            <a:ext cx="16192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E751F7-8EA2-4655-B922-69DC2007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57625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replay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D304B6-3BAC-45A6-9F6C-53E46FA4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147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64748B"/>
                </a:solidFill>
              </a:defRPr>
            </a:pPr>
            <a:r>
              <a:rPr sz="240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430C5-FA62-4ACA-8146-EAFD2DAD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14750"/>
            <a:ext cx="16192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3E27A1-E09F-4C1E-95A0-40BDC32B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57625"/>
            <a:ext cx="13525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KV ready?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2B1A88-8AE0-4005-A8C8-2C92055B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05150"/>
            <a:ext cx="2647950" cy="184785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F9BA3E-33EB-43D1-A170-376786FF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3718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Project goal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D829E-C3B5-4F3D-8D8B-D1A6A987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752850"/>
            <a:ext cx="209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Quantify the gap and prototype hint-guided KV movement as a path toward smarter DMA engines and runtime co-design.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9DADA-61E4-4736-AAFD-9F448C83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7BD7DA-0E88-4657-B260-F84330200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684450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304212-966E-44B6-8F26-05EBEC3CD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Today’s DMA engines move bytes, not intent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C767E8-0849-45F5-8D52-B4AB742D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hardware path is fast, but it usually lacks agent/session semantics.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934149-74FB-4362-932E-00984051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495300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92E4E6-4CE4-4DA4-90DF-A8DAFFA0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F172A"/>
                </a:solidFill>
              </a:defRPr>
            </a:pPr>
            <a:r>
              <a:rPr sz="1950" b="1">
                <a:solidFill>
                  <a:srgbClr val="0F172A"/>
                </a:solidFill>
              </a:rPr>
              <a:t>Context-agnostic movement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A6D02-8F02-4A1E-B67B-3C8DD663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2B59A9-B308-4E3E-9279-DACB36CB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0510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sees memory ranges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3DF2F5-C198-4BC6-878B-21A46003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0C711-3EC2-4004-8707-E9942CD1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does not know the agent session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0E8A9E-C64B-4EAA-BBF8-583CB1DF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00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63394-4E0A-4ACC-B624-84E08259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3380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does not know replay deadline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D7D880-0AC8-48F1-93B7-D6559F8D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E8E679-ADDB-4925-B4CF-C41A7CA91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481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does not protect useful prefetched KV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A0AFAA-1A9D-4D87-A732-A83E2648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086100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64748B"/>
                </a:solidFill>
              </a:defRPr>
            </a:pPr>
            <a:r>
              <a:rPr sz="40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DF2CE-312F-40F4-A22A-BA691636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90700"/>
            <a:ext cx="4953000" cy="3429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090AA3-28D2-4F87-89FE-DFA241B0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76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F172A"/>
                </a:solidFill>
              </a:defRPr>
            </a:pPr>
            <a:r>
              <a:rPr sz="1950" b="1">
                <a:solidFill>
                  <a:srgbClr val="0F172A"/>
                </a:solidFill>
              </a:rPr>
              <a:t>Hint-aware movement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15F2C9-5625-48F2-A652-A91309A8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813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87C321-2A85-43AB-8EA6-64CD0286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0510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tags KV by session and priority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599CE1-73D1-4EA2-A7DC-C294D366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956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5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CAA3CE-315E-4226-8F0B-54282A0E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194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schedules against replay deadlines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C77716-AC4D-438B-819E-3C6E03A8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8100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760743-DAF0-47B2-BE49-F25DE27A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3380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moves hot KV before replay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FE107B-59B8-4E4F-B26A-CC3CE212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24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12F94A-343E-4C13-9FCA-922739F3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48150"/>
            <a:ext cx="377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reports late, useful, and wasted movement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22698B-ACCB-4A5D-B2C5-4CAA67B9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DD5701-4380-4B90-A7B8-797450EE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99906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3ADE53-E13F-41F7-A79A-14D52B54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The replay path exposes the bottleneck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93FE3B-4FFB-4768-9A74-4B4E5A62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One tool-gap row shows where replay spends time before the first useful token.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B79B7-8E04-4876-A622-AEA2BFF9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71600"/>
            <a:ext cx="11201400" cy="4438650"/>
          </a:xfrm>
          <a:prstGeom xmlns:a="http://schemas.openxmlformats.org/drawingml/2006/main" prst="roundRect">
            <a:avLst>
              <a:gd name="adj" fmla="val 12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05bdf265774c30"/>
          <a:stretch xmlns:a="http://schemas.openxmlformats.org/drawingml/2006/main"/>
        </p:blipFill>
        <p:spPr>
          <a:xfrm xmlns:a="http://schemas.openxmlformats.org/drawingml/2006/main">
            <a:off x="400050" y="1448639"/>
            <a:ext cx="11049000" cy="428457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6755A-EA72-432A-8A67-F04EE0EB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981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Read left to right: model turn → tool wait → replay path. Cyan is host-to-device KV load; magenta/gold are work before first token.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5AD1A-DCCC-4772-A762-235967C0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Source: latest_master_report.html controlled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937485-B4BC-4C65-9DE2-6B6DE76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8DB562-E129-4645-A1BB-4BE0C85A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598547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2DC89D-F5AD-4BE0-8539-A09A028F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Software prefetch often missed the agent replay deadline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CFC005-2488-4C43-A4D4-8DA48077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Across live prefetch attempts, nearly every hint completed after the agent had already resumed.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646132-09D9-4A24-A5FD-C9849F83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428750"/>
            <a:ext cx="8572500" cy="3886200"/>
          </a:xfrm>
          <a:prstGeom xmlns:a="http://schemas.openxmlformats.org/drawingml/2006/main" prst="roundRect">
            <a:avLst>
              <a:gd name="adj" fmla="val 14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aac8461c814508"/>
          <a:stretch xmlns:a="http://schemas.openxmlformats.org/drawingml/2006/main"/>
        </p:blipFill>
        <p:spPr>
          <a:xfrm xmlns:a="http://schemas.openxmlformats.org/drawingml/2006/main">
            <a:off x="400050" y="1890170"/>
            <a:ext cx="8420100" cy="296336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EFECA4-A6EB-4280-AA42-E6BAD723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00200"/>
            <a:ext cx="2228850" cy="12954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FECAC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A0F74-3141-49BF-81A1-E2A2FFBDA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188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B91C1C"/>
                </a:solidFill>
              </a:defRPr>
            </a:pPr>
            <a:r>
              <a:rPr sz="2700" b="1">
                <a:solidFill>
                  <a:srgbClr val="B91C1C"/>
                </a:solidFill>
              </a:rPr>
              <a:t>112 of 114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B4DBF1-0DBE-441B-A570-748E3F75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241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prefetch attempts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355EA9-4C13-40C2-87B6-973A4FA0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57175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34155"/>
                </a:solidFill>
              </a:defRPr>
            </a:pPr>
            <a:r>
              <a:rPr sz="1350" b="0">
                <a:solidFill>
                  <a:srgbClr val="334155"/>
                </a:solidFill>
              </a:rPr>
              <a:t>were late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517459-C31F-4DFD-912F-D56AB4829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43250"/>
            <a:ext cx="222885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2AB3B5-2F41-4374-9EEF-154ADC9D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33750"/>
            <a:ext cx="1771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C2410C"/>
                </a:solidFill>
              </a:defRPr>
            </a:pPr>
            <a:r>
              <a:rPr sz="3000" b="1">
                <a:solidFill>
                  <a:srgbClr val="C2410C"/>
                </a:solidFill>
              </a:rPr>
              <a:t>98.25%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CC6BA4-2D5E-4772-B54E-872AD8CDC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82905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missed replay due deadline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CCD508-2D55-4BA3-9A16-94D2FAB9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514850"/>
            <a:ext cx="2247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34155"/>
                </a:solidFill>
              </a:defRPr>
            </a:pPr>
            <a:r>
              <a:rPr sz="1500" b="0">
                <a:solidFill>
                  <a:srgbClr val="334155"/>
                </a:solidFill>
              </a:rPr>
              <a:t>This shows that semantic knowledge alone is not enough if the movement path cannot act on hints predictably.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2D7477-79BE-488A-AE55-6CC1F761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Source: backups/latest_master_report-1.html, Global Prefetch Margin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3422D1-3A7B-4DC6-9436-92AFF1C2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0EF232-7664-4AFE-A323-CD44E0C5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536625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4C85D-6057-4C88-9AF6-4E72E717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Replay-side KV loads missed the deadline in this run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99D49-2C48-4D81-A49C-E339934F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aggregate view shows whether KV H2D finished before or after replay was due.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F3C2D0-CCA3-4772-8CF8-0D091A9C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428750"/>
            <a:ext cx="8724900" cy="3867150"/>
          </a:xfrm>
          <a:prstGeom xmlns:a="http://schemas.openxmlformats.org/drawingml/2006/main" prst="roundRect">
            <a:avLst>
              <a:gd name="adj" fmla="val 1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e0a79e4b864b1d"/>
          <a:stretch xmlns:a="http://schemas.openxmlformats.org/drawingml/2006/main"/>
        </p:blipFill>
        <p:spPr>
          <a:xfrm xmlns:a="http://schemas.openxmlformats.org/drawingml/2006/main">
            <a:off x="400050" y="1795905"/>
            <a:ext cx="8572500" cy="313284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EB8D9C-DBE0-4610-9A70-682BB6E8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847850"/>
            <a:ext cx="2095500" cy="11049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FECAC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DBEFC6-75E3-4F15-8AA6-15842CAFC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76450"/>
            <a:ext cx="1600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B91C1C"/>
                </a:solidFill>
              </a:defRPr>
            </a:pPr>
            <a:r>
              <a:rPr sz="3600" b="1">
                <a:solidFill>
                  <a:srgbClr val="B91C1C"/>
                </a:solidFill>
              </a:rPr>
              <a:t>8 / 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E4A944-32A2-42B0-8057-20678AF1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2890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H2D loads finished late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B635A4-D551-40A1-A651-F0C1A4721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52425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34155"/>
                </a:solidFill>
              </a:defRPr>
            </a:pPr>
            <a:r>
              <a:rPr sz="1575" b="0">
                <a:solidFill>
                  <a:srgbClr val="334155"/>
                </a:solidFill>
              </a:rPr>
              <a:t>All visible replay-side KV loads finished below the 0 ms deadline line.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A28ACA-C086-4CF9-AEA2-7496619A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Source: latest_master_report.html, Global Replay H2D Readiness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7AF322-8E11-44C4-BDDA-936770C7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8BF824-E912-4F8D-91EA-516D138F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936763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33F2E9-22AF-4380-9DFA-4409422E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The delay is not just copy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CDDEA-822B-4BE8-A35D-12140A59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request enters normal software/runtime scheduling before visible KV H2D begins.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0A60D-E2AE-4FD5-9116-4E0AAB127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333500"/>
            <a:ext cx="10820400" cy="4343400"/>
          </a:xfrm>
          <a:prstGeom xmlns:a="http://schemas.openxmlformats.org/drawingml/2006/main" prst="roundRect">
            <a:avLst>
              <a:gd name="adj" fmla="val 1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9b8baf3cf40c3"/>
          <a:stretch xmlns:a="http://schemas.openxmlformats.org/drawingml/2006/main"/>
        </p:blipFill>
        <p:spPr>
          <a:xfrm xmlns:a="http://schemas.openxmlformats.org/drawingml/2006/main">
            <a:off x="1247835" y="1409700"/>
            <a:ext cx="8972430" cy="4191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CCAF75-ACAB-4ECF-BA7E-9C3A5A71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The stage markers separate submission, SGLang receive, scheduler queue/admit, and visible KV H2D movement.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A3970D-492D-4BCD-B104-13E317CD2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Source: latest_master_report.html, Replay Queue Timeline vs H2D Start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8C91D9-929F-42A0-8700-6F1C5641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973A3F-0BDD-4E18-949B-C7E16752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416872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BE1C4D-F180-497C-9B55-9DF703CC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Hardware support can make hints enforceable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EB5C5-96BB-407E-A3CB-A8410125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 opportunity is to treat KV as deadline-sensitive memory, not generic bytes.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9A253-142F-4314-BEDF-01EC237F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1695450" cy="16954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3F40C2-F53F-4B35-99EA-6BEEB34BC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Runtime hint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59254-5351-4076-A45F-854D6A51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session, priority, deadline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F71924-6EF4-4DF2-BF23-9D145012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5527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</a:defRPr>
            </a:pPr>
            <a:r>
              <a:rPr sz="25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9EDEF-517D-4AEC-82A9-E8F9E1AD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62150"/>
            <a:ext cx="1695450" cy="16954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F02250-E0AD-4464-9CCD-7EAD258B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228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KV-aware queue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7FC27C-F73F-44F0-A1D1-2B9FFE2D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8384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order urgent KV first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A391C-8952-435C-9385-764BE90C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527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</a:defRPr>
            </a:pPr>
            <a:r>
              <a:rPr sz="25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10325-6651-4906-9E8E-D7DDC30F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62150"/>
            <a:ext cx="1695450" cy="16954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06B6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BEC16-C93A-4A28-9FB6-2AFD9C40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228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DMA / copy engine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7F95AA-408D-4AD5-8A66-6ABFA8A7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384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throttle and prioritize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399707-AE93-4850-97DF-847587CBE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</a:defRPr>
            </a:pPr>
            <a:r>
              <a:rPr sz="25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0A63E3-8DD6-48C1-9D8F-A618D4B3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62150"/>
            <a:ext cx="1695450" cy="16954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2E7AD-34E6-4B8B-8EE8-F3E5DBC7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28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Residency control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601DF0-6589-45DE-BA89-22AF5DC1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8384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protect useful KV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DAA903-BC2C-4C49-B7DE-E1358D1F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5527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</a:defRPr>
            </a:pPr>
            <a:r>
              <a:rPr sz="25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97EEB9-A53B-4D4A-838C-CC0645445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62150"/>
            <a:ext cx="1695450" cy="169545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825824-019A-4516-A8AC-EEC5BFCC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228850"/>
            <a:ext cx="139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Telemetry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7637CB-CD0A-46FA-B51E-35AF59467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838450"/>
            <a:ext cx="1352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late / useful / wasted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8695E7-33FA-453E-B233-7B9F5B62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514850"/>
            <a:ext cx="8191500" cy="8001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0336A3-EF52-437B-9FBD-956D0220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434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Resulting research question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169DE4-E961-4784-9003-5BC12D55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8630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34155"/>
                </a:solidFill>
              </a:defRPr>
            </a:pPr>
            <a:r>
              <a:rPr sz="1425" b="0">
                <a:solidFill>
                  <a:srgbClr val="334155"/>
                </a:solidFill>
              </a:rPr>
              <a:t>How much replay latency and wasted movement can be avoided when KV movement has session context, priority, deadline, protection, and telemetry?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4D1ADC-64EA-4539-97DC-E9A46EB0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Agent-aware KV movement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017583-E283-4DFA-91DD-2C4B2C539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817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</a:defRPr>
            </a:pPr>
            <a:r>
              <a:rPr sz="975" b="0">
                <a:solidFill>
                  <a:srgbClr val="64748B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769952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2026-08-19T16:04:53.5200000Z</dcterms:created>
  <dcterms:modified xsi:type="dcterms:W3CDTF">2026-08-19T16:04:53.5200000Z</dcterms:modified>
</coreProperties>
</file>