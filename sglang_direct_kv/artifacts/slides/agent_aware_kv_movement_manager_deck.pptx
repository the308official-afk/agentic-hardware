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137bd79c457428e" /><Relationship Type="http://schemas.openxmlformats.org/officeDocument/2006/relationships/extended-properties" Target="/docProps/app.xml" Id="R4496d7219ff74674" /><Relationship Type="http://schemas.openxmlformats.org/officeDocument/2006/relationships/officeDocument" Target="/ppt/presentation.xml" Id="R1dd408a313864a84" /></Relationships>
</file>

<file path=ppt/presentation.xml><?xml version="1.0" encoding="utf-8"?>
<p:presentation xmlns:p="http://schemas.openxmlformats.org/presentationml/2006/main">
  <p:sldMasterIdLst>
    <p:sldMasterId xmlns:r="http://schemas.openxmlformats.org/officeDocument/2006/relationships" id="2147483648" r:id="Redec65a8adea4648"/>
  </p:sldMasterIdLst>
  <p:notesMasterIdLst>
    <p:notesMasterId xmlns:r="http://schemas.openxmlformats.org/officeDocument/2006/relationships" r:id="R5751310b4b6a4a24"/>
  </p:notesMasterIdLst>
  <p:sldIdLst>
    <p:sldId xmlns:r="http://schemas.openxmlformats.org/officeDocument/2006/relationships" id="256" r:id="Rf93c1d25d19c43b1"/>
    <p:sldId xmlns:r="http://schemas.openxmlformats.org/officeDocument/2006/relationships" id="257" r:id="R86b45fc1fb664aa8"/>
    <p:sldId xmlns:r="http://schemas.openxmlformats.org/officeDocument/2006/relationships" id="258" r:id="Re37d71b1445d4472"/>
    <p:sldId xmlns:r="http://schemas.openxmlformats.org/officeDocument/2006/relationships" id="259" r:id="Ra56e871d10224f91"/>
    <p:sldId xmlns:r="http://schemas.openxmlformats.org/officeDocument/2006/relationships" id="260" r:id="R9a91cc9088ba41b5"/>
    <p:sldId xmlns:r="http://schemas.openxmlformats.org/officeDocument/2006/relationships" id="261" r:id="R5cd1684a0d4f41b7"/>
    <p:sldId xmlns:r="http://schemas.openxmlformats.org/officeDocument/2006/relationships" id="262" r:id="Re3fee97197584b71"/>
    <p:sldId xmlns:r="http://schemas.openxmlformats.org/officeDocument/2006/relationships" id="263" r:id="R917b39da13fb4da7"/>
    <p:sldId xmlns:r="http://schemas.openxmlformats.org/officeDocument/2006/relationships" id="264" r:id="R0f9480d59ad64571"/>
    <p:sldId xmlns:r="http://schemas.openxmlformats.org/officeDocument/2006/relationships" id="265" r:id="R40b797a37fc74d0b"/>
    <p:sldId xmlns:r="http://schemas.openxmlformats.org/officeDocument/2006/relationships" id="266" r:id="Rd8667c7be2864cc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2d1543bd68146c7" /><Relationship Type="http://schemas.openxmlformats.org/officeDocument/2006/relationships/slideMaster" Target="/ppt/slideMasters/slideMaster1.xml" Id="Redec65a8adea4648" /><Relationship Type="http://schemas.openxmlformats.org/officeDocument/2006/relationships/notesMaster" Target="/ppt/notesMasters/notesMaster1.xml" Id="R5751310b4b6a4a24" /><Relationship Type="http://schemas.openxmlformats.org/officeDocument/2006/relationships/presProps" Target="/ppt/presProps.xml" Id="Rc75f2b3bd6bc4993" /><Relationship Type="http://schemas.openxmlformats.org/officeDocument/2006/relationships/tableStyles" Target="/ppt/tableStyles.xml" Id="Rea00fc1aea554179" /><Relationship Type="http://schemas.openxmlformats.org/officeDocument/2006/relationships/slide" Target="/ppt/slides/slide1.xml" Id="Rf93c1d25d19c43b1" /><Relationship Type="http://schemas.openxmlformats.org/officeDocument/2006/relationships/slide" Target="/ppt/slides/slide2.xml" Id="R86b45fc1fb664aa8" /><Relationship Type="http://schemas.openxmlformats.org/officeDocument/2006/relationships/slide" Target="/ppt/slides/slide3.xml" Id="Re37d71b1445d4472" /><Relationship Type="http://schemas.openxmlformats.org/officeDocument/2006/relationships/slide" Target="/ppt/slides/slide4.xml" Id="Ra56e871d10224f91" /><Relationship Type="http://schemas.openxmlformats.org/officeDocument/2006/relationships/slide" Target="/ppt/slides/slide5.xml" Id="R9a91cc9088ba41b5" /><Relationship Type="http://schemas.openxmlformats.org/officeDocument/2006/relationships/slide" Target="/ppt/slides/slide6.xml" Id="R5cd1684a0d4f41b7" /><Relationship Type="http://schemas.openxmlformats.org/officeDocument/2006/relationships/slide" Target="/ppt/slides/slide7.xml" Id="Re3fee97197584b71" /><Relationship Type="http://schemas.openxmlformats.org/officeDocument/2006/relationships/slide" Target="/ppt/slides/slide8.xml" Id="R917b39da13fb4da7" /><Relationship Type="http://schemas.openxmlformats.org/officeDocument/2006/relationships/slide" Target="/ppt/slides/slide9.xml" Id="R0f9480d59ad64571" /><Relationship Type="http://schemas.openxmlformats.org/officeDocument/2006/relationships/slide" Target="/ppt/slides/slide10.xml" Id="R40b797a37fc74d0b" /><Relationship Type="http://schemas.openxmlformats.org/officeDocument/2006/relationships/slide" Target="/ppt/slides/slide11.xml" Id="Rd8667c7be2864cc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90b114213d944b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38c41ec7b1e4314" /><Relationship Type="http://schemas.openxmlformats.org/officeDocument/2006/relationships/notesMaster" Target="/ppt/notesMasters/notesMaster1.xml" Id="R4c798bf546a447a7"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964ec5e93b447c" /><Relationship Type="http://schemas.openxmlformats.org/officeDocument/2006/relationships/notesMaster" Target="/ppt/notesMasters/notesMaster1.xml" Id="R6caeddd05f9d43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7b66d2ed5c3a450a" /><Relationship Type="http://schemas.openxmlformats.org/officeDocument/2006/relationships/notesMaster" Target="/ppt/notesMasters/notesMaster1.xml" Id="R849e93856acd41b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b27974a2cc4286" /><Relationship Type="http://schemas.openxmlformats.org/officeDocument/2006/relationships/notesMaster" Target="/ppt/notesMasters/notesMaster1.xml" Id="R7dbbde600bc7482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a27223ffde9486c" /><Relationship Type="http://schemas.openxmlformats.org/officeDocument/2006/relationships/notesMaster" Target="/ppt/notesMasters/notesMaster1.xml" Id="R152dfc978d14411e" /></Relationships>
</file>

<file path=ppt/notesSlides/_rels/notesSlide6.xml.rels>&#65279;<?xml version="1.0" encoding="utf-8"?><Relationships xmlns="http://schemas.openxmlformats.org/package/2006/relationships"><Relationship Type="http://schemas.openxmlformats.org/officeDocument/2006/relationships/slide" Target="/ppt/slides/slide6.xml" Id="R1b85208954db4472" /><Relationship Type="http://schemas.openxmlformats.org/officeDocument/2006/relationships/notesMaster" Target="/ppt/notesMasters/notesMaster1.xml" Id="R0da002f30e054647" /></Relationships>
</file>

<file path=ppt/notesSlides/_rels/notesSlide7.xml.rels>&#65279;<?xml version="1.0" encoding="utf-8"?><Relationships xmlns="http://schemas.openxmlformats.org/package/2006/relationships"><Relationship Type="http://schemas.openxmlformats.org/officeDocument/2006/relationships/slide" Target="/ppt/slides/slide7.xml" Id="R22d12dbc71bc45c3" /><Relationship Type="http://schemas.openxmlformats.org/officeDocument/2006/relationships/notesMaster" Target="/ppt/notesMasters/notesMaster1.xml" Id="R329b1b77594743bc" /></Relationships>
</file>

<file path=ppt/notesSlides/_rels/notesSlide8.xml.rels>&#65279;<?xml version="1.0" encoding="utf-8"?><Relationships xmlns="http://schemas.openxmlformats.org/package/2006/relationships"><Relationship Type="http://schemas.openxmlformats.org/officeDocument/2006/relationships/slide" Target="/ppt/slides/slide8.xml" Id="Ra6262317d42646fc" /><Relationship Type="http://schemas.openxmlformats.org/officeDocument/2006/relationships/notesMaster" Target="/ppt/notesMasters/notesMaster1.xml" Id="Rfa66cacdc3314235" /></Relationships>
</file>

<file path=ppt/notesSlides/_rels/notesSlide9.xml.rels>&#65279;<?xml version="1.0" encoding="utf-8"?><Relationships xmlns="http://schemas.openxmlformats.org/package/2006/relationships"><Relationship Type="http://schemas.openxmlformats.org/officeDocument/2006/relationships/slide" Target="/ppt/slides/slide9.xml" Id="R10d4d31123714722" /><Relationship Type="http://schemas.openxmlformats.org/officeDocument/2006/relationships/notesMaster" Target="/ppt/notesMasters/notesMaster1.xml" Id="R0bda0d98f32a444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a91d6cf7c3a43a1" /><Relationship Type="http://schemas.openxmlformats.org/officeDocument/2006/relationships/notesMaster" Target="/ppt/notesMasters/notesMaster1.xml" Id="R19c2a6fec7b34ad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80f43cde41242eb" /><Relationship Type="http://schemas.openxmlformats.org/officeDocument/2006/relationships/notesMaster" Target="/ppt/notesMasters/notesMaster1.xml" Id="R83c38b98a9d742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Opening slide. Position this as a hardware/runtime co-design question, not just an SGLang software optimization.</a:t>
            </a:r>
          </a:p>
          <a:p xmlns:a="http://schemas.openxmlformats.org/drawingml/2006/main">
            <a:r>
              <a:t>Goal: 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aims to quantify that gap and prototype hint-guided KV movement as a path toward smarter DMA engines, KV-aware memory scheduling, and hardware/runtime co-design.</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the two traffic feeds. Synthetic runs let us control pressure and timing; real DeepAgents/SWE-bench traces preserve realistic coding-agent prompts and tool gaps.</a:t>
            </a:r>
          </a:p>
          <a:p xmlns:a="http://schemas.openxmlformats.org/drawingml/2006/main">
            <a:r>
              <a:t>The setup flow image comes from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summarizes the concrete prototype setup used for the current manager report.</a:t>
            </a:r>
          </a:p>
          <a:p xmlns:a="http://schemas.openxmlformats.org/drawingml/2006/main">
            <a:r>
              <a:t>Hardware/runtime values are from the latest master report setup section and the project run configuration: Qwen2.5-Coder-7B, A10G-class single GPU, 24 GB GDDR6 GPU memory, 16 GB HiCache host KV shelf, context length 32768, max total tokens 12288, mem fraction static 0.72, tensor parallel size 1.</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frames the hardware opportunity: hints must become enforceable by the memory movement path.</a:t>
            </a:r>
          </a:p>
          <a:p xmlns:a="http://schemas.openxmlformats.org/drawingml/2006/main">
            <a:r>
              <a:t>Hardware examples include SDMA, CPU-side DMA, NIC DMA, SSD DMA, and copy/migration engines.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narrative chart. It shows the initial model turn, tool wait, replay path, replay-side H2D, recompute, prefill, and decode.</a:t>
            </a:r>
          </a:p>
          <a:p xmlns:a="http://schemas.openxmlformats.org/drawingml/2006/main">
            <a:r>
              <a:t>The image is a cropped view of the Readable Phase Timeline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the global prefetch-attempt evidence. The backup report shows 114 matched prefetch attempts, 112 late, and 98.25% late.</a:t>
            </a:r>
          </a:p>
          <a:p xmlns:a="http://schemas.openxmlformats.org/drawingml/2006/main">
            <a:r>
              <a:t>Use it to show that software prefetch through the normal serving path often misses tight replay windows.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uses the synthetic profiled mechanism timeline. It is not the clean performance run; it is useful for mechanism attribution.</a:t>
            </a:r>
          </a:p>
          <a:p xmlns:a="http://schemas.openxmlformats.org/drawingml/2006/main">
            <a:r>
              <a:t>The report states: KV copy ready before replay in 0 / 6 sessions; profiler CUDA HtoD visible in 3 / 6 sessions; replay reloaded KV in 6 / 6 sessions.</a:t>
            </a:r>
          </a:p>
          <a:p xmlns:a="http://schemas.openxmlformats.org/drawingml/2006/main">
            <a:r>
              <a:t>Manager takeaway: the software hint path can exist and still miss replay because the movement/readiness path is not deadline-enforced.</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aggregate evidence slide. The current controlled no-prefetch run reports 8 no-prefetch replay H2D gaps and 8 late H2D finishes.</a:t>
            </a:r>
          </a:p>
          <a:p xmlns:a="http://schemas.openxmlformats.org/drawingml/2006/main">
            <a:r>
              <a:t>Measured claim source: Global Replay H2D Readiness table and dot plot in latest_master_report.html.</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chart separates replay due, client submit, SGLang receive, scheduler queue/admit, H2D start, and H2D finish.</a:t>
            </a:r>
          </a:p>
          <a:p xmlns:a="http://schemas.openxmlformats.org/drawingml/2006/main">
            <a:r>
              <a:t>The key manager takeaway: a hint-aware design should influence scheduling and priority, not merely request more copies.</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summarizes findings observed across the project so far.</a:t>
            </a:r>
          </a:p>
          <a:p xmlns:a="http://schemas.openxmlformats.org/drawingml/2006/main">
            <a:r>
              <a:t>It connects the evidence slides to hardware implications: short tool gaps, late hints, scheduler/request-path delay, lost KV lifecycle, and replay-side H2D lateness.</a:t>
            </a:r>
          </a:p>
          <a:p xmlns:a="http://schemas.openxmlformats.org/drawingml/2006/main">
            <a:r>
              <a:t>Manager takeaway: a smarter DMA path needs KV/session context and deadline enforcement, not only more bandwidth.</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Closing slide. This translates observed software/runtime behavior into concrete hardware support candidates.</a:t>
            </a:r>
          </a:p>
          <a:p xmlns:a="http://schemas.openxmlformats.org/drawingml/2006/main">
            <a:r>
              <a:t>Hardware ideas come from the project proposal: KV metadata, deadline-aware queues, priority-aware migration, residency protection, and telemetry.</a:t>
            </a:r>
          </a:p>
          <a:p xmlns:a="http://schemas.openxmlformats.org/drawingml/2006/main">
            <a:r>
              <a:t/>
            </a:r>
          </a:p>
          <a:p xmlns:a="http://schemas.openxmlformats.org/drawingml/2006/main">
            <a:r>
              <a:t>[Sources]</a:t>
            </a:r>
          </a:p>
          <a:p xmlns:a="http://schemas.openxmlformats.org/drawingml/2006/main">
            <a:r>
              <a:t>Local report: /Users/oluwolejaiyeoba/Documents/GitHub/agentic_hardware/sglang_direct_kv/artifacts/results/latest_master_report.html</a:t>
            </a:r>
          </a:p>
          <a:p xmlns:a="http://schemas.openxmlformats.org/drawingml/2006/main">
            <a:r>
              <a:t>Backup report: /Users/oluwolejaiyeoba/Documents/GitHub/agentic_hardware/backups/latest_master_report-1.html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82ee9b89516470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d132daf45c24cc0" /><Relationship Type="http://schemas.openxmlformats.org/officeDocument/2006/relationships/slideLayout" Target="/ppt/slideLayouts/slideLayout1.xml" Id="Re2203cba7e1f4be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2203cba7e1f4be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8e706afb37734506" /><Relationship Type="http://schemas.openxmlformats.org/officeDocument/2006/relationships/notesSlide" Target="/ppt/notesSlides/notesSlide1.xml" Id="R20a6e1bd57b84fb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bfd6b2df1b345ac" /><Relationship Type="http://schemas.openxmlformats.org/officeDocument/2006/relationships/image" Target="/ppt/media/image.png" Id="R22d98f0133724c22" /><Relationship Type="http://schemas.openxmlformats.org/officeDocument/2006/relationships/notesSlide" Target="/ppt/notesSlides/notesSlide2.xml" Id="R1802a7ad7874429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4b9f07ff5ae48f8" /><Relationship Type="http://schemas.openxmlformats.org/officeDocument/2006/relationships/notesSlide" Target="/ppt/notesSlides/notesSlide3.xml" Id="R0af3a3380eed43c3"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38ec79a5738a4ba5" /><Relationship Type="http://schemas.openxmlformats.org/officeDocument/2006/relationships/notesSlide" Target="/ppt/notesSlides/notesSlide4.xml" Id="R73c11340d732432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262813e251d4c10" /><Relationship Type="http://schemas.openxmlformats.org/officeDocument/2006/relationships/image" Target="/ppt/media/image2.png" Id="Rf6f1a72317b649e8" /><Relationship Type="http://schemas.openxmlformats.org/officeDocument/2006/relationships/notesSlide" Target="/ppt/notesSlides/notesSlide5.xml" Id="R637ca79adb2049f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e0e4a620ad804695" /><Relationship Type="http://schemas.openxmlformats.org/officeDocument/2006/relationships/image" Target="/ppt/media/image3.png" Id="Rd2befd4d13e64aa4" /><Relationship Type="http://schemas.openxmlformats.org/officeDocument/2006/relationships/notesSlide" Target="/ppt/notesSlides/notesSlide6.xml" Id="R772465c65f9f416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35ff3d161724fc0" /><Relationship Type="http://schemas.openxmlformats.org/officeDocument/2006/relationships/image" Target="/ppt/media/image4.png" Id="Rde40053323ef4c98" /><Relationship Type="http://schemas.openxmlformats.org/officeDocument/2006/relationships/notesSlide" Target="/ppt/notesSlides/notesSlide7.xml" Id="R98b703867c3645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b9ca2a82c0b45c1" /><Relationship Type="http://schemas.openxmlformats.org/officeDocument/2006/relationships/image" Target="/ppt/media/image5.png" Id="Rda1081e51bce4e35" /><Relationship Type="http://schemas.openxmlformats.org/officeDocument/2006/relationships/notesSlide" Target="/ppt/notesSlides/notesSlide8.xml" Id="Rcfa3124b602e4fc9"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f8351ef53c9f46dc" /><Relationship Type="http://schemas.openxmlformats.org/officeDocument/2006/relationships/image" Target="/ppt/media/image6.png" Id="R21c512cc05b8451b" /><Relationship Type="http://schemas.openxmlformats.org/officeDocument/2006/relationships/notesSlide" Target="/ppt/notesSlides/notesSlide9.xml" Id="R8cf66e0ff4ce4e2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be27f9bf39d4d64" /><Relationship Type="http://schemas.openxmlformats.org/officeDocument/2006/relationships/notesSlide" Target="/ppt/notesSlides/notesSlide10.xml" Id="Rd7efdbca7cba418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3e922e6a8164778" /><Relationship Type="http://schemas.openxmlformats.org/officeDocument/2006/relationships/notesSlide" Target="/ppt/notesSlides/notesSlide11.xml" Id="Rd5b70305b1fd410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419FA287-1B93-4547-B076-098D9A9E6E08}"/>
              </a:ext>
            </a:extLst>
          </p:cNvPr>
          <p:cNvSpPr>
            <a:spLocks xmlns:a="http://schemas.openxmlformats.org/drawingml/2006/main" noGrp="1"/>
          </p:cNvSpPr>
          <p:nvPr/>
        </p:nvSpPr>
        <p:spPr>
          <a:xfrm xmlns:a="http://schemas.openxmlformats.org/drawingml/2006/main">
            <a:off x="400050" y="514350"/>
            <a:ext cx="8382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4350" b="1">
                <a:solidFill>
                  <a:srgbClr val="0F172A"/>
                </a:solidFill>
              </a:defRPr>
            </a:pPr>
            <a:r>
              <a:rPr sz="4350" b="1">
                <a:solidFill>
                  <a:srgbClr val="0F172A"/>
                </a:solidFill>
              </a:rPr>
              <a:t>Making KV Movement Agent-Aware</a:t>
            </a:r>
          </a:p>
        </p:txBody>
      </p:sp>
      <p:sp>
        <p:nvSpPr>
          <p:cNvPr id="2" name="">
            <a:extLst xmlns:a="http://schemas.openxmlformats.org/drawingml/2006/main">
              <a:ext uri="{FF2B5EF4-FFF2-40B4-BE49-F238E27FC236}">
                <a16:creationId xmlns:a16="http://schemas.microsoft.com/office/drawing/2014/main" id="{93960661-E137-4E25-B36F-BE1A243D9641}"/>
              </a:ext>
            </a:extLst>
          </p:cNvPr>
          <p:cNvSpPr>
            <a:spLocks xmlns:a="http://schemas.openxmlformats.org/drawingml/2006/main" noGrp="1"/>
          </p:cNvSpPr>
          <p:nvPr/>
        </p:nvSpPr>
        <p:spPr>
          <a:xfrm xmlns:a="http://schemas.openxmlformats.org/drawingml/2006/main">
            <a:off x="438150" y="1714500"/>
            <a:ext cx="10287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334155"/>
                </a:solidFill>
              </a:defRPr>
            </a:pPr>
            <a:r>
              <a:rPr sz="1575" b="0">
                <a:solidFill>
                  <a:srgbClr val="334155"/>
                </a:solidFill>
              </a:rPr>
              <a:t>Coding agents naturally pause during tool calls, then resume with tight latency expectations. Current memory movement paths are largely context-agnostic: they can move KV pages, but they do not know which agent needs them, when they are needed, or whether missing the deadline will stall replay. This project aims to quantify that gap and prototype hint-guided KV movement as a path toward smarter DMA engines, KV-aware memory scheduling, and hardware/runtime co-design.</a:t>
            </a:r>
          </a:p>
        </p:txBody>
      </p:sp>
      <p:sp>
        <p:nvSpPr>
          <p:cNvPr id="3" name="">
            <a:extLst xmlns:a="http://schemas.openxmlformats.org/drawingml/2006/main">
              <a:ext uri="{FF2B5EF4-FFF2-40B4-BE49-F238E27FC236}">
                <a16:creationId xmlns:a16="http://schemas.microsoft.com/office/drawing/2014/main" id="{95F35314-1F49-4B1E-8057-9B8AC9AE8F56}"/>
              </a:ext>
            </a:extLst>
          </p:cNvPr>
          <p:cNvSpPr>
            <a:spLocks xmlns:a="http://schemas.openxmlformats.org/drawingml/2006/main" noGrp="1"/>
          </p:cNvSpPr>
          <p:nvPr/>
        </p:nvSpPr>
        <p:spPr>
          <a:xfrm xmlns:a="http://schemas.openxmlformats.org/drawingml/2006/main">
            <a:off x="495300" y="3829050"/>
            <a:ext cx="1619250" cy="781050"/>
          </a:xfrm>
          <a:prstGeom xmlns:a="http://schemas.openxmlformats.org/drawingml/2006/main" prst="roundRect">
            <a:avLst>
              <a:gd name="adj" fmla="val 7317"/>
            </a:avLst>
          </a:prstGeom>
          <a:solidFill xmlns:a="http://schemas.openxmlformats.org/drawingml/2006/main">
            <a:srgbClr val="DBEAFE"/>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9DC151AC-15E4-4A3D-9731-D15ED35D8EB5}"/>
              </a:ext>
            </a:extLst>
          </p:cNvPr>
          <p:cNvSpPr>
            <a:spLocks xmlns:a="http://schemas.openxmlformats.org/drawingml/2006/main" noGrp="1"/>
          </p:cNvSpPr>
          <p:nvPr/>
        </p:nvSpPr>
        <p:spPr>
          <a:xfrm xmlns:a="http://schemas.openxmlformats.org/drawingml/2006/main">
            <a:off x="628650"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model turn</a:t>
            </a:r>
          </a:p>
        </p:txBody>
      </p:sp>
      <p:sp>
        <p:nvSpPr>
          <p:cNvPr id="5" name="">
            <a:extLst xmlns:a="http://schemas.openxmlformats.org/drawingml/2006/main">
              <a:ext uri="{FF2B5EF4-FFF2-40B4-BE49-F238E27FC236}">
                <a16:creationId xmlns:a16="http://schemas.microsoft.com/office/drawing/2014/main" id="{A42432D0-384C-4379-897C-E0F83EFF20E2}"/>
              </a:ext>
            </a:extLst>
          </p:cNvPr>
          <p:cNvSpPr>
            <a:spLocks xmlns:a="http://schemas.openxmlformats.org/drawingml/2006/main" noGrp="1"/>
          </p:cNvSpPr>
          <p:nvPr/>
        </p:nvSpPr>
        <p:spPr>
          <a:xfrm xmlns:a="http://schemas.openxmlformats.org/drawingml/2006/main">
            <a:off x="2228850"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6" name="">
            <a:extLst xmlns:a="http://schemas.openxmlformats.org/drawingml/2006/main">
              <a:ext uri="{FF2B5EF4-FFF2-40B4-BE49-F238E27FC236}">
                <a16:creationId xmlns:a16="http://schemas.microsoft.com/office/drawing/2014/main" id="{B8B032E7-184B-4F31-A120-15F0C517854F}"/>
              </a:ext>
            </a:extLst>
          </p:cNvPr>
          <p:cNvSpPr>
            <a:spLocks xmlns:a="http://schemas.openxmlformats.org/drawingml/2006/main" noGrp="1"/>
          </p:cNvSpPr>
          <p:nvPr/>
        </p:nvSpPr>
        <p:spPr>
          <a:xfrm xmlns:a="http://schemas.openxmlformats.org/drawingml/2006/main">
            <a:off x="2714625" y="3829050"/>
            <a:ext cx="1619250" cy="781050"/>
          </a:xfrm>
          <a:prstGeom xmlns:a="http://schemas.openxmlformats.org/drawingml/2006/main" prst="roundRect">
            <a:avLst>
              <a:gd name="adj" fmla="val 7317"/>
            </a:avLst>
          </a:prstGeom>
          <a:solidFill xmlns:a="http://schemas.openxmlformats.org/drawingml/2006/main">
            <a:srgbClr val="F1F5F9"/>
          </a:solidFill>
          <a:ln xmlns:a="http://schemas.openxmlformats.org/drawingml/2006/main" w="9525">
            <a:solidFill>
              <a:srgbClr val="CBD5E1"/>
            </a:solidFill>
            <a:prstDash val="solid"/>
          </a:ln>
        </p:spPr>
      </p:sp>
      <p:sp>
        <p:nvSpPr>
          <p:cNvPr id="7" name="">
            <a:extLst xmlns:a="http://schemas.openxmlformats.org/drawingml/2006/main">
              <a:ext uri="{FF2B5EF4-FFF2-40B4-BE49-F238E27FC236}">
                <a16:creationId xmlns:a16="http://schemas.microsoft.com/office/drawing/2014/main" id="{0BB5C5B5-B2D3-46DE-98F4-659F5AC44B90}"/>
              </a:ext>
            </a:extLst>
          </p:cNvPr>
          <p:cNvSpPr>
            <a:spLocks xmlns:a="http://schemas.openxmlformats.org/drawingml/2006/main" noGrp="1"/>
          </p:cNvSpPr>
          <p:nvPr/>
        </p:nvSpPr>
        <p:spPr>
          <a:xfrm xmlns:a="http://schemas.openxmlformats.org/drawingml/2006/main">
            <a:off x="2847975"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tool wait</a:t>
            </a:r>
          </a:p>
        </p:txBody>
      </p:sp>
      <p:sp>
        <p:nvSpPr>
          <p:cNvPr id="8" name="">
            <a:extLst xmlns:a="http://schemas.openxmlformats.org/drawingml/2006/main">
              <a:ext uri="{FF2B5EF4-FFF2-40B4-BE49-F238E27FC236}">
                <a16:creationId xmlns:a16="http://schemas.microsoft.com/office/drawing/2014/main" id="{DAA21D4E-3919-4EA8-BED9-E0F3A1009172}"/>
              </a:ext>
            </a:extLst>
          </p:cNvPr>
          <p:cNvSpPr>
            <a:spLocks xmlns:a="http://schemas.openxmlformats.org/drawingml/2006/main" noGrp="1"/>
          </p:cNvSpPr>
          <p:nvPr/>
        </p:nvSpPr>
        <p:spPr>
          <a:xfrm xmlns:a="http://schemas.openxmlformats.org/drawingml/2006/main">
            <a:off x="4448175"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9" name="">
            <a:extLst xmlns:a="http://schemas.openxmlformats.org/drawingml/2006/main">
              <a:ext uri="{FF2B5EF4-FFF2-40B4-BE49-F238E27FC236}">
                <a16:creationId xmlns:a16="http://schemas.microsoft.com/office/drawing/2014/main" id="{B9209BF0-5016-4C14-A94E-4CF9DA096505}"/>
              </a:ext>
            </a:extLst>
          </p:cNvPr>
          <p:cNvSpPr>
            <a:spLocks xmlns:a="http://schemas.openxmlformats.org/drawingml/2006/main" noGrp="1"/>
          </p:cNvSpPr>
          <p:nvPr/>
        </p:nvSpPr>
        <p:spPr>
          <a:xfrm xmlns:a="http://schemas.openxmlformats.org/drawingml/2006/main">
            <a:off x="4933950" y="3829050"/>
            <a:ext cx="1619250" cy="781050"/>
          </a:xfrm>
          <a:prstGeom xmlns:a="http://schemas.openxmlformats.org/drawingml/2006/main" prst="roundRect">
            <a:avLst>
              <a:gd name="adj" fmla="val 7317"/>
            </a:avLst>
          </a:prstGeom>
          <a:solidFill xmlns:a="http://schemas.openxmlformats.org/drawingml/2006/main">
            <a:srgbClr val="FEE2E2"/>
          </a:solidFill>
          <a:ln xmlns:a="http://schemas.openxmlformats.org/drawingml/2006/main" w="9525">
            <a:solidFill>
              <a:srgbClr val="CBD5E1"/>
            </a:solidFill>
            <a:prstDash val="solid"/>
          </a:ln>
        </p:spPr>
      </p:sp>
      <p:sp>
        <p:nvSpPr>
          <p:cNvPr id="10" name="">
            <a:extLst xmlns:a="http://schemas.openxmlformats.org/drawingml/2006/main">
              <a:ext uri="{FF2B5EF4-FFF2-40B4-BE49-F238E27FC236}">
                <a16:creationId xmlns:a16="http://schemas.microsoft.com/office/drawing/2014/main" id="{AB00A238-5627-40E3-AA7A-F282626A07F1}"/>
              </a:ext>
            </a:extLst>
          </p:cNvPr>
          <p:cNvSpPr>
            <a:spLocks xmlns:a="http://schemas.openxmlformats.org/drawingml/2006/main" noGrp="1"/>
          </p:cNvSpPr>
          <p:nvPr/>
        </p:nvSpPr>
        <p:spPr>
          <a:xfrm xmlns:a="http://schemas.openxmlformats.org/drawingml/2006/main">
            <a:off x="5067300"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replay request</a:t>
            </a:r>
          </a:p>
        </p:txBody>
      </p:sp>
      <p:sp>
        <p:nvSpPr>
          <p:cNvPr id="11" name="">
            <a:extLst xmlns:a="http://schemas.openxmlformats.org/drawingml/2006/main">
              <a:ext uri="{FF2B5EF4-FFF2-40B4-BE49-F238E27FC236}">
                <a16:creationId xmlns:a16="http://schemas.microsoft.com/office/drawing/2014/main" id="{43F77D38-BE9F-44DD-8F69-E2E6CAE24DBA}"/>
              </a:ext>
            </a:extLst>
          </p:cNvPr>
          <p:cNvSpPr>
            <a:spLocks xmlns:a="http://schemas.openxmlformats.org/drawingml/2006/main" noGrp="1"/>
          </p:cNvSpPr>
          <p:nvPr/>
        </p:nvSpPr>
        <p:spPr>
          <a:xfrm xmlns:a="http://schemas.openxmlformats.org/drawingml/2006/main">
            <a:off x="6667500" y="4029075"/>
            <a:ext cx="381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400" b="1">
                <a:solidFill>
                  <a:srgbClr val="64748B"/>
                </a:solidFill>
              </a:defRPr>
            </a:pPr>
            <a:r>
              <a:rPr sz="2400" b="1">
                <a:solidFill>
                  <a:srgbClr val="64748B"/>
                </a:solidFill>
              </a:rPr>
              <a:t>→</a:t>
            </a:r>
          </a:p>
        </p:txBody>
      </p:sp>
      <p:sp>
        <p:nvSpPr>
          <p:cNvPr id="12" name="">
            <a:extLst xmlns:a="http://schemas.openxmlformats.org/drawingml/2006/main">
              <a:ext uri="{FF2B5EF4-FFF2-40B4-BE49-F238E27FC236}">
                <a16:creationId xmlns:a16="http://schemas.microsoft.com/office/drawing/2014/main" id="{7F3C2120-C54B-4F03-A48F-088D4A4BCEDB}"/>
              </a:ext>
            </a:extLst>
          </p:cNvPr>
          <p:cNvSpPr>
            <a:spLocks xmlns:a="http://schemas.openxmlformats.org/drawingml/2006/main" noGrp="1"/>
          </p:cNvSpPr>
          <p:nvPr/>
        </p:nvSpPr>
        <p:spPr>
          <a:xfrm xmlns:a="http://schemas.openxmlformats.org/drawingml/2006/main">
            <a:off x="7153275" y="3829050"/>
            <a:ext cx="1619250" cy="781050"/>
          </a:xfrm>
          <a:prstGeom xmlns:a="http://schemas.openxmlformats.org/drawingml/2006/main" prst="roundRect">
            <a:avLst>
              <a:gd name="adj" fmla="val 7317"/>
            </a:avLst>
          </a:prstGeom>
          <a:solidFill xmlns:a="http://schemas.openxmlformats.org/drawingml/2006/main">
            <a:srgbClr val="DCFCE7"/>
          </a:solidFill>
          <a:ln xmlns:a="http://schemas.openxmlformats.org/drawingml/2006/main" w="9525">
            <a:solidFill>
              <a:srgbClr val="CBD5E1"/>
            </a:solidFill>
            <a:prstDash val="solid"/>
          </a:ln>
        </p:spPr>
      </p:sp>
      <p:sp>
        <p:nvSpPr>
          <p:cNvPr id="13" name="">
            <a:extLst xmlns:a="http://schemas.openxmlformats.org/drawingml/2006/main">
              <a:ext uri="{FF2B5EF4-FFF2-40B4-BE49-F238E27FC236}">
                <a16:creationId xmlns:a16="http://schemas.microsoft.com/office/drawing/2014/main" id="{7EE56297-B589-4C34-BB98-4EB0C3C099D4}"/>
              </a:ext>
            </a:extLst>
          </p:cNvPr>
          <p:cNvSpPr>
            <a:spLocks xmlns:a="http://schemas.openxmlformats.org/drawingml/2006/main" noGrp="1"/>
          </p:cNvSpPr>
          <p:nvPr/>
        </p:nvSpPr>
        <p:spPr>
          <a:xfrm xmlns:a="http://schemas.openxmlformats.org/drawingml/2006/main">
            <a:off x="7286625" y="3971925"/>
            <a:ext cx="1352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KV ready?</a:t>
            </a:r>
          </a:p>
        </p:txBody>
      </p:sp>
      <p:sp>
        <p:nvSpPr>
          <p:cNvPr id="14" name="">
            <a:extLst xmlns:a="http://schemas.openxmlformats.org/drawingml/2006/main">
              <a:ext uri="{FF2B5EF4-FFF2-40B4-BE49-F238E27FC236}">
                <a16:creationId xmlns:a16="http://schemas.microsoft.com/office/drawing/2014/main" id="{A4852671-FB36-473F-8639-079BB6CD731A}"/>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5" name="">
            <a:extLst xmlns:a="http://schemas.openxmlformats.org/drawingml/2006/main">
              <a:ext uri="{FF2B5EF4-FFF2-40B4-BE49-F238E27FC236}">
                <a16:creationId xmlns:a16="http://schemas.microsoft.com/office/drawing/2014/main" id="{F8F59266-5178-4C58-850C-9C8161C91024}"/>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01</a:t>
            </a:r>
          </a:p>
        </p:txBody>
      </p:sp>
    </p:spTree>
    <p:extLst>
      <p:ext uri="{BB962C8B-B14F-4D97-AF65-F5344CB8AC3E}">
        <p14:creationId xmlns:p14="http://schemas.microsoft.com/office/powerpoint/2010/main" val="15253163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456C125E-CFA9-4E94-9033-E1275FD00BAA}"/>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testbed uses both controlled and real agent traffic</a:t>
            </a:r>
          </a:p>
        </p:txBody>
      </p:sp>
      <p:sp>
        <p:nvSpPr>
          <p:cNvPr id="2" name="">
            <a:extLst xmlns:a="http://schemas.openxmlformats.org/drawingml/2006/main">
              <a:ext uri="{FF2B5EF4-FFF2-40B4-BE49-F238E27FC236}">
                <a16:creationId xmlns:a16="http://schemas.microsoft.com/office/drawing/2014/main" id="{8E7A96EE-0F75-4FD1-8056-A16F52052304}"/>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Synthetic request generators give clean knobs; SWE-bench/DeepAgents traces give realistic coding-agent behavior.</a:t>
            </a:r>
          </a:p>
        </p:txBody>
      </p:sp>
      <p:sp>
        <p:nvSpPr>
          <p:cNvPr id="3" name="">
            <a:extLst xmlns:a="http://schemas.openxmlformats.org/drawingml/2006/main">
              <a:ext uri="{FF2B5EF4-FFF2-40B4-BE49-F238E27FC236}">
                <a16:creationId xmlns:a16="http://schemas.microsoft.com/office/drawing/2014/main" id="{F3B7F689-AA0F-4FCE-B8C1-7A6B4384B8DB}"/>
              </a:ext>
            </a:extLst>
          </p:cNvPr>
          <p:cNvSpPr>
            <a:spLocks xmlns:a="http://schemas.openxmlformats.org/drawingml/2006/main" noGrp="1"/>
          </p:cNvSpPr>
          <p:nvPr/>
        </p:nvSpPr>
        <p:spPr>
          <a:xfrm xmlns:a="http://schemas.openxmlformats.org/drawingml/2006/main">
            <a:off x="419100" y="1428750"/>
            <a:ext cx="11353800" cy="1790700"/>
          </a:xfrm>
          <a:prstGeom xmlns:a="http://schemas.openxmlformats.org/drawingml/2006/main" prst="roundRect">
            <a:avLst>
              <a:gd name="adj" fmla="val 3191"/>
            </a:avLst>
          </a:prstGeom>
          <a:solidFill xmlns:a="http://schemas.openxmlformats.org/drawingml/2006/main">
            <a:srgbClr val="FFFFFF"/>
          </a:solidFill>
          <a:ln xmlns:a="http://schemas.openxmlformats.org/drawingml/2006/main" w="9525">
            <a:solidFill>
              <a:srgbClr val="E5E7EB"/>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22d98f0133724c22"/>
          <a:stretch xmlns:a="http://schemas.openxmlformats.org/drawingml/2006/main"/>
        </p:blipFill>
        <p:spPr>
          <a:xfrm xmlns:a="http://schemas.openxmlformats.org/drawingml/2006/main">
            <a:off x="496830" y="1504950"/>
            <a:ext cx="11198340" cy="1638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20F4A1EB-FCFF-4142-826D-425B3E83E44F}"/>
              </a:ext>
            </a:extLst>
          </p:cNvPr>
          <p:cNvSpPr>
            <a:spLocks xmlns:a="http://schemas.openxmlformats.org/drawingml/2006/main" noGrp="1"/>
          </p:cNvSpPr>
          <p:nvPr/>
        </p:nvSpPr>
        <p:spPr>
          <a:xfrm xmlns:a="http://schemas.openxmlformats.org/drawingml/2006/main">
            <a:off x="819150" y="3733800"/>
            <a:ext cx="4552950" cy="1428750"/>
          </a:xfrm>
          <a:prstGeom xmlns:a="http://schemas.openxmlformats.org/drawingml/2006/main" prst="roundRect">
            <a:avLst>
              <a:gd name="adj" fmla="val 4000"/>
            </a:avLst>
          </a:prstGeom>
          <a:solidFill xmlns:a="http://schemas.openxmlformats.org/drawingml/2006/main">
            <a:srgbClr val="F8FAFC"/>
          </a:solidFill>
          <a:ln xmlns:a="http://schemas.openxmlformats.org/drawingml/2006/main" w="9525">
            <a:solidFill>
              <a:srgbClr val="CBD5E1"/>
            </a:solidFill>
            <a:prstDash val="solid"/>
          </a:ln>
        </p:spPr>
      </p:sp>
      <p:sp>
        <p:nvSpPr>
          <p:cNvPr id="6" name="">
            <a:extLst xmlns:a="http://schemas.openxmlformats.org/drawingml/2006/main">
              <a:ext uri="{FF2B5EF4-FFF2-40B4-BE49-F238E27FC236}">
                <a16:creationId xmlns:a16="http://schemas.microsoft.com/office/drawing/2014/main" id="{B50322F1-E9E0-4F53-8B6A-956EE8493103}"/>
              </a:ext>
            </a:extLst>
          </p:cNvPr>
          <p:cNvSpPr>
            <a:spLocks xmlns:a="http://schemas.openxmlformats.org/drawingml/2006/main" noGrp="1"/>
          </p:cNvSpPr>
          <p:nvPr/>
        </p:nvSpPr>
        <p:spPr>
          <a:xfrm xmlns:a="http://schemas.openxmlformats.org/drawingml/2006/main">
            <a:off x="1104900" y="3962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F172A"/>
                </a:solidFill>
              </a:defRPr>
            </a:pPr>
            <a:r>
              <a:rPr sz="1800" b="1">
                <a:solidFill>
                  <a:srgbClr val="0F172A"/>
                </a:solidFill>
              </a:rPr>
              <a:t>Controlled synthetic path</a:t>
            </a:r>
          </a:p>
        </p:txBody>
      </p:sp>
      <p:sp>
        <p:nvSpPr>
          <p:cNvPr id="7" name="">
            <a:extLst xmlns:a="http://schemas.openxmlformats.org/drawingml/2006/main">
              <a:ext uri="{FF2B5EF4-FFF2-40B4-BE49-F238E27FC236}">
                <a16:creationId xmlns:a16="http://schemas.microsoft.com/office/drawing/2014/main" id="{F037026E-8FEE-4C7E-A872-20694153C51E}"/>
              </a:ext>
            </a:extLst>
          </p:cNvPr>
          <p:cNvSpPr>
            <a:spLocks xmlns:a="http://schemas.openxmlformats.org/drawingml/2006/main" noGrp="1"/>
          </p:cNvSpPr>
          <p:nvPr/>
        </p:nvSpPr>
        <p:spPr>
          <a:xfrm xmlns:a="http://schemas.openxmlformats.org/drawingml/2006/main">
            <a:off x="1104900" y="436245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Synthetic request generator creates known prompt sizes, tool-wait windows, filler pressure, and replay deadlines.</a:t>
            </a:r>
          </a:p>
        </p:txBody>
      </p:sp>
      <p:sp>
        <p:nvSpPr>
          <p:cNvPr id="8" name="">
            <a:extLst xmlns:a="http://schemas.openxmlformats.org/drawingml/2006/main">
              <a:ext uri="{FF2B5EF4-FFF2-40B4-BE49-F238E27FC236}">
                <a16:creationId xmlns:a16="http://schemas.microsoft.com/office/drawing/2014/main" id="{93B05141-627F-4798-93BF-18118E8A077C}"/>
              </a:ext>
            </a:extLst>
          </p:cNvPr>
          <p:cNvSpPr>
            <a:spLocks xmlns:a="http://schemas.openxmlformats.org/drawingml/2006/main" noGrp="1"/>
          </p:cNvSpPr>
          <p:nvPr/>
        </p:nvSpPr>
        <p:spPr>
          <a:xfrm xmlns:a="http://schemas.openxmlformats.org/drawingml/2006/main">
            <a:off x="6096000" y="3733800"/>
            <a:ext cx="4552950" cy="1428750"/>
          </a:xfrm>
          <a:prstGeom xmlns:a="http://schemas.openxmlformats.org/drawingml/2006/main" prst="roundRect">
            <a:avLst>
              <a:gd name="adj" fmla="val 4000"/>
            </a:avLst>
          </a:prstGeom>
          <a:solidFill xmlns:a="http://schemas.openxmlformats.org/drawingml/2006/main">
            <a:srgbClr val="EFF6FF"/>
          </a:solidFill>
          <a:ln xmlns:a="http://schemas.openxmlformats.org/drawingml/2006/main" w="9525">
            <a:solidFill>
              <a:srgbClr val="BFDBFE"/>
            </a:solidFill>
            <a:prstDash val="solid"/>
          </a:ln>
        </p:spPr>
      </p:sp>
      <p:sp>
        <p:nvSpPr>
          <p:cNvPr id="9" name="">
            <a:extLst xmlns:a="http://schemas.openxmlformats.org/drawingml/2006/main">
              <a:ext uri="{FF2B5EF4-FFF2-40B4-BE49-F238E27FC236}">
                <a16:creationId xmlns:a16="http://schemas.microsoft.com/office/drawing/2014/main" id="{1F2B60C9-1D2D-4165-98F6-7F26DC785F8B}"/>
              </a:ext>
            </a:extLst>
          </p:cNvPr>
          <p:cNvSpPr>
            <a:spLocks xmlns:a="http://schemas.openxmlformats.org/drawingml/2006/main" noGrp="1"/>
          </p:cNvSpPr>
          <p:nvPr/>
        </p:nvSpPr>
        <p:spPr>
          <a:xfrm xmlns:a="http://schemas.openxmlformats.org/drawingml/2006/main">
            <a:off x="6381750" y="3962400"/>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800" b="1">
                <a:solidFill>
                  <a:srgbClr val="0F172A"/>
                </a:solidFill>
              </a:defRPr>
            </a:pPr>
            <a:r>
              <a:rPr sz="1800" b="1">
                <a:solidFill>
                  <a:srgbClr val="0F172A"/>
                </a:solidFill>
              </a:rPr>
              <a:t>Real coding-agent path</a:t>
            </a:r>
          </a:p>
        </p:txBody>
      </p:sp>
      <p:sp>
        <p:nvSpPr>
          <p:cNvPr id="10" name="">
            <a:extLst xmlns:a="http://schemas.openxmlformats.org/drawingml/2006/main">
              <a:ext uri="{FF2B5EF4-FFF2-40B4-BE49-F238E27FC236}">
                <a16:creationId xmlns:a16="http://schemas.microsoft.com/office/drawing/2014/main" id="{1247DCD4-AF7B-4F5E-8890-DA45AE548019}"/>
              </a:ext>
            </a:extLst>
          </p:cNvPr>
          <p:cNvSpPr>
            <a:spLocks xmlns:a="http://schemas.openxmlformats.org/drawingml/2006/main" noGrp="1"/>
          </p:cNvSpPr>
          <p:nvPr/>
        </p:nvSpPr>
        <p:spPr>
          <a:xfrm xmlns:a="http://schemas.openxmlformats.org/drawingml/2006/main">
            <a:off x="6381750" y="436245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334155"/>
                </a:solidFill>
              </a:defRPr>
            </a:pPr>
            <a:r>
              <a:rPr sz="1350" b="0">
                <a:solidFill>
                  <a:srgbClr val="334155"/>
                </a:solidFill>
              </a:rPr>
              <a:t>SWE-bench / AgentBench tasks feed DeepAgents, which emits model turns and tool-call gaps into SGLang.</a:t>
            </a:r>
          </a:p>
        </p:txBody>
      </p:sp>
      <p:sp>
        <p:nvSpPr>
          <p:cNvPr id="11" name="">
            <a:extLst xmlns:a="http://schemas.openxmlformats.org/drawingml/2006/main">
              <a:ext uri="{FF2B5EF4-FFF2-40B4-BE49-F238E27FC236}">
                <a16:creationId xmlns:a16="http://schemas.microsoft.com/office/drawing/2014/main" id="{98313591-67C0-4FE4-9445-5939A47FCE4E}"/>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Experiment Setup And Manager Summary</a:t>
            </a:r>
          </a:p>
        </p:txBody>
      </p:sp>
      <p:sp>
        <p:nvSpPr>
          <p:cNvPr id="12" name="">
            <a:extLst xmlns:a="http://schemas.openxmlformats.org/drawingml/2006/main">
              <a:ext uri="{FF2B5EF4-FFF2-40B4-BE49-F238E27FC236}">
                <a16:creationId xmlns:a16="http://schemas.microsoft.com/office/drawing/2014/main" id="{E4692B7C-5587-4231-AB47-847B62C12152}"/>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3" name="">
            <a:extLst xmlns:a="http://schemas.openxmlformats.org/drawingml/2006/main">
              <a:ext uri="{FF2B5EF4-FFF2-40B4-BE49-F238E27FC236}">
                <a16:creationId xmlns:a16="http://schemas.microsoft.com/office/drawing/2014/main" id="{4B2933B7-7A7D-47B1-A67E-FEFD860A2404}"/>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02</a:t>
            </a:r>
          </a:p>
        </p:txBody>
      </p:sp>
    </p:spTree>
    <p:extLst>
      <p:ext uri="{BB962C8B-B14F-4D97-AF65-F5344CB8AC3E}">
        <p14:creationId xmlns:p14="http://schemas.microsoft.com/office/powerpoint/2010/main" val="11582222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4" name="">
            <a:extLst xmlns:a="http://schemas.openxmlformats.org/drawingml/2006/main">
              <a:ext uri="{FF2B5EF4-FFF2-40B4-BE49-F238E27FC236}">
                <a16:creationId xmlns:a16="http://schemas.microsoft.com/office/drawing/2014/main" id="{5D76668C-DE85-4AAE-A4B7-F895E830E27E}"/>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prototype runs real prompts through SGLang</a:t>
            </a:r>
          </a:p>
        </p:txBody>
      </p:sp>
      <p:sp>
        <p:nvSpPr>
          <p:cNvPr id="2" name="">
            <a:extLst xmlns:a="http://schemas.openxmlformats.org/drawingml/2006/main">
              <a:ext uri="{FF2B5EF4-FFF2-40B4-BE49-F238E27FC236}">
                <a16:creationId xmlns:a16="http://schemas.microsoft.com/office/drawing/2014/main" id="{01B7B60F-19C1-4F63-BD30-2F158CBF7BB9}"/>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Concrete setup behind the charts: traffic source, serving stack, one GPU, model, and host-side KV cache.</a:t>
            </a:r>
          </a:p>
        </p:txBody>
      </p:sp>
      <p:sp>
        <p:nvSpPr>
          <p:cNvPr id="3" name="">
            <a:extLst xmlns:a="http://schemas.openxmlformats.org/drawingml/2006/main">
              <a:ext uri="{FF2B5EF4-FFF2-40B4-BE49-F238E27FC236}">
                <a16:creationId xmlns:a16="http://schemas.microsoft.com/office/drawing/2014/main" id="{B3C1B354-4E7D-46C1-BCDE-42E08F8C4E20}"/>
              </a:ext>
            </a:extLst>
          </p:cNvPr>
          <p:cNvSpPr>
            <a:spLocks xmlns:a="http://schemas.openxmlformats.org/drawingml/2006/main" noGrp="1"/>
          </p:cNvSpPr>
          <p:nvPr/>
        </p:nvSpPr>
        <p:spPr>
          <a:xfrm xmlns:a="http://schemas.openxmlformats.org/drawingml/2006/main">
            <a:off x="514350" y="1752600"/>
            <a:ext cx="1695450" cy="914400"/>
          </a:xfrm>
          <a:prstGeom xmlns:a="http://schemas.openxmlformats.org/drawingml/2006/main" prst="roundRect">
            <a:avLst>
              <a:gd name="adj" fmla="val 6250"/>
            </a:avLst>
          </a:prstGeom>
          <a:solidFill xmlns:a="http://schemas.openxmlformats.org/drawingml/2006/main">
            <a:srgbClr val="F8FAFC"/>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D6A78837-70DE-4325-A3D4-5FD759CEB171}"/>
              </a:ext>
            </a:extLst>
          </p:cNvPr>
          <p:cNvSpPr>
            <a:spLocks xmlns:a="http://schemas.openxmlformats.org/drawingml/2006/main" noGrp="1"/>
          </p:cNvSpPr>
          <p:nvPr/>
        </p:nvSpPr>
        <p:spPr>
          <a:xfrm xmlns:a="http://schemas.openxmlformats.org/drawingml/2006/main">
            <a:off x="647700" y="1895475"/>
            <a:ext cx="1428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Synthetic</a:t>
            </a:r>
          </a:p>
          <a:p xmlns:a="http://schemas.openxmlformats.org/drawingml/2006/main">
            <a:pPr algn="ctr">
              <a:defRPr sz="1500" b="1">
                <a:solidFill>
                  <a:srgbClr val="0F172A"/>
                </a:solidFill>
              </a:defRPr>
            </a:pPr>
            <a:r>
              <a:rPr sz="1500" b="1">
                <a:solidFill>
                  <a:srgbClr val="0F172A"/>
                </a:solidFill>
              </a:rPr>
              <a:t>request generator</a:t>
            </a:r>
          </a:p>
        </p:txBody>
      </p:sp>
      <p:sp>
        <p:nvSpPr>
          <p:cNvPr id="5" name="">
            <a:extLst xmlns:a="http://schemas.openxmlformats.org/drawingml/2006/main">
              <a:ext uri="{FF2B5EF4-FFF2-40B4-BE49-F238E27FC236}">
                <a16:creationId xmlns:a16="http://schemas.microsoft.com/office/drawing/2014/main" id="{CB275716-2FE3-49CB-85B9-6CBBB1F723F0}"/>
              </a:ext>
            </a:extLst>
          </p:cNvPr>
          <p:cNvSpPr>
            <a:spLocks xmlns:a="http://schemas.openxmlformats.org/drawingml/2006/main" noGrp="1"/>
          </p:cNvSpPr>
          <p:nvPr/>
        </p:nvSpPr>
        <p:spPr>
          <a:xfrm xmlns:a="http://schemas.openxmlformats.org/drawingml/2006/main">
            <a:off x="2286000" y="20383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6" name="">
            <a:extLst xmlns:a="http://schemas.openxmlformats.org/drawingml/2006/main">
              <a:ext uri="{FF2B5EF4-FFF2-40B4-BE49-F238E27FC236}">
                <a16:creationId xmlns:a16="http://schemas.microsoft.com/office/drawing/2014/main" id="{DF8AEE1B-08EA-4B7E-AB42-72A215EB5BD4}"/>
              </a:ext>
            </a:extLst>
          </p:cNvPr>
          <p:cNvSpPr>
            <a:spLocks xmlns:a="http://schemas.openxmlformats.org/drawingml/2006/main" noGrp="1"/>
          </p:cNvSpPr>
          <p:nvPr/>
        </p:nvSpPr>
        <p:spPr>
          <a:xfrm xmlns:a="http://schemas.openxmlformats.org/drawingml/2006/main">
            <a:off x="2724150" y="1752600"/>
            <a:ext cx="1695450" cy="914400"/>
          </a:xfrm>
          <a:prstGeom xmlns:a="http://schemas.openxmlformats.org/drawingml/2006/main" prst="roundRect">
            <a:avLst>
              <a:gd name="adj" fmla="val 6250"/>
            </a:avLst>
          </a:prstGeom>
          <a:solidFill xmlns:a="http://schemas.openxmlformats.org/drawingml/2006/main">
            <a:srgbClr val="EFF6FF"/>
          </a:solidFill>
          <a:ln xmlns:a="http://schemas.openxmlformats.org/drawingml/2006/main" w="9525">
            <a:solidFill>
              <a:srgbClr val="BFDBFE"/>
            </a:solidFill>
            <a:prstDash val="solid"/>
          </a:ln>
        </p:spPr>
      </p:sp>
      <p:sp>
        <p:nvSpPr>
          <p:cNvPr id="7" name="">
            <a:extLst xmlns:a="http://schemas.openxmlformats.org/drawingml/2006/main">
              <a:ext uri="{FF2B5EF4-FFF2-40B4-BE49-F238E27FC236}">
                <a16:creationId xmlns:a16="http://schemas.microsoft.com/office/drawing/2014/main" id="{2FA1B7DC-6C25-44E4-A135-A484F0AFDED2}"/>
              </a:ext>
            </a:extLst>
          </p:cNvPr>
          <p:cNvSpPr>
            <a:spLocks xmlns:a="http://schemas.openxmlformats.org/drawingml/2006/main" noGrp="1"/>
          </p:cNvSpPr>
          <p:nvPr/>
        </p:nvSpPr>
        <p:spPr>
          <a:xfrm xmlns:a="http://schemas.openxmlformats.org/drawingml/2006/main">
            <a:off x="2857500" y="1895475"/>
            <a:ext cx="1428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SWE-bench /</a:t>
            </a:r>
          </a:p>
          <a:p xmlns:a="http://schemas.openxmlformats.org/drawingml/2006/main">
            <a:pPr algn="ctr">
              <a:defRPr sz="1500" b="1">
                <a:solidFill>
                  <a:srgbClr val="0F172A"/>
                </a:solidFill>
              </a:defRPr>
            </a:pPr>
            <a:r>
              <a:rPr sz="1500" b="1">
                <a:solidFill>
                  <a:srgbClr val="0F172A"/>
                </a:solidFill>
              </a:rPr>
              <a:t>DeepAgents traces</a:t>
            </a:r>
          </a:p>
        </p:txBody>
      </p:sp>
      <p:sp>
        <p:nvSpPr>
          <p:cNvPr id="8" name="">
            <a:extLst xmlns:a="http://schemas.openxmlformats.org/drawingml/2006/main">
              <a:ext uri="{FF2B5EF4-FFF2-40B4-BE49-F238E27FC236}">
                <a16:creationId xmlns:a16="http://schemas.microsoft.com/office/drawing/2014/main" id="{711EF777-17A7-452B-AB71-A68556732159}"/>
              </a:ext>
            </a:extLst>
          </p:cNvPr>
          <p:cNvSpPr>
            <a:spLocks xmlns:a="http://schemas.openxmlformats.org/drawingml/2006/main" noGrp="1"/>
          </p:cNvSpPr>
          <p:nvPr/>
        </p:nvSpPr>
        <p:spPr>
          <a:xfrm xmlns:a="http://schemas.openxmlformats.org/drawingml/2006/main">
            <a:off x="4495800" y="20383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9" name="">
            <a:extLst xmlns:a="http://schemas.openxmlformats.org/drawingml/2006/main">
              <a:ext uri="{FF2B5EF4-FFF2-40B4-BE49-F238E27FC236}">
                <a16:creationId xmlns:a16="http://schemas.microsoft.com/office/drawing/2014/main" id="{AF8C8EF3-2879-4C48-8B31-3B98314E3E8B}"/>
              </a:ext>
            </a:extLst>
          </p:cNvPr>
          <p:cNvSpPr>
            <a:spLocks xmlns:a="http://schemas.openxmlformats.org/drawingml/2006/main" noGrp="1"/>
          </p:cNvSpPr>
          <p:nvPr/>
        </p:nvSpPr>
        <p:spPr>
          <a:xfrm xmlns:a="http://schemas.openxmlformats.org/drawingml/2006/main">
            <a:off x="4933950" y="1752600"/>
            <a:ext cx="1695450" cy="914400"/>
          </a:xfrm>
          <a:prstGeom xmlns:a="http://schemas.openxmlformats.org/drawingml/2006/main" prst="roundRect">
            <a:avLst>
              <a:gd name="adj" fmla="val 6250"/>
            </a:avLst>
          </a:prstGeom>
          <a:solidFill xmlns:a="http://schemas.openxmlformats.org/drawingml/2006/main">
            <a:srgbClr val="F5F3FF"/>
          </a:solidFill>
          <a:ln xmlns:a="http://schemas.openxmlformats.org/drawingml/2006/main" w="9525">
            <a:solidFill>
              <a:srgbClr val="C4B5FD"/>
            </a:solidFill>
            <a:prstDash val="solid"/>
          </a:ln>
        </p:spPr>
      </p:sp>
      <p:sp>
        <p:nvSpPr>
          <p:cNvPr id="10" name="">
            <a:extLst xmlns:a="http://schemas.openxmlformats.org/drawingml/2006/main">
              <a:ext uri="{FF2B5EF4-FFF2-40B4-BE49-F238E27FC236}">
                <a16:creationId xmlns:a16="http://schemas.microsoft.com/office/drawing/2014/main" id="{91A913B0-E03B-462C-8F0E-D182D6CC2055}"/>
              </a:ext>
            </a:extLst>
          </p:cNvPr>
          <p:cNvSpPr>
            <a:spLocks xmlns:a="http://schemas.openxmlformats.org/drawingml/2006/main" noGrp="1"/>
          </p:cNvSpPr>
          <p:nvPr/>
        </p:nvSpPr>
        <p:spPr>
          <a:xfrm xmlns:a="http://schemas.openxmlformats.org/drawingml/2006/main">
            <a:off x="5067300" y="1895475"/>
            <a:ext cx="1428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SGLang</a:t>
            </a:r>
          </a:p>
          <a:p xmlns:a="http://schemas.openxmlformats.org/drawingml/2006/main">
            <a:pPr algn="ctr">
              <a:defRPr sz="1500" b="1">
                <a:solidFill>
                  <a:srgbClr val="0F172A"/>
                </a:solidFill>
              </a:defRPr>
            </a:pPr>
            <a:r>
              <a:rPr sz="1500" b="1">
                <a:solidFill>
                  <a:srgbClr val="0F172A"/>
                </a:solidFill>
              </a:rPr>
              <a:t>OpenAI server</a:t>
            </a:r>
          </a:p>
        </p:txBody>
      </p:sp>
      <p:sp>
        <p:nvSpPr>
          <p:cNvPr id="11" name="">
            <a:extLst xmlns:a="http://schemas.openxmlformats.org/drawingml/2006/main">
              <a:ext uri="{FF2B5EF4-FFF2-40B4-BE49-F238E27FC236}">
                <a16:creationId xmlns:a16="http://schemas.microsoft.com/office/drawing/2014/main" id="{80DD1B9A-4357-4472-845B-05F5F933D2C0}"/>
              </a:ext>
            </a:extLst>
          </p:cNvPr>
          <p:cNvSpPr>
            <a:spLocks xmlns:a="http://schemas.openxmlformats.org/drawingml/2006/main" noGrp="1"/>
          </p:cNvSpPr>
          <p:nvPr/>
        </p:nvSpPr>
        <p:spPr>
          <a:xfrm xmlns:a="http://schemas.openxmlformats.org/drawingml/2006/main">
            <a:off x="6705600" y="20383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12" name="">
            <a:extLst xmlns:a="http://schemas.openxmlformats.org/drawingml/2006/main">
              <a:ext uri="{FF2B5EF4-FFF2-40B4-BE49-F238E27FC236}">
                <a16:creationId xmlns:a16="http://schemas.microsoft.com/office/drawing/2014/main" id="{D43A8042-3B7B-47CF-B8F4-CA92B631B50F}"/>
              </a:ext>
            </a:extLst>
          </p:cNvPr>
          <p:cNvSpPr>
            <a:spLocks xmlns:a="http://schemas.openxmlformats.org/drawingml/2006/main" noGrp="1"/>
          </p:cNvSpPr>
          <p:nvPr/>
        </p:nvSpPr>
        <p:spPr>
          <a:xfrm xmlns:a="http://schemas.openxmlformats.org/drawingml/2006/main">
            <a:off x="7143750" y="1752600"/>
            <a:ext cx="1695450" cy="914400"/>
          </a:xfrm>
          <a:prstGeom xmlns:a="http://schemas.openxmlformats.org/drawingml/2006/main" prst="roundRect">
            <a:avLst>
              <a:gd name="adj" fmla="val 6250"/>
            </a:avLst>
          </a:prstGeom>
          <a:solidFill xmlns:a="http://schemas.openxmlformats.org/drawingml/2006/main">
            <a:srgbClr val="ECFEFF"/>
          </a:solidFill>
          <a:ln xmlns:a="http://schemas.openxmlformats.org/drawingml/2006/main" w="9525">
            <a:solidFill>
              <a:srgbClr val="67E8F9"/>
            </a:solidFill>
            <a:prstDash val="solid"/>
          </a:ln>
        </p:spPr>
      </p:sp>
      <p:sp>
        <p:nvSpPr>
          <p:cNvPr id="13" name="">
            <a:extLst xmlns:a="http://schemas.openxmlformats.org/drawingml/2006/main">
              <a:ext uri="{FF2B5EF4-FFF2-40B4-BE49-F238E27FC236}">
                <a16:creationId xmlns:a16="http://schemas.microsoft.com/office/drawing/2014/main" id="{78EED882-3252-401B-B6F1-DFB069EDF770}"/>
              </a:ext>
            </a:extLst>
          </p:cNvPr>
          <p:cNvSpPr>
            <a:spLocks xmlns:a="http://schemas.openxmlformats.org/drawingml/2006/main" noGrp="1"/>
          </p:cNvSpPr>
          <p:nvPr/>
        </p:nvSpPr>
        <p:spPr>
          <a:xfrm xmlns:a="http://schemas.openxmlformats.org/drawingml/2006/main">
            <a:off x="7277100" y="1895475"/>
            <a:ext cx="1428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Qwen Coder</a:t>
            </a:r>
          </a:p>
          <a:p xmlns:a="http://schemas.openxmlformats.org/drawingml/2006/main">
            <a:pPr algn="ctr">
              <a:defRPr sz="1500" b="1">
                <a:solidFill>
                  <a:srgbClr val="0F172A"/>
                </a:solidFill>
              </a:defRPr>
            </a:pPr>
            <a:r>
              <a:rPr sz="1500" b="1">
                <a:solidFill>
                  <a:srgbClr val="0F172A"/>
                </a:solidFill>
              </a:rPr>
              <a:t>7B Instruct</a:t>
            </a:r>
          </a:p>
        </p:txBody>
      </p:sp>
      <p:sp>
        <p:nvSpPr>
          <p:cNvPr id="14" name="">
            <a:extLst xmlns:a="http://schemas.openxmlformats.org/drawingml/2006/main">
              <a:ext uri="{FF2B5EF4-FFF2-40B4-BE49-F238E27FC236}">
                <a16:creationId xmlns:a16="http://schemas.microsoft.com/office/drawing/2014/main" id="{49911DA4-F8F9-4825-940F-2C3EFF421446}"/>
              </a:ext>
            </a:extLst>
          </p:cNvPr>
          <p:cNvSpPr>
            <a:spLocks xmlns:a="http://schemas.openxmlformats.org/drawingml/2006/main" noGrp="1"/>
          </p:cNvSpPr>
          <p:nvPr/>
        </p:nvSpPr>
        <p:spPr>
          <a:xfrm xmlns:a="http://schemas.openxmlformats.org/drawingml/2006/main">
            <a:off x="8915400" y="2038350"/>
            <a:ext cx="381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250" b="1">
                <a:solidFill>
                  <a:srgbClr val="64748B"/>
                </a:solidFill>
              </a:defRPr>
            </a:pPr>
            <a:r>
              <a:rPr sz="2250" b="1">
                <a:solidFill>
                  <a:srgbClr val="64748B"/>
                </a:solidFill>
              </a:rPr>
              <a:t>→</a:t>
            </a:r>
          </a:p>
        </p:txBody>
      </p:sp>
      <p:sp>
        <p:nvSpPr>
          <p:cNvPr id="15" name="">
            <a:extLst xmlns:a="http://schemas.openxmlformats.org/drawingml/2006/main">
              <a:ext uri="{FF2B5EF4-FFF2-40B4-BE49-F238E27FC236}">
                <a16:creationId xmlns:a16="http://schemas.microsoft.com/office/drawing/2014/main" id="{22DAF0E8-D2B1-45AF-BF61-26261587C590}"/>
              </a:ext>
            </a:extLst>
          </p:cNvPr>
          <p:cNvSpPr>
            <a:spLocks xmlns:a="http://schemas.openxmlformats.org/drawingml/2006/main" noGrp="1"/>
          </p:cNvSpPr>
          <p:nvPr/>
        </p:nvSpPr>
        <p:spPr>
          <a:xfrm xmlns:a="http://schemas.openxmlformats.org/drawingml/2006/main">
            <a:off x="9353550" y="1752600"/>
            <a:ext cx="1695450" cy="914400"/>
          </a:xfrm>
          <a:prstGeom xmlns:a="http://schemas.openxmlformats.org/drawingml/2006/main" prst="roundRect">
            <a:avLst>
              <a:gd name="adj" fmla="val 6250"/>
            </a:avLst>
          </a:prstGeom>
          <a:solidFill xmlns:a="http://schemas.openxmlformats.org/drawingml/2006/main">
            <a:srgbClr val="F0FDF4"/>
          </a:solidFill>
          <a:ln xmlns:a="http://schemas.openxmlformats.org/drawingml/2006/main" w="9525">
            <a:solidFill>
              <a:srgbClr val="86EFAC"/>
            </a:solidFill>
            <a:prstDash val="solid"/>
          </a:ln>
        </p:spPr>
      </p:sp>
      <p:sp>
        <p:nvSpPr>
          <p:cNvPr id="16" name="">
            <a:extLst xmlns:a="http://schemas.openxmlformats.org/drawingml/2006/main">
              <a:ext uri="{FF2B5EF4-FFF2-40B4-BE49-F238E27FC236}">
                <a16:creationId xmlns:a16="http://schemas.microsoft.com/office/drawing/2014/main" id="{7DCC1C11-80D9-4664-BC8B-5CC4FCC223EA}"/>
              </a:ext>
            </a:extLst>
          </p:cNvPr>
          <p:cNvSpPr>
            <a:spLocks xmlns:a="http://schemas.openxmlformats.org/drawingml/2006/main" noGrp="1"/>
          </p:cNvSpPr>
          <p:nvPr/>
        </p:nvSpPr>
        <p:spPr>
          <a:xfrm xmlns:a="http://schemas.openxmlformats.org/drawingml/2006/main">
            <a:off x="9486900" y="1895475"/>
            <a:ext cx="1428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p xmlns:a="http://schemas.openxmlformats.org/drawingml/2006/main">
            <a:pPr algn="ctr">
              <a:defRPr sz="1500" b="1">
                <a:solidFill>
                  <a:srgbClr val="0F172A"/>
                </a:solidFill>
              </a:defRPr>
            </a:pPr>
            <a:r>
              <a:rPr sz="1500" b="1">
                <a:solidFill>
                  <a:srgbClr val="0F172A"/>
                </a:solidFill>
              </a:rPr>
              <a:t>GPU KV cache</a:t>
            </a:r>
          </a:p>
          <a:p xmlns:a="http://schemas.openxmlformats.org/drawingml/2006/main">
            <a:pPr algn="ctr">
              <a:defRPr sz="1500" b="1">
                <a:solidFill>
                  <a:srgbClr val="0F172A"/>
                </a:solidFill>
              </a:defRPr>
            </a:pPr>
            <a:r>
              <a:rPr sz="1500" b="1">
                <a:solidFill>
                  <a:srgbClr val="0F172A"/>
                </a:solidFill>
              </a:rPr>
              <a:t>+ HiCache</a:t>
            </a:r>
          </a:p>
        </p:txBody>
      </p:sp>
      <p:sp>
        <p:nvSpPr>
          <p:cNvPr id="17" name="">
            <a:extLst xmlns:a="http://schemas.openxmlformats.org/drawingml/2006/main">
              <a:ext uri="{FF2B5EF4-FFF2-40B4-BE49-F238E27FC236}">
                <a16:creationId xmlns:a16="http://schemas.microsoft.com/office/drawing/2014/main" id="{4CE6824F-D9FD-4999-89D0-FBD2BDA9B8CE}"/>
              </a:ext>
            </a:extLst>
          </p:cNvPr>
          <p:cNvSpPr>
            <a:spLocks xmlns:a="http://schemas.openxmlformats.org/drawingml/2006/main" noGrp="1"/>
          </p:cNvSpPr>
          <p:nvPr/>
        </p:nvSpPr>
        <p:spPr>
          <a:xfrm xmlns:a="http://schemas.openxmlformats.org/drawingml/2006/main">
            <a:off x="666750" y="33909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18" name="">
            <a:extLst xmlns:a="http://schemas.openxmlformats.org/drawingml/2006/main">
              <a:ext uri="{FF2B5EF4-FFF2-40B4-BE49-F238E27FC236}">
                <a16:creationId xmlns:a16="http://schemas.microsoft.com/office/drawing/2014/main" id="{63172E0B-B5D7-4C0F-8A95-E7215FE7CA55}"/>
              </a:ext>
            </a:extLst>
          </p:cNvPr>
          <p:cNvSpPr>
            <a:spLocks xmlns:a="http://schemas.openxmlformats.org/drawingml/2006/main" noGrp="1"/>
          </p:cNvSpPr>
          <p:nvPr/>
        </p:nvSpPr>
        <p:spPr>
          <a:xfrm xmlns:a="http://schemas.openxmlformats.org/drawingml/2006/main">
            <a:off x="819150" y="35242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GPU</a:t>
            </a:r>
          </a:p>
        </p:txBody>
      </p:sp>
      <p:sp>
        <p:nvSpPr>
          <p:cNvPr id="19" name="">
            <a:extLst xmlns:a="http://schemas.openxmlformats.org/drawingml/2006/main">
              <a:ext uri="{FF2B5EF4-FFF2-40B4-BE49-F238E27FC236}">
                <a16:creationId xmlns:a16="http://schemas.microsoft.com/office/drawing/2014/main" id="{D214B62A-CE92-4824-ACB6-0D5D657E6933}"/>
              </a:ext>
            </a:extLst>
          </p:cNvPr>
          <p:cNvSpPr>
            <a:spLocks xmlns:a="http://schemas.openxmlformats.org/drawingml/2006/main" noGrp="1"/>
          </p:cNvSpPr>
          <p:nvPr/>
        </p:nvSpPr>
        <p:spPr>
          <a:xfrm xmlns:a="http://schemas.openxmlformats.org/drawingml/2006/main">
            <a:off x="819150" y="37909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NVIDIA A10G class</a:t>
            </a:r>
          </a:p>
        </p:txBody>
      </p:sp>
      <p:sp>
        <p:nvSpPr>
          <p:cNvPr id="20" name="">
            <a:extLst xmlns:a="http://schemas.openxmlformats.org/drawingml/2006/main">
              <a:ext uri="{FF2B5EF4-FFF2-40B4-BE49-F238E27FC236}">
                <a16:creationId xmlns:a16="http://schemas.microsoft.com/office/drawing/2014/main" id="{D77BBA88-8E58-48EA-86BF-6044FAC55F72}"/>
              </a:ext>
            </a:extLst>
          </p:cNvPr>
          <p:cNvSpPr>
            <a:spLocks xmlns:a="http://schemas.openxmlformats.org/drawingml/2006/main" noGrp="1"/>
          </p:cNvSpPr>
          <p:nvPr/>
        </p:nvSpPr>
        <p:spPr>
          <a:xfrm xmlns:a="http://schemas.openxmlformats.org/drawingml/2006/main">
            <a:off x="3238500" y="33909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21" name="">
            <a:extLst xmlns:a="http://schemas.openxmlformats.org/drawingml/2006/main">
              <a:ext uri="{FF2B5EF4-FFF2-40B4-BE49-F238E27FC236}">
                <a16:creationId xmlns:a16="http://schemas.microsoft.com/office/drawing/2014/main" id="{8EE3806C-14E5-4ABD-A6EE-230C625A0F97}"/>
              </a:ext>
            </a:extLst>
          </p:cNvPr>
          <p:cNvSpPr>
            <a:spLocks xmlns:a="http://schemas.openxmlformats.org/drawingml/2006/main" noGrp="1"/>
          </p:cNvSpPr>
          <p:nvPr/>
        </p:nvSpPr>
        <p:spPr>
          <a:xfrm xmlns:a="http://schemas.openxmlformats.org/drawingml/2006/main">
            <a:off x="3390900" y="35242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GPU memory</a:t>
            </a:r>
          </a:p>
        </p:txBody>
      </p:sp>
      <p:sp>
        <p:nvSpPr>
          <p:cNvPr id="22" name="">
            <a:extLst xmlns:a="http://schemas.openxmlformats.org/drawingml/2006/main">
              <a:ext uri="{FF2B5EF4-FFF2-40B4-BE49-F238E27FC236}">
                <a16:creationId xmlns:a16="http://schemas.microsoft.com/office/drawing/2014/main" id="{D2506BDE-D690-41B4-AAE8-C84D8D6B40E3}"/>
              </a:ext>
            </a:extLst>
          </p:cNvPr>
          <p:cNvSpPr>
            <a:spLocks xmlns:a="http://schemas.openxmlformats.org/drawingml/2006/main" noGrp="1"/>
          </p:cNvSpPr>
          <p:nvPr/>
        </p:nvSpPr>
        <p:spPr>
          <a:xfrm xmlns:a="http://schemas.openxmlformats.org/drawingml/2006/main">
            <a:off x="3390900" y="37909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24 GB GDDR6</a:t>
            </a:r>
          </a:p>
        </p:txBody>
      </p:sp>
      <p:sp>
        <p:nvSpPr>
          <p:cNvPr id="23" name="">
            <a:extLst xmlns:a="http://schemas.openxmlformats.org/drawingml/2006/main">
              <a:ext uri="{FF2B5EF4-FFF2-40B4-BE49-F238E27FC236}">
                <a16:creationId xmlns:a16="http://schemas.microsoft.com/office/drawing/2014/main" id="{9CCC2AF3-0EF1-44CA-B718-9F81283757B7}"/>
              </a:ext>
            </a:extLst>
          </p:cNvPr>
          <p:cNvSpPr>
            <a:spLocks xmlns:a="http://schemas.openxmlformats.org/drawingml/2006/main" noGrp="1"/>
          </p:cNvSpPr>
          <p:nvPr/>
        </p:nvSpPr>
        <p:spPr>
          <a:xfrm xmlns:a="http://schemas.openxmlformats.org/drawingml/2006/main">
            <a:off x="5810250" y="3390900"/>
            <a:ext cx="2343150" cy="895350"/>
          </a:xfrm>
          <a:prstGeom xmlns:a="http://schemas.openxmlformats.org/drawingml/2006/main" prst="roundRect">
            <a:avLst>
              <a:gd name="adj" fmla="val 6383"/>
            </a:avLst>
          </a:prstGeom>
          <a:solidFill xmlns:a="http://schemas.openxmlformats.org/drawingml/2006/main">
            <a:srgbClr val="FFF7ED"/>
          </a:solidFill>
          <a:ln xmlns:a="http://schemas.openxmlformats.org/drawingml/2006/main" w="9525">
            <a:solidFill>
              <a:srgbClr val="FED7AA"/>
            </a:solidFill>
            <a:prstDash val="solid"/>
          </a:ln>
        </p:spPr>
      </p:sp>
      <p:sp>
        <p:nvSpPr>
          <p:cNvPr id="24" name="">
            <a:extLst xmlns:a="http://schemas.openxmlformats.org/drawingml/2006/main">
              <a:ext uri="{FF2B5EF4-FFF2-40B4-BE49-F238E27FC236}">
                <a16:creationId xmlns:a16="http://schemas.microsoft.com/office/drawing/2014/main" id="{FAF9D5E7-296A-41D1-9400-60A2C12BB9D0}"/>
              </a:ext>
            </a:extLst>
          </p:cNvPr>
          <p:cNvSpPr>
            <a:spLocks xmlns:a="http://schemas.openxmlformats.org/drawingml/2006/main" noGrp="1"/>
          </p:cNvSpPr>
          <p:nvPr/>
        </p:nvSpPr>
        <p:spPr>
          <a:xfrm xmlns:a="http://schemas.openxmlformats.org/drawingml/2006/main">
            <a:off x="5962650" y="35242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HiCache host KV shelf</a:t>
            </a:r>
          </a:p>
        </p:txBody>
      </p:sp>
      <p:sp>
        <p:nvSpPr>
          <p:cNvPr id="25" name="">
            <a:extLst xmlns:a="http://schemas.openxmlformats.org/drawingml/2006/main">
              <a:ext uri="{FF2B5EF4-FFF2-40B4-BE49-F238E27FC236}">
                <a16:creationId xmlns:a16="http://schemas.microsoft.com/office/drawing/2014/main" id="{A91B2E25-0224-4BEE-9220-3983AFBD5860}"/>
              </a:ext>
            </a:extLst>
          </p:cNvPr>
          <p:cNvSpPr>
            <a:spLocks xmlns:a="http://schemas.openxmlformats.org/drawingml/2006/main" noGrp="1"/>
          </p:cNvSpPr>
          <p:nvPr/>
        </p:nvSpPr>
        <p:spPr>
          <a:xfrm xmlns:a="http://schemas.openxmlformats.org/drawingml/2006/main">
            <a:off x="5962650" y="37909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16 GB configured</a:t>
            </a:r>
          </a:p>
        </p:txBody>
      </p:sp>
      <p:sp>
        <p:nvSpPr>
          <p:cNvPr id="26" name="">
            <a:extLst xmlns:a="http://schemas.openxmlformats.org/drawingml/2006/main">
              <a:ext uri="{FF2B5EF4-FFF2-40B4-BE49-F238E27FC236}">
                <a16:creationId xmlns:a16="http://schemas.microsoft.com/office/drawing/2014/main" id="{B7A10C7D-29C4-4566-8A81-343126E16C38}"/>
              </a:ext>
            </a:extLst>
          </p:cNvPr>
          <p:cNvSpPr>
            <a:spLocks xmlns:a="http://schemas.openxmlformats.org/drawingml/2006/main" noGrp="1"/>
          </p:cNvSpPr>
          <p:nvPr/>
        </p:nvSpPr>
        <p:spPr>
          <a:xfrm xmlns:a="http://schemas.openxmlformats.org/drawingml/2006/main">
            <a:off x="8382000" y="33909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27" name="">
            <a:extLst xmlns:a="http://schemas.openxmlformats.org/drawingml/2006/main">
              <a:ext uri="{FF2B5EF4-FFF2-40B4-BE49-F238E27FC236}">
                <a16:creationId xmlns:a16="http://schemas.microsoft.com/office/drawing/2014/main" id="{4A0E9200-E724-4A40-8E19-8DCD591F8BAE}"/>
              </a:ext>
            </a:extLst>
          </p:cNvPr>
          <p:cNvSpPr>
            <a:spLocks xmlns:a="http://schemas.openxmlformats.org/drawingml/2006/main" noGrp="1"/>
          </p:cNvSpPr>
          <p:nvPr/>
        </p:nvSpPr>
        <p:spPr>
          <a:xfrm xmlns:a="http://schemas.openxmlformats.org/drawingml/2006/main">
            <a:off x="8534400" y="35242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Context length</a:t>
            </a:r>
          </a:p>
        </p:txBody>
      </p:sp>
      <p:sp>
        <p:nvSpPr>
          <p:cNvPr id="28" name="">
            <a:extLst xmlns:a="http://schemas.openxmlformats.org/drawingml/2006/main">
              <a:ext uri="{FF2B5EF4-FFF2-40B4-BE49-F238E27FC236}">
                <a16:creationId xmlns:a16="http://schemas.microsoft.com/office/drawing/2014/main" id="{BBCE0D59-36C7-4F7B-8D96-512502F33AAD}"/>
              </a:ext>
            </a:extLst>
          </p:cNvPr>
          <p:cNvSpPr>
            <a:spLocks xmlns:a="http://schemas.openxmlformats.org/drawingml/2006/main" noGrp="1"/>
          </p:cNvSpPr>
          <p:nvPr/>
        </p:nvSpPr>
        <p:spPr>
          <a:xfrm xmlns:a="http://schemas.openxmlformats.org/drawingml/2006/main">
            <a:off x="8534400" y="37909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32,768 tokens</a:t>
            </a:r>
          </a:p>
        </p:txBody>
      </p:sp>
      <p:sp>
        <p:nvSpPr>
          <p:cNvPr id="29" name="">
            <a:extLst xmlns:a="http://schemas.openxmlformats.org/drawingml/2006/main">
              <a:ext uri="{FF2B5EF4-FFF2-40B4-BE49-F238E27FC236}">
                <a16:creationId xmlns:a16="http://schemas.microsoft.com/office/drawing/2014/main" id="{DD8BB145-8065-4ACB-9589-3B72194F091A}"/>
              </a:ext>
            </a:extLst>
          </p:cNvPr>
          <p:cNvSpPr>
            <a:spLocks xmlns:a="http://schemas.openxmlformats.org/drawingml/2006/main" noGrp="1"/>
          </p:cNvSpPr>
          <p:nvPr/>
        </p:nvSpPr>
        <p:spPr>
          <a:xfrm xmlns:a="http://schemas.openxmlformats.org/drawingml/2006/main">
            <a:off x="666750" y="45720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30" name="">
            <a:extLst xmlns:a="http://schemas.openxmlformats.org/drawingml/2006/main">
              <a:ext uri="{FF2B5EF4-FFF2-40B4-BE49-F238E27FC236}">
                <a16:creationId xmlns:a16="http://schemas.microsoft.com/office/drawing/2014/main" id="{1D5E322D-4E77-483A-9775-1058BE82596F}"/>
              </a:ext>
            </a:extLst>
          </p:cNvPr>
          <p:cNvSpPr>
            <a:spLocks xmlns:a="http://schemas.openxmlformats.org/drawingml/2006/main" noGrp="1"/>
          </p:cNvSpPr>
          <p:nvPr/>
        </p:nvSpPr>
        <p:spPr>
          <a:xfrm xmlns:a="http://schemas.openxmlformats.org/drawingml/2006/main">
            <a:off x="819150" y="47053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Max total tokens</a:t>
            </a:r>
          </a:p>
        </p:txBody>
      </p:sp>
      <p:sp>
        <p:nvSpPr>
          <p:cNvPr id="31" name="">
            <a:extLst xmlns:a="http://schemas.openxmlformats.org/drawingml/2006/main">
              <a:ext uri="{FF2B5EF4-FFF2-40B4-BE49-F238E27FC236}">
                <a16:creationId xmlns:a16="http://schemas.microsoft.com/office/drawing/2014/main" id="{297C8B62-39BD-46FB-B2CA-5589F126F4BA}"/>
              </a:ext>
            </a:extLst>
          </p:cNvPr>
          <p:cNvSpPr>
            <a:spLocks xmlns:a="http://schemas.openxmlformats.org/drawingml/2006/main" noGrp="1"/>
          </p:cNvSpPr>
          <p:nvPr/>
        </p:nvSpPr>
        <p:spPr>
          <a:xfrm xmlns:a="http://schemas.openxmlformats.org/drawingml/2006/main">
            <a:off x="819150" y="49720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12,288</a:t>
            </a:r>
          </a:p>
        </p:txBody>
      </p:sp>
      <p:sp>
        <p:nvSpPr>
          <p:cNvPr id="32" name="">
            <a:extLst xmlns:a="http://schemas.openxmlformats.org/drawingml/2006/main">
              <a:ext uri="{FF2B5EF4-FFF2-40B4-BE49-F238E27FC236}">
                <a16:creationId xmlns:a16="http://schemas.microsoft.com/office/drawing/2014/main" id="{A8B1EF20-752C-4036-8B01-9A12D5CC8F59}"/>
              </a:ext>
            </a:extLst>
          </p:cNvPr>
          <p:cNvSpPr>
            <a:spLocks xmlns:a="http://schemas.openxmlformats.org/drawingml/2006/main" noGrp="1"/>
          </p:cNvSpPr>
          <p:nvPr/>
        </p:nvSpPr>
        <p:spPr>
          <a:xfrm xmlns:a="http://schemas.openxmlformats.org/drawingml/2006/main">
            <a:off x="3238500" y="45720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33" name="">
            <a:extLst xmlns:a="http://schemas.openxmlformats.org/drawingml/2006/main">
              <a:ext uri="{FF2B5EF4-FFF2-40B4-BE49-F238E27FC236}">
                <a16:creationId xmlns:a16="http://schemas.microsoft.com/office/drawing/2014/main" id="{BFC22588-0C36-4B1D-BFC5-02B5D2C0F5C1}"/>
              </a:ext>
            </a:extLst>
          </p:cNvPr>
          <p:cNvSpPr>
            <a:spLocks xmlns:a="http://schemas.openxmlformats.org/drawingml/2006/main" noGrp="1"/>
          </p:cNvSpPr>
          <p:nvPr/>
        </p:nvSpPr>
        <p:spPr>
          <a:xfrm xmlns:a="http://schemas.openxmlformats.org/drawingml/2006/main">
            <a:off x="3390900" y="47053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Memory fraction static</a:t>
            </a:r>
          </a:p>
        </p:txBody>
      </p:sp>
      <p:sp>
        <p:nvSpPr>
          <p:cNvPr id="34" name="">
            <a:extLst xmlns:a="http://schemas.openxmlformats.org/drawingml/2006/main">
              <a:ext uri="{FF2B5EF4-FFF2-40B4-BE49-F238E27FC236}">
                <a16:creationId xmlns:a16="http://schemas.microsoft.com/office/drawing/2014/main" id="{2A19B398-9432-43BF-8860-3B44EDED0559}"/>
              </a:ext>
            </a:extLst>
          </p:cNvPr>
          <p:cNvSpPr>
            <a:spLocks xmlns:a="http://schemas.openxmlformats.org/drawingml/2006/main" noGrp="1"/>
          </p:cNvSpPr>
          <p:nvPr/>
        </p:nvSpPr>
        <p:spPr>
          <a:xfrm xmlns:a="http://schemas.openxmlformats.org/drawingml/2006/main">
            <a:off x="3390900" y="49720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0.72</a:t>
            </a:r>
          </a:p>
        </p:txBody>
      </p:sp>
      <p:sp>
        <p:nvSpPr>
          <p:cNvPr id="35" name="">
            <a:extLst xmlns:a="http://schemas.openxmlformats.org/drawingml/2006/main">
              <a:ext uri="{FF2B5EF4-FFF2-40B4-BE49-F238E27FC236}">
                <a16:creationId xmlns:a16="http://schemas.microsoft.com/office/drawing/2014/main" id="{09437138-7BE3-4608-97E0-4074355190C0}"/>
              </a:ext>
            </a:extLst>
          </p:cNvPr>
          <p:cNvSpPr>
            <a:spLocks xmlns:a="http://schemas.openxmlformats.org/drawingml/2006/main" noGrp="1"/>
          </p:cNvSpPr>
          <p:nvPr/>
        </p:nvSpPr>
        <p:spPr>
          <a:xfrm xmlns:a="http://schemas.openxmlformats.org/drawingml/2006/main">
            <a:off x="5810250" y="4572000"/>
            <a:ext cx="2343150" cy="895350"/>
          </a:xfrm>
          <a:prstGeom xmlns:a="http://schemas.openxmlformats.org/drawingml/2006/main" prst="roundRect">
            <a:avLst>
              <a:gd name="adj" fmla="val 6383"/>
            </a:avLst>
          </a:prstGeom>
          <a:solidFill xmlns:a="http://schemas.openxmlformats.org/drawingml/2006/main">
            <a:srgbClr val="F8FAFC"/>
          </a:solidFill>
          <a:ln xmlns:a="http://schemas.openxmlformats.org/drawingml/2006/main" w="9525">
            <a:solidFill>
              <a:srgbClr val="CBD5E1"/>
            </a:solidFill>
            <a:prstDash val="solid"/>
          </a:ln>
        </p:spPr>
      </p:sp>
      <p:sp>
        <p:nvSpPr>
          <p:cNvPr id="36" name="">
            <a:extLst xmlns:a="http://schemas.openxmlformats.org/drawingml/2006/main">
              <a:ext uri="{FF2B5EF4-FFF2-40B4-BE49-F238E27FC236}">
                <a16:creationId xmlns:a16="http://schemas.microsoft.com/office/drawing/2014/main" id="{C1E6A6B1-EC17-4CCC-B944-0F10B6E57B42}"/>
              </a:ext>
            </a:extLst>
          </p:cNvPr>
          <p:cNvSpPr>
            <a:spLocks xmlns:a="http://schemas.openxmlformats.org/drawingml/2006/main" noGrp="1"/>
          </p:cNvSpPr>
          <p:nvPr/>
        </p:nvSpPr>
        <p:spPr>
          <a:xfrm xmlns:a="http://schemas.openxmlformats.org/drawingml/2006/main">
            <a:off x="5962650" y="47053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Tensor parallel</a:t>
            </a:r>
          </a:p>
        </p:txBody>
      </p:sp>
      <p:sp>
        <p:nvSpPr>
          <p:cNvPr id="37" name="">
            <a:extLst xmlns:a="http://schemas.openxmlformats.org/drawingml/2006/main">
              <a:ext uri="{FF2B5EF4-FFF2-40B4-BE49-F238E27FC236}">
                <a16:creationId xmlns:a16="http://schemas.microsoft.com/office/drawing/2014/main" id="{9F04F906-178A-4E85-8463-A3EBAD7C29DF}"/>
              </a:ext>
            </a:extLst>
          </p:cNvPr>
          <p:cNvSpPr>
            <a:spLocks xmlns:a="http://schemas.openxmlformats.org/drawingml/2006/main" noGrp="1"/>
          </p:cNvSpPr>
          <p:nvPr/>
        </p:nvSpPr>
        <p:spPr>
          <a:xfrm xmlns:a="http://schemas.openxmlformats.org/drawingml/2006/main">
            <a:off x="5962650" y="49720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1">
                <a:solidFill>
                  <a:srgbClr val="0F172A"/>
                </a:solidFill>
              </a:defRPr>
            </a:pPr>
            <a:r>
              <a:rPr sz="1575" b="1">
                <a:solidFill>
                  <a:srgbClr val="0F172A"/>
                </a:solidFill>
              </a:rPr>
              <a:t>TP = 1</a:t>
            </a:r>
          </a:p>
        </p:txBody>
      </p:sp>
      <p:sp>
        <p:nvSpPr>
          <p:cNvPr id="38" name="">
            <a:extLst xmlns:a="http://schemas.openxmlformats.org/drawingml/2006/main">
              <a:ext uri="{FF2B5EF4-FFF2-40B4-BE49-F238E27FC236}">
                <a16:creationId xmlns:a16="http://schemas.microsoft.com/office/drawing/2014/main" id="{8AC64079-9D19-4EFC-80E5-DE028C22C33E}"/>
              </a:ext>
            </a:extLst>
          </p:cNvPr>
          <p:cNvSpPr>
            <a:spLocks xmlns:a="http://schemas.openxmlformats.org/drawingml/2006/main" noGrp="1"/>
          </p:cNvSpPr>
          <p:nvPr/>
        </p:nvSpPr>
        <p:spPr>
          <a:xfrm xmlns:a="http://schemas.openxmlformats.org/drawingml/2006/main">
            <a:off x="8382000" y="4572000"/>
            <a:ext cx="2343150" cy="895350"/>
          </a:xfrm>
          <a:prstGeom xmlns:a="http://schemas.openxmlformats.org/drawingml/2006/main" prst="roundRect">
            <a:avLst>
              <a:gd name="adj" fmla="val 6383"/>
            </a:avLst>
          </a:prstGeom>
          <a:solidFill xmlns:a="http://schemas.openxmlformats.org/drawingml/2006/main">
            <a:srgbClr val="FFF7ED"/>
          </a:solidFill>
          <a:ln xmlns:a="http://schemas.openxmlformats.org/drawingml/2006/main" w="9525">
            <a:solidFill>
              <a:srgbClr val="FED7AA"/>
            </a:solidFill>
            <a:prstDash val="solid"/>
          </a:ln>
        </p:spPr>
      </p:sp>
      <p:sp>
        <p:nvSpPr>
          <p:cNvPr id="39" name="">
            <a:extLst xmlns:a="http://schemas.openxmlformats.org/drawingml/2006/main">
              <a:ext uri="{FF2B5EF4-FFF2-40B4-BE49-F238E27FC236}">
                <a16:creationId xmlns:a16="http://schemas.microsoft.com/office/drawing/2014/main" id="{A90BCC01-5B9A-4A6D-A232-BCE1EE716BB5}"/>
              </a:ext>
            </a:extLst>
          </p:cNvPr>
          <p:cNvSpPr>
            <a:spLocks xmlns:a="http://schemas.openxmlformats.org/drawingml/2006/main" noGrp="1"/>
          </p:cNvSpPr>
          <p:nvPr/>
        </p:nvSpPr>
        <p:spPr>
          <a:xfrm xmlns:a="http://schemas.openxmlformats.org/drawingml/2006/main">
            <a:off x="8534400" y="4705350"/>
            <a:ext cx="20383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1">
                <a:solidFill>
                  <a:srgbClr val="64748B"/>
                </a:solidFill>
              </a:defRPr>
            </a:pPr>
            <a:r>
              <a:rPr sz="1125" b="1">
                <a:solidFill>
                  <a:srgbClr val="64748B"/>
                </a:solidFill>
              </a:rPr>
              <a:t>HiCache policy</a:t>
            </a:r>
          </a:p>
        </p:txBody>
      </p:sp>
      <p:sp>
        <p:nvSpPr>
          <p:cNvPr id="40" name="">
            <a:extLst xmlns:a="http://schemas.openxmlformats.org/drawingml/2006/main">
              <a:ext uri="{FF2B5EF4-FFF2-40B4-BE49-F238E27FC236}">
                <a16:creationId xmlns:a16="http://schemas.microsoft.com/office/drawing/2014/main" id="{D70B7FB8-AB0F-4845-A1A3-5B83408D94E2}"/>
              </a:ext>
            </a:extLst>
          </p:cNvPr>
          <p:cNvSpPr>
            <a:spLocks xmlns:a="http://schemas.openxmlformats.org/drawingml/2006/main" noGrp="1"/>
          </p:cNvSpPr>
          <p:nvPr/>
        </p:nvSpPr>
        <p:spPr>
          <a:xfrm xmlns:a="http://schemas.openxmlformats.org/drawingml/2006/main">
            <a:off x="8534400" y="4972050"/>
            <a:ext cx="2038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1">
                <a:solidFill>
                  <a:srgbClr val="0F172A"/>
                </a:solidFill>
              </a:defRPr>
            </a:pPr>
            <a:r>
              <a:rPr sz="1350" b="1">
                <a:solidFill>
                  <a:srgbClr val="0F172A"/>
                </a:solidFill>
              </a:rPr>
              <a:t>direct + write-through</a:t>
            </a:r>
          </a:p>
        </p:txBody>
      </p:sp>
      <p:sp>
        <p:nvSpPr>
          <p:cNvPr id="41" name="">
            <a:extLst xmlns:a="http://schemas.openxmlformats.org/drawingml/2006/main">
              <a:ext uri="{FF2B5EF4-FFF2-40B4-BE49-F238E27FC236}">
                <a16:creationId xmlns:a16="http://schemas.microsoft.com/office/drawing/2014/main" id="{7B1F3AC4-0F56-4A98-8C5F-B3C0C620DDE1}"/>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setup section and run configuration</a:t>
            </a:r>
          </a:p>
        </p:txBody>
      </p:sp>
      <p:sp>
        <p:nvSpPr>
          <p:cNvPr id="42" name="">
            <a:extLst xmlns:a="http://schemas.openxmlformats.org/drawingml/2006/main">
              <a:ext uri="{FF2B5EF4-FFF2-40B4-BE49-F238E27FC236}">
                <a16:creationId xmlns:a16="http://schemas.microsoft.com/office/drawing/2014/main" id="{DA640CEE-D46F-4360-A0B5-4FC8FBD42A24}"/>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43" name="">
            <a:extLst xmlns:a="http://schemas.openxmlformats.org/drawingml/2006/main">
              <a:ext uri="{FF2B5EF4-FFF2-40B4-BE49-F238E27FC236}">
                <a16:creationId xmlns:a16="http://schemas.microsoft.com/office/drawing/2014/main" id="{FDA669F1-FFD5-4FC6-ABB8-6D3AF770FCE5}"/>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03</a:t>
            </a:r>
          </a:p>
        </p:txBody>
      </p:sp>
    </p:spTree>
    <p:extLst>
      <p:ext uri="{BB962C8B-B14F-4D97-AF65-F5344CB8AC3E}">
        <p14:creationId xmlns:p14="http://schemas.microsoft.com/office/powerpoint/2010/main" val="607571319"/>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43B133D8-36FC-41E2-9A95-30B9F70BBDEF}"/>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Today’s DMA engines move bytes, not intent</a:t>
            </a:r>
          </a:p>
        </p:txBody>
      </p:sp>
      <p:sp>
        <p:nvSpPr>
          <p:cNvPr id="2" name="">
            <a:extLst xmlns:a="http://schemas.openxmlformats.org/drawingml/2006/main">
              <a:ext uri="{FF2B5EF4-FFF2-40B4-BE49-F238E27FC236}">
                <a16:creationId xmlns:a16="http://schemas.microsoft.com/office/drawing/2014/main" id="{56C7D7D2-EB65-4398-B221-613AB92EB068}"/>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hardware path is fast, but it usually lacks agent/session semantics.</a:t>
            </a:r>
          </a:p>
        </p:txBody>
      </p:sp>
      <p:sp>
        <p:nvSpPr>
          <p:cNvPr id="3" name="">
            <a:extLst xmlns:a="http://schemas.openxmlformats.org/drawingml/2006/main">
              <a:ext uri="{FF2B5EF4-FFF2-40B4-BE49-F238E27FC236}">
                <a16:creationId xmlns:a16="http://schemas.microsoft.com/office/drawing/2014/main" id="{FF4FAD7E-08BC-4BCF-BAE1-8F2D3806C409}"/>
              </a:ext>
            </a:extLst>
          </p:cNvPr>
          <p:cNvSpPr>
            <a:spLocks xmlns:a="http://schemas.openxmlformats.org/drawingml/2006/main" noGrp="1"/>
          </p:cNvSpPr>
          <p:nvPr/>
        </p:nvSpPr>
        <p:spPr>
          <a:xfrm xmlns:a="http://schemas.openxmlformats.org/drawingml/2006/main">
            <a:off x="552450" y="1790700"/>
            <a:ext cx="4953000" cy="3429000"/>
          </a:xfrm>
          <a:prstGeom xmlns:a="http://schemas.openxmlformats.org/drawingml/2006/main" prst="roundRect">
            <a:avLst>
              <a:gd name="adj" fmla="val 1667"/>
            </a:avLst>
          </a:prstGeom>
          <a:solidFill xmlns:a="http://schemas.openxmlformats.org/drawingml/2006/main">
            <a:srgbClr val="F8FAFC"/>
          </a:solidFill>
          <a:ln xmlns:a="http://schemas.openxmlformats.org/drawingml/2006/main" w="9525">
            <a:solidFill>
              <a:srgbClr val="CBD5E1"/>
            </a:solidFill>
            <a:prstDash val="solid"/>
          </a:ln>
        </p:spPr>
      </p:sp>
      <p:sp>
        <p:nvSpPr>
          <p:cNvPr id="4" name="">
            <a:extLst xmlns:a="http://schemas.openxmlformats.org/drawingml/2006/main">
              <a:ext uri="{FF2B5EF4-FFF2-40B4-BE49-F238E27FC236}">
                <a16:creationId xmlns:a16="http://schemas.microsoft.com/office/drawing/2014/main" id="{6284BA9F-915A-49BF-93D1-CEAC0692ED66}"/>
              </a:ext>
            </a:extLst>
          </p:cNvPr>
          <p:cNvSpPr>
            <a:spLocks xmlns:a="http://schemas.openxmlformats.org/drawingml/2006/main" noGrp="1"/>
          </p:cNvSpPr>
          <p:nvPr/>
        </p:nvSpPr>
        <p:spPr>
          <a:xfrm xmlns:a="http://schemas.openxmlformats.org/drawingml/2006/main">
            <a:off x="838200" y="20764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F172A"/>
                </a:solidFill>
              </a:defRPr>
            </a:pPr>
            <a:r>
              <a:rPr sz="1950" b="1">
                <a:solidFill>
                  <a:srgbClr val="0F172A"/>
                </a:solidFill>
              </a:rPr>
              <a:t>Context-agnostic movement</a:t>
            </a:r>
          </a:p>
        </p:txBody>
      </p:sp>
      <p:sp>
        <p:nvSpPr>
          <p:cNvPr id="5" name="">
            <a:extLst xmlns:a="http://schemas.openxmlformats.org/drawingml/2006/main">
              <a:ext uri="{FF2B5EF4-FFF2-40B4-BE49-F238E27FC236}">
                <a16:creationId xmlns:a16="http://schemas.microsoft.com/office/drawing/2014/main" id="{7BA0716D-08AD-4DAF-A736-66D45C018D47}"/>
              </a:ext>
            </a:extLst>
          </p:cNvPr>
          <p:cNvSpPr>
            <a:spLocks xmlns:a="http://schemas.openxmlformats.org/drawingml/2006/main" noGrp="1"/>
          </p:cNvSpPr>
          <p:nvPr/>
        </p:nvSpPr>
        <p:spPr>
          <a:xfrm xmlns:a="http://schemas.openxmlformats.org/drawingml/2006/main">
            <a:off x="876300" y="278130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DFE81315-318D-43AC-A6DA-769523898FEB}"/>
              </a:ext>
            </a:extLst>
          </p:cNvPr>
          <p:cNvSpPr>
            <a:spLocks xmlns:a="http://schemas.openxmlformats.org/drawingml/2006/main" noGrp="1"/>
          </p:cNvSpPr>
          <p:nvPr/>
        </p:nvSpPr>
        <p:spPr>
          <a:xfrm xmlns:a="http://schemas.openxmlformats.org/drawingml/2006/main">
            <a:off x="1104900" y="27051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sees memory ranges</a:t>
            </a:r>
          </a:p>
        </p:txBody>
      </p:sp>
      <p:sp>
        <p:nvSpPr>
          <p:cNvPr id="7" name="">
            <a:extLst xmlns:a="http://schemas.openxmlformats.org/drawingml/2006/main">
              <a:ext uri="{FF2B5EF4-FFF2-40B4-BE49-F238E27FC236}">
                <a16:creationId xmlns:a16="http://schemas.microsoft.com/office/drawing/2014/main" id="{2CB513AF-5075-4586-8CEE-68D185DF134A}"/>
              </a:ext>
            </a:extLst>
          </p:cNvPr>
          <p:cNvSpPr>
            <a:spLocks xmlns:a="http://schemas.openxmlformats.org/drawingml/2006/main" noGrp="1"/>
          </p:cNvSpPr>
          <p:nvPr/>
        </p:nvSpPr>
        <p:spPr>
          <a:xfrm xmlns:a="http://schemas.openxmlformats.org/drawingml/2006/main">
            <a:off x="876300" y="329565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7DC3254C-767F-4361-BD88-5C472F8BE027}"/>
              </a:ext>
            </a:extLst>
          </p:cNvPr>
          <p:cNvSpPr>
            <a:spLocks xmlns:a="http://schemas.openxmlformats.org/drawingml/2006/main" noGrp="1"/>
          </p:cNvSpPr>
          <p:nvPr/>
        </p:nvSpPr>
        <p:spPr>
          <a:xfrm xmlns:a="http://schemas.openxmlformats.org/drawingml/2006/main">
            <a:off x="1104900" y="32194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know the agent session</a:t>
            </a:r>
          </a:p>
        </p:txBody>
      </p:sp>
      <p:sp>
        <p:nvSpPr>
          <p:cNvPr id="9" name="">
            <a:extLst xmlns:a="http://schemas.openxmlformats.org/drawingml/2006/main">
              <a:ext uri="{FF2B5EF4-FFF2-40B4-BE49-F238E27FC236}">
                <a16:creationId xmlns:a16="http://schemas.microsoft.com/office/drawing/2014/main" id="{D0AE9A68-C86E-4A42-8EA8-4158FB3606FC}"/>
              </a:ext>
            </a:extLst>
          </p:cNvPr>
          <p:cNvSpPr>
            <a:spLocks xmlns:a="http://schemas.openxmlformats.org/drawingml/2006/main" noGrp="1"/>
          </p:cNvSpPr>
          <p:nvPr/>
        </p:nvSpPr>
        <p:spPr>
          <a:xfrm xmlns:a="http://schemas.openxmlformats.org/drawingml/2006/main">
            <a:off x="876300" y="381000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8FA3165-95C7-452F-AF68-B071B8B345A8}"/>
              </a:ext>
            </a:extLst>
          </p:cNvPr>
          <p:cNvSpPr>
            <a:spLocks xmlns:a="http://schemas.openxmlformats.org/drawingml/2006/main" noGrp="1"/>
          </p:cNvSpPr>
          <p:nvPr/>
        </p:nvSpPr>
        <p:spPr>
          <a:xfrm xmlns:a="http://schemas.openxmlformats.org/drawingml/2006/main">
            <a:off x="1104900" y="37338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know replay deadline</a:t>
            </a:r>
          </a:p>
        </p:txBody>
      </p:sp>
      <p:sp>
        <p:nvSpPr>
          <p:cNvPr id="11" name="">
            <a:extLst xmlns:a="http://schemas.openxmlformats.org/drawingml/2006/main">
              <a:ext uri="{FF2B5EF4-FFF2-40B4-BE49-F238E27FC236}">
                <a16:creationId xmlns:a16="http://schemas.microsoft.com/office/drawing/2014/main" id="{8F1B2C55-920F-4198-BDBF-7A434E5A6478}"/>
              </a:ext>
            </a:extLst>
          </p:cNvPr>
          <p:cNvSpPr>
            <a:spLocks xmlns:a="http://schemas.openxmlformats.org/drawingml/2006/main" noGrp="1"/>
          </p:cNvSpPr>
          <p:nvPr/>
        </p:nvSpPr>
        <p:spPr>
          <a:xfrm xmlns:a="http://schemas.openxmlformats.org/drawingml/2006/main">
            <a:off x="876300" y="4324350"/>
            <a:ext cx="85725" cy="85725"/>
          </a:xfrm>
          <a:prstGeom xmlns:a="http://schemas.openxmlformats.org/drawingml/2006/main" prst="ellipse">
            <a:avLst/>
          </a:prstGeom>
          <a:solidFill xmlns:a="http://schemas.openxmlformats.org/drawingml/2006/main">
            <a:srgbClr val="64748B"/>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303B1280-49D0-4236-847F-65F97891353E}"/>
              </a:ext>
            </a:extLst>
          </p:cNvPr>
          <p:cNvSpPr>
            <a:spLocks xmlns:a="http://schemas.openxmlformats.org/drawingml/2006/main" noGrp="1"/>
          </p:cNvSpPr>
          <p:nvPr/>
        </p:nvSpPr>
        <p:spPr>
          <a:xfrm xmlns:a="http://schemas.openxmlformats.org/drawingml/2006/main">
            <a:off x="1104900" y="42481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does not protect useful prefetched KV</a:t>
            </a:r>
          </a:p>
        </p:txBody>
      </p:sp>
      <p:sp>
        <p:nvSpPr>
          <p:cNvPr id="13" name="">
            <a:extLst xmlns:a="http://schemas.openxmlformats.org/drawingml/2006/main">
              <a:ext uri="{FF2B5EF4-FFF2-40B4-BE49-F238E27FC236}">
                <a16:creationId xmlns:a16="http://schemas.microsoft.com/office/drawing/2014/main" id="{F862CA72-161E-4011-92CE-86C96CDBA670}"/>
              </a:ext>
            </a:extLst>
          </p:cNvPr>
          <p:cNvSpPr>
            <a:spLocks xmlns:a="http://schemas.openxmlformats.org/drawingml/2006/main" noGrp="1"/>
          </p:cNvSpPr>
          <p:nvPr/>
        </p:nvSpPr>
        <p:spPr>
          <a:xfrm xmlns:a="http://schemas.openxmlformats.org/drawingml/2006/main">
            <a:off x="5753100" y="3086100"/>
            <a:ext cx="666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4050" b="1">
                <a:solidFill>
                  <a:srgbClr val="64748B"/>
                </a:solidFill>
              </a:defRPr>
            </a:pPr>
            <a:r>
              <a:rPr sz="4050" b="1">
                <a:solidFill>
                  <a:srgbClr val="64748B"/>
                </a:solidFill>
              </a:rPr>
              <a:t>→</a:t>
            </a:r>
          </a:p>
        </p:txBody>
      </p:sp>
      <p:sp>
        <p:nvSpPr>
          <p:cNvPr id="14" name="">
            <a:extLst xmlns:a="http://schemas.openxmlformats.org/drawingml/2006/main">
              <a:ext uri="{FF2B5EF4-FFF2-40B4-BE49-F238E27FC236}">
                <a16:creationId xmlns:a16="http://schemas.microsoft.com/office/drawing/2014/main" id="{97CC03F3-C3C2-43F1-BBE1-48046526646B}"/>
              </a:ext>
            </a:extLst>
          </p:cNvPr>
          <p:cNvSpPr>
            <a:spLocks xmlns:a="http://schemas.openxmlformats.org/drawingml/2006/main" noGrp="1"/>
          </p:cNvSpPr>
          <p:nvPr/>
        </p:nvSpPr>
        <p:spPr>
          <a:xfrm xmlns:a="http://schemas.openxmlformats.org/drawingml/2006/main">
            <a:off x="6686550" y="1790700"/>
            <a:ext cx="4953000" cy="3429000"/>
          </a:xfrm>
          <a:prstGeom xmlns:a="http://schemas.openxmlformats.org/drawingml/2006/main" prst="roundRect">
            <a:avLst>
              <a:gd name="adj" fmla="val 1667"/>
            </a:avLst>
          </a:prstGeom>
          <a:solidFill xmlns:a="http://schemas.openxmlformats.org/drawingml/2006/main">
            <a:srgbClr val="EFF6FF"/>
          </a:solidFill>
          <a:ln xmlns:a="http://schemas.openxmlformats.org/drawingml/2006/main" w="9525">
            <a:solidFill>
              <a:srgbClr val="BFDBFE"/>
            </a:solidFill>
            <a:prstDash val="solid"/>
          </a:ln>
        </p:spPr>
      </p:sp>
      <p:sp>
        <p:nvSpPr>
          <p:cNvPr id="15" name="">
            <a:extLst xmlns:a="http://schemas.openxmlformats.org/drawingml/2006/main">
              <a:ext uri="{FF2B5EF4-FFF2-40B4-BE49-F238E27FC236}">
                <a16:creationId xmlns:a16="http://schemas.microsoft.com/office/drawing/2014/main" id="{5A3875DD-33B5-4BDE-B1DC-631ECB12E139}"/>
              </a:ext>
            </a:extLst>
          </p:cNvPr>
          <p:cNvSpPr>
            <a:spLocks xmlns:a="http://schemas.openxmlformats.org/drawingml/2006/main" noGrp="1"/>
          </p:cNvSpPr>
          <p:nvPr/>
        </p:nvSpPr>
        <p:spPr>
          <a:xfrm xmlns:a="http://schemas.openxmlformats.org/drawingml/2006/main">
            <a:off x="6972300" y="2076450"/>
            <a:ext cx="4000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950" b="1">
                <a:solidFill>
                  <a:srgbClr val="0F172A"/>
                </a:solidFill>
              </a:defRPr>
            </a:pPr>
            <a:r>
              <a:rPr sz="1950" b="1">
                <a:solidFill>
                  <a:srgbClr val="0F172A"/>
                </a:solidFill>
              </a:rPr>
              <a:t>Hint-aware movement</a:t>
            </a:r>
          </a:p>
        </p:txBody>
      </p:sp>
      <p:sp>
        <p:nvSpPr>
          <p:cNvPr id="16" name="">
            <a:extLst xmlns:a="http://schemas.openxmlformats.org/drawingml/2006/main">
              <a:ext uri="{FF2B5EF4-FFF2-40B4-BE49-F238E27FC236}">
                <a16:creationId xmlns:a16="http://schemas.microsoft.com/office/drawing/2014/main" id="{78F08C0D-B270-40FF-9360-8E8A5F9C568A}"/>
              </a:ext>
            </a:extLst>
          </p:cNvPr>
          <p:cNvSpPr>
            <a:spLocks xmlns:a="http://schemas.openxmlformats.org/drawingml/2006/main" noGrp="1"/>
          </p:cNvSpPr>
          <p:nvPr/>
        </p:nvSpPr>
        <p:spPr>
          <a:xfrm xmlns:a="http://schemas.openxmlformats.org/drawingml/2006/main">
            <a:off x="7010400" y="2781300"/>
            <a:ext cx="85725" cy="85725"/>
          </a:xfrm>
          <a:prstGeom xmlns:a="http://schemas.openxmlformats.org/drawingml/2006/main" prst="ellipse">
            <a:avLst/>
          </a:prstGeom>
          <a:solidFill xmlns:a="http://schemas.openxmlformats.org/drawingml/2006/main">
            <a:srgbClr val="2563E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8BB8879-846C-4096-9BB5-417CE7F66B24}"/>
              </a:ext>
            </a:extLst>
          </p:cNvPr>
          <p:cNvSpPr>
            <a:spLocks xmlns:a="http://schemas.openxmlformats.org/drawingml/2006/main" noGrp="1"/>
          </p:cNvSpPr>
          <p:nvPr/>
        </p:nvSpPr>
        <p:spPr>
          <a:xfrm xmlns:a="http://schemas.openxmlformats.org/drawingml/2006/main">
            <a:off x="7239000" y="27051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tags KV by session and priority</a:t>
            </a:r>
          </a:p>
        </p:txBody>
      </p:sp>
      <p:sp>
        <p:nvSpPr>
          <p:cNvPr id="18" name="">
            <a:extLst xmlns:a="http://schemas.openxmlformats.org/drawingml/2006/main">
              <a:ext uri="{FF2B5EF4-FFF2-40B4-BE49-F238E27FC236}">
                <a16:creationId xmlns:a16="http://schemas.microsoft.com/office/drawing/2014/main" id="{55FF0281-08A3-4CCE-9676-9056E55837CA}"/>
              </a:ext>
            </a:extLst>
          </p:cNvPr>
          <p:cNvSpPr>
            <a:spLocks xmlns:a="http://schemas.openxmlformats.org/drawingml/2006/main" noGrp="1"/>
          </p:cNvSpPr>
          <p:nvPr/>
        </p:nvSpPr>
        <p:spPr>
          <a:xfrm xmlns:a="http://schemas.openxmlformats.org/drawingml/2006/main">
            <a:off x="7010400" y="3295650"/>
            <a:ext cx="85725" cy="85725"/>
          </a:xfrm>
          <a:prstGeom xmlns:a="http://schemas.openxmlformats.org/drawingml/2006/main" prst="ellipse">
            <a:avLst/>
          </a:prstGeom>
          <a:solidFill xmlns:a="http://schemas.openxmlformats.org/drawingml/2006/main">
            <a:srgbClr val="A855F7"/>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5A69BB1B-67C0-407C-8CC8-FA418D0B5F49}"/>
              </a:ext>
            </a:extLst>
          </p:cNvPr>
          <p:cNvSpPr>
            <a:spLocks xmlns:a="http://schemas.openxmlformats.org/drawingml/2006/main" noGrp="1"/>
          </p:cNvSpPr>
          <p:nvPr/>
        </p:nvSpPr>
        <p:spPr>
          <a:xfrm xmlns:a="http://schemas.openxmlformats.org/drawingml/2006/main">
            <a:off x="7239000" y="32194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schedules against replay deadlines</a:t>
            </a:r>
          </a:p>
        </p:txBody>
      </p:sp>
      <p:sp>
        <p:nvSpPr>
          <p:cNvPr id="20" name="">
            <a:extLst xmlns:a="http://schemas.openxmlformats.org/drawingml/2006/main">
              <a:ext uri="{FF2B5EF4-FFF2-40B4-BE49-F238E27FC236}">
                <a16:creationId xmlns:a16="http://schemas.microsoft.com/office/drawing/2014/main" id="{F49B8BE5-08C5-483E-AD85-1EF8671BBA39}"/>
              </a:ext>
            </a:extLst>
          </p:cNvPr>
          <p:cNvSpPr>
            <a:spLocks xmlns:a="http://schemas.openxmlformats.org/drawingml/2006/main" noGrp="1"/>
          </p:cNvSpPr>
          <p:nvPr/>
        </p:nvSpPr>
        <p:spPr>
          <a:xfrm xmlns:a="http://schemas.openxmlformats.org/drawingml/2006/main">
            <a:off x="7010400" y="3810000"/>
            <a:ext cx="85725" cy="85725"/>
          </a:xfrm>
          <a:prstGeom xmlns:a="http://schemas.openxmlformats.org/drawingml/2006/main" prst="ellipse">
            <a:avLst/>
          </a:prstGeom>
          <a:solidFill xmlns:a="http://schemas.openxmlformats.org/drawingml/2006/main">
            <a:srgbClr val="06B6D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58AD7F28-6970-45A6-A405-ADF5E0AA3C7D}"/>
              </a:ext>
            </a:extLst>
          </p:cNvPr>
          <p:cNvSpPr>
            <a:spLocks xmlns:a="http://schemas.openxmlformats.org/drawingml/2006/main" noGrp="1"/>
          </p:cNvSpPr>
          <p:nvPr/>
        </p:nvSpPr>
        <p:spPr>
          <a:xfrm xmlns:a="http://schemas.openxmlformats.org/drawingml/2006/main">
            <a:off x="7239000" y="373380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moves hot KV before replay</a:t>
            </a:r>
          </a:p>
        </p:txBody>
      </p:sp>
      <p:sp>
        <p:nvSpPr>
          <p:cNvPr id="22" name="">
            <a:extLst xmlns:a="http://schemas.openxmlformats.org/drawingml/2006/main">
              <a:ext uri="{FF2B5EF4-FFF2-40B4-BE49-F238E27FC236}">
                <a16:creationId xmlns:a16="http://schemas.microsoft.com/office/drawing/2014/main" id="{11484F66-F65E-4EF9-90B6-9F0F4E22E35F}"/>
              </a:ext>
            </a:extLst>
          </p:cNvPr>
          <p:cNvSpPr>
            <a:spLocks xmlns:a="http://schemas.openxmlformats.org/drawingml/2006/main" noGrp="1"/>
          </p:cNvSpPr>
          <p:nvPr/>
        </p:nvSpPr>
        <p:spPr>
          <a:xfrm xmlns:a="http://schemas.openxmlformats.org/drawingml/2006/main">
            <a:off x="7010400" y="4324350"/>
            <a:ext cx="85725" cy="85725"/>
          </a:xfrm>
          <a:prstGeom xmlns:a="http://schemas.openxmlformats.org/drawingml/2006/main" prst="ellipse">
            <a:avLst/>
          </a:prstGeom>
          <a:solidFill xmlns:a="http://schemas.openxmlformats.org/drawingml/2006/main">
            <a:srgbClr val="16A34A"/>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4675F407-ACED-4F53-88DC-C0E8AF21D0B7}"/>
              </a:ext>
            </a:extLst>
          </p:cNvPr>
          <p:cNvSpPr>
            <a:spLocks xmlns:a="http://schemas.openxmlformats.org/drawingml/2006/main" noGrp="1"/>
          </p:cNvSpPr>
          <p:nvPr/>
        </p:nvSpPr>
        <p:spPr>
          <a:xfrm xmlns:a="http://schemas.openxmlformats.org/drawingml/2006/main">
            <a:off x="7239000" y="4248150"/>
            <a:ext cx="37719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reports late, useful, and wasted movement</a:t>
            </a:r>
          </a:p>
        </p:txBody>
      </p:sp>
      <p:sp>
        <p:nvSpPr>
          <p:cNvPr id="24" name="">
            <a:extLst xmlns:a="http://schemas.openxmlformats.org/drawingml/2006/main">
              <a:ext uri="{FF2B5EF4-FFF2-40B4-BE49-F238E27FC236}">
                <a16:creationId xmlns:a16="http://schemas.microsoft.com/office/drawing/2014/main" id="{88B70E44-9E47-4FFA-92A4-970EE5B5261B}"/>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5" name="">
            <a:extLst xmlns:a="http://schemas.openxmlformats.org/drawingml/2006/main">
              <a:ext uri="{FF2B5EF4-FFF2-40B4-BE49-F238E27FC236}">
                <a16:creationId xmlns:a16="http://schemas.microsoft.com/office/drawing/2014/main" id="{D92D41CC-74EC-4F4D-987B-E0EDB6515A5E}"/>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04</a:t>
            </a:r>
          </a:p>
        </p:txBody>
      </p:sp>
    </p:spTree>
    <p:extLst>
      <p:ext uri="{BB962C8B-B14F-4D97-AF65-F5344CB8AC3E}">
        <p14:creationId xmlns:p14="http://schemas.microsoft.com/office/powerpoint/2010/main" val="1921973542"/>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C032E1-64FF-4FF7-A2EC-5631FAEDE309}"/>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replay path exposes the bottleneck</a:t>
            </a:r>
          </a:p>
        </p:txBody>
      </p:sp>
      <p:sp>
        <p:nvSpPr>
          <p:cNvPr id="2" name="">
            <a:extLst xmlns:a="http://schemas.openxmlformats.org/drawingml/2006/main">
              <a:ext uri="{FF2B5EF4-FFF2-40B4-BE49-F238E27FC236}">
                <a16:creationId xmlns:a16="http://schemas.microsoft.com/office/drawing/2014/main" id="{AD2BE603-D614-44B4-8068-05D4C85CEA53}"/>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Several tool-gap sessions show where replay spends time before the first useful token.</a:t>
            </a:r>
          </a:p>
        </p:txBody>
      </p:sp>
      <p:sp>
        <p:nvSpPr>
          <p:cNvPr id="3" name="">
            <a:extLst xmlns:a="http://schemas.openxmlformats.org/drawingml/2006/main">
              <a:ext uri="{FF2B5EF4-FFF2-40B4-BE49-F238E27FC236}">
                <a16:creationId xmlns:a16="http://schemas.microsoft.com/office/drawing/2014/main" id="{A0B23157-8A3E-40C0-9CF9-0321EE5C4B5E}"/>
              </a:ext>
            </a:extLst>
          </p:cNvPr>
          <p:cNvSpPr>
            <a:spLocks xmlns:a="http://schemas.openxmlformats.org/drawingml/2006/main" noGrp="1"/>
          </p:cNvSpPr>
          <p:nvPr/>
        </p:nvSpPr>
        <p:spPr>
          <a:xfrm xmlns:a="http://schemas.openxmlformats.org/drawingml/2006/main">
            <a:off x="228600" y="1181100"/>
            <a:ext cx="11734800" cy="4972050"/>
          </a:xfrm>
          <a:prstGeom xmlns:a="http://schemas.openxmlformats.org/drawingml/2006/main" prst="roundRect">
            <a:avLst>
              <a:gd name="adj" fmla="val 1149"/>
            </a:avLst>
          </a:prstGeom>
          <a:solidFill xmlns:a="http://schemas.openxmlformats.org/drawingml/2006/main">
            <a:srgbClr val="FFFFFF"/>
          </a:solidFill>
          <a:ln xmlns:a="http://schemas.openxmlformats.org/drawingml/2006/main" w="9525">
            <a:solidFill>
              <a:srgbClr val="E5E7EB"/>
            </a:solidFill>
            <a:prstDash val="solid"/>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f6f1a72317b649e8"/>
          <a:stretch xmlns:a="http://schemas.openxmlformats.org/drawingml/2006/main"/>
        </p:blipFill>
        <p:spPr>
          <a:xfrm xmlns:a="http://schemas.openxmlformats.org/drawingml/2006/main">
            <a:off x="304800" y="1285315"/>
            <a:ext cx="11582400" cy="4763619"/>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0C95FAF7-1A8F-4AED-B42E-99A8D1FC08CF}"/>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controlled run</a:t>
            </a:r>
          </a:p>
        </p:txBody>
      </p:sp>
      <p:sp>
        <p:nvSpPr>
          <p:cNvPr id="6" name="">
            <a:extLst xmlns:a="http://schemas.openxmlformats.org/drawingml/2006/main">
              <a:ext uri="{FF2B5EF4-FFF2-40B4-BE49-F238E27FC236}">
                <a16:creationId xmlns:a16="http://schemas.microsoft.com/office/drawing/2014/main" id="{C9EA2A8B-F625-4231-9A31-A90C894FCD1D}"/>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7" name="">
            <a:extLst xmlns:a="http://schemas.openxmlformats.org/drawingml/2006/main">
              <a:ext uri="{FF2B5EF4-FFF2-40B4-BE49-F238E27FC236}">
                <a16:creationId xmlns:a16="http://schemas.microsoft.com/office/drawing/2014/main" id="{49CB5D53-F1CF-48C5-B053-9170DBE60679}"/>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05</a:t>
            </a:r>
          </a:p>
        </p:txBody>
      </p:sp>
    </p:spTree>
    <p:extLst>
      <p:ext uri="{BB962C8B-B14F-4D97-AF65-F5344CB8AC3E}">
        <p14:creationId xmlns:p14="http://schemas.microsoft.com/office/powerpoint/2010/main" val="108982071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18C9C0CB-F7A7-4BE9-ACB0-1C702AA840AC}"/>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Software prefetch often missed the agent replay deadline</a:t>
            </a:r>
          </a:p>
        </p:txBody>
      </p:sp>
      <p:sp>
        <p:nvSpPr>
          <p:cNvPr id="2" name="">
            <a:extLst xmlns:a="http://schemas.openxmlformats.org/drawingml/2006/main">
              <a:ext uri="{FF2B5EF4-FFF2-40B4-BE49-F238E27FC236}">
                <a16:creationId xmlns:a16="http://schemas.microsoft.com/office/drawing/2014/main" id="{CD065499-DFED-430E-9547-474C4B961A42}"/>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Across live prefetch attempts, nearly every hint completed after the agent had already resumed.</a:t>
            </a:r>
          </a:p>
        </p:txBody>
      </p:sp>
      <p:sp>
        <p:nvSpPr>
          <p:cNvPr id="3" name="">
            <a:extLst xmlns:a="http://schemas.openxmlformats.org/drawingml/2006/main">
              <a:ext uri="{FF2B5EF4-FFF2-40B4-BE49-F238E27FC236}">
                <a16:creationId xmlns:a16="http://schemas.microsoft.com/office/drawing/2014/main" id="{DA7CE27A-A994-41E8-A353-ADAC8AE6EA19}"/>
              </a:ext>
            </a:extLst>
          </p:cNvPr>
          <p:cNvSpPr>
            <a:spLocks xmlns:a="http://schemas.openxmlformats.org/drawingml/2006/main" noGrp="1"/>
          </p:cNvSpPr>
          <p:nvPr/>
        </p:nvSpPr>
        <p:spPr>
          <a:xfrm xmlns:a="http://schemas.openxmlformats.org/drawingml/2006/main">
            <a:off x="323850" y="1428750"/>
            <a:ext cx="8572500" cy="3886200"/>
          </a:xfrm>
          <a:prstGeom xmlns:a="http://schemas.openxmlformats.org/drawingml/2006/main" prst="roundRect">
            <a:avLst>
              <a:gd name="adj" fmla="val 1471"/>
            </a:avLst>
          </a:prstGeom>
          <a:solidFill xmlns:a="http://schemas.openxmlformats.org/drawingml/2006/main">
            <a:srgbClr val="FFFFFF"/>
          </a:solidFill>
          <a:ln xmlns:a="http://schemas.openxmlformats.org/drawingml/2006/main" w="9525">
            <a:solidFill>
              <a:srgbClr val="E5E7EB"/>
            </a:solidFill>
            <a:prstDash val="solid"/>
          </a:ln>
        </p:spPr>
      </p:sp>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d2befd4d13e64aa4"/>
          <a:stretch xmlns:a="http://schemas.openxmlformats.org/drawingml/2006/main"/>
        </p:blipFill>
        <p:spPr>
          <a:xfrm xmlns:a="http://schemas.openxmlformats.org/drawingml/2006/main">
            <a:off x="400050" y="1890170"/>
            <a:ext cx="8420100" cy="296336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318EB209-A8D6-49A4-ABF0-9D0681C257FB}"/>
              </a:ext>
            </a:extLst>
          </p:cNvPr>
          <p:cNvSpPr>
            <a:spLocks xmlns:a="http://schemas.openxmlformats.org/drawingml/2006/main" noGrp="1"/>
          </p:cNvSpPr>
          <p:nvPr/>
        </p:nvSpPr>
        <p:spPr>
          <a:xfrm xmlns:a="http://schemas.openxmlformats.org/drawingml/2006/main">
            <a:off x="9124950" y="1600200"/>
            <a:ext cx="2228850" cy="1295400"/>
          </a:xfrm>
          <a:prstGeom xmlns:a="http://schemas.openxmlformats.org/drawingml/2006/main" prst="roundRect">
            <a:avLst>
              <a:gd name="adj" fmla="val 4412"/>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9D3C770C-A96A-474E-B2A6-0BC1708AC562}"/>
              </a:ext>
            </a:extLst>
          </p:cNvPr>
          <p:cNvSpPr>
            <a:spLocks xmlns:a="http://schemas.openxmlformats.org/drawingml/2006/main" noGrp="1"/>
          </p:cNvSpPr>
          <p:nvPr/>
        </p:nvSpPr>
        <p:spPr>
          <a:xfrm xmlns:a="http://schemas.openxmlformats.org/drawingml/2006/main">
            <a:off x="9296400" y="1809750"/>
            <a:ext cx="18859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700" b="1">
                <a:solidFill>
                  <a:srgbClr val="B91C1C"/>
                </a:solidFill>
              </a:defRPr>
            </a:pPr>
            <a:r>
              <a:rPr sz="2700" b="1">
                <a:solidFill>
                  <a:srgbClr val="B91C1C"/>
                </a:solidFill>
              </a:rPr>
              <a:t>112 of 114</a:t>
            </a:r>
          </a:p>
        </p:txBody>
      </p:sp>
      <p:sp>
        <p:nvSpPr>
          <p:cNvPr id="7" name="">
            <a:extLst xmlns:a="http://schemas.openxmlformats.org/drawingml/2006/main">
              <a:ext uri="{FF2B5EF4-FFF2-40B4-BE49-F238E27FC236}">
                <a16:creationId xmlns:a16="http://schemas.microsoft.com/office/drawing/2014/main" id="{F679ECA5-0E89-47A0-A0E1-0935EB07995F}"/>
              </a:ext>
            </a:extLst>
          </p:cNvPr>
          <p:cNvSpPr>
            <a:spLocks xmlns:a="http://schemas.openxmlformats.org/drawingml/2006/main" noGrp="1"/>
          </p:cNvSpPr>
          <p:nvPr/>
        </p:nvSpPr>
        <p:spPr>
          <a:xfrm xmlns:a="http://schemas.openxmlformats.org/drawingml/2006/main">
            <a:off x="9353550" y="2324100"/>
            <a:ext cx="1771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334155"/>
                </a:solidFill>
              </a:defRPr>
            </a:pPr>
            <a:r>
              <a:rPr sz="1350" b="0">
                <a:solidFill>
                  <a:srgbClr val="334155"/>
                </a:solidFill>
              </a:rPr>
              <a:t>prefetch attempts</a:t>
            </a:r>
          </a:p>
        </p:txBody>
      </p:sp>
      <p:sp>
        <p:nvSpPr>
          <p:cNvPr id="8" name="">
            <a:extLst xmlns:a="http://schemas.openxmlformats.org/drawingml/2006/main">
              <a:ext uri="{FF2B5EF4-FFF2-40B4-BE49-F238E27FC236}">
                <a16:creationId xmlns:a16="http://schemas.microsoft.com/office/drawing/2014/main" id="{4C7571D6-00C8-4618-8C9A-684196BAE708}"/>
              </a:ext>
            </a:extLst>
          </p:cNvPr>
          <p:cNvSpPr>
            <a:spLocks xmlns:a="http://schemas.openxmlformats.org/drawingml/2006/main" noGrp="1"/>
          </p:cNvSpPr>
          <p:nvPr/>
        </p:nvSpPr>
        <p:spPr>
          <a:xfrm xmlns:a="http://schemas.openxmlformats.org/drawingml/2006/main">
            <a:off x="9353550" y="2571750"/>
            <a:ext cx="17716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0">
                <a:solidFill>
                  <a:srgbClr val="334155"/>
                </a:solidFill>
              </a:defRPr>
            </a:pPr>
            <a:r>
              <a:rPr sz="1350" b="0">
                <a:solidFill>
                  <a:srgbClr val="334155"/>
                </a:solidFill>
              </a:rPr>
              <a:t>were late</a:t>
            </a:r>
          </a:p>
        </p:txBody>
      </p:sp>
      <p:sp>
        <p:nvSpPr>
          <p:cNvPr id="9" name="">
            <a:extLst xmlns:a="http://schemas.openxmlformats.org/drawingml/2006/main">
              <a:ext uri="{FF2B5EF4-FFF2-40B4-BE49-F238E27FC236}">
                <a16:creationId xmlns:a16="http://schemas.microsoft.com/office/drawing/2014/main" id="{BBD0D283-6E61-4C14-8D1E-BF66CA354F97}"/>
              </a:ext>
            </a:extLst>
          </p:cNvPr>
          <p:cNvSpPr>
            <a:spLocks xmlns:a="http://schemas.openxmlformats.org/drawingml/2006/main" noGrp="1"/>
          </p:cNvSpPr>
          <p:nvPr/>
        </p:nvSpPr>
        <p:spPr>
          <a:xfrm xmlns:a="http://schemas.openxmlformats.org/drawingml/2006/main">
            <a:off x="9124950" y="3143250"/>
            <a:ext cx="2228850" cy="1066800"/>
          </a:xfrm>
          <a:prstGeom xmlns:a="http://schemas.openxmlformats.org/drawingml/2006/main" prst="roundRect">
            <a:avLst>
              <a:gd name="adj" fmla="val 5357"/>
            </a:avLst>
          </a:prstGeom>
          <a:solidFill xmlns:a="http://schemas.openxmlformats.org/drawingml/2006/main">
            <a:srgbClr val="FFF7ED"/>
          </a:solidFill>
          <a:ln xmlns:a="http://schemas.openxmlformats.org/drawingml/2006/main" w="9525">
            <a:solidFill>
              <a:srgbClr val="FED7AA"/>
            </a:solidFill>
            <a:prstDash val="solid"/>
          </a:ln>
        </p:spPr>
      </p:sp>
      <p:sp>
        <p:nvSpPr>
          <p:cNvPr id="10" name="">
            <a:extLst xmlns:a="http://schemas.openxmlformats.org/drawingml/2006/main">
              <a:ext uri="{FF2B5EF4-FFF2-40B4-BE49-F238E27FC236}">
                <a16:creationId xmlns:a16="http://schemas.microsoft.com/office/drawing/2014/main" id="{8EB1FBEA-1B74-453F-998B-A7217DD2AADC}"/>
              </a:ext>
            </a:extLst>
          </p:cNvPr>
          <p:cNvSpPr>
            <a:spLocks xmlns:a="http://schemas.openxmlformats.org/drawingml/2006/main" noGrp="1"/>
          </p:cNvSpPr>
          <p:nvPr/>
        </p:nvSpPr>
        <p:spPr>
          <a:xfrm xmlns:a="http://schemas.openxmlformats.org/drawingml/2006/main">
            <a:off x="9353550" y="3333750"/>
            <a:ext cx="17716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000" b="1">
                <a:solidFill>
                  <a:srgbClr val="C2410C"/>
                </a:solidFill>
              </a:defRPr>
            </a:pPr>
            <a:r>
              <a:rPr sz="3000" b="1">
                <a:solidFill>
                  <a:srgbClr val="C2410C"/>
                </a:solidFill>
              </a:rPr>
              <a:t>98.25%</a:t>
            </a:r>
          </a:p>
        </p:txBody>
      </p:sp>
      <p:sp>
        <p:nvSpPr>
          <p:cNvPr id="11" name="">
            <a:extLst xmlns:a="http://schemas.openxmlformats.org/drawingml/2006/main">
              <a:ext uri="{FF2B5EF4-FFF2-40B4-BE49-F238E27FC236}">
                <a16:creationId xmlns:a16="http://schemas.microsoft.com/office/drawing/2014/main" id="{8B69C191-CF0D-479F-A0E3-BAF40514DFF8}"/>
              </a:ext>
            </a:extLst>
          </p:cNvPr>
          <p:cNvSpPr>
            <a:spLocks xmlns:a="http://schemas.openxmlformats.org/drawingml/2006/main" noGrp="1"/>
          </p:cNvSpPr>
          <p:nvPr/>
        </p:nvSpPr>
        <p:spPr>
          <a:xfrm xmlns:a="http://schemas.openxmlformats.org/drawingml/2006/main">
            <a:off x="9353550" y="3829050"/>
            <a:ext cx="1771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missed replay due deadline</a:t>
            </a:r>
          </a:p>
        </p:txBody>
      </p:sp>
      <p:sp>
        <p:nvSpPr>
          <p:cNvPr id="12" name="">
            <a:extLst xmlns:a="http://schemas.openxmlformats.org/drawingml/2006/main">
              <a:ext uri="{FF2B5EF4-FFF2-40B4-BE49-F238E27FC236}">
                <a16:creationId xmlns:a16="http://schemas.microsoft.com/office/drawing/2014/main" id="{BC24C7C3-B06C-4DCB-AF18-92BB5AFA83C4}"/>
              </a:ext>
            </a:extLst>
          </p:cNvPr>
          <p:cNvSpPr>
            <a:spLocks xmlns:a="http://schemas.openxmlformats.org/drawingml/2006/main" noGrp="1"/>
          </p:cNvSpPr>
          <p:nvPr/>
        </p:nvSpPr>
        <p:spPr>
          <a:xfrm xmlns:a="http://schemas.openxmlformats.org/drawingml/2006/main">
            <a:off x="9124950" y="4514850"/>
            <a:ext cx="22479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0">
                <a:solidFill>
                  <a:srgbClr val="334155"/>
                </a:solidFill>
              </a:defRPr>
            </a:pPr>
            <a:r>
              <a:rPr sz="1500" b="0">
                <a:solidFill>
                  <a:srgbClr val="334155"/>
                </a:solidFill>
              </a:rPr>
              <a:t>This shows that semantic knowledge alone is not enough if the movement path cannot act on hints predictably.</a:t>
            </a:r>
          </a:p>
        </p:txBody>
      </p:sp>
      <p:sp>
        <p:nvSpPr>
          <p:cNvPr id="13" name="">
            <a:extLst xmlns:a="http://schemas.openxmlformats.org/drawingml/2006/main">
              <a:ext uri="{FF2B5EF4-FFF2-40B4-BE49-F238E27FC236}">
                <a16:creationId xmlns:a16="http://schemas.microsoft.com/office/drawing/2014/main" id="{BB8A9760-8712-432D-944C-9AA402984734}"/>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backups/latest_master_report-1.html, Global Prefetch Margin</a:t>
            </a:r>
          </a:p>
        </p:txBody>
      </p:sp>
      <p:sp>
        <p:nvSpPr>
          <p:cNvPr id="14" name="">
            <a:extLst xmlns:a="http://schemas.openxmlformats.org/drawingml/2006/main">
              <a:ext uri="{FF2B5EF4-FFF2-40B4-BE49-F238E27FC236}">
                <a16:creationId xmlns:a16="http://schemas.microsoft.com/office/drawing/2014/main" id="{CE4B4A13-B36E-4EC3-9A7A-18288BEC6DA4}"/>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5" name="">
            <a:extLst xmlns:a="http://schemas.openxmlformats.org/drawingml/2006/main">
              <a:ext uri="{FF2B5EF4-FFF2-40B4-BE49-F238E27FC236}">
                <a16:creationId xmlns:a16="http://schemas.microsoft.com/office/drawing/2014/main" id="{3D5DA55F-FBD2-4963-82B6-87EFD35E261A}"/>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06</a:t>
            </a:r>
          </a:p>
        </p:txBody>
      </p:sp>
    </p:spTree>
    <p:extLst>
      <p:ext uri="{BB962C8B-B14F-4D97-AF65-F5344CB8AC3E}">
        <p14:creationId xmlns:p14="http://schemas.microsoft.com/office/powerpoint/2010/main" val="197210433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26666CC0-26A8-4AB1-B521-4069E3B45A1C}"/>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Mechanism traces show why prefetch misses</a:t>
            </a:r>
          </a:p>
        </p:txBody>
      </p:sp>
      <p:sp>
        <p:nvSpPr>
          <p:cNvPr id="2" name="">
            <a:extLst xmlns:a="http://schemas.openxmlformats.org/drawingml/2006/main">
              <a:ext uri="{FF2B5EF4-FFF2-40B4-BE49-F238E27FC236}">
                <a16:creationId xmlns:a16="http://schemas.microsoft.com/office/drawing/2014/main" id="{FD442541-361D-4DAD-B60B-0D944BC75F8D}"/>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In the profiled synthetic run, the hint path existed, but KV copy/readiness still landed too late for replay.</a:t>
            </a:r>
          </a:p>
        </p:txBody>
      </p:sp>
      <p:sp>
        <p:nvSpPr>
          <p:cNvPr id="3" name="">
            <a:extLst xmlns:a="http://schemas.openxmlformats.org/drawingml/2006/main">
              <a:ext uri="{FF2B5EF4-FFF2-40B4-BE49-F238E27FC236}">
                <a16:creationId xmlns:a16="http://schemas.microsoft.com/office/drawing/2014/main" id="{308A0188-0627-4041-B1BC-13289A91E5A6}"/>
              </a:ext>
            </a:extLst>
          </p:cNvPr>
          <p:cNvSpPr>
            <a:spLocks xmlns:a="http://schemas.openxmlformats.org/drawingml/2006/main" noGrp="1"/>
          </p:cNvSpPr>
          <p:nvPr/>
        </p:nvSpPr>
        <p:spPr>
          <a:xfrm xmlns:a="http://schemas.openxmlformats.org/drawingml/2006/main">
            <a:off x="247650" y="1447800"/>
            <a:ext cx="7677150" cy="3581400"/>
          </a:xfrm>
          <a:prstGeom xmlns:a="http://schemas.openxmlformats.org/drawingml/2006/main" prst="roundRect">
            <a:avLst>
              <a:gd name="adj" fmla="val 1596"/>
            </a:avLst>
          </a:prstGeom>
          <a:solidFill xmlns:a="http://schemas.openxmlformats.org/drawingml/2006/main">
            <a:srgbClr val="FFFFFF"/>
          </a:solidFill>
          <a:ln xmlns:a="http://schemas.openxmlformats.org/drawingml/2006/main" w="9525">
            <a:solidFill>
              <a:srgbClr val="E5E7EB"/>
            </a:solidFill>
            <a:prstDash val="solid"/>
          </a:ln>
        </p:spPr>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e40053323ef4c98"/>
          <a:stretch xmlns:a="http://schemas.openxmlformats.org/drawingml/2006/main"/>
        </p:blipFill>
        <p:spPr>
          <a:xfrm xmlns:a="http://schemas.openxmlformats.org/drawingml/2006/main">
            <a:off x="323850" y="1858963"/>
            <a:ext cx="7524750" cy="275907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03E889E-AAB2-4ACC-B5AA-B2DEDCBB915A}"/>
              </a:ext>
            </a:extLst>
          </p:cNvPr>
          <p:cNvSpPr>
            <a:spLocks xmlns:a="http://schemas.openxmlformats.org/drawingml/2006/main" noGrp="1"/>
          </p:cNvSpPr>
          <p:nvPr/>
        </p:nvSpPr>
        <p:spPr>
          <a:xfrm xmlns:a="http://schemas.openxmlformats.org/drawingml/2006/main">
            <a:off x="8191500" y="1619250"/>
            <a:ext cx="3124200" cy="781050"/>
          </a:xfrm>
          <a:prstGeom xmlns:a="http://schemas.openxmlformats.org/drawingml/2006/main" prst="roundRect">
            <a:avLst>
              <a:gd name="adj" fmla="val 7317"/>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DBDEA58E-EE76-4D7B-8FDD-6B8DAB743500}"/>
              </a:ext>
            </a:extLst>
          </p:cNvPr>
          <p:cNvSpPr>
            <a:spLocks xmlns:a="http://schemas.openxmlformats.org/drawingml/2006/main" noGrp="1"/>
          </p:cNvSpPr>
          <p:nvPr/>
        </p:nvSpPr>
        <p:spPr>
          <a:xfrm xmlns:a="http://schemas.openxmlformats.org/drawingml/2006/main">
            <a:off x="8420100" y="17907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B91C1C"/>
                </a:solidFill>
              </a:defRPr>
            </a:pPr>
            <a:r>
              <a:rPr sz="2550" b="1">
                <a:solidFill>
                  <a:srgbClr val="B91C1C"/>
                </a:solidFill>
              </a:rPr>
              <a:t>0 / 6</a:t>
            </a:r>
          </a:p>
        </p:txBody>
      </p:sp>
      <p:sp>
        <p:nvSpPr>
          <p:cNvPr id="7" name="">
            <a:extLst xmlns:a="http://schemas.openxmlformats.org/drawingml/2006/main">
              <a:ext uri="{FF2B5EF4-FFF2-40B4-BE49-F238E27FC236}">
                <a16:creationId xmlns:a16="http://schemas.microsoft.com/office/drawing/2014/main" id="{8EE01444-5B72-4C5D-B91D-1A17B8CE2570}"/>
              </a:ext>
            </a:extLst>
          </p:cNvPr>
          <p:cNvSpPr>
            <a:spLocks xmlns:a="http://schemas.openxmlformats.org/drawingml/2006/main" noGrp="1"/>
          </p:cNvSpPr>
          <p:nvPr/>
        </p:nvSpPr>
        <p:spPr>
          <a:xfrm xmlns:a="http://schemas.openxmlformats.org/drawingml/2006/main">
            <a:off x="8420100" y="21526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334155"/>
                </a:solidFill>
              </a:defRPr>
            </a:pPr>
            <a:r>
              <a:rPr sz="1200" b="0">
                <a:solidFill>
                  <a:srgbClr val="334155"/>
                </a:solidFill>
              </a:rPr>
              <a:t>ready before replay</a:t>
            </a:r>
          </a:p>
        </p:txBody>
      </p:sp>
      <p:sp>
        <p:nvSpPr>
          <p:cNvPr id="8" name="">
            <a:extLst xmlns:a="http://schemas.openxmlformats.org/drawingml/2006/main">
              <a:ext uri="{FF2B5EF4-FFF2-40B4-BE49-F238E27FC236}">
                <a16:creationId xmlns:a16="http://schemas.microsoft.com/office/drawing/2014/main" id="{1184EAFA-293F-41E8-925A-A5835C5D1F63}"/>
              </a:ext>
            </a:extLst>
          </p:cNvPr>
          <p:cNvSpPr>
            <a:spLocks xmlns:a="http://schemas.openxmlformats.org/drawingml/2006/main" noGrp="1"/>
          </p:cNvSpPr>
          <p:nvPr/>
        </p:nvSpPr>
        <p:spPr>
          <a:xfrm xmlns:a="http://schemas.openxmlformats.org/drawingml/2006/main">
            <a:off x="8191500" y="2647950"/>
            <a:ext cx="3124200" cy="781050"/>
          </a:xfrm>
          <a:prstGeom xmlns:a="http://schemas.openxmlformats.org/drawingml/2006/main" prst="roundRect">
            <a:avLst>
              <a:gd name="adj" fmla="val 7317"/>
            </a:avLst>
          </a:prstGeom>
          <a:solidFill xmlns:a="http://schemas.openxmlformats.org/drawingml/2006/main">
            <a:srgbClr val="ECFEFF"/>
          </a:solidFill>
          <a:ln xmlns:a="http://schemas.openxmlformats.org/drawingml/2006/main" w="9525">
            <a:solidFill>
              <a:srgbClr val="67E8F9"/>
            </a:solidFill>
            <a:prstDash val="solid"/>
          </a:ln>
        </p:spPr>
      </p:sp>
      <p:sp>
        <p:nvSpPr>
          <p:cNvPr id="9" name="">
            <a:extLst xmlns:a="http://schemas.openxmlformats.org/drawingml/2006/main">
              <a:ext uri="{FF2B5EF4-FFF2-40B4-BE49-F238E27FC236}">
                <a16:creationId xmlns:a16="http://schemas.microsoft.com/office/drawing/2014/main" id="{7FBF1629-2085-4B16-AD96-9E0F9A483F43}"/>
              </a:ext>
            </a:extLst>
          </p:cNvPr>
          <p:cNvSpPr>
            <a:spLocks xmlns:a="http://schemas.openxmlformats.org/drawingml/2006/main" noGrp="1"/>
          </p:cNvSpPr>
          <p:nvPr/>
        </p:nvSpPr>
        <p:spPr>
          <a:xfrm xmlns:a="http://schemas.openxmlformats.org/drawingml/2006/main">
            <a:off x="8420100" y="28194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0E7490"/>
                </a:solidFill>
              </a:defRPr>
            </a:pPr>
            <a:r>
              <a:rPr sz="2550" b="1">
                <a:solidFill>
                  <a:srgbClr val="0E7490"/>
                </a:solidFill>
              </a:rPr>
              <a:t>3 / 6</a:t>
            </a:r>
          </a:p>
        </p:txBody>
      </p:sp>
      <p:sp>
        <p:nvSpPr>
          <p:cNvPr id="10" name="">
            <a:extLst xmlns:a="http://schemas.openxmlformats.org/drawingml/2006/main">
              <a:ext uri="{FF2B5EF4-FFF2-40B4-BE49-F238E27FC236}">
                <a16:creationId xmlns:a16="http://schemas.microsoft.com/office/drawing/2014/main" id="{D24D4B37-0DD8-45A6-A10D-9F4C33C4DB56}"/>
              </a:ext>
            </a:extLst>
          </p:cNvPr>
          <p:cNvSpPr>
            <a:spLocks xmlns:a="http://schemas.openxmlformats.org/drawingml/2006/main" noGrp="1"/>
          </p:cNvSpPr>
          <p:nvPr/>
        </p:nvSpPr>
        <p:spPr>
          <a:xfrm xmlns:a="http://schemas.openxmlformats.org/drawingml/2006/main">
            <a:off x="8420100" y="31813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334155"/>
                </a:solidFill>
              </a:defRPr>
            </a:pPr>
            <a:r>
              <a:rPr sz="1200" b="0">
                <a:solidFill>
                  <a:srgbClr val="334155"/>
                </a:solidFill>
              </a:rPr>
              <a:t>visible CUDA HtoD</a:t>
            </a:r>
          </a:p>
        </p:txBody>
      </p:sp>
      <p:sp>
        <p:nvSpPr>
          <p:cNvPr id="11" name="">
            <a:extLst xmlns:a="http://schemas.openxmlformats.org/drawingml/2006/main">
              <a:ext uri="{FF2B5EF4-FFF2-40B4-BE49-F238E27FC236}">
                <a16:creationId xmlns:a16="http://schemas.microsoft.com/office/drawing/2014/main" id="{DB52334E-FD14-48C5-86F7-C80709B0A90A}"/>
              </a:ext>
            </a:extLst>
          </p:cNvPr>
          <p:cNvSpPr>
            <a:spLocks xmlns:a="http://schemas.openxmlformats.org/drawingml/2006/main" noGrp="1"/>
          </p:cNvSpPr>
          <p:nvPr/>
        </p:nvSpPr>
        <p:spPr>
          <a:xfrm xmlns:a="http://schemas.openxmlformats.org/drawingml/2006/main">
            <a:off x="8191500" y="3676650"/>
            <a:ext cx="3124200" cy="781050"/>
          </a:xfrm>
          <a:prstGeom xmlns:a="http://schemas.openxmlformats.org/drawingml/2006/main" prst="roundRect">
            <a:avLst>
              <a:gd name="adj" fmla="val 7317"/>
            </a:avLst>
          </a:prstGeom>
          <a:solidFill xmlns:a="http://schemas.openxmlformats.org/drawingml/2006/main">
            <a:srgbClr val="FFF7ED"/>
          </a:solidFill>
          <a:ln xmlns:a="http://schemas.openxmlformats.org/drawingml/2006/main" w="9525">
            <a:solidFill>
              <a:srgbClr val="FED7AA"/>
            </a:solidFill>
            <a:prstDash val="solid"/>
          </a:ln>
        </p:spPr>
      </p:sp>
      <p:sp>
        <p:nvSpPr>
          <p:cNvPr id="12" name="">
            <a:extLst xmlns:a="http://schemas.openxmlformats.org/drawingml/2006/main">
              <a:ext uri="{FF2B5EF4-FFF2-40B4-BE49-F238E27FC236}">
                <a16:creationId xmlns:a16="http://schemas.microsoft.com/office/drawing/2014/main" id="{64C9E881-8B90-4543-8055-FBE53AED8A77}"/>
              </a:ext>
            </a:extLst>
          </p:cNvPr>
          <p:cNvSpPr>
            <a:spLocks xmlns:a="http://schemas.openxmlformats.org/drawingml/2006/main" noGrp="1"/>
          </p:cNvSpPr>
          <p:nvPr/>
        </p:nvSpPr>
        <p:spPr>
          <a:xfrm xmlns:a="http://schemas.openxmlformats.org/drawingml/2006/main">
            <a:off x="8420100" y="3848100"/>
            <a:ext cx="2667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C2410C"/>
                </a:solidFill>
              </a:defRPr>
            </a:pPr>
            <a:r>
              <a:rPr sz="2550" b="1">
                <a:solidFill>
                  <a:srgbClr val="C2410C"/>
                </a:solidFill>
              </a:rPr>
              <a:t>6 / 6</a:t>
            </a:r>
          </a:p>
        </p:txBody>
      </p:sp>
      <p:sp>
        <p:nvSpPr>
          <p:cNvPr id="13" name="">
            <a:extLst xmlns:a="http://schemas.openxmlformats.org/drawingml/2006/main">
              <a:ext uri="{FF2B5EF4-FFF2-40B4-BE49-F238E27FC236}">
                <a16:creationId xmlns:a16="http://schemas.microsoft.com/office/drawing/2014/main" id="{168BB3AB-97C5-4234-ACCF-7BB4AA46F9E1}"/>
              </a:ext>
            </a:extLst>
          </p:cNvPr>
          <p:cNvSpPr>
            <a:spLocks xmlns:a="http://schemas.openxmlformats.org/drawingml/2006/main" noGrp="1"/>
          </p:cNvSpPr>
          <p:nvPr/>
        </p:nvSpPr>
        <p:spPr>
          <a:xfrm xmlns:a="http://schemas.openxmlformats.org/drawingml/2006/main">
            <a:off x="8420100" y="42100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334155"/>
                </a:solidFill>
              </a:defRPr>
            </a:pPr>
            <a:r>
              <a:rPr sz="1200" b="0">
                <a:solidFill>
                  <a:srgbClr val="334155"/>
                </a:solidFill>
              </a:rPr>
              <a:t>replay reloaded KV</a:t>
            </a:r>
          </a:p>
        </p:txBody>
      </p:sp>
      <p:sp>
        <p:nvSpPr>
          <p:cNvPr id="14" name="">
            <a:extLst xmlns:a="http://schemas.openxmlformats.org/drawingml/2006/main">
              <a:ext uri="{FF2B5EF4-FFF2-40B4-BE49-F238E27FC236}">
                <a16:creationId xmlns:a16="http://schemas.microsoft.com/office/drawing/2014/main" id="{E61FBC2D-62F6-4838-9992-656E6522C25A}"/>
              </a:ext>
            </a:extLst>
          </p:cNvPr>
          <p:cNvSpPr>
            <a:spLocks xmlns:a="http://schemas.openxmlformats.org/drawingml/2006/main" noGrp="1"/>
          </p:cNvSpPr>
          <p:nvPr/>
        </p:nvSpPr>
        <p:spPr>
          <a:xfrm xmlns:a="http://schemas.openxmlformats.org/drawingml/2006/main">
            <a:off x="8134350" y="4686300"/>
            <a:ext cx="3314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The semantic hint was present, but the normal movement path did not make residency/reuse predictable before replay.</a:t>
            </a:r>
          </a:p>
        </p:txBody>
      </p:sp>
      <p:sp>
        <p:nvSpPr>
          <p:cNvPr id="15" name="">
            <a:extLst xmlns:a="http://schemas.openxmlformats.org/drawingml/2006/main">
              <a:ext uri="{FF2B5EF4-FFF2-40B4-BE49-F238E27FC236}">
                <a16:creationId xmlns:a16="http://schemas.microsoft.com/office/drawing/2014/main" id="{64818A14-D399-4193-9409-3B51A7718540}"/>
              </a:ext>
            </a:extLst>
          </p:cNvPr>
          <p:cNvSpPr>
            <a:spLocks xmlns:a="http://schemas.openxmlformats.org/drawingml/2006/main" noGrp="1"/>
          </p:cNvSpPr>
          <p:nvPr/>
        </p:nvSpPr>
        <p:spPr>
          <a:xfrm xmlns:a="http://schemas.openxmlformats.org/drawingml/2006/main">
            <a:off x="685800" y="5334000"/>
            <a:ext cx="1019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00" b="0">
                <a:solidFill>
                  <a:srgbClr val="64748B"/>
                </a:solidFill>
              </a:defRPr>
            </a:pPr>
            <a:r>
              <a:rPr sz="1200" b="0">
                <a:solidFill>
                  <a:srgbClr val="64748B"/>
                </a:solidFill>
              </a:rPr>
              <a:t>Preliminary mechanism evidence only: useful for copy-path attribution, not clean TTFT claims.</a:t>
            </a:r>
          </a:p>
        </p:txBody>
      </p:sp>
      <p:sp>
        <p:nvSpPr>
          <p:cNvPr id="16" name="">
            <a:extLst xmlns:a="http://schemas.openxmlformats.org/drawingml/2006/main">
              <a:ext uri="{FF2B5EF4-FFF2-40B4-BE49-F238E27FC236}">
                <a16:creationId xmlns:a16="http://schemas.microsoft.com/office/drawing/2014/main" id="{2FAB6770-DBC7-4FBE-9392-4EFE8BCF2BE5}"/>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latest_synthetic_master_report.html, Profiled Mechanism Timelines</a:t>
            </a:r>
          </a:p>
        </p:txBody>
      </p:sp>
      <p:sp>
        <p:nvSpPr>
          <p:cNvPr id="17" name="">
            <a:extLst xmlns:a="http://schemas.openxmlformats.org/drawingml/2006/main">
              <a:ext uri="{FF2B5EF4-FFF2-40B4-BE49-F238E27FC236}">
                <a16:creationId xmlns:a16="http://schemas.microsoft.com/office/drawing/2014/main" id="{F485A3B4-6C7D-4E37-90D2-F475A271727F}"/>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8" name="">
            <a:extLst xmlns:a="http://schemas.openxmlformats.org/drawingml/2006/main">
              <a:ext uri="{FF2B5EF4-FFF2-40B4-BE49-F238E27FC236}">
                <a16:creationId xmlns:a16="http://schemas.microsoft.com/office/drawing/2014/main" id="{7678EEED-E6DE-4748-989D-8755A3CA1178}"/>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07</a:t>
            </a:r>
          </a:p>
        </p:txBody>
      </p:sp>
    </p:spTree>
    <p:extLst>
      <p:ext uri="{BB962C8B-B14F-4D97-AF65-F5344CB8AC3E}">
        <p14:creationId xmlns:p14="http://schemas.microsoft.com/office/powerpoint/2010/main" val="50957525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79194F76-77AD-4342-B858-270E225A04A8}"/>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Replay-side KV loads missed the deadline in this run</a:t>
            </a:r>
          </a:p>
        </p:txBody>
      </p:sp>
      <p:sp>
        <p:nvSpPr>
          <p:cNvPr id="2" name="">
            <a:extLst xmlns:a="http://schemas.openxmlformats.org/drawingml/2006/main">
              <a:ext uri="{FF2B5EF4-FFF2-40B4-BE49-F238E27FC236}">
                <a16:creationId xmlns:a16="http://schemas.microsoft.com/office/drawing/2014/main" id="{DD1C6A58-34BB-4C5B-8C71-A9C831010083}"/>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aggregate view shows whether KV H2D finished before or after replay was due.</a:t>
            </a:r>
          </a:p>
        </p:txBody>
      </p:sp>
      <p:sp>
        <p:nvSpPr>
          <p:cNvPr id="3" name="">
            <a:extLst xmlns:a="http://schemas.openxmlformats.org/drawingml/2006/main">
              <a:ext uri="{FF2B5EF4-FFF2-40B4-BE49-F238E27FC236}">
                <a16:creationId xmlns:a16="http://schemas.microsoft.com/office/drawing/2014/main" id="{F0CF3DE8-8F26-4499-B8CE-504FA17BAA64}"/>
              </a:ext>
            </a:extLst>
          </p:cNvPr>
          <p:cNvSpPr>
            <a:spLocks xmlns:a="http://schemas.openxmlformats.org/drawingml/2006/main" noGrp="1"/>
          </p:cNvSpPr>
          <p:nvPr/>
        </p:nvSpPr>
        <p:spPr>
          <a:xfrm xmlns:a="http://schemas.openxmlformats.org/drawingml/2006/main">
            <a:off x="323850" y="1428750"/>
            <a:ext cx="8724900" cy="3867150"/>
          </a:xfrm>
          <a:prstGeom xmlns:a="http://schemas.openxmlformats.org/drawingml/2006/main" prst="roundRect">
            <a:avLst>
              <a:gd name="adj" fmla="val 1478"/>
            </a:avLst>
          </a:prstGeom>
          <a:solidFill xmlns:a="http://schemas.openxmlformats.org/drawingml/2006/main">
            <a:srgbClr val="FFFFFF"/>
          </a:solidFill>
          <a:ln xmlns:a="http://schemas.openxmlformats.org/drawingml/2006/main" w="9525">
            <a:solidFill>
              <a:srgbClr val="E5E7EB"/>
            </a:solidFill>
            <a:prstDash val="solid"/>
          </a:ln>
        </p:spPr>
      </p:sp>
      <p:pic>
        <p:nvPicPr>
          <p:cNvPr id="15" name=""/>
          <p:cNvPicPr>
            <a:picLocks xmlns:a="http://schemas.openxmlformats.org/drawingml/2006/main" noChangeAspect="1"/>
          </p:cNvPicPr>
          <p:nvPr/>
        </p:nvPicPr>
        <p:blipFill>
          <a:blip xmlns:r="http://schemas.openxmlformats.org/officeDocument/2006/relationships" xmlns:a="http://schemas.openxmlformats.org/drawingml/2006/main" r:embed="Rda1081e51bce4e35"/>
          <a:stretch xmlns:a="http://schemas.openxmlformats.org/drawingml/2006/main"/>
        </p:blipFill>
        <p:spPr>
          <a:xfrm xmlns:a="http://schemas.openxmlformats.org/drawingml/2006/main">
            <a:off x="400050" y="1795905"/>
            <a:ext cx="8572500" cy="313284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1ECE577B-78CA-4EF9-86BA-BB1F087B87D7}"/>
              </a:ext>
            </a:extLst>
          </p:cNvPr>
          <p:cNvSpPr>
            <a:spLocks xmlns:a="http://schemas.openxmlformats.org/drawingml/2006/main" noGrp="1"/>
          </p:cNvSpPr>
          <p:nvPr/>
        </p:nvSpPr>
        <p:spPr>
          <a:xfrm xmlns:a="http://schemas.openxmlformats.org/drawingml/2006/main">
            <a:off x="9258300" y="1847850"/>
            <a:ext cx="2095500" cy="1104900"/>
          </a:xfrm>
          <a:prstGeom xmlns:a="http://schemas.openxmlformats.org/drawingml/2006/main" prst="roundRect">
            <a:avLst>
              <a:gd name="adj" fmla="val 5172"/>
            </a:avLst>
          </a:prstGeom>
          <a:solidFill xmlns:a="http://schemas.openxmlformats.org/drawingml/2006/main">
            <a:srgbClr val="FEF2F2"/>
          </a:solidFill>
          <a:ln xmlns:a="http://schemas.openxmlformats.org/drawingml/2006/main" w="9525">
            <a:solidFill>
              <a:srgbClr val="FECACA"/>
            </a:solidFill>
            <a:prstDash val="solid"/>
          </a:ln>
        </p:spPr>
      </p:sp>
      <p:sp>
        <p:nvSpPr>
          <p:cNvPr id="6" name="">
            <a:extLst xmlns:a="http://schemas.openxmlformats.org/drawingml/2006/main">
              <a:ext uri="{FF2B5EF4-FFF2-40B4-BE49-F238E27FC236}">
                <a16:creationId xmlns:a16="http://schemas.microsoft.com/office/drawing/2014/main" id="{8AC471BC-39AD-4370-AAA6-CDF8538A297C}"/>
              </a:ext>
            </a:extLst>
          </p:cNvPr>
          <p:cNvSpPr>
            <a:spLocks xmlns:a="http://schemas.openxmlformats.org/drawingml/2006/main" noGrp="1"/>
          </p:cNvSpPr>
          <p:nvPr/>
        </p:nvSpPr>
        <p:spPr>
          <a:xfrm xmlns:a="http://schemas.openxmlformats.org/drawingml/2006/main">
            <a:off x="9505950" y="2076450"/>
            <a:ext cx="16002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3600" b="1">
                <a:solidFill>
                  <a:srgbClr val="B91C1C"/>
                </a:solidFill>
              </a:defRPr>
            </a:pPr>
            <a:r>
              <a:rPr sz="3600" b="1">
                <a:solidFill>
                  <a:srgbClr val="B91C1C"/>
                </a:solidFill>
              </a:rPr>
              <a:t>8 / 8</a:t>
            </a:r>
          </a:p>
        </p:txBody>
      </p:sp>
      <p:sp>
        <p:nvSpPr>
          <p:cNvPr id="7" name="">
            <a:extLst xmlns:a="http://schemas.openxmlformats.org/drawingml/2006/main">
              <a:ext uri="{FF2B5EF4-FFF2-40B4-BE49-F238E27FC236}">
                <a16:creationId xmlns:a16="http://schemas.microsoft.com/office/drawing/2014/main" id="{6E25B398-9407-490F-811E-8259D8560D59}"/>
              </a:ext>
            </a:extLst>
          </p:cNvPr>
          <p:cNvSpPr>
            <a:spLocks xmlns:a="http://schemas.openxmlformats.org/drawingml/2006/main" noGrp="1"/>
          </p:cNvSpPr>
          <p:nvPr/>
        </p:nvSpPr>
        <p:spPr>
          <a:xfrm xmlns:a="http://schemas.openxmlformats.org/drawingml/2006/main">
            <a:off x="9505950" y="2628900"/>
            <a:ext cx="1600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H2D loads finished late</a:t>
            </a:r>
          </a:p>
        </p:txBody>
      </p:sp>
      <p:sp>
        <p:nvSpPr>
          <p:cNvPr id="8" name="">
            <a:extLst xmlns:a="http://schemas.openxmlformats.org/drawingml/2006/main">
              <a:ext uri="{FF2B5EF4-FFF2-40B4-BE49-F238E27FC236}">
                <a16:creationId xmlns:a16="http://schemas.microsoft.com/office/drawing/2014/main" id="{68CA7BA5-8D96-4B3A-AD77-482E697A99F6}"/>
              </a:ext>
            </a:extLst>
          </p:cNvPr>
          <p:cNvSpPr>
            <a:spLocks xmlns:a="http://schemas.openxmlformats.org/drawingml/2006/main" noGrp="1"/>
          </p:cNvSpPr>
          <p:nvPr/>
        </p:nvSpPr>
        <p:spPr>
          <a:xfrm xmlns:a="http://schemas.openxmlformats.org/drawingml/2006/main">
            <a:off x="9258300" y="3524250"/>
            <a:ext cx="20955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75" b="0">
                <a:solidFill>
                  <a:srgbClr val="334155"/>
                </a:solidFill>
              </a:defRPr>
            </a:pPr>
            <a:r>
              <a:rPr sz="1575" b="0">
                <a:solidFill>
                  <a:srgbClr val="334155"/>
                </a:solidFill>
              </a:rPr>
              <a:t>All visible replay-side KV loads finished below the 0 ms deadline line.</a:t>
            </a:r>
          </a:p>
        </p:txBody>
      </p:sp>
      <p:sp>
        <p:nvSpPr>
          <p:cNvPr id="9" name="">
            <a:extLst xmlns:a="http://schemas.openxmlformats.org/drawingml/2006/main">
              <a:ext uri="{FF2B5EF4-FFF2-40B4-BE49-F238E27FC236}">
                <a16:creationId xmlns:a16="http://schemas.microsoft.com/office/drawing/2014/main" id="{7A9A247B-CB14-480C-AE67-B1C85B258A57}"/>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Global Replay H2D Readiness</a:t>
            </a:r>
          </a:p>
        </p:txBody>
      </p:sp>
      <p:sp>
        <p:nvSpPr>
          <p:cNvPr id="10" name="">
            <a:extLst xmlns:a="http://schemas.openxmlformats.org/drawingml/2006/main">
              <a:ext uri="{FF2B5EF4-FFF2-40B4-BE49-F238E27FC236}">
                <a16:creationId xmlns:a16="http://schemas.microsoft.com/office/drawing/2014/main" id="{E772A7EC-2088-4785-B9BE-F51B041009D7}"/>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11" name="">
            <a:extLst xmlns:a="http://schemas.openxmlformats.org/drawingml/2006/main">
              <a:ext uri="{FF2B5EF4-FFF2-40B4-BE49-F238E27FC236}">
                <a16:creationId xmlns:a16="http://schemas.microsoft.com/office/drawing/2014/main" id="{34E8F0D2-726D-4F0A-A523-02E78F2B8670}"/>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08</a:t>
            </a:r>
          </a:p>
        </p:txBody>
      </p:sp>
    </p:spTree>
    <p:extLst>
      <p:ext uri="{BB962C8B-B14F-4D97-AF65-F5344CB8AC3E}">
        <p14:creationId xmlns:p14="http://schemas.microsoft.com/office/powerpoint/2010/main" val="15042016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74A09F-8021-450B-8059-AF8C0D7D7660}"/>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The delay is not just copy time</a:t>
            </a:r>
          </a:p>
        </p:txBody>
      </p:sp>
      <p:sp>
        <p:nvSpPr>
          <p:cNvPr id="2" name="">
            <a:extLst xmlns:a="http://schemas.openxmlformats.org/drawingml/2006/main">
              <a:ext uri="{FF2B5EF4-FFF2-40B4-BE49-F238E27FC236}">
                <a16:creationId xmlns:a16="http://schemas.microsoft.com/office/drawing/2014/main" id="{274952F3-E7BD-49C8-ADDF-2121E07DA1A7}"/>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request enters normal software/runtime scheduling before visible KV H2D begins.</a:t>
            </a:r>
          </a:p>
        </p:txBody>
      </p:sp>
      <p:sp>
        <p:nvSpPr>
          <p:cNvPr id="3" name="">
            <a:extLst xmlns:a="http://schemas.openxmlformats.org/drawingml/2006/main">
              <a:ext uri="{FF2B5EF4-FFF2-40B4-BE49-F238E27FC236}">
                <a16:creationId xmlns:a16="http://schemas.microsoft.com/office/drawing/2014/main" id="{D71116E9-2D31-4DA7-B2B6-53BF419056DD}"/>
              </a:ext>
            </a:extLst>
          </p:cNvPr>
          <p:cNvSpPr>
            <a:spLocks xmlns:a="http://schemas.openxmlformats.org/drawingml/2006/main" noGrp="1"/>
          </p:cNvSpPr>
          <p:nvPr/>
        </p:nvSpPr>
        <p:spPr>
          <a:xfrm xmlns:a="http://schemas.openxmlformats.org/drawingml/2006/main">
            <a:off x="323850" y="1333500"/>
            <a:ext cx="10820400" cy="4343400"/>
          </a:xfrm>
          <a:prstGeom xmlns:a="http://schemas.openxmlformats.org/drawingml/2006/main" prst="roundRect">
            <a:avLst>
              <a:gd name="adj" fmla="val 1316"/>
            </a:avLst>
          </a:prstGeom>
          <a:solidFill xmlns:a="http://schemas.openxmlformats.org/drawingml/2006/main">
            <a:srgbClr val="FFFFFF"/>
          </a:solidFill>
          <a:ln xmlns:a="http://schemas.openxmlformats.org/drawingml/2006/main" w="9525">
            <a:solidFill>
              <a:srgbClr val="E5E7EB"/>
            </a:solidFill>
            <a:prstDash val="solid"/>
          </a:ln>
        </p:spPr>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1c512cc05b8451b"/>
          <a:stretch xmlns:a="http://schemas.openxmlformats.org/drawingml/2006/main"/>
        </p:blipFill>
        <p:spPr>
          <a:xfrm xmlns:a="http://schemas.openxmlformats.org/drawingml/2006/main">
            <a:off x="1247835" y="1409700"/>
            <a:ext cx="8972430" cy="41910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C18B1B06-F23E-4B4E-98A7-B650F50984B6}"/>
              </a:ext>
            </a:extLst>
          </p:cNvPr>
          <p:cNvSpPr>
            <a:spLocks xmlns:a="http://schemas.openxmlformats.org/drawingml/2006/main" noGrp="1"/>
          </p:cNvSpPr>
          <p:nvPr/>
        </p:nvSpPr>
        <p:spPr>
          <a:xfrm xmlns:a="http://schemas.openxmlformats.org/drawingml/2006/main">
            <a:off x="685800" y="5791200"/>
            <a:ext cx="9906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275" b="0">
                <a:solidFill>
                  <a:srgbClr val="334155"/>
                </a:solidFill>
              </a:defRPr>
            </a:pPr>
            <a:r>
              <a:rPr sz="1275" b="0">
                <a:solidFill>
                  <a:srgbClr val="334155"/>
                </a:solidFill>
              </a:rPr>
              <a:t>The stage markers separate submission, SGLang receive, scheduler queue/admit, and visible KV H2D movement.</a:t>
            </a:r>
          </a:p>
        </p:txBody>
      </p:sp>
      <p:sp>
        <p:nvSpPr>
          <p:cNvPr id="6" name="">
            <a:extLst xmlns:a="http://schemas.openxmlformats.org/drawingml/2006/main">
              <a:ext uri="{FF2B5EF4-FFF2-40B4-BE49-F238E27FC236}">
                <a16:creationId xmlns:a16="http://schemas.microsoft.com/office/drawing/2014/main" id="{392A2D30-A93C-4FCC-9CBA-59E1614FAC07}"/>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latest_master_report.html, Replay Queue Timeline vs H2D Start</a:t>
            </a:r>
          </a:p>
        </p:txBody>
      </p:sp>
      <p:sp>
        <p:nvSpPr>
          <p:cNvPr id="7" name="">
            <a:extLst xmlns:a="http://schemas.openxmlformats.org/drawingml/2006/main">
              <a:ext uri="{FF2B5EF4-FFF2-40B4-BE49-F238E27FC236}">
                <a16:creationId xmlns:a16="http://schemas.microsoft.com/office/drawing/2014/main" id="{C8345FAC-194F-46F4-88F8-FB5FA4A421BF}"/>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8" name="">
            <a:extLst xmlns:a="http://schemas.openxmlformats.org/drawingml/2006/main">
              <a:ext uri="{FF2B5EF4-FFF2-40B4-BE49-F238E27FC236}">
                <a16:creationId xmlns:a16="http://schemas.microsoft.com/office/drawing/2014/main" id="{4EC1F2A0-D8CF-441D-8808-84F7D8004C4B}"/>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09</a:t>
            </a:r>
          </a:p>
        </p:txBody>
      </p:sp>
    </p:spTree>
    <p:extLst>
      <p:ext uri="{BB962C8B-B14F-4D97-AF65-F5344CB8AC3E}">
        <p14:creationId xmlns:p14="http://schemas.microsoft.com/office/powerpoint/2010/main" val="119771408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CFC3E667-0FFF-41E7-8122-4757F911C282}"/>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Key findings make the hardware case</a:t>
            </a:r>
          </a:p>
        </p:txBody>
      </p:sp>
      <p:sp>
        <p:nvSpPr>
          <p:cNvPr id="2" name="">
            <a:extLst xmlns:a="http://schemas.openxmlformats.org/drawingml/2006/main">
              <a:ext uri="{FF2B5EF4-FFF2-40B4-BE49-F238E27FC236}">
                <a16:creationId xmlns:a16="http://schemas.microsoft.com/office/drawing/2014/main" id="{A604714F-91AA-48B6-BE3E-FBDABB47E560}"/>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recurring pattern is not just missing bandwidth; it is missing context, deadlines, residency control, and telemetry.</a:t>
            </a:r>
          </a:p>
        </p:txBody>
      </p:sp>
      <p:sp>
        <p:nvSpPr>
          <p:cNvPr id="3" name="">
            <a:extLst xmlns:a="http://schemas.openxmlformats.org/drawingml/2006/main">
              <a:ext uri="{FF2B5EF4-FFF2-40B4-BE49-F238E27FC236}">
                <a16:creationId xmlns:a16="http://schemas.microsoft.com/office/drawing/2014/main" id="{477D2E00-72B9-4297-B770-CE6ECB30A734}"/>
              </a:ext>
            </a:extLst>
          </p:cNvPr>
          <p:cNvSpPr>
            <a:spLocks xmlns:a="http://schemas.openxmlformats.org/drawingml/2006/main" noGrp="1"/>
          </p:cNvSpPr>
          <p:nvPr/>
        </p:nvSpPr>
        <p:spPr>
          <a:xfrm xmlns:a="http://schemas.openxmlformats.org/drawingml/2006/main">
            <a:off x="552450" y="1676400"/>
            <a:ext cx="3333750" cy="1466850"/>
          </a:xfrm>
          <a:prstGeom xmlns:a="http://schemas.openxmlformats.org/drawingml/2006/main" prst="roundRect">
            <a:avLst>
              <a:gd name="adj" fmla="val 3896"/>
            </a:avLst>
          </a:prstGeom>
          <a:solidFill xmlns:a="http://schemas.openxmlformats.org/drawingml/2006/main">
            <a:srgbClr val="EFF6FF"/>
          </a:solidFill>
          <a:ln xmlns:a="http://schemas.openxmlformats.org/drawingml/2006/main" w="9525">
            <a:solidFill>
              <a:srgbClr val="BFDBFE"/>
            </a:solidFill>
            <a:prstDash val="solid"/>
          </a:ln>
        </p:spPr>
      </p:sp>
      <p:sp>
        <p:nvSpPr>
          <p:cNvPr id="4" name="">
            <a:extLst xmlns:a="http://schemas.openxmlformats.org/drawingml/2006/main">
              <a:ext uri="{FF2B5EF4-FFF2-40B4-BE49-F238E27FC236}">
                <a16:creationId xmlns:a16="http://schemas.microsoft.com/office/drawing/2014/main" id="{F4EC5403-850A-42FE-9FC3-F51ABB409B5D}"/>
              </a:ext>
            </a:extLst>
          </p:cNvPr>
          <p:cNvSpPr>
            <a:spLocks xmlns:a="http://schemas.openxmlformats.org/drawingml/2006/main" noGrp="1"/>
          </p:cNvSpPr>
          <p:nvPr/>
        </p:nvSpPr>
        <p:spPr>
          <a:xfrm xmlns:a="http://schemas.openxmlformats.org/drawingml/2006/main">
            <a:off x="552450" y="1676400"/>
            <a:ext cx="66675" cy="1466850"/>
          </a:xfrm>
          <a:prstGeom xmlns:a="http://schemas.openxmlformats.org/drawingml/2006/main" prst="rect">
            <a:avLst/>
          </a:prstGeom>
          <a:solidFill xmlns:a="http://schemas.openxmlformats.org/drawingml/2006/main">
            <a:srgbClr val="2563EB"/>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E890471-6382-4D34-AC45-FBFE2784E417}"/>
              </a:ext>
            </a:extLst>
          </p:cNvPr>
          <p:cNvSpPr>
            <a:spLocks xmlns:a="http://schemas.openxmlformats.org/drawingml/2006/main" noGrp="1"/>
          </p:cNvSpPr>
          <p:nvPr/>
        </p:nvSpPr>
        <p:spPr>
          <a:xfrm xmlns:a="http://schemas.openxmlformats.org/drawingml/2006/main">
            <a:off x="781050" y="1885950"/>
            <a:ext cx="2933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Agent gaps can be short</a:t>
            </a:r>
          </a:p>
        </p:txBody>
      </p:sp>
      <p:sp>
        <p:nvSpPr>
          <p:cNvPr id="6" name="">
            <a:extLst xmlns:a="http://schemas.openxmlformats.org/drawingml/2006/main">
              <a:ext uri="{FF2B5EF4-FFF2-40B4-BE49-F238E27FC236}">
                <a16:creationId xmlns:a16="http://schemas.microsoft.com/office/drawing/2014/main" id="{14CD1DA9-919A-438E-BE34-2F5C388972DB}"/>
              </a:ext>
            </a:extLst>
          </p:cNvPr>
          <p:cNvSpPr>
            <a:spLocks xmlns:a="http://schemas.openxmlformats.org/drawingml/2006/main" noGrp="1"/>
          </p:cNvSpPr>
          <p:nvPr/>
        </p:nvSpPr>
        <p:spPr>
          <a:xfrm xmlns:a="http://schemas.openxmlformats.org/drawingml/2006/main">
            <a:off x="781050" y="2419350"/>
            <a:ext cx="2933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334155"/>
                </a:solidFill>
              </a:defRPr>
            </a:pPr>
            <a:r>
              <a:rPr sz="1125" b="0">
                <a:solidFill>
                  <a:srgbClr val="334155"/>
                </a:solidFill>
              </a:rPr>
              <a:t>Real coding-agent tool gaps can be only tens of milliseconds, leaving little room for slow software paths.</a:t>
            </a:r>
          </a:p>
        </p:txBody>
      </p:sp>
      <p:sp>
        <p:nvSpPr>
          <p:cNvPr id="7" name="">
            <a:extLst xmlns:a="http://schemas.openxmlformats.org/drawingml/2006/main">
              <a:ext uri="{FF2B5EF4-FFF2-40B4-BE49-F238E27FC236}">
                <a16:creationId xmlns:a16="http://schemas.microsoft.com/office/drawing/2014/main" id="{98783914-BB9A-4EE1-9FD1-C7FC15B7DD54}"/>
              </a:ext>
            </a:extLst>
          </p:cNvPr>
          <p:cNvSpPr>
            <a:spLocks xmlns:a="http://schemas.openxmlformats.org/drawingml/2006/main" noGrp="1"/>
          </p:cNvSpPr>
          <p:nvPr/>
        </p:nvSpPr>
        <p:spPr>
          <a:xfrm xmlns:a="http://schemas.openxmlformats.org/drawingml/2006/main">
            <a:off x="4438650" y="1676400"/>
            <a:ext cx="3333750" cy="1466850"/>
          </a:xfrm>
          <a:prstGeom xmlns:a="http://schemas.openxmlformats.org/drawingml/2006/main" prst="roundRect">
            <a:avLst>
              <a:gd name="adj" fmla="val 3896"/>
            </a:avLst>
          </a:prstGeom>
          <a:solidFill xmlns:a="http://schemas.openxmlformats.org/drawingml/2006/main">
            <a:srgbClr val="F5F3FF"/>
          </a:solidFill>
          <a:ln xmlns:a="http://schemas.openxmlformats.org/drawingml/2006/main" w="9525">
            <a:solidFill>
              <a:srgbClr val="C4B5FD"/>
            </a:solidFill>
            <a:prstDash val="solid"/>
          </a:ln>
        </p:spPr>
      </p:sp>
      <p:sp>
        <p:nvSpPr>
          <p:cNvPr id="8" name="">
            <a:extLst xmlns:a="http://schemas.openxmlformats.org/drawingml/2006/main">
              <a:ext uri="{FF2B5EF4-FFF2-40B4-BE49-F238E27FC236}">
                <a16:creationId xmlns:a16="http://schemas.microsoft.com/office/drawing/2014/main" id="{285C038E-7D54-4B24-9C48-7340CADEEC02}"/>
              </a:ext>
            </a:extLst>
          </p:cNvPr>
          <p:cNvSpPr>
            <a:spLocks xmlns:a="http://schemas.openxmlformats.org/drawingml/2006/main" noGrp="1"/>
          </p:cNvSpPr>
          <p:nvPr/>
        </p:nvSpPr>
        <p:spPr>
          <a:xfrm xmlns:a="http://schemas.openxmlformats.org/drawingml/2006/main">
            <a:off x="4438650" y="1676400"/>
            <a:ext cx="66675" cy="1466850"/>
          </a:xfrm>
          <a:prstGeom xmlns:a="http://schemas.openxmlformats.org/drawingml/2006/main" prst="rect">
            <a:avLst/>
          </a:prstGeom>
          <a:solidFill xmlns:a="http://schemas.openxmlformats.org/drawingml/2006/main">
            <a:srgbClr val="A855F7"/>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5CFBB829-4CEA-4A0F-94F2-A5E8DF40A9E1}"/>
              </a:ext>
            </a:extLst>
          </p:cNvPr>
          <p:cNvSpPr>
            <a:spLocks xmlns:a="http://schemas.openxmlformats.org/drawingml/2006/main" noGrp="1"/>
          </p:cNvSpPr>
          <p:nvPr/>
        </p:nvSpPr>
        <p:spPr>
          <a:xfrm xmlns:a="http://schemas.openxmlformats.org/drawingml/2006/main">
            <a:off x="4667250" y="1885950"/>
            <a:ext cx="2933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Correct hints can still be late</a:t>
            </a:r>
          </a:p>
        </p:txBody>
      </p:sp>
      <p:sp>
        <p:nvSpPr>
          <p:cNvPr id="10" name="">
            <a:extLst xmlns:a="http://schemas.openxmlformats.org/drawingml/2006/main">
              <a:ext uri="{FF2B5EF4-FFF2-40B4-BE49-F238E27FC236}">
                <a16:creationId xmlns:a16="http://schemas.microsoft.com/office/drawing/2014/main" id="{BC0EC8E2-BB2D-40F3-B127-9088BC28C524}"/>
              </a:ext>
            </a:extLst>
          </p:cNvPr>
          <p:cNvSpPr>
            <a:spLocks xmlns:a="http://schemas.openxmlformats.org/drawingml/2006/main" noGrp="1"/>
          </p:cNvSpPr>
          <p:nvPr/>
        </p:nvSpPr>
        <p:spPr>
          <a:xfrm xmlns:a="http://schemas.openxmlformats.org/drawingml/2006/main">
            <a:off x="4667250" y="2419350"/>
            <a:ext cx="2933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334155"/>
                </a:solidFill>
              </a:defRPr>
            </a:pPr>
            <a:r>
              <a:rPr sz="1125" b="0">
                <a:solidFill>
                  <a:srgbClr val="334155"/>
                </a:solidFill>
              </a:rPr>
              <a:t>The hint path can exist, but KV readiness can still miss replay deadlines in profiled traces.</a:t>
            </a:r>
          </a:p>
        </p:txBody>
      </p:sp>
      <p:sp>
        <p:nvSpPr>
          <p:cNvPr id="11" name="">
            <a:extLst xmlns:a="http://schemas.openxmlformats.org/drawingml/2006/main">
              <a:ext uri="{FF2B5EF4-FFF2-40B4-BE49-F238E27FC236}">
                <a16:creationId xmlns:a16="http://schemas.microsoft.com/office/drawing/2014/main" id="{B430D87C-9085-4CB3-883A-DEB6E68652BD}"/>
              </a:ext>
            </a:extLst>
          </p:cNvPr>
          <p:cNvSpPr>
            <a:spLocks xmlns:a="http://schemas.openxmlformats.org/drawingml/2006/main" noGrp="1"/>
          </p:cNvSpPr>
          <p:nvPr/>
        </p:nvSpPr>
        <p:spPr>
          <a:xfrm xmlns:a="http://schemas.openxmlformats.org/drawingml/2006/main">
            <a:off x="8324850" y="1676400"/>
            <a:ext cx="3333750" cy="1466850"/>
          </a:xfrm>
          <a:prstGeom xmlns:a="http://schemas.openxmlformats.org/drawingml/2006/main" prst="roundRect">
            <a:avLst>
              <a:gd name="adj" fmla="val 3896"/>
            </a:avLst>
          </a:prstGeom>
          <a:solidFill xmlns:a="http://schemas.openxmlformats.org/drawingml/2006/main">
            <a:srgbClr val="ECFEFF"/>
          </a:solidFill>
          <a:ln xmlns:a="http://schemas.openxmlformats.org/drawingml/2006/main" w="9525">
            <a:solidFill>
              <a:srgbClr val="67E8F9"/>
            </a:solidFill>
            <a:prstDash val="solid"/>
          </a:ln>
        </p:spPr>
      </p:sp>
      <p:sp>
        <p:nvSpPr>
          <p:cNvPr id="12" name="">
            <a:extLst xmlns:a="http://schemas.openxmlformats.org/drawingml/2006/main">
              <a:ext uri="{FF2B5EF4-FFF2-40B4-BE49-F238E27FC236}">
                <a16:creationId xmlns:a16="http://schemas.microsoft.com/office/drawing/2014/main" id="{2A9A4B28-48D4-4CE2-82D5-6DACC9879CD5}"/>
              </a:ext>
            </a:extLst>
          </p:cNvPr>
          <p:cNvSpPr>
            <a:spLocks xmlns:a="http://schemas.openxmlformats.org/drawingml/2006/main" noGrp="1"/>
          </p:cNvSpPr>
          <p:nvPr/>
        </p:nvSpPr>
        <p:spPr>
          <a:xfrm xmlns:a="http://schemas.openxmlformats.org/drawingml/2006/main">
            <a:off x="8324850" y="1676400"/>
            <a:ext cx="66675" cy="1466850"/>
          </a:xfrm>
          <a:prstGeom xmlns:a="http://schemas.openxmlformats.org/drawingml/2006/main" prst="rect">
            <a:avLst/>
          </a:prstGeom>
          <a:solidFill xmlns:a="http://schemas.openxmlformats.org/drawingml/2006/main">
            <a:srgbClr val="06B6D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6698DC2-8175-4277-83ED-B200D71C1405}"/>
              </a:ext>
            </a:extLst>
          </p:cNvPr>
          <p:cNvSpPr>
            <a:spLocks xmlns:a="http://schemas.openxmlformats.org/drawingml/2006/main" noGrp="1"/>
          </p:cNvSpPr>
          <p:nvPr/>
        </p:nvSpPr>
        <p:spPr>
          <a:xfrm xmlns:a="http://schemas.openxmlformats.org/drawingml/2006/main">
            <a:off x="8553450" y="1885950"/>
            <a:ext cx="2933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Copy time is not the whole delay</a:t>
            </a:r>
          </a:p>
        </p:txBody>
      </p:sp>
      <p:sp>
        <p:nvSpPr>
          <p:cNvPr id="14" name="">
            <a:extLst xmlns:a="http://schemas.openxmlformats.org/drawingml/2006/main">
              <a:ext uri="{FF2B5EF4-FFF2-40B4-BE49-F238E27FC236}">
                <a16:creationId xmlns:a16="http://schemas.microsoft.com/office/drawing/2014/main" id="{F6EB3C76-EEA8-4CD5-8390-3AFC0EB934EB}"/>
              </a:ext>
            </a:extLst>
          </p:cNvPr>
          <p:cNvSpPr>
            <a:spLocks xmlns:a="http://schemas.openxmlformats.org/drawingml/2006/main" noGrp="1"/>
          </p:cNvSpPr>
          <p:nvPr/>
        </p:nvSpPr>
        <p:spPr>
          <a:xfrm xmlns:a="http://schemas.openxmlformats.org/drawingml/2006/main">
            <a:off x="8553450" y="2419350"/>
            <a:ext cx="2933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334155"/>
                </a:solidFill>
              </a:defRPr>
            </a:pPr>
            <a:r>
              <a:rPr sz="1125" b="0">
                <a:solidFill>
                  <a:srgbClr val="334155"/>
                </a:solidFill>
              </a:rPr>
              <a:t>Visible H2D copy can be short while end-to-end request/prefetch latency is much longer.</a:t>
            </a:r>
          </a:p>
        </p:txBody>
      </p:sp>
      <p:sp>
        <p:nvSpPr>
          <p:cNvPr id="15" name="">
            <a:extLst xmlns:a="http://schemas.openxmlformats.org/drawingml/2006/main">
              <a:ext uri="{FF2B5EF4-FFF2-40B4-BE49-F238E27FC236}">
                <a16:creationId xmlns:a16="http://schemas.microsoft.com/office/drawing/2014/main" id="{5BDAA012-A02D-4E6A-AB04-44160B48C85C}"/>
              </a:ext>
            </a:extLst>
          </p:cNvPr>
          <p:cNvSpPr>
            <a:spLocks xmlns:a="http://schemas.openxmlformats.org/drawingml/2006/main" noGrp="1"/>
          </p:cNvSpPr>
          <p:nvPr/>
        </p:nvSpPr>
        <p:spPr>
          <a:xfrm xmlns:a="http://schemas.openxmlformats.org/drawingml/2006/main">
            <a:off x="1504950" y="3448050"/>
            <a:ext cx="4095750" cy="1466850"/>
          </a:xfrm>
          <a:prstGeom xmlns:a="http://schemas.openxmlformats.org/drawingml/2006/main" prst="roundRect">
            <a:avLst>
              <a:gd name="adj" fmla="val 3896"/>
            </a:avLst>
          </a:prstGeom>
          <a:solidFill xmlns:a="http://schemas.openxmlformats.org/drawingml/2006/main">
            <a:srgbClr val="FFF7ED"/>
          </a:solidFill>
          <a:ln xmlns:a="http://schemas.openxmlformats.org/drawingml/2006/main" w="9525">
            <a:solidFill>
              <a:srgbClr val="FED7AA"/>
            </a:solidFill>
            <a:prstDash val="solid"/>
          </a:ln>
        </p:spPr>
      </p:sp>
      <p:sp>
        <p:nvSpPr>
          <p:cNvPr id="16" name="">
            <a:extLst xmlns:a="http://schemas.openxmlformats.org/drawingml/2006/main">
              <a:ext uri="{FF2B5EF4-FFF2-40B4-BE49-F238E27FC236}">
                <a16:creationId xmlns:a16="http://schemas.microsoft.com/office/drawing/2014/main" id="{EC1B9260-9F0C-4B41-8D74-8A4C502276F3}"/>
              </a:ext>
            </a:extLst>
          </p:cNvPr>
          <p:cNvSpPr>
            <a:spLocks xmlns:a="http://schemas.openxmlformats.org/drawingml/2006/main" noGrp="1"/>
          </p:cNvSpPr>
          <p:nvPr/>
        </p:nvSpPr>
        <p:spPr>
          <a:xfrm xmlns:a="http://schemas.openxmlformats.org/drawingml/2006/main">
            <a:off x="1504950" y="3448050"/>
            <a:ext cx="66675" cy="1466850"/>
          </a:xfrm>
          <a:prstGeom xmlns:a="http://schemas.openxmlformats.org/drawingml/2006/main" prst="rect">
            <a:avLst/>
          </a:prstGeom>
          <a:solidFill xmlns:a="http://schemas.openxmlformats.org/drawingml/2006/main">
            <a:srgbClr val="C2410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83FAA72-B3A4-45F1-932E-E579453E034D}"/>
              </a:ext>
            </a:extLst>
          </p:cNvPr>
          <p:cNvSpPr>
            <a:spLocks xmlns:a="http://schemas.openxmlformats.org/drawingml/2006/main" noGrp="1"/>
          </p:cNvSpPr>
          <p:nvPr/>
        </p:nvSpPr>
        <p:spPr>
          <a:xfrm xmlns:a="http://schemas.openxmlformats.org/drawingml/2006/main">
            <a:off x="1733550" y="36576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KV can be lost before replay</a:t>
            </a:r>
          </a:p>
        </p:txBody>
      </p:sp>
      <p:sp>
        <p:nvSpPr>
          <p:cNvPr id="18" name="">
            <a:extLst xmlns:a="http://schemas.openxmlformats.org/drawingml/2006/main">
              <a:ext uri="{FF2B5EF4-FFF2-40B4-BE49-F238E27FC236}">
                <a16:creationId xmlns:a16="http://schemas.microsoft.com/office/drawing/2014/main" id="{C2A1C1C3-4EA7-4296-B0F4-0F742A763B10}"/>
              </a:ext>
            </a:extLst>
          </p:cNvPr>
          <p:cNvSpPr>
            <a:spLocks xmlns:a="http://schemas.openxmlformats.org/drawingml/2006/main" noGrp="1"/>
          </p:cNvSpPr>
          <p:nvPr/>
        </p:nvSpPr>
        <p:spPr>
          <a:xfrm xmlns:a="http://schemas.openxmlformats.org/drawingml/2006/main">
            <a:off x="1733550" y="419100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334155"/>
                </a:solidFill>
              </a:defRPr>
            </a:pPr>
            <a:r>
              <a:rPr sz="1125" b="0">
                <a:solidFill>
                  <a:srgbClr val="334155"/>
                </a:solidFill>
              </a:rPr>
              <a:t>Lifecycle traces show KV written to host, evicted from GPU, then sometimes evicted from host before replay.</a:t>
            </a:r>
          </a:p>
        </p:txBody>
      </p:sp>
      <p:sp>
        <p:nvSpPr>
          <p:cNvPr id="19" name="">
            <a:extLst xmlns:a="http://schemas.openxmlformats.org/drawingml/2006/main">
              <a:ext uri="{FF2B5EF4-FFF2-40B4-BE49-F238E27FC236}">
                <a16:creationId xmlns:a16="http://schemas.microsoft.com/office/drawing/2014/main" id="{128A8758-C404-4412-9F6C-5C1F77ED5FC4}"/>
              </a:ext>
            </a:extLst>
          </p:cNvPr>
          <p:cNvSpPr>
            <a:spLocks xmlns:a="http://schemas.openxmlformats.org/drawingml/2006/main" noGrp="1"/>
          </p:cNvSpPr>
          <p:nvPr/>
        </p:nvSpPr>
        <p:spPr>
          <a:xfrm xmlns:a="http://schemas.openxmlformats.org/drawingml/2006/main">
            <a:off x="6591300" y="3448050"/>
            <a:ext cx="4095750" cy="1466850"/>
          </a:xfrm>
          <a:prstGeom xmlns:a="http://schemas.openxmlformats.org/drawingml/2006/main" prst="roundRect">
            <a:avLst>
              <a:gd name="adj" fmla="val 3896"/>
            </a:avLst>
          </a:prstGeom>
          <a:solidFill xmlns:a="http://schemas.openxmlformats.org/drawingml/2006/main">
            <a:srgbClr val="FEF2F2"/>
          </a:solidFill>
          <a:ln xmlns:a="http://schemas.openxmlformats.org/drawingml/2006/main" w="9525">
            <a:solidFill>
              <a:srgbClr val="FECACA"/>
            </a:solidFill>
            <a:prstDash val="solid"/>
          </a:ln>
        </p:spPr>
      </p:sp>
      <p:sp>
        <p:nvSpPr>
          <p:cNvPr id="20" name="">
            <a:extLst xmlns:a="http://schemas.openxmlformats.org/drawingml/2006/main">
              <a:ext uri="{FF2B5EF4-FFF2-40B4-BE49-F238E27FC236}">
                <a16:creationId xmlns:a16="http://schemas.microsoft.com/office/drawing/2014/main" id="{B3C75721-BC20-4175-8FD0-4D3EA7055122}"/>
              </a:ext>
            </a:extLst>
          </p:cNvPr>
          <p:cNvSpPr>
            <a:spLocks xmlns:a="http://schemas.openxmlformats.org/drawingml/2006/main" noGrp="1"/>
          </p:cNvSpPr>
          <p:nvPr/>
        </p:nvSpPr>
        <p:spPr>
          <a:xfrm xmlns:a="http://schemas.openxmlformats.org/drawingml/2006/main">
            <a:off x="6591300" y="3448050"/>
            <a:ext cx="66675" cy="1466850"/>
          </a:xfrm>
          <a:prstGeom xmlns:a="http://schemas.openxmlformats.org/drawingml/2006/main" prst="rect">
            <a:avLst/>
          </a:prstGeom>
          <a:solidFill xmlns:a="http://schemas.openxmlformats.org/drawingml/2006/main">
            <a:srgbClr val="B91C1C"/>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C46F67E8-333A-48C5-A4E5-C6839F023971}"/>
              </a:ext>
            </a:extLst>
          </p:cNvPr>
          <p:cNvSpPr>
            <a:spLocks xmlns:a="http://schemas.openxmlformats.org/drawingml/2006/main" noGrp="1"/>
          </p:cNvSpPr>
          <p:nvPr/>
        </p:nvSpPr>
        <p:spPr>
          <a:xfrm xmlns:a="http://schemas.openxmlformats.org/drawingml/2006/main">
            <a:off x="6819900" y="3657600"/>
            <a:ext cx="36957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500" b="1">
                <a:solidFill>
                  <a:srgbClr val="0F172A"/>
                </a:solidFill>
              </a:defRPr>
            </a:pPr>
            <a:r>
              <a:rPr sz="1500" b="1">
                <a:solidFill>
                  <a:srgbClr val="0F172A"/>
                </a:solidFill>
              </a:rPr>
              <a:t>Replay loads can miss the deadline</a:t>
            </a:r>
          </a:p>
        </p:txBody>
      </p:sp>
      <p:sp>
        <p:nvSpPr>
          <p:cNvPr id="22" name="">
            <a:extLst xmlns:a="http://schemas.openxmlformats.org/drawingml/2006/main">
              <a:ext uri="{FF2B5EF4-FFF2-40B4-BE49-F238E27FC236}">
                <a16:creationId xmlns:a16="http://schemas.microsoft.com/office/drawing/2014/main" id="{63919347-1838-4D9A-B847-25987F74239E}"/>
              </a:ext>
            </a:extLst>
          </p:cNvPr>
          <p:cNvSpPr>
            <a:spLocks xmlns:a="http://schemas.openxmlformats.org/drawingml/2006/main" noGrp="1"/>
          </p:cNvSpPr>
          <p:nvPr/>
        </p:nvSpPr>
        <p:spPr>
          <a:xfrm xmlns:a="http://schemas.openxmlformats.org/drawingml/2006/main">
            <a:off x="6819900" y="4191000"/>
            <a:ext cx="36957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125" b="0">
                <a:solidFill>
                  <a:srgbClr val="334155"/>
                </a:solidFill>
              </a:defRPr>
            </a:pPr>
            <a:r>
              <a:rPr sz="1125" b="0">
                <a:solidFill>
                  <a:srgbClr val="334155"/>
                </a:solidFill>
              </a:rPr>
              <a:t>Replay-side H2D movement often starts or finishes after the agent already needed KV ready.</a:t>
            </a:r>
          </a:p>
        </p:txBody>
      </p:sp>
      <p:sp>
        <p:nvSpPr>
          <p:cNvPr id="23" name="">
            <a:extLst xmlns:a="http://schemas.openxmlformats.org/drawingml/2006/main">
              <a:ext uri="{FF2B5EF4-FFF2-40B4-BE49-F238E27FC236}">
                <a16:creationId xmlns:a16="http://schemas.microsoft.com/office/drawing/2014/main" id="{2518431A-585D-4CA3-81D5-6CD7834F3B57}"/>
              </a:ext>
            </a:extLst>
          </p:cNvPr>
          <p:cNvSpPr>
            <a:spLocks xmlns:a="http://schemas.openxmlformats.org/drawingml/2006/main" noGrp="1"/>
          </p:cNvSpPr>
          <p:nvPr/>
        </p:nvSpPr>
        <p:spPr>
          <a:xfrm xmlns:a="http://schemas.openxmlformats.org/drawingml/2006/main">
            <a:off x="1809750" y="5257800"/>
            <a:ext cx="8572500" cy="514350"/>
          </a:xfrm>
          <a:prstGeom xmlns:a="http://schemas.openxmlformats.org/drawingml/2006/main" prst="roundRect">
            <a:avLst>
              <a:gd name="adj" fmla="val 11111"/>
            </a:avLst>
          </a:prstGeom>
          <a:solidFill xmlns:a="http://schemas.openxmlformats.org/drawingml/2006/main">
            <a:srgbClr val="F8FAFC"/>
          </a:solidFill>
          <a:ln xmlns:a="http://schemas.openxmlformats.org/drawingml/2006/main" w="9525">
            <a:solidFill>
              <a:srgbClr val="CBD5E1"/>
            </a:solidFill>
            <a:prstDash val="solid"/>
          </a:ln>
        </p:spPr>
      </p:sp>
      <p:sp>
        <p:nvSpPr>
          <p:cNvPr id="24" name="">
            <a:extLst xmlns:a="http://schemas.openxmlformats.org/drawingml/2006/main">
              <a:ext uri="{FF2B5EF4-FFF2-40B4-BE49-F238E27FC236}">
                <a16:creationId xmlns:a16="http://schemas.microsoft.com/office/drawing/2014/main" id="{C700FCBA-F89E-4CE9-B2FC-FFAFAD0ADAA1}"/>
              </a:ext>
            </a:extLst>
          </p:cNvPr>
          <p:cNvSpPr>
            <a:spLocks xmlns:a="http://schemas.openxmlformats.org/drawingml/2006/main" noGrp="1"/>
          </p:cNvSpPr>
          <p:nvPr/>
        </p:nvSpPr>
        <p:spPr>
          <a:xfrm xmlns:a="http://schemas.openxmlformats.org/drawingml/2006/main">
            <a:off x="2133600" y="5410200"/>
            <a:ext cx="792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350" b="1">
                <a:solidFill>
                  <a:srgbClr val="0F172A"/>
                </a:solidFill>
              </a:defRPr>
            </a:pPr>
            <a:r>
              <a:rPr sz="1350" b="1">
                <a:solidFill>
                  <a:srgbClr val="0F172A"/>
                </a:solidFill>
              </a:rPr>
              <a:t>Implication: smarter DMA needs KV/session metadata, deadline-aware scheduling, residency protection, and useful telemetry.</a:t>
            </a:r>
          </a:p>
        </p:txBody>
      </p:sp>
      <p:sp>
        <p:nvSpPr>
          <p:cNvPr id="25" name="">
            <a:extLst xmlns:a="http://schemas.openxmlformats.org/drawingml/2006/main">
              <a:ext uri="{FF2B5EF4-FFF2-40B4-BE49-F238E27FC236}">
                <a16:creationId xmlns:a16="http://schemas.microsoft.com/office/drawing/2014/main" id="{5C942F0D-7645-410C-94FD-9ED856FEACC4}"/>
              </a:ext>
            </a:extLst>
          </p:cNvPr>
          <p:cNvSpPr>
            <a:spLocks xmlns:a="http://schemas.openxmlformats.org/drawingml/2006/main" noGrp="1"/>
          </p:cNvSpPr>
          <p:nvPr/>
        </p:nvSpPr>
        <p:spPr>
          <a:xfrm xmlns:a="http://schemas.openxmlformats.org/drawingml/2006/main">
            <a:off x="400050" y="6153150"/>
            <a:ext cx="7810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825" b="0">
                <a:solidFill>
                  <a:srgbClr val="64748B"/>
                </a:solidFill>
              </a:defRPr>
            </a:pPr>
            <a:r>
              <a:rPr sz="825" b="0">
                <a:solidFill>
                  <a:srgbClr val="64748B"/>
                </a:solidFill>
              </a:rPr>
              <a:t>Source: project traces and latest master/synthetic report observations</a:t>
            </a:r>
          </a:p>
        </p:txBody>
      </p:sp>
      <p:sp>
        <p:nvSpPr>
          <p:cNvPr id="26" name="">
            <a:extLst xmlns:a="http://schemas.openxmlformats.org/drawingml/2006/main">
              <a:ext uri="{FF2B5EF4-FFF2-40B4-BE49-F238E27FC236}">
                <a16:creationId xmlns:a16="http://schemas.microsoft.com/office/drawing/2014/main" id="{82C8530E-6395-433C-B9E5-27DCC15BFD36}"/>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7" name="">
            <a:extLst xmlns:a="http://schemas.openxmlformats.org/drawingml/2006/main">
              <a:ext uri="{FF2B5EF4-FFF2-40B4-BE49-F238E27FC236}">
                <a16:creationId xmlns:a16="http://schemas.microsoft.com/office/drawing/2014/main" id="{9CD4DBD8-E9D4-4D5F-AD3C-7A0FF9D2004C}"/>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10</a:t>
            </a:r>
          </a:p>
        </p:txBody>
      </p:sp>
    </p:spTree>
    <p:extLst>
      <p:ext uri="{BB962C8B-B14F-4D97-AF65-F5344CB8AC3E}">
        <p14:creationId xmlns:p14="http://schemas.microsoft.com/office/powerpoint/2010/main" val="99253194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B4D438DD-5867-4059-92AC-EAFBA1919051}"/>
              </a:ext>
            </a:extLst>
          </p:cNvPr>
          <p:cNvSpPr>
            <a:spLocks xmlns:a="http://schemas.openxmlformats.org/drawingml/2006/main" noGrp="1"/>
          </p:cNvSpPr>
          <p:nvPr/>
        </p:nvSpPr>
        <p:spPr>
          <a:xfrm xmlns:a="http://schemas.openxmlformats.org/drawingml/2006/main">
            <a:off x="400050" y="323850"/>
            <a:ext cx="106680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2850" b="1">
                <a:solidFill>
                  <a:srgbClr val="0F172A"/>
                </a:solidFill>
              </a:defRPr>
            </a:pPr>
            <a:r>
              <a:rPr sz="2850" b="1">
                <a:solidFill>
                  <a:srgbClr val="0F172A"/>
                </a:solidFill>
              </a:rPr>
              <a:t>Hardware support can make hints enforceable</a:t>
            </a:r>
          </a:p>
        </p:txBody>
      </p:sp>
      <p:sp>
        <p:nvSpPr>
          <p:cNvPr id="2" name="">
            <a:extLst xmlns:a="http://schemas.openxmlformats.org/drawingml/2006/main">
              <a:ext uri="{FF2B5EF4-FFF2-40B4-BE49-F238E27FC236}">
                <a16:creationId xmlns:a16="http://schemas.microsoft.com/office/drawing/2014/main" id="{135DF2C0-378A-4909-8877-0397C35027EB}"/>
              </a:ext>
            </a:extLst>
          </p:cNvPr>
          <p:cNvSpPr>
            <a:spLocks xmlns:a="http://schemas.openxmlformats.org/drawingml/2006/main" noGrp="1"/>
          </p:cNvSpPr>
          <p:nvPr/>
        </p:nvSpPr>
        <p:spPr>
          <a:xfrm xmlns:a="http://schemas.openxmlformats.org/drawingml/2006/main">
            <a:off x="419100" y="1028700"/>
            <a:ext cx="9715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350" b="0">
                <a:solidFill>
                  <a:srgbClr val="64748B"/>
                </a:solidFill>
              </a:defRPr>
            </a:pPr>
            <a:r>
              <a:rPr sz="1350" b="0">
                <a:solidFill>
                  <a:srgbClr val="64748B"/>
                </a:solidFill>
              </a:rPr>
              <a:t>The opportunity is to treat KV as deadline-sensitive memory, not generic bytes.</a:t>
            </a:r>
          </a:p>
        </p:txBody>
      </p:sp>
      <p:sp>
        <p:nvSpPr>
          <p:cNvPr id="3" name="">
            <a:extLst xmlns:a="http://schemas.openxmlformats.org/drawingml/2006/main">
              <a:ext uri="{FF2B5EF4-FFF2-40B4-BE49-F238E27FC236}">
                <a16:creationId xmlns:a16="http://schemas.microsoft.com/office/drawing/2014/main" id="{B69CA1E6-5AFF-4113-8922-A3D9ED6E4DE8}"/>
              </a:ext>
            </a:extLst>
          </p:cNvPr>
          <p:cNvSpPr>
            <a:spLocks xmlns:a="http://schemas.openxmlformats.org/drawingml/2006/main" noGrp="1"/>
          </p:cNvSpPr>
          <p:nvPr/>
        </p:nvSpPr>
        <p:spPr>
          <a:xfrm xmlns:a="http://schemas.openxmlformats.org/drawingml/2006/main">
            <a:off x="552450" y="1962150"/>
            <a:ext cx="1695450" cy="1695450"/>
          </a:xfrm>
          <a:prstGeom xmlns:a="http://schemas.openxmlformats.org/drawingml/2006/main" prst="roundRect">
            <a:avLst>
              <a:gd name="adj" fmla="val 3371"/>
            </a:avLst>
          </a:prstGeom>
          <a:solidFill xmlns:a="http://schemas.openxmlformats.org/drawingml/2006/main">
            <a:srgbClr val="EFF6FF"/>
          </a:solidFill>
          <a:ln xmlns:a="http://schemas.openxmlformats.org/drawingml/2006/main" w="9525">
            <a:solidFill>
              <a:srgbClr val="2563EB"/>
            </a:solidFill>
            <a:prstDash val="solid"/>
          </a:ln>
        </p:spPr>
      </p:sp>
      <p:sp>
        <p:nvSpPr>
          <p:cNvPr id="4" name="">
            <a:extLst xmlns:a="http://schemas.openxmlformats.org/drawingml/2006/main">
              <a:ext uri="{FF2B5EF4-FFF2-40B4-BE49-F238E27FC236}">
                <a16:creationId xmlns:a16="http://schemas.microsoft.com/office/drawing/2014/main" id="{0903FB5C-E56D-4BBA-A60C-C9F271963CC7}"/>
              </a:ext>
            </a:extLst>
          </p:cNvPr>
          <p:cNvSpPr>
            <a:spLocks xmlns:a="http://schemas.openxmlformats.org/drawingml/2006/main" noGrp="1"/>
          </p:cNvSpPr>
          <p:nvPr/>
        </p:nvSpPr>
        <p:spPr>
          <a:xfrm xmlns:a="http://schemas.openxmlformats.org/drawingml/2006/main">
            <a:off x="7048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Runtime hint</a:t>
            </a:r>
          </a:p>
        </p:txBody>
      </p:sp>
      <p:sp>
        <p:nvSpPr>
          <p:cNvPr id="5" name="">
            <a:extLst xmlns:a="http://schemas.openxmlformats.org/drawingml/2006/main">
              <a:ext uri="{FF2B5EF4-FFF2-40B4-BE49-F238E27FC236}">
                <a16:creationId xmlns:a16="http://schemas.microsoft.com/office/drawing/2014/main" id="{2F09291D-119E-45AC-9BF5-1F13E5D7798E}"/>
              </a:ext>
            </a:extLst>
          </p:cNvPr>
          <p:cNvSpPr>
            <a:spLocks xmlns:a="http://schemas.openxmlformats.org/drawingml/2006/main" noGrp="1"/>
          </p:cNvSpPr>
          <p:nvPr/>
        </p:nvSpPr>
        <p:spPr>
          <a:xfrm xmlns:a="http://schemas.openxmlformats.org/drawingml/2006/main">
            <a:off x="7239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session, priority, deadline</a:t>
            </a:r>
          </a:p>
        </p:txBody>
      </p:sp>
      <p:sp>
        <p:nvSpPr>
          <p:cNvPr id="6" name="">
            <a:extLst xmlns:a="http://schemas.openxmlformats.org/drawingml/2006/main">
              <a:ext uri="{FF2B5EF4-FFF2-40B4-BE49-F238E27FC236}">
                <a16:creationId xmlns:a16="http://schemas.microsoft.com/office/drawing/2014/main" id="{402A50E2-B611-4286-B3A3-EC3CD844E139}"/>
              </a:ext>
            </a:extLst>
          </p:cNvPr>
          <p:cNvSpPr>
            <a:spLocks xmlns:a="http://schemas.openxmlformats.org/drawingml/2006/main" noGrp="1"/>
          </p:cNvSpPr>
          <p:nvPr/>
        </p:nvSpPr>
        <p:spPr>
          <a:xfrm xmlns:a="http://schemas.openxmlformats.org/drawingml/2006/main">
            <a:off x="230505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7" name="">
            <a:extLst xmlns:a="http://schemas.openxmlformats.org/drawingml/2006/main">
              <a:ext uri="{FF2B5EF4-FFF2-40B4-BE49-F238E27FC236}">
                <a16:creationId xmlns:a16="http://schemas.microsoft.com/office/drawing/2014/main" id="{754E0EB6-59F3-407B-8A0B-48C080FD3314}"/>
              </a:ext>
            </a:extLst>
          </p:cNvPr>
          <p:cNvSpPr>
            <a:spLocks xmlns:a="http://schemas.openxmlformats.org/drawingml/2006/main" noGrp="1"/>
          </p:cNvSpPr>
          <p:nvPr/>
        </p:nvSpPr>
        <p:spPr>
          <a:xfrm xmlns:a="http://schemas.openxmlformats.org/drawingml/2006/main">
            <a:off x="2857500" y="1962150"/>
            <a:ext cx="1695450" cy="1695450"/>
          </a:xfrm>
          <a:prstGeom xmlns:a="http://schemas.openxmlformats.org/drawingml/2006/main" prst="roundRect">
            <a:avLst>
              <a:gd name="adj" fmla="val 3371"/>
            </a:avLst>
          </a:prstGeom>
          <a:solidFill xmlns:a="http://schemas.openxmlformats.org/drawingml/2006/main">
            <a:srgbClr val="F5F3FF"/>
          </a:solidFill>
          <a:ln xmlns:a="http://schemas.openxmlformats.org/drawingml/2006/main" w="9525">
            <a:solidFill>
              <a:srgbClr val="A855F7"/>
            </a:solidFill>
            <a:prstDash val="solid"/>
          </a:ln>
        </p:spPr>
      </p:sp>
      <p:sp>
        <p:nvSpPr>
          <p:cNvPr id="8" name="">
            <a:extLst xmlns:a="http://schemas.openxmlformats.org/drawingml/2006/main">
              <a:ext uri="{FF2B5EF4-FFF2-40B4-BE49-F238E27FC236}">
                <a16:creationId xmlns:a16="http://schemas.microsoft.com/office/drawing/2014/main" id="{D3BA9781-8888-4E39-A6F5-0251214760E0}"/>
              </a:ext>
            </a:extLst>
          </p:cNvPr>
          <p:cNvSpPr>
            <a:spLocks xmlns:a="http://schemas.openxmlformats.org/drawingml/2006/main" noGrp="1"/>
          </p:cNvSpPr>
          <p:nvPr/>
        </p:nvSpPr>
        <p:spPr>
          <a:xfrm xmlns:a="http://schemas.openxmlformats.org/drawingml/2006/main">
            <a:off x="300990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KV-aware queue</a:t>
            </a:r>
          </a:p>
        </p:txBody>
      </p:sp>
      <p:sp>
        <p:nvSpPr>
          <p:cNvPr id="9" name="">
            <a:extLst xmlns:a="http://schemas.openxmlformats.org/drawingml/2006/main">
              <a:ext uri="{FF2B5EF4-FFF2-40B4-BE49-F238E27FC236}">
                <a16:creationId xmlns:a16="http://schemas.microsoft.com/office/drawing/2014/main" id="{7D31D6A5-590C-4B3D-BAFE-C5FFB91D8D74}"/>
              </a:ext>
            </a:extLst>
          </p:cNvPr>
          <p:cNvSpPr>
            <a:spLocks xmlns:a="http://schemas.openxmlformats.org/drawingml/2006/main" noGrp="1"/>
          </p:cNvSpPr>
          <p:nvPr/>
        </p:nvSpPr>
        <p:spPr>
          <a:xfrm xmlns:a="http://schemas.openxmlformats.org/drawingml/2006/main">
            <a:off x="302895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order urgent KV first</a:t>
            </a:r>
          </a:p>
        </p:txBody>
      </p:sp>
      <p:sp>
        <p:nvSpPr>
          <p:cNvPr id="10" name="">
            <a:extLst xmlns:a="http://schemas.openxmlformats.org/drawingml/2006/main">
              <a:ext uri="{FF2B5EF4-FFF2-40B4-BE49-F238E27FC236}">
                <a16:creationId xmlns:a16="http://schemas.microsoft.com/office/drawing/2014/main" id="{C27FC1DA-90AF-4F56-902F-97683ECEB117}"/>
              </a:ext>
            </a:extLst>
          </p:cNvPr>
          <p:cNvSpPr>
            <a:spLocks xmlns:a="http://schemas.openxmlformats.org/drawingml/2006/main" noGrp="1"/>
          </p:cNvSpPr>
          <p:nvPr/>
        </p:nvSpPr>
        <p:spPr>
          <a:xfrm xmlns:a="http://schemas.openxmlformats.org/drawingml/2006/main">
            <a:off x="461010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1" name="">
            <a:extLst xmlns:a="http://schemas.openxmlformats.org/drawingml/2006/main">
              <a:ext uri="{FF2B5EF4-FFF2-40B4-BE49-F238E27FC236}">
                <a16:creationId xmlns:a16="http://schemas.microsoft.com/office/drawing/2014/main" id="{0ED5B989-C1AC-4026-8F4F-BCD893B91FDD}"/>
              </a:ext>
            </a:extLst>
          </p:cNvPr>
          <p:cNvSpPr>
            <a:spLocks xmlns:a="http://schemas.openxmlformats.org/drawingml/2006/main" noGrp="1"/>
          </p:cNvSpPr>
          <p:nvPr/>
        </p:nvSpPr>
        <p:spPr>
          <a:xfrm xmlns:a="http://schemas.openxmlformats.org/drawingml/2006/main">
            <a:off x="5162550" y="1962150"/>
            <a:ext cx="1695450" cy="1695450"/>
          </a:xfrm>
          <a:prstGeom xmlns:a="http://schemas.openxmlformats.org/drawingml/2006/main" prst="roundRect">
            <a:avLst>
              <a:gd name="adj" fmla="val 3371"/>
            </a:avLst>
          </a:prstGeom>
          <a:solidFill xmlns:a="http://schemas.openxmlformats.org/drawingml/2006/main">
            <a:srgbClr val="ECFEFF"/>
          </a:solidFill>
          <a:ln xmlns:a="http://schemas.openxmlformats.org/drawingml/2006/main" w="9525">
            <a:solidFill>
              <a:srgbClr val="06B6D4"/>
            </a:solidFill>
            <a:prstDash val="solid"/>
          </a:ln>
        </p:spPr>
      </p:sp>
      <p:sp>
        <p:nvSpPr>
          <p:cNvPr id="12" name="">
            <a:extLst xmlns:a="http://schemas.openxmlformats.org/drawingml/2006/main">
              <a:ext uri="{FF2B5EF4-FFF2-40B4-BE49-F238E27FC236}">
                <a16:creationId xmlns:a16="http://schemas.microsoft.com/office/drawing/2014/main" id="{98421532-E4E5-472C-B5F1-A96794EA36DE}"/>
              </a:ext>
            </a:extLst>
          </p:cNvPr>
          <p:cNvSpPr>
            <a:spLocks xmlns:a="http://schemas.openxmlformats.org/drawingml/2006/main" noGrp="1"/>
          </p:cNvSpPr>
          <p:nvPr/>
        </p:nvSpPr>
        <p:spPr>
          <a:xfrm xmlns:a="http://schemas.openxmlformats.org/drawingml/2006/main">
            <a:off x="53149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DMA / copy engine</a:t>
            </a:r>
          </a:p>
        </p:txBody>
      </p:sp>
      <p:sp>
        <p:nvSpPr>
          <p:cNvPr id="13" name="">
            <a:extLst xmlns:a="http://schemas.openxmlformats.org/drawingml/2006/main">
              <a:ext uri="{FF2B5EF4-FFF2-40B4-BE49-F238E27FC236}">
                <a16:creationId xmlns:a16="http://schemas.microsoft.com/office/drawing/2014/main" id="{4244315C-8B4D-4875-9760-245C5EF0218D}"/>
              </a:ext>
            </a:extLst>
          </p:cNvPr>
          <p:cNvSpPr>
            <a:spLocks xmlns:a="http://schemas.openxmlformats.org/drawingml/2006/main" noGrp="1"/>
          </p:cNvSpPr>
          <p:nvPr/>
        </p:nvSpPr>
        <p:spPr>
          <a:xfrm xmlns:a="http://schemas.openxmlformats.org/drawingml/2006/main">
            <a:off x="53340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throttle and prioritize</a:t>
            </a:r>
          </a:p>
        </p:txBody>
      </p:sp>
      <p:sp>
        <p:nvSpPr>
          <p:cNvPr id="14" name="">
            <a:extLst xmlns:a="http://schemas.openxmlformats.org/drawingml/2006/main">
              <a:ext uri="{FF2B5EF4-FFF2-40B4-BE49-F238E27FC236}">
                <a16:creationId xmlns:a16="http://schemas.microsoft.com/office/drawing/2014/main" id="{FC24EC58-335B-4BD9-B8E2-46B93F0028A6}"/>
              </a:ext>
            </a:extLst>
          </p:cNvPr>
          <p:cNvSpPr>
            <a:spLocks xmlns:a="http://schemas.openxmlformats.org/drawingml/2006/main" noGrp="1"/>
          </p:cNvSpPr>
          <p:nvPr/>
        </p:nvSpPr>
        <p:spPr>
          <a:xfrm xmlns:a="http://schemas.openxmlformats.org/drawingml/2006/main">
            <a:off x="691515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5" name="">
            <a:extLst xmlns:a="http://schemas.openxmlformats.org/drawingml/2006/main">
              <a:ext uri="{FF2B5EF4-FFF2-40B4-BE49-F238E27FC236}">
                <a16:creationId xmlns:a16="http://schemas.microsoft.com/office/drawing/2014/main" id="{C89898BD-6F09-4D43-AE05-352DA79EB8C3}"/>
              </a:ext>
            </a:extLst>
          </p:cNvPr>
          <p:cNvSpPr>
            <a:spLocks xmlns:a="http://schemas.openxmlformats.org/drawingml/2006/main" noGrp="1"/>
          </p:cNvSpPr>
          <p:nvPr/>
        </p:nvSpPr>
        <p:spPr>
          <a:xfrm xmlns:a="http://schemas.openxmlformats.org/drawingml/2006/main">
            <a:off x="7467600" y="1962150"/>
            <a:ext cx="1695450" cy="1695450"/>
          </a:xfrm>
          <a:prstGeom xmlns:a="http://schemas.openxmlformats.org/drawingml/2006/main" prst="roundRect">
            <a:avLst>
              <a:gd name="adj" fmla="val 3371"/>
            </a:avLst>
          </a:prstGeom>
          <a:solidFill xmlns:a="http://schemas.openxmlformats.org/drawingml/2006/main">
            <a:srgbClr val="F0FDF4"/>
          </a:solidFill>
          <a:ln xmlns:a="http://schemas.openxmlformats.org/drawingml/2006/main" w="9525">
            <a:solidFill>
              <a:srgbClr val="16A34A"/>
            </a:solidFill>
            <a:prstDash val="solid"/>
          </a:ln>
        </p:spPr>
      </p:sp>
      <p:sp>
        <p:nvSpPr>
          <p:cNvPr id="16" name="">
            <a:extLst xmlns:a="http://schemas.openxmlformats.org/drawingml/2006/main">
              <a:ext uri="{FF2B5EF4-FFF2-40B4-BE49-F238E27FC236}">
                <a16:creationId xmlns:a16="http://schemas.microsoft.com/office/drawing/2014/main" id="{6E37C455-E33F-4D46-940A-31AEE575EB0C}"/>
              </a:ext>
            </a:extLst>
          </p:cNvPr>
          <p:cNvSpPr>
            <a:spLocks xmlns:a="http://schemas.openxmlformats.org/drawingml/2006/main" noGrp="1"/>
          </p:cNvSpPr>
          <p:nvPr/>
        </p:nvSpPr>
        <p:spPr>
          <a:xfrm xmlns:a="http://schemas.openxmlformats.org/drawingml/2006/main">
            <a:off x="762000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Residency control</a:t>
            </a:r>
          </a:p>
        </p:txBody>
      </p:sp>
      <p:sp>
        <p:nvSpPr>
          <p:cNvPr id="17" name="">
            <a:extLst xmlns:a="http://schemas.openxmlformats.org/drawingml/2006/main">
              <a:ext uri="{FF2B5EF4-FFF2-40B4-BE49-F238E27FC236}">
                <a16:creationId xmlns:a16="http://schemas.microsoft.com/office/drawing/2014/main" id="{431B839C-ECAD-4519-870E-F4A698FF9CF9}"/>
              </a:ext>
            </a:extLst>
          </p:cNvPr>
          <p:cNvSpPr>
            <a:spLocks xmlns:a="http://schemas.openxmlformats.org/drawingml/2006/main" noGrp="1"/>
          </p:cNvSpPr>
          <p:nvPr/>
        </p:nvSpPr>
        <p:spPr>
          <a:xfrm xmlns:a="http://schemas.openxmlformats.org/drawingml/2006/main">
            <a:off x="763905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protect useful KV</a:t>
            </a:r>
          </a:p>
        </p:txBody>
      </p:sp>
      <p:sp>
        <p:nvSpPr>
          <p:cNvPr id="18" name="">
            <a:extLst xmlns:a="http://schemas.openxmlformats.org/drawingml/2006/main">
              <a:ext uri="{FF2B5EF4-FFF2-40B4-BE49-F238E27FC236}">
                <a16:creationId xmlns:a16="http://schemas.microsoft.com/office/drawing/2014/main" id="{14E7CE19-8101-49D3-A043-C32ADB7F3FCE}"/>
              </a:ext>
            </a:extLst>
          </p:cNvPr>
          <p:cNvSpPr>
            <a:spLocks xmlns:a="http://schemas.openxmlformats.org/drawingml/2006/main" noGrp="1"/>
          </p:cNvSpPr>
          <p:nvPr/>
        </p:nvSpPr>
        <p:spPr>
          <a:xfrm xmlns:a="http://schemas.openxmlformats.org/drawingml/2006/main">
            <a:off x="9220200" y="2552700"/>
            <a:ext cx="4762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2550" b="1">
                <a:solidFill>
                  <a:srgbClr val="64748B"/>
                </a:solidFill>
              </a:defRPr>
            </a:pPr>
            <a:r>
              <a:rPr sz="2550" b="1">
                <a:solidFill>
                  <a:srgbClr val="64748B"/>
                </a:solidFill>
              </a:rPr>
              <a:t>→</a:t>
            </a:r>
          </a:p>
        </p:txBody>
      </p:sp>
      <p:sp>
        <p:nvSpPr>
          <p:cNvPr id="19" name="">
            <a:extLst xmlns:a="http://schemas.openxmlformats.org/drawingml/2006/main">
              <a:ext uri="{FF2B5EF4-FFF2-40B4-BE49-F238E27FC236}">
                <a16:creationId xmlns:a16="http://schemas.microsoft.com/office/drawing/2014/main" id="{7A36D4B5-7E5F-49D1-B57E-2FF8A4DBC14A}"/>
              </a:ext>
            </a:extLst>
          </p:cNvPr>
          <p:cNvSpPr>
            <a:spLocks xmlns:a="http://schemas.openxmlformats.org/drawingml/2006/main" noGrp="1"/>
          </p:cNvSpPr>
          <p:nvPr/>
        </p:nvSpPr>
        <p:spPr>
          <a:xfrm xmlns:a="http://schemas.openxmlformats.org/drawingml/2006/main">
            <a:off x="9772650" y="1962150"/>
            <a:ext cx="1695450" cy="1695450"/>
          </a:xfrm>
          <a:prstGeom xmlns:a="http://schemas.openxmlformats.org/drawingml/2006/main" prst="roundRect">
            <a:avLst>
              <a:gd name="adj" fmla="val 3371"/>
            </a:avLst>
          </a:prstGeom>
          <a:solidFill xmlns:a="http://schemas.openxmlformats.org/drawingml/2006/main">
            <a:srgbClr val="FFF7ED"/>
          </a:solidFill>
          <a:ln xmlns:a="http://schemas.openxmlformats.org/drawingml/2006/main" w="9525">
            <a:solidFill>
              <a:srgbClr val="F97316"/>
            </a:solidFill>
            <a:prstDash val="solid"/>
          </a:ln>
        </p:spPr>
      </p:sp>
      <p:sp>
        <p:nvSpPr>
          <p:cNvPr id="20" name="">
            <a:extLst xmlns:a="http://schemas.openxmlformats.org/drawingml/2006/main">
              <a:ext uri="{FF2B5EF4-FFF2-40B4-BE49-F238E27FC236}">
                <a16:creationId xmlns:a16="http://schemas.microsoft.com/office/drawing/2014/main" id="{F32B4C1D-02A3-4683-B33C-AE53816527CE}"/>
              </a:ext>
            </a:extLst>
          </p:cNvPr>
          <p:cNvSpPr>
            <a:spLocks xmlns:a="http://schemas.openxmlformats.org/drawingml/2006/main" noGrp="1"/>
          </p:cNvSpPr>
          <p:nvPr/>
        </p:nvSpPr>
        <p:spPr>
          <a:xfrm xmlns:a="http://schemas.openxmlformats.org/drawingml/2006/main">
            <a:off x="9925050" y="2228850"/>
            <a:ext cx="13906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650" b="1">
                <a:solidFill>
                  <a:srgbClr val="0F172A"/>
                </a:solidFill>
              </a:defRPr>
            </a:pPr>
            <a:r>
              <a:rPr sz="1650" b="1">
                <a:solidFill>
                  <a:srgbClr val="0F172A"/>
                </a:solidFill>
              </a:rPr>
              <a:t>Telemetry</a:t>
            </a:r>
          </a:p>
        </p:txBody>
      </p:sp>
      <p:sp>
        <p:nvSpPr>
          <p:cNvPr id="21" name="">
            <a:extLst xmlns:a="http://schemas.openxmlformats.org/drawingml/2006/main">
              <a:ext uri="{FF2B5EF4-FFF2-40B4-BE49-F238E27FC236}">
                <a16:creationId xmlns:a16="http://schemas.microsoft.com/office/drawing/2014/main" id="{CBE5EFB3-EE0C-4058-A7C6-F2F7D9AD25EC}"/>
              </a:ext>
            </a:extLst>
          </p:cNvPr>
          <p:cNvSpPr>
            <a:spLocks xmlns:a="http://schemas.openxmlformats.org/drawingml/2006/main" noGrp="1"/>
          </p:cNvSpPr>
          <p:nvPr/>
        </p:nvSpPr>
        <p:spPr>
          <a:xfrm xmlns:a="http://schemas.openxmlformats.org/drawingml/2006/main">
            <a:off x="9944100" y="2838450"/>
            <a:ext cx="13525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defRPr sz="1275" b="0">
                <a:solidFill>
                  <a:srgbClr val="334155"/>
                </a:solidFill>
              </a:defRPr>
            </a:pPr>
            <a:r>
              <a:rPr sz="1275" b="0">
                <a:solidFill>
                  <a:srgbClr val="334155"/>
                </a:solidFill>
              </a:rPr>
              <a:t>late / useful / wasted</a:t>
            </a:r>
          </a:p>
        </p:txBody>
      </p:sp>
      <p:sp>
        <p:nvSpPr>
          <p:cNvPr id="22" name="">
            <a:extLst xmlns:a="http://schemas.openxmlformats.org/drawingml/2006/main">
              <a:ext uri="{FF2B5EF4-FFF2-40B4-BE49-F238E27FC236}">
                <a16:creationId xmlns:a16="http://schemas.microsoft.com/office/drawing/2014/main" id="{D25D699C-52B7-4B0A-BAB9-B0A5CD902748}"/>
              </a:ext>
            </a:extLst>
          </p:cNvPr>
          <p:cNvSpPr>
            <a:spLocks xmlns:a="http://schemas.openxmlformats.org/drawingml/2006/main" noGrp="1"/>
          </p:cNvSpPr>
          <p:nvPr/>
        </p:nvSpPr>
        <p:spPr>
          <a:xfrm xmlns:a="http://schemas.openxmlformats.org/drawingml/2006/main">
            <a:off x="2000250" y="4514850"/>
            <a:ext cx="8191500" cy="800100"/>
          </a:xfrm>
          <a:prstGeom xmlns:a="http://schemas.openxmlformats.org/drawingml/2006/main" prst="roundRect">
            <a:avLst>
              <a:gd name="adj" fmla="val 7143"/>
            </a:avLst>
          </a:prstGeom>
          <a:solidFill xmlns:a="http://schemas.openxmlformats.org/drawingml/2006/main">
            <a:srgbClr val="F8FAFC"/>
          </a:solidFill>
          <a:ln xmlns:a="http://schemas.openxmlformats.org/drawingml/2006/main" w="9525">
            <a:solidFill>
              <a:srgbClr val="CBD5E1"/>
            </a:solidFill>
            <a:prstDash val="solid"/>
          </a:ln>
        </p:spPr>
      </p:sp>
      <p:sp>
        <p:nvSpPr>
          <p:cNvPr id="23" name="">
            <a:extLst xmlns:a="http://schemas.openxmlformats.org/drawingml/2006/main">
              <a:ext uri="{FF2B5EF4-FFF2-40B4-BE49-F238E27FC236}">
                <a16:creationId xmlns:a16="http://schemas.microsoft.com/office/drawing/2014/main" id="{94D50774-64CF-4228-8500-20A380EF8EC0}"/>
              </a:ext>
            </a:extLst>
          </p:cNvPr>
          <p:cNvSpPr>
            <a:spLocks xmlns:a="http://schemas.openxmlformats.org/drawingml/2006/main" noGrp="1"/>
          </p:cNvSpPr>
          <p:nvPr/>
        </p:nvSpPr>
        <p:spPr>
          <a:xfrm xmlns:a="http://schemas.openxmlformats.org/drawingml/2006/main">
            <a:off x="2247900" y="4743450"/>
            <a:ext cx="2476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650" b="1">
                <a:solidFill>
                  <a:srgbClr val="0F172A"/>
                </a:solidFill>
              </a:defRPr>
            </a:pPr>
            <a:r>
              <a:rPr sz="1650" b="1">
                <a:solidFill>
                  <a:srgbClr val="0F172A"/>
                </a:solidFill>
              </a:rPr>
              <a:t>Resulting research question</a:t>
            </a:r>
          </a:p>
        </p:txBody>
      </p:sp>
      <p:sp>
        <p:nvSpPr>
          <p:cNvPr id="24" name="">
            <a:extLst xmlns:a="http://schemas.openxmlformats.org/drawingml/2006/main">
              <a:ext uri="{FF2B5EF4-FFF2-40B4-BE49-F238E27FC236}">
                <a16:creationId xmlns:a16="http://schemas.microsoft.com/office/drawing/2014/main" id="{94065F4F-411E-4623-8922-7C8DE483CF3B}"/>
              </a:ext>
            </a:extLst>
          </p:cNvPr>
          <p:cNvSpPr>
            <a:spLocks xmlns:a="http://schemas.openxmlformats.org/drawingml/2006/main" noGrp="1"/>
          </p:cNvSpPr>
          <p:nvPr/>
        </p:nvSpPr>
        <p:spPr>
          <a:xfrm xmlns:a="http://schemas.openxmlformats.org/drawingml/2006/main">
            <a:off x="4953000" y="4686300"/>
            <a:ext cx="4762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1425" b="0">
                <a:solidFill>
                  <a:srgbClr val="334155"/>
                </a:solidFill>
              </a:defRPr>
            </a:pPr>
            <a:r>
              <a:rPr sz="1425" b="0">
                <a:solidFill>
                  <a:srgbClr val="334155"/>
                </a:solidFill>
              </a:rPr>
              <a:t>How much replay latency and wasted movement can be avoided when KV movement has session context, priority, deadline, protection, and telemetry?</a:t>
            </a:r>
          </a:p>
        </p:txBody>
      </p:sp>
      <p:sp>
        <p:nvSpPr>
          <p:cNvPr id="25" name="">
            <a:extLst xmlns:a="http://schemas.openxmlformats.org/drawingml/2006/main">
              <a:ext uri="{FF2B5EF4-FFF2-40B4-BE49-F238E27FC236}">
                <a16:creationId xmlns:a16="http://schemas.microsoft.com/office/drawing/2014/main" id="{423F398F-3919-4D49-80A0-FFCBC0783096}"/>
              </a:ext>
            </a:extLst>
          </p:cNvPr>
          <p:cNvSpPr>
            <a:spLocks xmlns:a="http://schemas.openxmlformats.org/drawingml/2006/main" noGrp="1"/>
          </p:cNvSpPr>
          <p:nvPr/>
        </p:nvSpPr>
        <p:spPr>
          <a:xfrm xmlns:a="http://schemas.openxmlformats.org/drawingml/2006/main">
            <a:off x="400050" y="63817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defRPr sz="975" b="0">
                <a:solidFill>
                  <a:srgbClr val="64748B"/>
                </a:solidFill>
              </a:defRPr>
            </a:pPr>
            <a:r>
              <a:rPr sz="975" b="0">
                <a:solidFill>
                  <a:srgbClr val="64748B"/>
                </a:solidFill>
              </a:rPr>
              <a:t>Agent-aware KV movement</a:t>
            </a:r>
          </a:p>
        </p:txBody>
      </p:sp>
      <p:sp>
        <p:nvSpPr>
          <p:cNvPr id="26" name="">
            <a:extLst xmlns:a="http://schemas.openxmlformats.org/drawingml/2006/main">
              <a:ext uri="{FF2B5EF4-FFF2-40B4-BE49-F238E27FC236}">
                <a16:creationId xmlns:a16="http://schemas.microsoft.com/office/drawing/2014/main" id="{9CB8A09B-B7D0-4544-8304-506AFD00F09E}"/>
              </a:ext>
            </a:extLst>
          </p:cNvPr>
          <p:cNvSpPr>
            <a:spLocks xmlns:a="http://schemas.openxmlformats.org/drawingml/2006/main" noGrp="1"/>
          </p:cNvSpPr>
          <p:nvPr/>
        </p:nvSpPr>
        <p:spPr>
          <a:xfrm xmlns:a="http://schemas.openxmlformats.org/drawingml/2006/main">
            <a:off x="11334750" y="6381750"/>
            <a:ext cx="4572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defRPr sz="975" b="0">
                <a:solidFill>
                  <a:srgbClr val="64748B"/>
                </a:solidFill>
              </a:defRPr>
            </a:pPr>
            <a:r>
              <a:rPr sz="975" b="0">
                <a:solidFill>
                  <a:srgbClr val="64748B"/>
                </a:solidFill>
              </a:rPr>
              <a:t>11</a:t>
            </a:r>
          </a:p>
        </p:txBody>
      </p:sp>
    </p:spTree>
    <p:extLst>
      <p:ext uri="{BB962C8B-B14F-4D97-AF65-F5344CB8AC3E}">
        <p14:creationId xmlns:p14="http://schemas.microsoft.com/office/powerpoint/2010/main" val="10065250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2026-08-19T16:53:33.1850000Z</dcterms:created>
  <dcterms:modified xsi:type="dcterms:W3CDTF">2026-08-19T16:53:33.1850000Z</dcterms:modified>
</coreProperties>
</file>