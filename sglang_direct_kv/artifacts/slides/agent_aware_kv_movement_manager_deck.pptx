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2ba6b44c6b49b7" /><Relationship Type="http://schemas.openxmlformats.org/officeDocument/2006/relationships/extended-properties" Target="/docProps/app.xml" Id="R1db85ad8744a4bdd" /><Relationship Type="http://schemas.openxmlformats.org/officeDocument/2006/relationships/officeDocument" Target="/ppt/presentation.xml" Id="Reafc31db102446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00eb11843d4bc2"/>
  </p:sldMasterIdLst>
  <p:notesMasterIdLst>
    <p:notesMasterId xmlns:r="http://schemas.openxmlformats.org/officeDocument/2006/relationships" r:id="Rc4fa7c2f6d094a3c"/>
  </p:notesMasterIdLst>
  <p:sldIdLst>
    <p:sldId xmlns:r="http://schemas.openxmlformats.org/officeDocument/2006/relationships" id="256" r:id="Re7c71b2ccdfb4b68"/>
    <p:sldId xmlns:r="http://schemas.openxmlformats.org/officeDocument/2006/relationships" id="257" r:id="R536e8eeb992a49ab"/>
    <p:sldId xmlns:r="http://schemas.openxmlformats.org/officeDocument/2006/relationships" id="258" r:id="R9db42e922a8b4c3a"/>
    <p:sldId xmlns:r="http://schemas.openxmlformats.org/officeDocument/2006/relationships" id="259" r:id="R78d83a6c878d4765"/>
    <p:sldId xmlns:r="http://schemas.openxmlformats.org/officeDocument/2006/relationships" id="260" r:id="Rb546ab3200894731"/>
    <p:sldId xmlns:r="http://schemas.openxmlformats.org/officeDocument/2006/relationships" id="261" r:id="Rb5e8ac821d534cb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0276f80f2f49c1" /><Relationship Type="http://schemas.openxmlformats.org/officeDocument/2006/relationships/slideMaster" Target="/ppt/slideMasters/slideMaster1.xml" Id="Rfa00eb11843d4bc2" /><Relationship Type="http://schemas.openxmlformats.org/officeDocument/2006/relationships/notesMaster" Target="/ppt/notesMasters/notesMaster1.xml" Id="Rc4fa7c2f6d094a3c" /><Relationship Type="http://schemas.openxmlformats.org/officeDocument/2006/relationships/presProps" Target="/ppt/presProps.xml" Id="Rd408711624ef4e02" /><Relationship Type="http://schemas.openxmlformats.org/officeDocument/2006/relationships/tableStyles" Target="/ppt/tableStyles.xml" Id="Reeee7d8302f540be" /><Relationship Type="http://schemas.openxmlformats.org/officeDocument/2006/relationships/slide" Target="/ppt/slides/slide1.xml" Id="Re7c71b2ccdfb4b68" /><Relationship Type="http://schemas.openxmlformats.org/officeDocument/2006/relationships/slide" Target="/ppt/slides/slide2.xml" Id="R536e8eeb992a49ab" /><Relationship Type="http://schemas.openxmlformats.org/officeDocument/2006/relationships/slide" Target="/ppt/slides/slide3.xml" Id="R9db42e922a8b4c3a" /><Relationship Type="http://schemas.openxmlformats.org/officeDocument/2006/relationships/slide" Target="/ppt/slides/slide4.xml" Id="R78d83a6c878d4765" /><Relationship Type="http://schemas.openxmlformats.org/officeDocument/2006/relationships/slide" Target="/ppt/slides/slide5.xml" Id="Rb546ab3200894731" /><Relationship Type="http://schemas.openxmlformats.org/officeDocument/2006/relationships/slide" Target="/ppt/slides/slide6.xml" Id="Rb5e8ac821d534c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8c1616957f46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86aae69fae45bb" /><Relationship Type="http://schemas.openxmlformats.org/officeDocument/2006/relationships/notesMaster" Target="/ppt/notesMasters/notesMaster1.xml" Id="Rafc752b90a4d43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4d0c346f174c5f" /><Relationship Type="http://schemas.openxmlformats.org/officeDocument/2006/relationships/notesMaster" Target="/ppt/notesMasters/notesMaster1.xml" Id="R62f1329b76484f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aa1abf2da44c3d" /><Relationship Type="http://schemas.openxmlformats.org/officeDocument/2006/relationships/notesMaster" Target="/ppt/notesMasters/notesMaster1.xml" Id="Rd38089b30c2b4e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9b381910bb4176" /><Relationship Type="http://schemas.openxmlformats.org/officeDocument/2006/relationships/notesMaster" Target="/ppt/notesMasters/notesMaster1.xml" Id="R371338071adf4d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a7d6d6b57c4ee7" /><Relationship Type="http://schemas.openxmlformats.org/officeDocument/2006/relationships/notesMaster" Target="/ppt/notesMasters/notesMaster1.xml" Id="R09d6b0129c164e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cf85d05a4b4614" /><Relationship Type="http://schemas.openxmlformats.org/officeDocument/2006/relationships/notesMaster" Target="/ppt/notesMasters/notesMaster1.xml" Id="Red95303abe324f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slide. Position this as a hardware/runtime co-design question, not just an SGLang software optimization.</a:t>
            </a:r>
          </a:p>
          <a:p xmlns:a="http://schemas.openxmlformats.org/drawingml/2006/main">
            <a:r>
              <a:t>The goal statement is based on the project framing discussed in this thread.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frames the hardware opportunity: hints must become enforceable by the memory movement path.</a:t>
            </a:r>
          </a:p>
          <a:p xmlns:a="http://schemas.openxmlformats.org/drawingml/2006/main">
            <a:r>
              <a:t>Hardware examples include SDMA, CPU-side DMA, NIC DMA, SSD DMA, and copy/migration engines.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narrative chart. It shows the initial model turn, tool wait, replay path, replay-side H2D, recompute, prefill, and decode.</a:t>
            </a:r>
          </a:p>
          <a:p xmlns:a="http://schemas.openxmlformats.org/drawingml/2006/main">
            <a:r>
              <a:t>The image is a cropped view of the Readable Phase Timeline in latest_master_report.html.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aggregate evidence slide. The current controlled no-prefetch run reports 8 no-prefetch replay H2D gaps and 8 late H2D finishes.</a:t>
            </a:r>
          </a:p>
          <a:p xmlns:a="http://schemas.openxmlformats.org/drawingml/2006/main">
            <a:r>
              <a:t>Measured claim source: Global Replay H2D Readiness table and dot plot in latest_master_report.html.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chart separates replay due, client submit, SGLang receive, scheduler queue/admit, H2D start, and H2D finish.</a:t>
            </a:r>
          </a:p>
          <a:p xmlns:a="http://schemas.openxmlformats.org/drawingml/2006/main">
            <a:r>
              <a:t>The key manager takeaway: a hint-aware design should influence scheduling and priority, not merely request more copies.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Closing slide. This translates observed software/runtime behavior into concrete hardware support candidates.</a:t>
            </a:r>
          </a:p>
          <a:p xmlns:a="http://schemas.openxmlformats.org/drawingml/2006/main">
            <a:r>
              <a:t>Hardware ideas come from the project proposal: KV metadata, deadline-aware queues, priority-aware migration, residency protection, and telemetry.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be7b3112ab46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5fc1db1aa44615" /><Relationship Type="http://schemas.openxmlformats.org/officeDocument/2006/relationships/slideLayout" Target="/ppt/slideLayouts/slideLayout1.xml" Id="R1fb5cc151ed646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b5cc151ed646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1a2612c424938" /><Relationship Type="http://schemas.openxmlformats.org/officeDocument/2006/relationships/notesSlide" Target="/ppt/notesSlides/notesSlide1.xml" Id="R16de0fc1987d46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0fc3d2e494fba" /><Relationship Type="http://schemas.openxmlformats.org/officeDocument/2006/relationships/notesSlide" Target="/ppt/notesSlides/notesSlide2.xml" Id="R6bb62dd11f484d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b39a6374c497a" /><Relationship Type="http://schemas.openxmlformats.org/officeDocument/2006/relationships/image" Target="/ppt/media/image.png" Id="R904f5982cc054184" /><Relationship Type="http://schemas.openxmlformats.org/officeDocument/2006/relationships/notesSlide" Target="/ppt/notesSlides/notesSlide3.xml" Id="Rd901457d99eb4e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34487b8af4520" /><Relationship Type="http://schemas.openxmlformats.org/officeDocument/2006/relationships/image" Target="/ppt/media/image2.png" Id="R569416af77ed4c3b" /><Relationship Type="http://schemas.openxmlformats.org/officeDocument/2006/relationships/notesSlide" Target="/ppt/notesSlides/notesSlide4.xml" Id="R70eea4fbb6eb4c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7c548a22d4163" /><Relationship Type="http://schemas.openxmlformats.org/officeDocument/2006/relationships/image" Target="/ppt/media/image3.png" Id="R483368439f72412f" /><Relationship Type="http://schemas.openxmlformats.org/officeDocument/2006/relationships/notesSlide" Target="/ppt/notesSlides/notesSlide5.xml" Id="Refa296bf94f745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327ffe96b43c0" /><Relationship Type="http://schemas.openxmlformats.org/officeDocument/2006/relationships/notesSlide" Target="/ppt/notesSlides/notesSlide6.xml" Id="R0d6e09efe6e849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EADB0F-49D7-4CE2-B0A9-A801DB28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8382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</a:defRPr>
            </a:pPr>
            <a:r>
              <a:rPr sz="4350" b="1">
                <a:solidFill>
                  <a:srgbClr val="0F172A"/>
                </a:solidFill>
              </a:rPr>
              <a:t>Making KV Movement Agent-Aware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C5422-B85A-4062-A80A-91899F47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85950"/>
            <a:ext cx="6667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Coding agents pause during tool calls, then resume with tight latency expectations. The question is whether the memory system can move the right KV before replay arrives.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46B395-41D7-4DA8-8046-43DE515C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CA6F9-0A55-44C6-BCFF-2BB2ED5E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model turn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5C52C-49AD-49B3-9C94-F3D7DAE7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147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4748B"/>
                </a:solidFill>
              </a:defRPr>
            </a:pPr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C0130-DBE0-4468-ACCF-D258A712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8C2FC-5508-4010-BA3C-B3341B77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tool wait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700EC-2951-4905-8B22-F2C2CCC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9147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4748B"/>
                </a:solidFill>
              </a:defRPr>
            </a:pPr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552F68-4D7F-4B17-9DA3-30D866BF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C68FE-02A0-47AD-AF3E-534568F2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replay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0A168D-AEE5-450F-BCFA-A89B32B0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147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4748B"/>
                </a:solidFill>
              </a:defRPr>
            </a:pPr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8B410-883B-415E-8838-FCDF9890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D09B33-DD66-4D3C-AD0D-19A3433E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KV ready?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C68ADA-B8F2-44E8-B318-0A3C714D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05150"/>
            <a:ext cx="2647950" cy="184785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A53E67-9E98-4171-855B-32CCCA08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71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Project goal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A69DF9-D559-4C38-9F63-2B043D1A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752850"/>
            <a:ext cx="209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Quantify the gap and prototype hint-guided KV movement as a path toward smarter DMA engines and runtime co-design.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669C1-2E8F-418E-88EA-2B0D78BE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43D428-A9F1-40B3-B4C4-7C187E29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138608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9816FF-82DB-47D8-BFD4-C0F521FF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Today’s DMA engines move bytes, not intent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5883DB-1BD9-4D0F-94F9-03E265D5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hardware path is fast, but it usually lacks agent/session semantics.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D7703-BC4A-4289-AB95-7815F69B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95300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6C4BD-9069-429D-80DE-D9FEE72A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F172A"/>
                </a:solidFill>
              </a:defRPr>
            </a:pPr>
            <a:r>
              <a:rPr sz="1950" b="1">
                <a:solidFill>
                  <a:srgbClr val="0F172A"/>
                </a:solidFill>
              </a:rPr>
              <a:t>Context-agnostic movement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4B8AE5-3311-4E84-AF9D-7308ED14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8A279-057D-4E2E-93AC-AB75E01A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051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sees memory ranges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039AE-5D83-4BF9-9BF3-57DEEF1E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188110-02BD-4907-84D6-7BA36227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does not know the agent session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ED247-F8A6-414A-8A3B-D629DB29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C1390-3EDD-47AD-B7C1-4D49BA5D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338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does not know replay deadline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27C1F-3A22-4047-9B73-43ED06EE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006351-E643-42D5-858A-ED49B635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481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does not protect useful prefetched KV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3DA4A-4D9C-417F-AC68-92D9F9EA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861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64748B"/>
                </a:solidFill>
              </a:defRPr>
            </a:pPr>
            <a:r>
              <a:rPr sz="40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167537-B8AD-4AF9-9845-06CFB72A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90700"/>
            <a:ext cx="495300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CA992A-F1A9-44AE-BCFF-FA7EF834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76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F172A"/>
                </a:solidFill>
              </a:defRPr>
            </a:pPr>
            <a:r>
              <a:rPr sz="1950" b="1">
                <a:solidFill>
                  <a:srgbClr val="0F172A"/>
                </a:solidFill>
              </a:rPr>
              <a:t>Hint-aware movement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B00C8-7327-4FE3-A4D3-76B174DD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81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957BDD-4FAD-4766-AA4E-9BA9BDB9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051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tags KV by session and priority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13D257-40BF-4374-9F9B-62998477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95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376744-BFA4-4D97-862D-F1DDD59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schedules against replay deadlines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7C9423-A854-44EC-B675-5A0B4043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10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14B436-7026-47C6-A5CD-0F91E359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338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moves hot KV before replay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091C2F-BF4F-4848-85B0-F66C2790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CDA3F0-A3C5-4265-A88D-24BEED9A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481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reports late, useful, and wasted movement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21EF2-579C-428C-9265-2F02C44B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540BE4-AE03-4F46-BBAB-24A7E0B5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500847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63A18-99A0-4379-85A1-D0A45360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The replay path exposes 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2A94F-C273-4BEE-B9FE-11AC2B57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One tool-gap row shows where replay spends time before the first useful token.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C1DAE-30AC-4B83-9111-C74AFA4E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71600"/>
            <a:ext cx="11201400" cy="4438650"/>
          </a:xfrm>
          <a:prstGeom xmlns:a="http://schemas.openxmlformats.org/drawingml/2006/main" prst="roundRect">
            <a:avLst>
              <a:gd name="adj" fmla="val 12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f5982cc054184"/>
          <a:stretch xmlns:a="http://schemas.openxmlformats.org/drawingml/2006/main"/>
        </p:blipFill>
        <p:spPr>
          <a:xfrm xmlns:a="http://schemas.openxmlformats.org/drawingml/2006/main">
            <a:off x="400050" y="1448639"/>
            <a:ext cx="11049000" cy="428457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A29D9-33AE-4A38-B932-CE380C31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Read left to right: model turn → tool wait → replay path. Cyan is host-to-device KV load; magenta/gold are work before first token.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ACF17E-B070-4BD0-8684-EAE2AF93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Source: latest_master_report.html controlled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7C600-DBF5-41D8-8509-1E9C7981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852B1-CB83-4FE9-AB51-DBE332E7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4243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6188FE-90CB-4A27-B381-1AD956EE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Replay-side KV loads missed the deadline in this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C5E26-241B-4EBD-8478-3E89BEB5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aggregate view shows whether KV H2D finished before or after replay was due.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7C6C8-4513-44D6-BA61-040BC00E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428750"/>
            <a:ext cx="8724900" cy="3867150"/>
          </a:xfrm>
          <a:prstGeom xmlns:a="http://schemas.openxmlformats.org/drawingml/2006/main" prst="roundRect">
            <a:avLst>
              <a:gd name="adj" fmla="val 1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9416af77ed4c3b"/>
          <a:stretch xmlns:a="http://schemas.openxmlformats.org/drawingml/2006/main"/>
        </p:blipFill>
        <p:spPr>
          <a:xfrm xmlns:a="http://schemas.openxmlformats.org/drawingml/2006/main">
            <a:off x="400050" y="1795905"/>
            <a:ext cx="8572500" cy="313284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92A0B-0123-47FF-8221-95836A8E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847850"/>
            <a:ext cx="20955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FECAC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54ECA-C630-47F5-94F7-80416BE3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76450"/>
            <a:ext cx="1600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B91C1C"/>
                </a:solidFill>
              </a:defRPr>
            </a:pPr>
            <a:r>
              <a:rPr sz="3600" b="1">
                <a:solidFill>
                  <a:srgbClr val="B91C1C"/>
                </a:solidFill>
              </a:rPr>
              <a:t>8 / 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3314B-0F90-4F2A-AAA5-9570C388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289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H2D loads finished late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B3A82-B3CB-4F20-BE6A-D0DFB1CB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242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All visible replay-side KV loads finished below the 0 ms deadline line.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81CAC6-A636-46AE-B27D-9D6BD943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Source: latest_master_report.html, Global Replay H2D Readiness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E486E-DFBA-4005-8F65-E8B5E873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29F21F-B13D-423C-BD8B-1D71BD33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07731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49EED-AAFA-4359-A1A6-2D727E5F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The delay is not just copy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63D638-3F9A-42F4-BF35-5ACCD656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request enters normal software/runtime scheduling before visible KV H2D begins.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E3C96-1CAE-4F4A-B014-9ACD151D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33500"/>
            <a:ext cx="10820400" cy="4343400"/>
          </a:xfrm>
          <a:prstGeom xmlns:a="http://schemas.openxmlformats.org/drawingml/2006/main" prst="roundRect">
            <a:avLst>
              <a:gd name="adj" fmla="val 1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368439f72412f"/>
          <a:stretch xmlns:a="http://schemas.openxmlformats.org/drawingml/2006/main"/>
        </p:blipFill>
        <p:spPr>
          <a:xfrm xmlns:a="http://schemas.openxmlformats.org/drawingml/2006/main">
            <a:off x="1247835" y="1409700"/>
            <a:ext cx="897243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F4E18E-174D-4B0B-A9A4-161FD760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The stage markers separate submission, SGLang receive, scheduler queue/admit, and visible KV H2D movement.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01D03-AC89-4290-93F6-7272C633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Source: latest_master_report.html, Replay Queue Timeline vs H2D Start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A36DA-B42D-4D5A-A089-4ACBB729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8ADDF0-503B-4A28-A3ED-65B32E8D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096458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80A958-21D8-4D56-810F-DA3B104E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Hardware support can make hints enforceable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BC465-D4D3-4B81-987D-F3A9108A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opportunity is to treat KV as deadline-sensitive memory, not generic bytes.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FEDFF-8CD4-4B69-931F-79230A07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F44E9C-4F1D-4CD0-8C6C-68C40579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Runtime hint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71620-FC13-4163-84EB-F9438D82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session, priority, deadline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41F60-1187-40BC-AC1C-F04B47B3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96A88-72F3-4692-9023-691166B6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7AC1E-4865-4BA0-AD0B-A52C0A61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KV-aware queue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51730D-310B-4A06-826C-DF13DDB5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order urgent KV first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43E85-1F0B-4129-B741-56427019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F62A97-C8E7-4CC7-A043-A7C0C43A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06B6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DF029C-4FE1-4F63-BF15-9F53D517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DMA / copy engine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5E1012-4A57-4D19-80EB-4662875D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throttle and prioritize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AF74D2-55D4-499A-A235-1B719FA0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E20F58-62C8-4B32-A2FC-6F3726F8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2B1653-FFE9-4C4A-9CC9-83D0720D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Residency control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B3D779-949B-489A-B903-2DB3F222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protect useful KV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8DF708-F949-4919-B1A8-2E18E005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234086-D6EA-40CB-9426-D98DB7E6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5E27C1-B197-4969-A8CF-56D7EEFB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Telemetry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6049FD-BFEA-4754-B809-5744FD3B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late / useful / wasted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ACEDB5-8430-42E5-9157-83F40408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14850"/>
            <a:ext cx="819150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B63F66-465D-46D8-8E28-414BEA6B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434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Resulting research question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0E93F5-43D2-4659-A1A3-A1E8D843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863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How much replay latency and wasted movement can be avoided when KV movement has session context, priority, deadline, protection, and telemetry?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44D63C-558E-4078-8DC1-0DA95B1A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E5284F-FC69-4537-9B91-88C3CAA3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607403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2026-08-19T15:55:46.7870000Z</dcterms:created>
  <dcterms:modified xsi:type="dcterms:W3CDTF">2026-08-19T15:55:46.7870000Z</dcterms:modified>
</coreProperties>
</file>