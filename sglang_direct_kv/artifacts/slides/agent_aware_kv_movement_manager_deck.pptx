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fbb5d97d044463" /><Relationship Type="http://schemas.openxmlformats.org/officeDocument/2006/relationships/extended-properties" Target="/docProps/app.xml" Id="R76e2c60864e545c2" /><Relationship Type="http://schemas.openxmlformats.org/officeDocument/2006/relationships/officeDocument" Target="/ppt/presentation.xml" Id="R11234cb9c559402f" /></Relationships>
</file>

<file path=ppt/presentation.xml><?xml version="1.0" encoding="utf-8"?>
<p:presentation xmlns:p="http://schemas.openxmlformats.org/presentationml/2006/main">
  <p:sldMasterIdLst>
    <p:sldMasterId xmlns:r="http://schemas.openxmlformats.org/officeDocument/2006/relationships" id="2147483648" r:id="R81f7908685dd4af7"/>
  </p:sldMasterIdLst>
  <p:notesMasterIdLst>
    <p:notesMasterId xmlns:r="http://schemas.openxmlformats.org/officeDocument/2006/relationships" r:id="R9bf995b93cff43a1"/>
  </p:notesMasterIdLst>
  <p:sldIdLst>
    <p:sldId xmlns:r="http://schemas.openxmlformats.org/officeDocument/2006/relationships" id="256" r:id="R5043122217e246e0"/>
    <p:sldId xmlns:r="http://schemas.openxmlformats.org/officeDocument/2006/relationships" id="257" r:id="R949be3ffd5af4b38"/>
    <p:sldId xmlns:r="http://schemas.openxmlformats.org/officeDocument/2006/relationships" id="258" r:id="Reb3225402559474e"/>
    <p:sldId xmlns:r="http://schemas.openxmlformats.org/officeDocument/2006/relationships" id="259" r:id="Rc204ca3e16054227"/>
    <p:sldId xmlns:r="http://schemas.openxmlformats.org/officeDocument/2006/relationships" id="260" r:id="R0f7cd9bd96804f26"/>
    <p:sldId xmlns:r="http://schemas.openxmlformats.org/officeDocument/2006/relationships" id="261" r:id="Rb861bc28d4d04e19"/>
    <p:sldId xmlns:r="http://schemas.openxmlformats.org/officeDocument/2006/relationships" id="262" r:id="R14f4b2ec08204fa2"/>
    <p:sldId xmlns:r="http://schemas.openxmlformats.org/officeDocument/2006/relationships" id="263" r:id="R63b994510f124db4"/>
    <p:sldId xmlns:r="http://schemas.openxmlformats.org/officeDocument/2006/relationships" id="264" r:id="Rd2427f5a625c413a"/>
    <p:sldId xmlns:r="http://schemas.openxmlformats.org/officeDocument/2006/relationships" id="265" r:id="Rd8de39e89037461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eee4c02e12d4e82" /><Relationship Type="http://schemas.openxmlformats.org/officeDocument/2006/relationships/slideMaster" Target="/ppt/slideMasters/slideMaster1.xml" Id="R81f7908685dd4af7" /><Relationship Type="http://schemas.openxmlformats.org/officeDocument/2006/relationships/notesMaster" Target="/ppt/notesMasters/notesMaster1.xml" Id="R9bf995b93cff43a1" /><Relationship Type="http://schemas.openxmlformats.org/officeDocument/2006/relationships/presProps" Target="/ppt/presProps.xml" Id="R4acafc06ff3d4571" /><Relationship Type="http://schemas.openxmlformats.org/officeDocument/2006/relationships/tableStyles" Target="/ppt/tableStyles.xml" Id="R8acf3808106c4070" /><Relationship Type="http://schemas.openxmlformats.org/officeDocument/2006/relationships/slide" Target="/ppt/slides/slide1.xml" Id="R5043122217e246e0" /><Relationship Type="http://schemas.openxmlformats.org/officeDocument/2006/relationships/slide" Target="/ppt/slides/slide2.xml" Id="R949be3ffd5af4b38" /><Relationship Type="http://schemas.openxmlformats.org/officeDocument/2006/relationships/slide" Target="/ppt/slides/slide3.xml" Id="Reb3225402559474e" /><Relationship Type="http://schemas.openxmlformats.org/officeDocument/2006/relationships/slide" Target="/ppt/slides/slide4.xml" Id="Rc204ca3e16054227" /><Relationship Type="http://schemas.openxmlformats.org/officeDocument/2006/relationships/slide" Target="/ppt/slides/slide5.xml" Id="R0f7cd9bd96804f26" /><Relationship Type="http://schemas.openxmlformats.org/officeDocument/2006/relationships/slide" Target="/ppt/slides/slide6.xml" Id="Rb861bc28d4d04e19" /><Relationship Type="http://schemas.openxmlformats.org/officeDocument/2006/relationships/slide" Target="/ppt/slides/slide7.xml" Id="R14f4b2ec08204fa2" /><Relationship Type="http://schemas.openxmlformats.org/officeDocument/2006/relationships/slide" Target="/ppt/slides/slide8.xml" Id="R63b994510f124db4" /><Relationship Type="http://schemas.openxmlformats.org/officeDocument/2006/relationships/slide" Target="/ppt/slides/slide9.xml" Id="Rd2427f5a625c413a" /><Relationship Type="http://schemas.openxmlformats.org/officeDocument/2006/relationships/slide" Target="/ppt/slides/slide10.xml" Id="Rd8de39e89037461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d7c54ff025445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c9ef7206b4d4420" /><Relationship Type="http://schemas.openxmlformats.org/officeDocument/2006/relationships/notesMaster" Target="/ppt/notesMasters/notesMaster1.xml" Id="Rb8964c9f2f414bb4"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21b0487ce946e7" /><Relationship Type="http://schemas.openxmlformats.org/officeDocument/2006/relationships/notesMaster" Target="/ppt/notesMasters/notesMaster1.xml" Id="Rea162df22cdb4179" /></Relationships>
</file>

<file path=ppt/notesSlides/_rels/notesSlide3.xml.rels>&#65279;<?xml version="1.0" encoding="utf-8"?><Relationships xmlns="http://schemas.openxmlformats.org/package/2006/relationships"><Relationship Type="http://schemas.openxmlformats.org/officeDocument/2006/relationships/slide" Target="/ppt/slides/slide3.xml" Id="Ra6edb62cb0f64e80" /><Relationship Type="http://schemas.openxmlformats.org/officeDocument/2006/relationships/notesMaster" Target="/ppt/notesMasters/notesMaster1.xml" Id="R83c5db9b22c24922" /></Relationships>
</file>

<file path=ppt/notesSlides/_rels/notesSlide4.xml.rels>&#65279;<?xml version="1.0" encoding="utf-8"?><Relationships xmlns="http://schemas.openxmlformats.org/package/2006/relationships"><Relationship Type="http://schemas.openxmlformats.org/officeDocument/2006/relationships/slide" Target="/ppt/slides/slide4.xml" Id="R37894fd54328403b" /><Relationship Type="http://schemas.openxmlformats.org/officeDocument/2006/relationships/notesMaster" Target="/ppt/notesMasters/notesMaster1.xml" Id="R02812456a4314282" /></Relationships>
</file>

<file path=ppt/notesSlides/_rels/notesSlide5.xml.rels>&#65279;<?xml version="1.0" encoding="utf-8"?><Relationships xmlns="http://schemas.openxmlformats.org/package/2006/relationships"><Relationship Type="http://schemas.openxmlformats.org/officeDocument/2006/relationships/slide" Target="/ppt/slides/slide5.xml" Id="R748bc89bbd774297" /><Relationship Type="http://schemas.openxmlformats.org/officeDocument/2006/relationships/notesMaster" Target="/ppt/notesMasters/notesMaster1.xml" Id="Raf0ae2008ab44f4a" /></Relationships>
</file>

<file path=ppt/notesSlides/_rels/notesSlide6.xml.rels>&#65279;<?xml version="1.0" encoding="utf-8"?><Relationships xmlns="http://schemas.openxmlformats.org/package/2006/relationships"><Relationship Type="http://schemas.openxmlformats.org/officeDocument/2006/relationships/slide" Target="/ppt/slides/slide6.xml" Id="Rc123eff8baaf4cb1" /><Relationship Type="http://schemas.openxmlformats.org/officeDocument/2006/relationships/notesMaster" Target="/ppt/notesMasters/notesMaster1.xml" Id="R50bfdfaaed9d4c19"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bf4d745c374c70" /><Relationship Type="http://schemas.openxmlformats.org/officeDocument/2006/relationships/notesMaster" Target="/ppt/notesMasters/notesMaster1.xml" Id="R5964d9b1614041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beaa9a7d5c475e" /><Relationship Type="http://schemas.openxmlformats.org/officeDocument/2006/relationships/notesMaster" Target="/ppt/notesMasters/notesMaster1.xml" Id="R3163bde9126247a5"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3d6d491aa540c7" /><Relationship Type="http://schemas.openxmlformats.org/officeDocument/2006/relationships/notesMaster" Target="/ppt/notesMasters/notesMaster1.xml" Id="R30f9f8da23f442a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567da1d8ffe4b83" /><Relationship Type="http://schemas.openxmlformats.org/officeDocument/2006/relationships/notesMaster" Target="/ppt/notesMasters/notesMaster1.xml" Id="R537b6d1cf73048d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slide. Position this as a hardware/runtime co-design question, not just an SGLang software optimization.</a:t>
            </a:r>
          </a:p>
          <a:p xmlns:a="http://schemas.openxmlformats.org/drawingml/2006/main">
            <a:r>
              <a:t>Goal: 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aims to quantify that gap and prototype hint-guided KV movement as a path toward smarter DMA engines, KV-aware memory scheduling, and hardware/runtime co-design.</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two traffic feeds. Synthetic runs let us control pressure and timing; real DeepAgents/SWE-bench traces preserve realistic coding-agent prompts and tool gaps.</a:t>
            </a:r>
          </a:p>
          <a:p xmlns:a="http://schemas.openxmlformats.org/drawingml/2006/main">
            <a:r>
              <a:t>The setup flow image comes from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summarizes the concrete prototype setup used for the current manager report.</a:t>
            </a:r>
          </a:p>
          <a:p xmlns:a="http://schemas.openxmlformats.org/drawingml/2006/main">
            <a:r>
              <a:t>Hardware/runtime values are from the latest master report setup section and the project run configuration: Qwen2.5-Coder-7B, A10G-class single GPU, 24 GB GDDR6 GPU memory, 16 GB HiCache host KV shelf, context length 32768, max total tokens 12288, mem fraction static 0.72, tensor parallel size 1.</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frames the hardware opportunity: hints must become enforceable by the memory movement path.</a:t>
            </a:r>
          </a:p>
          <a:p xmlns:a="http://schemas.openxmlformats.org/drawingml/2006/main">
            <a:r>
              <a:t>Hardware examples include SDMA, CPU-side DMA, NIC DMA, SSD DMA, and copy/migration engines.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narrative chart. It shows the initial model turn, tool wait, replay path, replay-side H2D, recompute, prefill, and decode.</a:t>
            </a:r>
          </a:p>
          <a:p xmlns:a="http://schemas.openxmlformats.org/drawingml/2006/main">
            <a:r>
              <a:t>The image is a cropped view of the Readable Phase Timeline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global prefetch-attempt evidence. The backup report shows 114 matched prefetch attempts, 112 late, and 98.25% late.</a:t>
            </a:r>
          </a:p>
          <a:p xmlns:a="http://schemas.openxmlformats.org/drawingml/2006/main">
            <a:r>
              <a:t>Use it to show that software prefetch through the normal serving path often misses tight replay windows.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uses the synthetic profiled mechanism timeline. It is not the clean performance run; it is useful for mechanism attribution.</a:t>
            </a:r>
          </a:p>
          <a:p xmlns:a="http://schemas.openxmlformats.org/drawingml/2006/main">
            <a:r>
              <a:t>The report states: KV copy ready before replay in 0 / 6 sessions; profiler CUDA HtoD visible in 3 / 6 sessions; replay reloaded KV in 6 / 6 sessions.</a:t>
            </a:r>
          </a:p>
          <a:p xmlns:a="http://schemas.openxmlformats.org/drawingml/2006/main">
            <a:r>
              <a:t>Manager takeaway: the software hint path can exist and still miss replay because the movement/readiness path is not deadline-enforced.</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aggregate evidence slide. The current controlled no-prefetch run reports 8 no-prefetch replay H2D gaps and 8 late H2D finishes.</a:t>
            </a:r>
          </a:p>
          <a:p xmlns:a="http://schemas.openxmlformats.org/drawingml/2006/main">
            <a:r>
              <a:t>Measured claim source: Global Replay H2D Readiness table and dot plot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separates replay due, client submit, SGLang receive, scheduler queue/admit, H2D start, and H2D finish.</a:t>
            </a:r>
          </a:p>
          <a:p xmlns:a="http://schemas.openxmlformats.org/drawingml/2006/main">
            <a:r>
              <a:t>The key manager takeaway: a hint-aware design should influence scheduling and priority, not merely request more copies.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slide. This translates observed software/runtime behavior into concrete hardware support candidates.</a:t>
            </a:r>
          </a:p>
          <a:p xmlns:a="http://schemas.openxmlformats.org/drawingml/2006/main">
            <a:r>
              <a:t>Hardware ideas come from the project proposal: KV metadata, deadline-aware queues, priority-aware migration, residency protection, and telemetry.</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f3f776bf944af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9d1d09d21c14dfb" /><Relationship Type="http://schemas.openxmlformats.org/officeDocument/2006/relationships/slideLayout" Target="/ppt/slideLayouts/slideLayout1.xml" Id="Recf639b5bb7d478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cf639b5bb7d478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2db3f9357034e71" /><Relationship Type="http://schemas.openxmlformats.org/officeDocument/2006/relationships/notesSlide" Target="/ppt/notesSlides/notesSlide1.xml" Id="R31934f9ede4445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13280b56a464ec8" /><Relationship Type="http://schemas.openxmlformats.org/officeDocument/2006/relationships/image" Target="/ppt/media/image.png" Id="R2c43e457889e46f4" /><Relationship Type="http://schemas.openxmlformats.org/officeDocument/2006/relationships/notesSlide" Target="/ppt/notesSlides/notesSlide2.xml" Id="Re08b7871e8f5491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e754c7546754e58" /><Relationship Type="http://schemas.openxmlformats.org/officeDocument/2006/relationships/notesSlide" Target="/ppt/notesSlides/notesSlide3.xml" Id="R6f4c71ef774f4d2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2175f900a704152" /><Relationship Type="http://schemas.openxmlformats.org/officeDocument/2006/relationships/notesSlide" Target="/ppt/notesSlides/notesSlide4.xml" Id="R32f205594dbe47a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c76821aec694914" /><Relationship Type="http://schemas.openxmlformats.org/officeDocument/2006/relationships/image" Target="/ppt/media/image2.png" Id="Ra60f92ac3142478a" /><Relationship Type="http://schemas.openxmlformats.org/officeDocument/2006/relationships/notesSlide" Target="/ppt/notesSlides/notesSlide5.xml" Id="R24db1d7d21174e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69eb3fad3ce4d84" /><Relationship Type="http://schemas.openxmlformats.org/officeDocument/2006/relationships/image" Target="/ppt/media/image3.png" Id="Rb6d142085d9b42ab" /><Relationship Type="http://schemas.openxmlformats.org/officeDocument/2006/relationships/notesSlide" Target="/ppt/notesSlides/notesSlide6.xml" Id="R759c8999ef534d2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e4e91eac9804a82" /><Relationship Type="http://schemas.openxmlformats.org/officeDocument/2006/relationships/image" Target="/ppt/media/image4.png" Id="Raa64803f388a4bec" /><Relationship Type="http://schemas.openxmlformats.org/officeDocument/2006/relationships/notesSlide" Target="/ppt/notesSlides/notesSlide7.xml" Id="Rbd259279d224457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7d83a2b41dc4dc1" /><Relationship Type="http://schemas.openxmlformats.org/officeDocument/2006/relationships/image" Target="/ppt/media/image5.png" Id="R48372ffadd9244e8" /><Relationship Type="http://schemas.openxmlformats.org/officeDocument/2006/relationships/notesSlide" Target="/ppt/notesSlides/notesSlide8.xml" Id="Ra489e95a147f42a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1e328c05b524a8f" /><Relationship Type="http://schemas.openxmlformats.org/officeDocument/2006/relationships/image" Target="/ppt/media/image6.png" Id="R10ab5f9d2f2746c3" /><Relationship Type="http://schemas.openxmlformats.org/officeDocument/2006/relationships/notesSlide" Target="/ppt/notesSlides/notesSlide9.xml" Id="Rf222f3a8233c4f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4a1ef3ae62742f7" /><Relationship Type="http://schemas.openxmlformats.org/officeDocument/2006/relationships/notesSlide" Target="/ppt/notesSlides/notesSlide10.xml" Id="R5b21b3bcbb474cc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5F46643-F4F6-4A04-8CA7-1547CB28FE72}"/>
              </a:ext>
            </a:extLst>
          </p:cNvPr>
          <p:cNvSpPr>
            <a:spLocks xmlns:a="http://schemas.openxmlformats.org/drawingml/2006/main" noGrp="1"/>
          </p:cNvSpPr>
          <p:nvPr/>
        </p:nvSpPr>
        <p:spPr>
          <a:xfrm xmlns:a="http://schemas.openxmlformats.org/drawingml/2006/main">
            <a:off x="400050" y="514350"/>
            <a:ext cx="8382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350" b="1">
                <a:solidFill>
                  <a:srgbClr val="0F172A"/>
                </a:solidFill>
              </a:defRPr>
            </a:pPr>
            <a:r>
              <a:rPr sz="4350" b="1">
                <a:solidFill>
                  <a:srgbClr val="0F172A"/>
                </a:solidFill>
              </a:rPr>
              <a:t>Making KV Movement Agent-Aware</a:t>
            </a:r>
          </a:p>
        </p:txBody>
      </p:sp>
      <p:sp>
        <p:nvSpPr>
          <p:cNvPr id="2" name="">
            <a:extLst xmlns:a="http://schemas.openxmlformats.org/drawingml/2006/main">
              <a:ext uri="{FF2B5EF4-FFF2-40B4-BE49-F238E27FC236}">
                <a16:creationId xmlns:a16="http://schemas.microsoft.com/office/drawing/2014/main" id="{A39D2D10-3AF2-4A10-AD6D-F6311B97AAD8}"/>
              </a:ext>
            </a:extLst>
          </p:cNvPr>
          <p:cNvSpPr>
            <a:spLocks xmlns:a="http://schemas.openxmlformats.org/drawingml/2006/main" noGrp="1"/>
          </p:cNvSpPr>
          <p:nvPr/>
        </p:nvSpPr>
        <p:spPr>
          <a:xfrm xmlns:a="http://schemas.openxmlformats.org/drawingml/2006/main">
            <a:off x="438150" y="1714500"/>
            <a:ext cx="10287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334155"/>
                </a:solidFill>
              </a:defRPr>
            </a:pPr>
            <a:r>
              <a:rPr sz="1575" b="0">
                <a:solidFill>
                  <a:srgbClr val="334155"/>
                </a:solidFill>
              </a:rPr>
              <a:t>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aims to quantify that gap and prototype hint-guided KV movement as a path toward smarter DMA engines, KV-aware memory scheduling, and hardware/runtime co-design.</a:t>
            </a:r>
          </a:p>
        </p:txBody>
      </p:sp>
      <p:sp>
        <p:nvSpPr>
          <p:cNvPr id="3" name="">
            <a:extLst xmlns:a="http://schemas.openxmlformats.org/drawingml/2006/main">
              <a:ext uri="{FF2B5EF4-FFF2-40B4-BE49-F238E27FC236}">
                <a16:creationId xmlns:a16="http://schemas.microsoft.com/office/drawing/2014/main" id="{34055EDF-ECC8-4583-8871-0E6C64480FF3}"/>
              </a:ext>
            </a:extLst>
          </p:cNvPr>
          <p:cNvSpPr>
            <a:spLocks xmlns:a="http://schemas.openxmlformats.org/drawingml/2006/main" noGrp="1"/>
          </p:cNvSpPr>
          <p:nvPr/>
        </p:nvSpPr>
        <p:spPr>
          <a:xfrm xmlns:a="http://schemas.openxmlformats.org/drawingml/2006/main">
            <a:off x="495300" y="3829050"/>
            <a:ext cx="1619250" cy="781050"/>
          </a:xfrm>
          <a:prstGeom xmlns:a="http://schemas.openxmlformats.org/drawingml/2006/main" prst="roundRect">
            <a:avLst>
              <a:gd name="adj" fmla="val 7317"/>
            </a:avLst>
          </a:prstGeom>
          <a:solidFill xmlns:a="http://schemas.openxmlformats.org/drawingml/2006/main">
            <a:srgbClr val="DBEAFE"/>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32AC8851-0915-4322-8524-BEC697C18FC7}"/>
              </a:ext>
            </a:extLst>
          </p:cNvPr>
          <p:cNvSpPr>
            <a:spLocks xmlns:a="http://schemas.openxmlformats.org/drawingml/2006/main" noGrp="1"/>
          </p:cNvSpPr>
          <p:nvPr/>
        </p:nvSpPr>
        <p:spPr>
          <a:xfrm xmlns:a="http://schemas.openxmlformats.org/drawingml/2006/main">
            <a:off x="628650"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model turn</a:t>
            </a:r>
          </a:p>
        </p:txBody>
      </p:sp>
      <p:sp>
        <p:nvSpPr>
          <p:cNvPr id="5" name="">
            <a:extLst xmlns:a="http://schemas.openxmlformats.org/drawingml/2006/main">
              <a:ext uri="{FF2B5EF4-FFF2-40B4-BE49-F238E27FC236}">
                <a16:creationId xmlns:a16="http://schemas.microsoft.com/office/drawing/2014/main" id="{11C60858-B7DB-438F-9716-42CC9A9F4674}"/>
              </a:ext>
            </a:extLst>
          </p:cNvPr>
          <p:cNvSpPr>
            <a:spLocks xmlns:a="http://schemas.openxmlformats.org/drawingml/2006/main" noGrp="1"/>
          </p:cNvSpPr>
          <p:nvPr/>
        </p:nvSpPr>
        <p:spPr>
          <a:xfrm xmlns:a="http://schemas.openxmlformats.org/drawingml/2006/main">
            <a:off x="2228850"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6" name="">
            <a:extLst xmlns:a="http://schemas.openxmlformats.org/drawingml/2006/main">
              <a:ext uri="{FF2B5EF4-FFF2-40B4-BE49-F238E27FC236}">
                <a16:creationId xmlns:a16="http://schemas.microsoft.com/office/drawing/2014/main" id="{1212EFB5-5A1D-477D-8B89-C3BBEFA111EE}"/>
              </a:ext>
            </a:extLst>
          </p:cNvPr>
          <p:cNvSpPr>
            <a:spLocks xmlns:a="http://schemas.openxmlformats.org/drawingml/2006/main" noGrp="1"/>
          </p:cNvSpPr>
          <p:nvPr/>
        </p:nvSpPr>
        <p:spPr>
          <a:xfrm xmlns:a="http://schemas.openxmlformats.org/drawingml/2006/main">
            <a:off x="2714625" y="3829050"/>
            <a:ext cx="1619250" cy="781050"/>
          </a:xfrm>
          <a:prstGeom xmlns:a="http://schemas.openxmlformats.org/drawingml/2006/main" prst="roundRect">
            <a:avLst>
              <a:gd name="adj" fmla="val 7317"/>
            </a:avLst>
          </a:prstGeom>
          <a:solidFill xmlns:a="http://schemas.openxmlformats.org/drawingml/2006/main">
            <a:srgbClr val="F1F5F9"/>
          </a:solidFill>
          <a:ln xmlns:a="http://schemas.openxmlformats.org/drawingml/2006/main" w="9525">
            <a:solidFill>
              <a:srgbClr val="CBD5E1"/>
            </a:solidFill>
            <a:prstDash val="solid"/>
          </a:ln>
        </p:spPr>
      </p:sp>
      <p:sp>
        <p:nvSpPr>
          <p:cNvPr id="7" name="">
            <a:extLst xmlns:a="http://schemas.openxmlformats.org/drawingml/2006/main">
              <a:ext uri="{FF2B5EF4-FFF2-40B4-BE49-F238E27FC236}">
                <a16:creationId xmlns:a16="http://schemas.microsoft.com/office/drawing/2014/main" id="{4832C5F6-966E-490D-99F8-A6F96C637637}"/>
              </a:ext>
            </a:extLst>
          </p:cNvPr>
          <p:cNvSpPr>
            <a:spLocks xmlns:a="http://schemas.openxmlformats.org/drawingml/2006/main" noGrp="1"/>
          </p:cNvSpPr>
          <p:nvPr/>
        </p:nvSpPr>
        <p:spPr>
          <a:xfrm xmlns:a="http://schemas.openxmlformats.org/drawingml/2006/main">
            <a:off x="2847975"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tool wait</a:t>
            </a:r>
          </a:p>
        </p:txBody>
      </p:sp>
      <p:sp>
        <p:nvSpPr>
          <p:cNvPr id="8" name="">
            <a:extLst xmlns:a="http://schemas.openxmlformats.org/drawingml/2006/main">
              <a:ext uri="{FF2B5EF4-FFF2-40B4-BE49-F238E27FC236}">
                <a16:creationId xmlns:a16="http://schemas.microsoft.com/office/drawing/2014/main" id="{F0DBDEF0-E7B0-4124-A1D6-01168DDD7C2B}"/>
              </a:ext>
            </a:extLst>
          </p:cNvPr>
          <p:cNvSpPr>
            <a:spLocks xmlns:a="http://schemas.openxmlformats.org/drawingml/2006/main" noGrp="1"/>
          </p:cNvSpPr>
          <p:nvPr/>
        </p:nvSpPr>
        <p:spPr>
          <a:xfrm xmlns:a="http://schemas.openxmlformats.org/drawingml/2006/main">
            <a:off x="4448175"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9" name="">
            <a:extLst xmlns:a="http://schemas.openxmlformats.org/drawingml/2006/main">
              <a:ext uri="{FF2B5EF4-FFF2-40B4-BE49-F238E27FC236}">
                <a16:creationId xmlns:a16="http://schemas.microsoft.com/office/drawing/2014/main" id="{02F32A8D-B537-4B1C-9175-93CB92306FCC}"/>
              </a:ext>
            </a:extLst>
          </p:cNvPr>
          <p:cNvSpPr>
            <a:spLocks xmlns:a="http://schemas.openxmlformats.org/drawingml/2006/main" noGrp="1"/>
          </p:cNvSpPr>
          <p:nvPr/>
        </p:nvSpPr>
        <p:spPr>
          <a:xfrm xmlns:a="http://schemas.openxmlformats.org/drawingml/2006/main">
            <a:off x="4933950" y="3829050"/>
            <a:ext cx="1619250" cy="781050"/>
          </a:xfrm>
          <a:prstGeom xmlns:a="http://schemas.openxmlformats.org/drawingml/2006/main" prst="roundRect">
            <a:avLst>
              <a:gd name="adj" fmla="val 7317"/>
            </a:avLst>
          </a:prstGeom>
          <a:solidFill xmlns:a="http://schemas.openxmlformats.org/drawingml/2006/main">
            <a:srgbClr val="FEE2E2"/>
          </a:solidFill>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6F9DC534-FC1E-46B8-82B5-02B92F61016F}"/>
              </a:ext>
            </a:extLst>
          </p:cNvPr>
          <p:cNvSpPr>
            <a:spLocks xmlns:a="http://schemas.openxmlformats.org/drawingml/2006/main" noGrp="1"/>
          </p:cNvSpPr>
          <p:nvPr/>
        </p:nvSpPr>
        <p:spPr>
          <a:xfrm xmlns:a="http://schemas.openxmlformats.org/drawingml/2006/main">
            <a:off x="5067300"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replay request</a:t>
            </a:r>
          </a:p>
        </p:txBody>
      </p:sp>
      <p:sp>
        <p:nvSpPr>
          <p:cNvPr id="11" name="">
            <a:extLst xmlns:a="http://schemas.openxmlformats.org/drawingml/2006/main">
              <a:ext uri="{FF2B5EF4-FFF2-40B4-BE49-F238E27FC236}">
                <a16:creationId xmlns:a16="http://schemas.microsoft.com/office/drawing/2014/main" id="{AF7CDDBA-61B5-4884-B435-1C4E6F5FAAD0}"/>
              </a:ext>
            </a:extLst>
          </p:cNvPr>
          <p:cNvSpPr>
            <a:spLocks xmlns:a="http://schemas.openxmlformats.org/drawingml/2006/main" noGrp="1"/>
          </p:cNvSpPr>
          <p:nvPr/>
        </p:nvSpPr>
        <p:spPr>
          <a:xfrm xmlns:a="http://schemas.openxmlformats.org/drawingml/2006/main">
            <a:off x="6667500"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12" name="">
            <a:extLst xmlns:a="http://schemas.openxmlformats.org/drawingml/2006/main">
              <a:ext uri="{FF2B5EF4-FFF2-40B4-BE49-F238E27FC236}">
                <a16:creationId xmlns:a16="http://schemas.microsoft.com/office/drawing/2014/main" id="{3A623E41-0542-4F36-934E-DC3C319DAA33}"/>
              </a:ext>
            </a:extLst>
          </p:cNvPr>
          <p:cNvSpPr>
            <a:spLocks xmlns:a="http://schemas.openxmlformats.org/drawingml/2006/main" noGrp="1"/>
          </p:cNvSpPr>
          <p:nvPr/>
        </p:nvSpPr>
        <p:spPr>
          <a:xfrm xmlns:a="http://schemas.openxmlformats.org/drawingml/2006/main">
            <a:off x="7153275" y="3829050"/>
            <a:ext cx="1619250" cy="781050"/>
          </a:xfrm>
          <a:prstGeom xmlns:a="http://schemas.openxmlformats.org/drawingml/2006/main" prst="roundRect">
            <a:avLst>
              <a:gd name="adj" fmla="val 7317"/>
            </a:avLst>
          </a:prstGeom>
          <a:solidFill xmlns:a="http://schemas.openxmlformats.org/drawingml/2006/main">
            <a:srgbClr val="DCFCE7"/>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7927A2F8-A5AB-451F-BC8B-293E4AB39C0E}"/>
              </a:ext>
            </a:extLst>
          </p:cNvPr>
          <p:cNvSpPr>
            <a:spLocks xmlns:a="http://schemas.openxmlformats.org/drawingml/2006/main" noGrp="1"/>
          </p:cNvSpPr>
          <p:nvPr/>
        </p:nvSpPr>
        <p:spPr>
          <a:xfrm xmlns:a="http://schemas.openxmlformats.org/drawingml/2006/main">
            <a:off x="7286625"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KV ready?</a:t>
            </a:r>
          </a:p>
        </p:txBody>
      </p:sp>
      <p:sp>
        <p:nvSpPr>
          <p:cNvPr id="14" name="">
            <a:extLst xmlns:a="http://schemas.openxmlformats.org/drawingml/2006/main">
              <a:ext uri="{FF2B5EF4-FFF2-40B4-BE49-F238E27FC236}">
                <a16:creationId xmlns:a16="http://schemas.microsoft.com/office/drawing/2014/main" id="{B4D9D0EE-B683-4B93-BA60-B95B916B4AEB}"/>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5" name="">
            <a:extLst xmlns:a="http://schemas.openxmlformats.org/drawingml/2006/main">
              <a:ext uri="{FF2B5EF4-FFF2-40B4-BE49-F238E27FC236}">
                <a16:creationId xmlns:a16="http://schemas.microsoft.com/office/drawing/2014/main" id="{310D2551-AA2F-4C09-B4C8-E721B8D386AB}"/>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01</a:t>
            </a:r>
          </a:p>
        </p:txBody>
      </p:sp>
    </p:spTree>
    <p:extLst>
      <p:ext uri="{BB962C8B-B14F-4D97-AF65-F5344CB8AC3E}">
        <p14:creationId xmlns:p14="http://schemas.microsoft.com/office/powerpoint/2010/main" val="155311157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0984737-2804-4F5C-8D6F-A7130D683613}"/>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testbed uses both controlled and real agent traffic</a:t>
            </a:r>
          </a:p>
        </p:txBody>
      </p:sp>
      <p:sp>
        <p:nvSpPr>
          <p:cNvPr id="2" name="">
            <a:extLst xmlns:a="http://schemas.openxmlformats.org/drawingml/2006/main">
              <a:ext uri="{FF2B5EF4-FFF2-40B4-BE49-F238E27FC236}">
                <a16:creationId xmlns:a16="http://schemas.microsoft.com/office/drawing/2014/main" id="{32A9F450-C1E6-45BF-A8A7-BDCCD8676BE5}"/>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Synthetic request generators give clean knobs; SWE-bench/DeepAgents traces give realistic coding-agent behavior.</a:t>
            </a:r>
          </a:p>
        </p:txBody>
      </p:sp>
      <p:sp>
        <p:nvSpPr>
          <p:cNvPr id="3" name="">
            <a:extLst xmlns:a="http://schemas.openxmlformats.org/drawingml/2006/main">
              <a:ext uri="{FF2B5EF4-FFF2-40B4-BE49-F238E27FC236}">
                <a16:creationId xmlns:a16="http://schemas.microsoft.com/office/drawing/2014/main" id="{94607A23-EA65-4AEB-A8CE-175850697BFC}"/>
              </a:ext>
            </a:extLst>
          </p:cNvPr>
          <p:cNvSpPr>
            <a:spLocks xmlns:a="http://schemas.openxmlformats.org/drawingml/2006/main" noGrp="1"/>
          </p:cNvSpPr>
          <p:nvPr/>
        </p:nvSpPr>
        <p:spPr>
          <a:xfrm xmlns:a="http://schemas.openxmlformats.org/drawingml/2006/main">
            <a:off x="419100" y="1428750"/>
            <a:ext cx="11353800" cy="1790700"/>
          </a:xfrm>
          <a:prstGeom xmlns:a="http://schemas.openxmlformats.org/drawingml/2006/main" prst="roundRect">
            <a:avLst>
              <a:gd name="adj" fmla="val 3191"/>
            </a:avLst>
          </a:prstGeom>
          <a:solidFill xmlns:a="http://schemas.openxmlformats.org/drawingml/2006/main">
            <a:srgbClr val="FFFFFF"/>
          </a:solidFill>
          <a:ln xmlns:a="http://schemas.openxmlformats.org/drawingml/2006/main" w="9525">
            <a:solidFill>
              <a:srgbClr val="E5E7EB"/>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2c43e457889e46f4"/>
          <a:stretch xmlns:a="http://schemas.openxmlformats.org/drawingml/2006/main"/>
        </p:blipFill>
        <p:spPr>
          <a:xfrm xmlns:a="http://schemas.openxmlformats.org/drawingml/2006/main">
            <a:off x="496830" y="1504950"/>
            <a:ext cx="11198340" cy="1638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C4FC63D-821B-4768-B73E-C928C535061F}"/>
              </a:ext>
            </a:extLst>
          </p:cNvPr>
          <p:cNvSpPr>
            <a:spLocks xmlns:a="http://schemas.openxmlformats.org/drawingml/2006/main" noGrp="1"/>
          </p:cNvSpPr>
          <p:nvPr/>
        </p:nvSpPr>
        <p:spPr>
          <a:xfrm xmlns:a="http://schemas.openxmlformats.org/drawingml/2006/main">
            <a:off x="819150" y="3733800"/>
            <a:ext cx="4552950" cy="1428750"/>
          </a:xfrm>
          <a:prstGeom xmlns:a="http://schemas.openxmlformats.org/drawingml/2006/main" prst="roundRect">
            <a:avLst>
              <a:gd name="adj" fmla="val 4000"/>
            </a:avLst>
          </a:prstGeom>
          <a:solidFill xmlns:a="http://schemas.openxmlformats.org/drawingml/2006/main">
            <a:srgbClr val="F8FAFC"/>
          </a:solidFill>
          <a:ln xmlns:a="http://schemas.openxmlformats.org/drawingml/2006/main" w="9525">
            <a:solidFill>
              <a:srgbClr val="CBD5E1"/>
            </a:solidFill>
            <a:prstDash val="solid"/>
          </a:ln>
        </p:spPr>
      </p:sp>
      <p:sp>
        <p:nvSpPr>
          <p:cNvPr id="6" name="">
            <a:extLst xmlns:a="http://schemas.openxmlformats.org/drawingml/2006/main">
              <a:ext uri="{FF2B5EF4-FFF2-40B4-BE49-F238E27FC236}">
                <a16:creationId xmlns:a16="http://schemas.microsoft.com/office/drawing/2014/main" id="{88F344BF-32B1-4A1C-953F-BC26A485B69A}"/>
              </a:ext>
            </a:extLst>
          </p:cNvPr>
          <p:cNvSpPr>
            <a:spLocks xmlns:a="http://schemas.openxmlformats.org/drawingml/2006/main" noGrp="1"/>
          </p:cNvSpPr>
          <p:nvPr/>
        </p:nvSpPr>
        <p:spPr>
          <a:xfrm xmlns:a="http://schemas.openxmlformats.org/drawingml/2006/main">
            <a:off x="1104900" y="39624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F172A"/>
                </a:solidFill>
              </a:defRPr>
            </a:pPr>
            <a:r>
              <a:rPr sz="1800" b="1">
                <a:solidFill>
                  <a:srgbClr val="0F172A"/>
                </a:solidFill>
              </a:rPr>
              <a:t>Controlled synthetic path</a:t>
            </a:r>
          </a:p>
        </p:txBody>
      </p:sp>
      <p:sp>
        <p:nvSpPr>
          <p:cNvPr id="7" name="">
            <a:extLst xmlns:a="http://schemas.openxmlformats.org/drawingml/2006/main">
              <a:ext uri="{FF2B5EF4-FFF2-40B4-BE49-F238E27FC236}">
                <a16:creationId xmlns:a16="http://schemas.microsoft.com/office/drawing/2014/main" id="{86232BA6-D3FD-4002-9D6D-BAC26115EEBC}"/>
              </a:ext>
            </a:extLst>
          </p:cNvPr>
          <p:cNvSpPr>
            <a:spLocks xmlns:a="http://schemas.openxmlformats.org/drawingml/2006/main" noGrp="1"/>
          </p:cNvSpPr>
          <p:nvPr/>
        </p:nvSpPr>
        <p:spPr>
          <a:xfrm xmlns:a="http://schemas.openxmlformats.org/drawingml/2006/main">
            <a:off x="1104900" y="436245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Synthetic request generator creates known prompt sizes, tool-wait windows, filler pressure, and replay deadlines.</a:t>
            </a:r>
          </a:p>
        </p:txBody>
      </p:sp>
      <p:sp>
        <p:nvSpPr>
          <p:cNvPr id="8" name="">
            <a:extLst xmlns:a="http://schemas.openxmlformats.org/drawingml/2006/main">
              <a:ext uri="{FF2B5EF4-FFF2-40B4-BE49-F238E27FC236}">
                <a16:creationId xmlns:a16="http://schemas.microsoft.com/office/drawing/2014/main" id="{C2633EB5-5D84-4E1E-9618-24461180B6EC}"/>
              </a:ext>
            </a:extLst>
          </p:cNvPr>
          <p:cNvSpPr>
            <a:spLocks xmlns:a="http://schemas.openxmlformats.org/drawingml/2006/main" noGrp="1"/>
          </p:cNvSpPr>
          <p:nvPr/>
        </p:nvSpPr>
        <p:spPr>
          <a:xfrm xmlns:a="http://schemas.openxmlformats.org/drawingml/2006/main">
            <a:off x="6096000" y="3733800"/>
            <a:ext cx="4552950" cy="1428750"/>
          </a:xfrm>
          <a:prstGeom xmlns:a="http://schemas.openxmlformats.org/drawingml/2006/main" prst="roundRect">
            <a:avLst>
              <a:gd name="adj" fmla="val 4000"/>
            </a:avLst>
          </a:prstGeom>
          <a:solidFill xmlns:a="http://schemas.openxmlformats.org/drawingml/2006/main">
            <a:srgbClr val="EFF6FF"/>
          </a:solidFill>
          <a:ln xmlns:a="http://schemas.openxmlformats.org/drawingml/2006/main" w="9525">
            <a:solidFill>
              <a:srgbClr val="BFDBFE"/>
            </a:solidFill>
            <a:prstDash val="solid"/>
          </a:ln>
        </p:spPr>
      </p:sp>
      <p:sp>
        <p:nvSpPr>
          <p:cNvPr id="9" name="">
            <a:extLst xmlns:a="http://schemas.openxmlformats.org/drawingml/2006/main">
              <a:ext uri="{FF2B5EF4-FFF2-40B4-BE49-F238E27FC236}">
                <a16:creationId xmlns:a16="http://schemas.microsoft.com/office/drawing/2014/main" id="{730A4D98-E39D-4326-A0FA-2C86AB217588}"/>
              </a:ext>
            </a:extLst>
          </p:cNvPr>
          <p:cNvSpPr>
            <a:spLocks xmlns:a="http://schemas.openxmlformats.org/drawingml/2006/main" noGrp="1"/>
          </p:cNvSpPr>
          <p:nvPr/>
        </p:nvSpPr>
        <p:spPr>
          <a:xfrm xmlns:a="http://schemas.openxmlformats.org/drawingml/2006/main">
            <a:off x="6381750" y="39624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F172A"/>
                </a:solidFill>
              </a:defRPr>
            </a:pPr>
            <a:r>
              <a:rPr sz="1800" b="1">
                <a:solidFill>
                  <a:srgbClr val="0F172A"/>
                </a:solidFill>
              </a:rPr>
              <a:t>Real coding-agent path</a:t>
            </a:r>
          </a:p>
        </p:txBody>
      </p:sp>
      <p:sp>
        <p:nvSpPr>
          <p:cNvPr id="10" name="">
            <a:extLst xmlns:a="http://schemas.openxmlformats.org/drawingml/2006/main">
              <a:ext uri="{FF2B5EF4-FFF2-40B4-BE49-F238E27FC236}">
                <a16:creationId xmlns:a16="http://schemas.microsoft.com/office/drawing/2014/main" id="{8983C995-92D5-4767-A959-047139EEEF91}"/>
              </a:ext>
            </a:extLst>
          </p:cNvPr>
          <p:cNvSpPr>
            <a:spLocks xmlns:a="http://schemas.openxmlformats.org/drawingml/2006/main" noGrp="1"/>
          </p:cNvSpPr>
          <p:nvPr/>
        </p:nvSpPr>
        <p:spPr>
          <a:xfrm xmlns:a="http://schemas.openxmlformats.org/drawingml/2006/main">
            <a:off x="6381750" y="436245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SWE-bench / AgentBench tasks feed DeepAgents, which emits model turns and tool-call gaps into SGLang.</a:t>
            </a:r>
          </a:p>
        </p:txBody>
      </p:sp>
      <p:sp>
        <p:nvSpPr>
          <p:cNvPr id="11" name="">
            <a:extLst xmlns:a="http://schemas.openxmlformats.org/drawingml/2006/main">
              <a:ext uri="{FF2B5EF4-FFF2-40B4-BE49-F238E27FC236}">
                <a16:creationId xmlns:a16="http://schemas.microsoft.com/office/drawing/2014/main" id="{C92AF838-1D9C-4F9B-BAE3-61D8D61A2277}"/>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Experiment Setup And Manager Summary</a:t>
            </a:r>
          </a:p>
        </p:txBody>
      </p:sp>
      <p:sp>
        <p:nvSpPr>
          <p:cNvPr id="12" name="">
            <a:extLst xmlns:a="http://schemas.openxmlformats.org/drawingml/2006/main">
              <a:ext uri="{FF2B5EF4-FFF2-40B4-BE49-F238E27FC236}">
                <a16:creationId xmlns:a16="http://schemas.microsoft.com/office/drawing/2014/main" id="{A7AC3A2F-A592-4CFD-8AC0-F20D19046F98}"/>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3" name="">
            <a:extLst xmlns:a="http://schemas.openxmlformats.org/drawingml/2006/main">
              <a:ext uri="{FF2B5EF4-FFF2-40B4-BE49-F238E27FC236}">
                <a16:creationId xmlns:a16="http://schemas.microsoft.com/office/drawing/2014/main" id="{14B51456-28B4-4C39-831B-70344476944E}"/>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02</a:t>
            </a:r>
          </a:p>
        </p:txBody>
      </p:sp>
    </p:spTree>
    <p:extLst>
      <p:ext uri="{BB962C8B-B14F-4D97-AF65-F5344CB8AC3E}">
        <p14:creationId xmlns:p14="http://schemas.microsoft.com/office/powerpoint/2010/main" val="162296390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EF8665A4-8A1F-41A2-8AE9-EC5292A66A6A}"/>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prototype runs real prompts through SGLang</a:t>
            </a:r>
          </a:p>
        </p:txBody>
      </p:sp>
      <p:sp>
        <p:nvSpPr>
          <p:cNvPr id="2" name="">
            <a:extLst xmlns:a="http://schemas.openxmlformats.org/drawingml/2006/main">
              <a:ext uri="{FF2B5EF4-FFF2-40B4-BE49-F238E27FC236}">
                <a16:creationId xmlns:a16="http://schemas.microsoft.com/office/drawing/2014/main" id="{7B82B209-E4B7-40FF-9CD4-63C3561263E1}"/>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Concrete setup behind the charts: traffic source, serving stack, one GPU, model, and host-side KV cache.</a:t>
            </a:r>
          </a:p>
        </p:txBody>
      </p:sp>
      <p:sp>
        <p:nvSpPr>
          <p:cNvPr id="3" name="">
            <a:extLst xmlns:a="http://schemas.openxmlformats.org/drawingml/2006/main">
              <a:ext uri="{FF2B5EF4-FFF2-40B4-BE49-F238E27FC236}">
                <a16:creationId xmlns:a16="http://schemas.microsoft.com/office/drawing/2014/main" id="{BD930137-9889-414B-91E6-1E211626CCC7}"/>
              </a:ext>
            </a:extLst>
          </p:cNvPr>
          <p:cNvSpPr>
            <a:spLocks xmlns:a="http://schemas.openxmlformats.org/drawingml/2006/main" noGrp="1"/>
          </p:cNvSpPr>
          <p:nvPr/>
        </p:nvSpPr>
        <p:spPr>
          <a:xfrm xmlns:a="http://schemas.openxmlformats.org/drawingml/2006/main">
            <a:off x="514350" y="1752600"/>
            <a:ext cx="1695450" cy="914400"/>
          </a:xfrm>
          <a:prstGeom xmlns:a="http://schemas.openxmlformats.org/drawingml/2006/main" prst="roundRect">
            <a:avLst>
              <a:gd name="adj" fmla="val 6250"/>
            </a:avLst>
          </a:prstGeom>
          <a:solidFill xmlns:a="http://schemas.openxmlformats.org/drawingml/2006/main">
            <a:srgbClr val="F8FAFC"/>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E246D9F4-D0A7-4F73-B492-1ECCF97C904B}"/>
              </a:ext>
            </a:extLst>
          </p:cNvPr>
          <p:cNvSpPr>
            <a:spLocks xmlns:a="http://schemas.openxmlformats.org/drawingml/2006/main" noGrp="1"/>
          </p:cNvSpPr>
          <p:nvPr/>
        </p:nvSpPr>
        <p:spPr>
          <a:xfrm xmlns:a="http://schemas.openxmlformats.org/drawingml/2006/main">
            <a:off x="647700" y="1895475"/>
            <a:ext cx="1428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Synthetic</a:t>
            </a:r>
          </a:p>
          <a:p xmlns:a="http://schemas.openxmlformats.org/drawingml/2006/main">
            <a:pPr algn="ctr">
              <a:defRPr sz="1500" b="1">
                <a:solidFill>
                  <a:srgbClr val="0F172A"/>
                </a:solidFill>
              </a:defRPr>
            </a:pPr>
            <a:r>
              <a:rPr sz="1500" b="1">
                <a:solidFill>
                  <a:srgbClr val="0F172A"/>
                </a:solidFill>
              </a:rPr>
              <a:t>request generator</a:t>
            </a:r>
          </a:p>
        </p:txBody>
      </p:sp>
      <p:sp>
        <p:nvSpPr>
          <p:cNvPr id="5" name="">
            <a:extLst xmlns:a="http://schemas.openxmlformats.org/drawingml/2006/main">
              <a:ext uri="{FF2B5EF4-FFF2-40B4-BE49-F238E27FC236}">
                <a16:creationId xmlns:a16="http://schemas.microsoft.com/office/drawing/2014/main" id="{6E3711EA-FFD8-48C5-9751-1CED0C0FB15D}"/>
              </a:ext>
            </a:extLst>
          </p:cNvPr>
          <p:cNvSpPr>
            <a:spLocks xmlns:a="http://schemas.openxmlformats.org/drawingml/2006/main" noGrp="1"/>
          </p:cNvSpPr>
          <p:nvPr/>
        </p:nvSpPr>
        <p:spPr>
          <a:xfrm xmlns:a="http://schemas.openxmlformats.org/drawingml/2006/main">
            <a:off x="2286000" y="20383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6" name="">
            <a:extLst xmlns:a="http://schemas.openxmlformats.org/drawingml/2006/main">
              <a:ext uri="{FF2B5EF4-FFF2-40B4-BE49-F238E27FC236}">
                <a16:creationId xmlns:a16="http://schemas.microsoft.com/office/drawing/2014/main" id="{900975EA-B461-4630-9A72-AE9AE1496D15}"/>
              </a:ext>
            </a:extLst>
          </p:cNvPr>
          <p:cNvSpPr>
            <a:spLocks xmlns:a="http://schemas.openxmlformats.org/drawingml/2006/main" noGrp="1"/>
          </p:cNvSpPr>
          <p:nvPr/>
        </p:nvSpPr>
        <p:spPr>
          <a:xfrm xmlns:a="http://schemas.openxmlformats.org/drawingml/2006/main">
            <a:off x="2724150" y="1752600"/>
            <a:ext cx="1695450" cy="914400"/>
          </a:xfrm>
          <a:prstGeom xmlns:a="http://schemas.openxmlformats.org/drawingml/2006/main" prst="roundRect">
            <a:avLst>
              <a:gd name="adj" fmla="val 6250"/>
            </a:avLst>
          </a:prstGeom>
          <a:solidFill xmlns:a="http://schemas.openxmlformats.org/drawingml/2006/main">
            <a:srgbClr val="EFF6FF"/>
          </a:solidFill>
          <a:ln xmlns:a="http://schemas.openxmlformats.org/drawingml/2006/main" w="9525">
            <a:solidFill>
              <a:srgbClr val="BFDBFE"/>
            </a:solidFill>
            <a:prstDash val="solid"/>
          </a:ln>
        </p:spPr>
      </p:sp>
      <p:sp>
        <p:nvSpPr>
          <p:cNvPr id="7" name="">
            <a:extLst xmlns:a="http://schemas.openxmlformats.org/drawingml/2006/main">
              <a:ext uri="{FF2B5EF4-FFF2-40B4-BE49-F238E27FC236}">
                <a16:creationId xmlns:a16="http://schemas.microsoft.com/office/drawing/2014/main" id="{FF4C8B94-0EBF-4FF0-B484-8B95ABC1CC0B}"/>
              </a:ext>
            </a:extLst>
          </p:cNvPr>
          <p:cNvSpPr>
            <a:spLocks xmlns:a="http://schemas.openxmlformats.org/drawingml/2006/main" noGrp="1"/>
          </p:cNvSpPr>
          <p:nvPr/>
        </p:nvSpPr>
        <p:spPr>
          <a:xfrm xmlns:a="http://schemas.openxmlformats.org/drawingml/2006/main">
            <a:off x="2857500" y="1895475"/>
            <a:ext cx="1428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SWE-bench /</a:t>
            </a:r>
          </a:p>
          <a:p xmlns:a="http://schemas.openxmlformats.org/drawingml/2006/main">
            <a:pPr algn="ctr">
              <a:defRPr sz="1500" b="1">
                <a:solidFill>
                  <a:srgbClr val="0F172A"/>
                </a:solidFill>
              </a:defRPr>
            </a:pPr>
            <a:r>
              <a:rPr sz="1500" b="1">
                <a:solidFill>
                  <a:srgbClr val="0F172A"/>
                </a:solidFill>
              </a:rPr>
              <a:t>DeepAgents traces</a:t>
            </a:r>
          </a:p>
        </p:txBody>
      </p:sp>
      <p:sp>
        <p:nvSpPr>
          <p:cNvPr id="8" name="">
            <a:extLst xmlns:a="http://schemas.openxmlformats.org/drawingml/2006/main">
              <a:ext uri="{FF2B5EF4-FFF2-40B4-BE49-F238E27FC236}">
                <a16:creationId xmlns:a16="http://schemas.microsoft.com/office/drawing/2014/main" id="{1EEDF11C-A031-45D2-ACC8-2607C5DE64CA}"/>
              </a:ext>
            </a:extLst>
          </p:cNvPr>
          <p:cNvSpPr>
            <a:spLocks xmlns:a="http://schemas.openxmlformats.org/drawingml/2006/main" noGrp="1"/>
          </p:cNvSpPr>
          <p:nvPr/>
        </p:nvSpPr>
        <p:spPr>
          <a:xfrm xmlns:a="http://schemas.openxmlformats.org/drawingml/2006/main">
            <a:off x="4495800" y="20383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9" name="">
            <a:extLst xmlns:a="http://schemas.openxmlformats.org/drawingml/2006/main">
              <a:ext uri="{FF2B5EF4-FFF2-40B4-BE49-F238E27FC236}">
                <a16:creationId xmlns:a16="http://schemas.microsoft.com/office/drawing/2014/main" id="{C1F9E7C9-0395-4D86-920F-8620B1FDF7C6}"/>
              </a:ext>
            </a:extLst>
          </p:cNvPr>
          <p:cNvSpPr>
            <a:spLocks xmlns:a="http://schemas.openxmlformats.org/drawingml/2006/main" noGrp="1"/>
          </p:cNvSpPr>
          <p:nvPr/>
        </p:nvSpPr>
        <p:spPr>
          <a:xfrm xmlns:a="http://schemas.openxmlformats.org/drawingml/2006/main">
            <a:off x="4933950" y="1752600"/>
            <a:ext cx="1695450" cy="914400"/>
          </a:xfrm>
          <a:prstGeom xmlns:a="http://schemas.openxmlformats.org/drawingml/2006/main" prst="roundRect">
            <a:avLst>
              <a:gd name="adj" fmla="val 6250"/>
            </a:avLst>
          </a:prstGeom>
          <a:solidFill xmlns:a="http://schemas.openxmlformats.org/drawingml/2006/main">
            <a:srgbClr val="F5F3FF"/>
          </a:solidFill>
          <a:ln xmlns:a="http://schemas.openxmlformats.org/drawingml/2006/main" w="9525">
            <a:solidFill>
              <a:srgbClr val="C4B5FD"/>
            </a:solidFill>
            <a:prstDash val="solid"/>
          </a:ln>
        </p:spPr>
      </p:sp>
      <p:sp>
        <p:nvSpPr>
          <p:cNvPr id="10" name="">
            <a:extLst xmlns:a="http://schemas.openxmlformats.org/drawingml/2006/main">
              <a:ext uri="{FF2B5EF4-FFF2-40B4-BE49-F238E27FC236}">
                <a16:creationId xmlns:a16="http://schemas.microsoft.com/office/drawing/2014/main" id="{78A1FE14-F8B7-49C0-B887-94FC0661A57A}"/>
              </a:ext>
            </a:extLst>
          </p:cNvPr>
          <p:cNvSpPr>
            <a:spLocks xmlns:a="http://schemas.openxmlformats.org/drawingml/2006/main" noGrp="1"/>
          </p:cNvSpPr>
          <p:nvPr/>
        </p:nvSpPr>
        <p:spPr>
          <a:xfrm xmlns:a="http://schemas.openxmlformats.org/drawingml/2006/main">
            <a:off x="5067300" y="1895475"/>
            <a:ext cx="1428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SGLang</a:t>
            </a:r>
          </a:p>
          <a:p xmlns:a="http://schemas.openxmlformats.org/drawingml/2006/main">
            <a:pPr algn="ctr">
              <a:defRPr sz="1500" b="1">
                <a:solidFill>
                  <a:srgbClr val="0F172A"/>
                </a:solidFill>
              </a:defRPr>
            </a:pPr>
            <a:r>
              <a:rPr sz="1500" b="1">
                <a:solidFill>
                  <a:srgbClr val="0F172A"/>
                </a:solidFill>
              </a:rPr>
              <a:t>OpenAI server</a:t>
            </a:r>
          </a:p>
        </p:txBody>
      </p:sp>
      <p:sp>
        <p:nvSpPr>
          <p:cNvPr id="11" name="">
            <a:extLst xmlns:a="http://schemas.openxmlformats.org/drawingml/2006/main">
              <a:ext uri="{FF2B5EF4-FFF2-40B4-BE49-F238E27FC236}">
                <a16:creationId xmlns:a16="http://schemas.microsoft.com/office/drawing/2014/main" id="{B44567CF-497A-4EDF-93E6-C5AA4D1C2644}"/>
              </a:ext>
            </a:extLst>
          </p:cNvPr>
          <p:cNvSpPr>
            <a:spLocks xmlns:a="http://schemas.openxmlformats.org/drawingml/2006/main" noGrp="1"/>
          </p:cNvSpPr>
          <p:nvPr/>
        </p:nvSpPr>
        <p:spPr>
          <a:xfrm xmlns:a="http://schemas.openxmlformats.org/drawingml/2006/main">
            <a:off x="6705600" y="20383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12" name="">
            <a:extLst xmlns:a="http://schemas.openxmlformats.org/drawingml/2006/main">
              <a:ext uri="{FF2B5EF4-FFF2-40B4-BE49-F238E27FC236}">
                <a16:creationId xmlns:a16="http://schemas.microsoft.com/office/drawing/2014/main" id="{3430779C-1C67-4490-B52C-75BEBD409A0A}"/>
              </a:ext>
            </a:extLst>
          </p:cNvPr>
          <p:cNvSpPr>
            <a:spLocks xmlns:a="http://schemas.openxmlformats.org/drawingml/2006/main" noGrp="1"/>
          </p:cNvSpPr>
          <p:nvPr/>
        </p:nvSpPr>
        <p:spPr>
          <a:xfrm xmlns:a="http://schemas.openxmlformats.org/drawingml/2006/main">
            <a:off x="7143750" y="1752600"/>
            <a:ext cx="1695450" cy="914400"/>
          </a:xfrm>
          <a:prstGeom xmlns:a="http://schemas.openxmlformats.org/drawingml/2006/main" prst="roundRect">
            <a:avLst>
              <a:gd name="adj" fmla="val 6250"/>
            </a:avLst>
          </a:prstGeom>
          <a:solidFill xmlns:a="http://schemas.openxmlformats.org/drawingml/2006/main">
            <a:srgbClr val="ECFEFF"/>
          </a:solidFill>
          <a:ln xmlns:a="http://schemas.openxmlformats.org/drawingml/2006/main" w="9525">
            <a:solidFill>
              <a:srgbClr val="67E8F9"/>
            </a:solidFill>
            <a:prstDash val="solid"/>
          </a:ln>
        </p:spPr>
      </p:sp>
      <p:sp>
        <p:nvSpPr>
          <p:cNvPr id="13" name="">
            <a:extLst xmlns:a="http://schemas.openxmlformats.org/drawingml/2006/main">
              <a:ext uri="{FF2B5EF4-FFF2-40B4-BE49-F238E27FC236}">
                <a16:creationId xmlns:a16="http://schemas.microsoft.com/office/drawing/2014/main" id="{846109AE-6081-46C1-8FD7-26D91229852B}"/>
              </a:ext>
            </a:extLst>
          </p:cNvPr>
          <p:cNvSpPr>
            <a:spLocks xmlns:a="http://schemas.openxmlformats.org/drawingml/2006/main" noGrp="1"/>
          </p:cNvSpPr>
          <p:nvPr/>
        </p:nvSpPr>
        <p:spPr>
          <a:xfrm xmlns:a="http://schemas.openxmlformats.org/drawingml/2006/main">
            <a:off x="7277100" y="1895475"/>
            <a:ext cx="1428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Qwen Coder</a:t>
            </a:r>
          </a:p>
          <a:p xmlns:a="http://schemas.openxmlformats.org/drawingml/2006/main">
            <a:pPr algn="ctr">
              <a:defRPr sz="1500" b="1">
                <a:solidFill>
                  <a:srgbClr val="0F172A"/>
                </a:solidFill>
              </a:defRPr>
            </a:pPr>
            <a:r>
              <a:rPr sz="1500" b="1">
                <a:solidFill>
                  <a:srgbClr val="0F172A"/>
                </a:solidFill>
              </a:rPr>
              <a:t>7B Instruct</a:t>
            </a:r>
          </a:p>
        </p:txBody>
      </p:sp>
      <p:sp>
        <p:nvSpPr>
          <p:cNvPr id="14" name="">
            <a:extLst xmlns:a="http://schemas.openxmlformats.org/drawingml/2006/main">
              <a:ext uri="{FF2B5EF4-FFF2-40B4-BE49-F238E27FC236}">
                <a16:creationId xmlns:a16="http://schemas.microsoft.com/office/drawing/2014/main" id="{9709B589-91E4-4CF5-B385-D7B1C00E1EA7}"/>
              </a:ext>
            </a:extLst>
          </p:cNvPr>
          <p:cNvSpPr>
            <a:spLocks xmlns:a="http://schemas.openxmlformats.org/drawingml/2006/main" noGrp="1"/>
          </p:cNvSpPr>
          <p:nvPr/>
        </p:nvSpPr>
        <p:spPr>
          <a:xfrm xmlns:a="http://schemas.openxmlformats.org/drawingml/2006/main">
            <a:off x="8915400" y="20383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15" name="">
            <a:extLst xmlns:a="http://schemas.openxmlformats.org/drawingml/2006/main">
              <a:ext uri="{FF2B5EF4-FFF2-40B4-BE49-F238E27FC236}">
                <a16:creationId xmlns:a16="http://schemas.microsoft.com/office/drawing/2014/main" id="{AADC263F-24E2-464C-B234-077FED9BF253}"/>
              </a:ext>
            </a:extLst>
          </p:cNvPr>
          <p:cNvSpPr>
            <a:spLocks xmlns:a="http://schemas.openxmlformats.org/drawingml/2006/main" noGrp="1"/>
          </p:cNvSpPr>
          <p:nvPr/>
        </p:nvSpPr>
        <p:spPr>
          <a:xfrm xmlns:a="http://schemas.openxmlformats.org/drawingml/2006/main">
            <a:off x="9353550" y="1752600"/>
            <a:ext cx="1695450" cy="914400"/>
          </a:xfrm>
          <a:prstGeom xmlns:a="http://schemas.openxmlformats.org/drawingml/2006/main" prst="roundRect">
            <a:avLst>
              <a:gd name="adj" fmla="val 6250"/>
            </a:avLst>
          </a:prstGeom>
          <a:solidFill xmlns:a="http://schemas.openxmlformats.org/drawingml/2006/main">
            <a:srgbClr val="F0FDF4"/>
          </a:solidFill>
          <a:ln xmlns:a="http://schemas.openxmlformats.org/drawingml/2006/main" w="9525">
            <a:solidFill>
              <a:srgbClr val="86EFAC"/>
            </a:solidFill>
            <a:prstDash val="solid"/>
          </a:ln>
        </p:spPr>
      </p:sp>
      <p:sp>
        <p:nvSpPr>
          <p:cNvPr id="16" name="">
            <a:extLst xmlns:a="http://schemas.openxmlformats.org/drawingml/2006/main">
              <a:ext uri="{FF2B5EF4-FFF2-40B4-BE49-F238E27FC236}">
                <a16:creationId xmlns:a16="http://schemas.microsoft.com/office/drawing/2014/main" id="{F5A42442-B4F0-4A4A-BD67-AAF55CF9D5FC}"/>
              </a:ext>
            </a:extLst>
          </p:cNvPr>
          <p:cNvSpPr>
            <a:spLocks xmlns:a="http://schemas.openxmlformats.org/drawingml/2006/main" noGrp="1"/>
          </p:cNvSpPr>
          <p:nvPr/>
        </p:nvSpPr>
        <p:spPr>
          <a:xfrm xmlns:a="http://schemas.openxmlformats.org/drawingml/2006/main">
            <a:off x="9486900" y="1895475"/>
            <a:ext cx="1428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GPU KV cache</a:t>
            </a:r>
          </a:p>
          <a:p xmlns:a="http://schemas.openxmlformats.org/drawingml/2006/main">
            <a:pPr algn="ctr">
              <a:defRPr sz="1500" b="1">
                <a:solidFill>
                  <a:srgbClr val="0F172A"/>
                </a:solidFill>
              </a:defRPr>
            </a:pPr>
            <a:r>
              <a:rPr sz="1500" b="1">
                <a:solidFill>
                  <a:srgbClr val="0F172A"/>
                </a:solidFill>
              </a:rPr>
              <a:t>+ HiCache</a:t>
            </a:r>
          </a:p>
        </p:txBody>
      </p:sp>
      <p:sp>
        <p:nvSpPr>
          <p:cNvPr id="17" name="">
            <a:extLst xmlns:a="http://schemas.openxmlformats.org/drawingml/2006/main">
              <a:ext uri="{FF2B5EF4-FFF2-40B4-BE49-F238E27FC236}">
                <a16:creationId xmlns:a16="http://schemas.microsoft.com/office/drawing/2014/main" id="{12823D04-8CB7-4E4B-AE74-F2EF4526E5F0}"/>
              </a:ext>
            </a:extLst>
          </p:cNvPr>
          <p:cNvSpPr>
            <a:spLocks xmlns:a="http://schemas.openxmlformats.org/drawingml/2006/main" noGrp="1"/>
          </p:cNvSpPr>
          <p:nvPr/>
        </p:nvSpPr>
        <p:spPr>
          <a:xfrm xmlns:a="http://schemas.openxmlformats.org/drawingml/2006/main">
            <a:off x="666750" y="33909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00D85002-2124-4B6E-8EF2-68436AAF3913}"/>
              </a:ext>
            </a:extLst>
          </p:cNvPr>
          <p:cNvSpPr>
            <a:spLocks xmlns:a="http://schemas.openxmlformats.org/drawingml/2006/main" noGrp="1"/>
          </p:cNvSpPr>
          <p:nvPr/>
        </p:nvSpPr>
        <p:spPr>
          <a:xfrm xmlns:a="http://schemas.openxmlformats.org/drawingml/2006/main">
            <a:off x="819150" y="35242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GPU</a:t>
            </a:r>
          </a:p>
        </p:txBody>
      </p:sp>
      <p:sp>
        <p:nvSpPr>
          <p:cNvPr id="19" name="">
            <a:extLst xmlns:a="http://schemas.openxmlformats.org/drawingml/2006/main">
              <a:ext uri="{FF2B5EF4-FFF2-40B4-BE49-F238E27FC236}">
                <a16:creationId xmlns:a16="http://schemas.microsoft.com/office/drawing/2014/main" id="{4EDB3108-7301-4BD0-898B-6937C4F36EC8}"/>
              </a:ext>
            </a:extLst>
          </p:cNvPr>
          <p:cNvSpPr>
            <a:spLocks xmlns:a="http://schemas.openxmlformats.org/drawingml/2006/main" noGrp="1"/>
          </p:cNvSpPr>
          <p:nvPr/>
        </p:nvSpPr>
        <p:spPr>
          <a:xfrm xmlns:a="http://schemas.openxmlformats.org/drawingml/2006/main">
            <a:off x="819150" y="37909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NVIDIA A10G class</a:t>
            </a:r>
          </a:p>
        </p:txBody>
      </p:sp>
      <p:sp>
        <p:nvSpPr>
          <p:cNvPr id="20" name="">
            <a:extLst xmlns:a="http://schemas.openxmlformats.org/drawingml/2006/main">
              <a:ext uri="{FF2B5EF4-FFF2-40B4-BE49-F238E27FC236}">
                <a16:creationId xmlns:a16="http://schemas.microsoft.com/office/drawing/2014/main" id="{90DB8BA5-0C06-4EAE-80E9-BCB86D1CF17D}"/>
              </a:ext>
            </a:extLst>
          </p:cNvPr>
          <p:cNvSpPr>
            <a:spLocks xmlns:a="http://schemas.openxmlformats.org/drawingml/2006/main" noGrp="1"/>
          </p:cNvSpPr>
          <p:nvPr/>
        </p:nvSpPr>
        <p:spPr>
          <a:xfrm xmlns:a="http://schemas.openxmlformats.org/drawingml/2006/main">
            <a:off x="3238500" y="33909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93126720-994B-4833-AD4C-B49CE7294532}"/>
              </a:ext>
            </a:extLst>
          </p:cNvPr>
          <p:cNvSpPr>
            <a:spLocks xmlns:a="http://schemas.openxmlformats.org/drawingml/2006/main" noGrp="1"/>
          </p:cNvSpPr>
          <p:nvPr/>
        </p:nvSpPr>
        <p:spPr>
          <a:xfrm xmlns:a="http://schemas.openxmlformats.org/drawingml/2006/main">
            <a:off x="3390900" y="35242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GPU memory</a:t>
            </a:r>
          </a:p>
        </p:txBody>
      </p:sp>
      <p:sp>
        <p:nvSpPr>
          <p:cNvPr id="22" name="">
            <a:extLst xmlns:a="http://schemas.openxmlformats.org/drawingml/2006/main">
              <a:ext uri="{FF2B5EF4-FFF2-40B4-BE49-F238E27FC236}">
                <a16:creationId xmlns:a16="http://schemas.microsoft.com/office/drawing/2014/main" id="{A4203075-2C51-4A56-A279-C95B3C391611}"/>
              </a:ext>
            </a:extLst>
          </p:cNvPr>
          <p:cNvSpPr>
            <a:spLocks xmlns:a="http://schemas.openxmlformats.org/drawingml/2006/main" noGrp="1"/>
          </p:cNvSpPr>
          <p:nvPr/>
        </p:nvSpPr>
        <p:spPr>
          <a:xfrm xmlns:a="http://schemas.openxmlformats.org/drawingml/2006/main">
            <a:off x="3390900" y="37909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24 GB GDDR6</a:t>
            </a:r>
          </a:p>
        </p:txBody>
      </p:sp>
      <p:sp>
        <p:nvSpPr>
          <p:cNvPr id="23" name="">
            <a:extLst xmlns:a="http://schemas.openxmlformats.org/drawingml/2006/main">
              <a:ext uri="{FF2B5EF4-FFF2-40B4-BE49-F238E27FC236}">
                <a16:creationId xmlns:a16="http://schemas.microsoft.com/office/drawing/2014/main" id="{990C3556-84E9-4869-8D49-C5E2A012D714}"/>
              </a:ext>
            </a:extLst>
          </p:cNvPr>
          <p:cNvSpPr>
            <a:spLocks xmlns:a="http://schemas.openxmlformats.org/drawingml/2006/main" noGrp="1"/>
          </p:cNvSpPr>
          <p:nvPr/>
        </p:nvSpPr>
        <p:spPr>
          <a:xfrm xmlns:a="http://schemas.openxmlformats.org/drawingml/2006/main">
            <a:off x="5810250" y="3390900"/>
            <a:ext cx="2343150" cy="895350"/>
          </a:xfrm>
          <a:prstGeom xmlns:a="http://schemas.openxmlformats.org/drawingml/2006/main" prst="roundRect">
            <a:avLst>
              <a:gd name="adj" fmla="val 6383"/>
            </a:avLst>
          </a:prstGeom>
          <a:solidFill xmlns:a="http://schemas.openxmlformats.org/drawingml/2006/main">
            <a:srgbClr val="FFF7ED"/>
          </a:solidFill>
          <a:ln xmlns:a="http://schemas.openxmlformats.org/drawingml/2006/main" w="9525">
            <a:solidFill>
              <a:srgbClr val="FED7AA"/>
            </a:solidFill>
            <a:prstDash val="solid"/>
          </a:ln>
        </p:spPr>
      </p:sp>
      <p:sp>
        <p:nvSpPr>
          <p:cNvPr id="24" name="">
            <a:extLst xmlns:a="http://schemas.openxmlformats.org/drawingml/2006/main">
              <a:ext uri="{FF2B5EF4-FFF2-40B4-BE49-F238E27FC236}">
                <a16:creationId xmlns:a16="http://schemas.microsoft.com/office/drawing/2014/main" id="{909045E5-36D8-48AD-9C16-A6D656926AF5}"/>
              </a:ext>
            </a:extLst>
          </p:cNvPr>
          <p:cNvSpPr>
            <a:spLocks xmlns:a="http://schemas.openxmlformats.org/drawingml/2006/main" noGrp="1"/>
          </p:cNvSpPr>
          <p:nvPr/>
        </p:nvSpPr>
        <p:spPr>
          <a:xfrm xmlns:a="http://schemas.openxmlformats.org/drawingml/2006/main">
            <a:off x="5962650" y="35242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HiCache host KV shelf</a:t>
            </a:r>
          </a:p>
        </p:txBody>
      </p:sp>
      <p:sp>
        <p:nvSpPr>
          <p:cNvPr id="25" name="">
            <a:extLst xmlns:a="http://schemas.openxmlformats.org/drawingml/2006/main">
              <a:ext uri="{FF2B5EF4-FFF2-40B4-BE49-F238E27FC236}">
                <a16:creationId xmlns:a16="http://schemas.microsoft.com/office/drawing/2014/main" id="{0095C367-5847-4C83-9DA5-AD89BDC40112}"/>
              </a:ext>
            </a:extLst>
          </p:cNvPr>
          <p:cNvSpPr>
            <a:spLocks xmlns:a="http://schemas.openxmlformats.org/drawingml/2006/main" noGrp="1"/>
          </p:cNvSpPr>
          <p:nvPr/>
        </p:nvSpPr>
        <p:spPr>
          <a:xfrm xmlns:a="http://schemas.openxmlformats.org/drawingml/2006/main">
            <a:off x="5962650" y="37909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16 GB configured</a:t>
            </a:r>
          </a:p>
        </p:txBody>
      </p:sp>
      <p:sp>
        <p:nvSpPr>
          <p:cNvPr id="26" name="">
            <a:extLst xmlns:a="http://schemas.openxmlformats.org/drawingml/2006/main">
              <a:ext uri="{FF2B5EF4-FFF2-40B4-BE49-F238E27FC236}">
                <a16:creationId xmlns:a16="http://schemas.microsoft.com/office/drawing/2014/main" id="{84784A40-F4E0-45EA-9798-9D69442DE958}"/>
              </a:ext>
            </a:extLst>
          </p:cNvPr>
          <p:cNvSpPr>
            <a:spLocks xmlns:a="http://schemas.openxmlformats.org/drawingml/2006/main" noGrp="1"/>
          </p:cNvSpPr>
          <p:nvPr/>
        </p:nvSpPr>
        <p:spPr>
          <a:xfrm xmlns:a="http://schemas.openxmlformats.org/drawingml/2006/main">
            <a:off x="8382000" y="33909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153618BF-A8C1-4470-B4C0-E35D77B48A38}"/>
              </a:ext>
            </a:extLst>
          </p:cNvPr>
          <p:cNvSpPr>
            <a:spLocks xmlns:a="http://schemas.openxmlformats.org/drawingml/2006/main" noGrp="1"/>
          </p:cNvSpPr>
          <p:nvPr/>
        </p:nvSpPr>
        <p:spPr>
          <a:xfrm xmlns:a="http://schemas.openxmlformats.org/drawingml/2006/main">
            <a:off x="8534400" y="35242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Context length</a:t>
            </a:r>
          </a:p>
        </p:txBody>
      </p:sp>
      <p:sp>
        <p:nvSpPr>
          <p:cNvPr id="28" name="">
            <a:extLst xmlns:a="http://schemas.openxmlformats.org/drawingml/2006/main">
              <a:ext uri="{FF2B5EF4-FFF2-40B4-BE49-F238E27FC236}">
                <a16:creationId xmlns:a16="http://schemas.microsoft.com/office/drawing/2014/main" id="{64BE7D69-4ABE-4791-8FD4-1DD66DD145B9}"/>
              </a:ext>
            </a:extLst>
          </p:cNvPr>
          <p:cNvSpPr>
            <a:spLocks xmlns:a="http://schemas.openxmlformats.org/drawingml/2006/main" noGrp="1"/>
          </p:cNvSpPr>
          <p:nvPr/>
        </p:nvSpPr>
        <p:spPr>
          <a:xfrm xmlns:a="http://schemas.openxmlformats.org/drawingml/2006/main">
            <a:off x="8534400" y="37909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32,768 tokens</a:t>
            </a:r>
          </a:p>
        </p:txBody>
      </p:sp>
      <p:sp>
        <p:nvSpPr>
          <p:cNvPr id="29" name="">
            <a:extLst xmlns:a="http://schemas.openxmlformats.org/drawingml/2006/main">
              <a:ext uri="{FF2B5EF4-FFF2-40B4-BE49-F238E27FC236}">
                <a16:creationId xmlns:a16="http://schemas.microsoft.com/office/drawing/2014/main" id="{8461D877-27C7-4781-BCBE-4ADA4A1E043A}"/>
              </a:ext>
            </a:extLst>
          </p:cNvPr>
          <p:cNvSpPr>
            <a:spLocks xmlns:a="http://schemas.openxmlformats.org/drawingml/2006/main" noGrp="1"/>
          </p:cNvSpPr>
          <p:nvPr/>
        </p:nvSpPr>
        <p:spPr>
          <a:xfrm xmlns:a="http://schemas.openxmlformats.org/drawingml/2006/main">
            <a:off x="666750" y="45720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30" name="">
            <a:extLst xmlns:a="http://schemas.openxmlformats.org/drawingml/2006/main">
              <a:ext uri="{FF2B5EF4-FFF2-40B4-BE49-F238E27FC236}">
                <a16:creationId xmlns:a16="http://schemas.microsoft.com/office/drawing/2014/main" id="{390BF2CA-CFD9-4E5B-BDD6-95EC93F4E775}"/>
              </a:ext>
            </a:extLst>
          </p:cNvPr>
          <p:cNvSpPr>
            <a:spLocks xmlns:a="http://schemas.openxmlformats.org/drawingml/2006/main" noGrp="1"/>
          </p:cNvSpPr>
          <p:nvPr/>
        </p:nvSpPr>
        <p:spPr>
          <a:xfrm xmlns:a="http://schemas.openxmlformats.org/drawingml/2006/main">
            <a:off x="819150" y="47053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Max total tokens</a:t>
            </a:r>
          </a:p>
        </p:txBody>
      </p:sp>
      <p:sp>
        <p:nvSpPr>
          <p:cNvPr id="31" name="">
            <a:extLst xmlns:a="http://schemas.openxmlformats.org/drawingml/2006/main">
              <a:ext uri="{FF2B5EF4-FFF2-40B4-BE49-F238E27FC236}">
                <a16:creationId xmlns:a16="http://schemas.microsoft.com/office/drawing/2014/main" id="{2C47FED7-0FDA-40A5-968C-EF3524EE82BA}"/>
              </a:ext>
            </a:extLst>
          </p:cNvPr>
          <p:cNvSpPr>
            <a:spLocks xmlns:a="http://schemas.openxmlformats.org/drawingml/2006/main" noGrp="1"/>
          </p:cNvSpPr>
          <p:nvPr/>
        </p:nvSpPr>
        <p:spPr>
          <a:xfrm xmlns:a="http://schemas.openxmlformats.org/drawingml/2006/main">
            <a:off x="819150" y="49720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12,288</a:t>
            </a:r>
          </a:p>
        </p:txBody>
      </p:sp>
      <p:sp>
        <p:nvSpPr>
          <p:cNvPr id="32" name="">
            <a:extLst xmlns:a="http://schemas.openxmlformats.org/drawingml/2006/main">
              <a:ext uri="{FF2B5EF4-FFF2-40B4-BE49-F238E27FC236}">
                <a16:creationId xmlns:a16="http://schemas.microsoft.com/office/drawing/2014/main" id="{A0AE2487-355F-48ED-A54D-E6A9FB5ACC81}"/>
              </a:ext>
            </a:extLst>
          </p:cNvPr>
          <p:cNvSpPr>
            <a:spLocks xmlns:a="http://schemas.openxmlformats.org/drawingml/2006/main" noGrp="1"/>
          </p:cNvSpPr>
          <p:nvPr/>
        </p:nvSpPr>
        <p:spPr>
          <a:xfrm xmlns:a="http://schemas.openxmlformats.org/drawingml/2006/main">
            <a:off x="3238500" y="45720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F5FA3C2F-C829-4FCC-AE42-F29B1F3F4DA1}"/>
              </a:ext>
            </a:extLst>
          </p:cNvPr>
          <p:cNvSpPr>
            <a:spLocks xmlns:a="http://schemas.openxmlformats.org/drawingml/2006/main" noGrp="1"/>
          </p:cNvSpPr>
          <p:nvPr/>
        </p:nvSpPr>
        <p:spPr>
          <a:xfrm xmlns:a="http://schemas.openxmlformats.org/drawingml/2006/main">
            <a:off x="3390900" y="47053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Memory fraction static</a:t>
            </a:r>
          </a:p>
        </p:txBody>
      </p:sp>
      <p:sp>
        <p:nvSpPr>
          <p:cNvPr id="34" name="">
            <a:extLst xmlns:a="http://schemas.openxmlformats.org/drawingml/2006/main">
              <a:ext uri="{FF2B5EF4-FFF2-40B4-BE49-F238E27FC236}">
                <a16:creationId xmlns:a16="http://schemas.microsoft.com/office/drawing/2014/main" id="{BB79FE45-059B-484B-B137-70F66B196C78}"/>
              </a:ext>
            </a:extLst>
          </p:cNvPr>
          <p:cNvSpPr>
            <a:spLocks xmlns:a="http://schemas.openxmlformats.org/drawingml/2006/main" noGrp="1"/>
          </p:cNvSpPr>
          <p:nvPr/>
        </p:nvSpPr>
        <p:spPr>
          <a:xfrm xmlns:a="http://schemas.openxmlformats.org/drawingml/2006/main">
            <a:off x="3390900" y="49720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0.72</a:t>
            </a:r>
          </a:p>
        </p:txBody>
      </p:sp>
      <p:sp>
        <p:nvSpPr>
          <p:cNvPr id="35" name="">
            <a:extLst xmlns:a="http://schemas.openxmlformats.org/drawingml/2006/main">
              <a:ext uri="{FF2B5EF4-FFF2-40B4-BE49-F238E27FC236}">
                <a16:creationId xmlns:a16="http://schemas.microsoft.com/office/drawing/2014/main" id="{636673F7-669C-486E-980D-7B0CD1989B59}"/>
              </a:ext>
            </a:extLst>
          </p:cNvPr>
          <p:cNvSpPr>
            <a:spLocks xmlns:a="http://schemas.openxmlformats.org/drawingml/2006/main" noGrp="1"/>
          </p:cNvSpPr>
          <p:nvPr/>
        </p:nvSpPr>
        <p:spPr>
          <a:xfrm xmlns:a="http://schemas.openxmlformats.org/drawingml/2006/main">
            <a:off x="5810250" y="45720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36" name="">
            <a:extLst xmlns:a="http://schemas.openxmlformats.org/drawingml/2006/main">
              <a:ext uri="{FF2B5EF4-FFF2-40B4-BE49-F238E27FC236}">
                <a16:creationId xmlns:a16="http://schemas.microsoft.com/office/drawing/2014/main" id="{1C90BBA7-C151-4B66-BDF1-DEFEEEA1C979}"/>
              </a:ext>
            </a:extLst>
          </p:cNvPr>
          <p:cNvSpPr>
            <a:spLocks xmlns:a="http://schemas.openxmlformats.org/drawingml/2006/main" noGrp="1"/>
          </p:cNvSpPr>
          <p:nvPr/>
        </p:nvSpPr>
        <p:spPr>
          <a:xfrm xmlns:a="http://schemas.openxmlformats.org/drawingml/2006/main">
            <a:off x="5962650" y="47053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Tensor parallel</a:t>
            </a:r>
          </a:p>
        </p:txBody>
      </p:sp>
      <p:sp>
        <p:nvSpPr>
          <p:cNvPr id="37" name="">
            <a:extLst xmlns:a="http://schemas.openxmlformats.org/drawingml/2006/main">
              <a:ext uri="{FF2B5EF4-FFF2-40B4-BE49-F238E27FC236}">
                <a16:creationId xmlns:a16="http://schemas.microsoft.com/office/drawing/2014/main" id="{53D36C85-6A9E-4ECC-BF4B-1159DEF7EB4F}"/>
              </a:ext>
            </a:extLst>
          </p:cNvPr>
          <p:cNvSpPr>
            <a:spLocks xmlns:a="http://schemas.openxmlformats.org/drawingml/2006/main" noGrp="1"/>
          </p:cNvSpPr>
          <p:nvPr/>
        </p:nvSpPr>
        <p:spPr>
          <a:xfrm xmlns:a="http://schemas.openxmlformats.org/drawingml/2006/main">
            <a:off x="5962650" y="49720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TP = 1</a:t>
            </a:r>
          </a:p>
        </p:txBody>
      </p:sp>
      <p:sp>
        <p:nvSpPr>
          <p:cNvPr id="38" name="">
            <a:extLst xmlns:a="http://schemas.openxmlformats.org/drawingml/2006/main">
              <a:ext uri="{FF2B5EF4-FFF2-40B4-BE49-F238E27FC236}">
                <a16:creationId xmlns:a16="http://schemas.microsoft.com/office/drawing/2014/main" id="{4CBEAFFA-FD18-4F02-9BE7-3023F7A40D12}"/>
              </a:ext>
            </a:extLst>
          </p:cNvPr>
          <p:cNvSpPr>
            <a:spLocks xmlns:a="http://schemas.openxmlformats.org/drawingml/2006/main" noGrp="1"/>
          </p:cNvSpPr>
          <p:nvPr/>
        </p:nvSpPr>
        <p:spPr>
          <a:xfrm xmlns:a="http://schemas.openxmlformats.org/drawingml/2006/main">
            <a:off x="8382000" y="4572000"/>
            <a:ext cx="2343150" cy="895350"/>
          </a:xfrm>
          <a:prstGeom xmlns:a="http://schemas.openxmlformats.org/drawingml/2006/main" prst="roundRect">
            <a:avLst>
              <a:gd name="adj" fmla="val 6383"/>
            </a:avLst>
          </a:prstGeom>
          <a:solidFill xmlns:a="http://schemas.openxmlformats.org/drawingml/2006/main">
            <a:srgbClr val="FFF7ED"/>
          </a:solidFill>
          <a:ln xmlns:a="http://schemas.openxmlformats.org/drawingml/2006/main" w="9525">
            <a:solidFill>
              <a:srgbClr val="FED7AA"/>
            </a:solidFill>
            <a:prstDash val="solid"/>
          </a:ln>
        </p:spPr>
      </p:sp>
      <p:sp>
        <p:nvSpPr>
          <p:cNvPr id="39" name="">
            <a:extLst xmlns:a="http://schemas.openxmlformats.org/drawingml/2006/main">
              <a:ext uri="{FF2B5EF4-FFF2-40B4-BE49-F238E27FC236}">
                <a16:creationId xmlns:a16="http://schemas.microsoft.com/office/drawing/2014/main" id="{BDB9E5F6-1B47-4019-BDB0-E665E50694F7}"/>
              </a:ext>
            </a:extLst>
          </p:cNvPr>
          <p:cNvSpPr>
            <a:spLocks xmlns:a="http://schemas.openxmlformats.org/drawingml/2006/main" noGrp="1"/>
          </p:cNvSpPr>
          <p:nvPr/>
        </p:nvSpPr>
        <p:spPr>
          <a:xfrm xmlns:a="http://schemas.openxmlformats.org/drawingml/2006/main">
            <a:off x="8534400" y="47053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HiCache policy</a:t>
            </a:r>
          </a:p>
        </p:txBody>
      </p:sp>
      <p:sp>
        <p:nvSpPr>
          <p:cNvPr id="40" name="">
            <a:extLst xmlns:a="http://schemas.openxmlformats.org/drawingml/2006/main">
              <a:ext uri="{FF2B5EF4-FFF2-40B4-BE49-F238E27FC236}">
                <a16:creationId xmlns:a16="http://schemas.microsoft.com/office/drawing/2014/main" id="{BCD4693D-0B85-4852-9AE1-67100EC38E13}"/>
              </a:ext>
            </a:extLst>
          </p:cNvPr>
          <p:cNvSpPr>
            <a:spLocks xmlns:a="http://schemas.openxmlformats.org/drawingml/2006/main" noGrp="1"/>
          </p:cNvSpPr>
          <p:nvPr/>
        </p:nvSpPr>
        <p:spPr>
          <a:xfrm xmlns:a="http://schemas.openxmlformats.org/drawingml/2006/main">
            <a:off x="8534400" y="49720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F172A"/>
                </a:solidFill>
              </a:defRPr>
            </a:pPr>
            <a:r>
              <a:rPr sz="1350" b="1">
                <a:solidFill>
                  <a:srgbClr val="0F172A"/>
                </a:solidFill>
              </a:rPr>
              <a:t>direct + write-through</a:t>
            </a:r>
          </a:p>
        </p:txBody>
      </p:sp>
      <p:sp>
        <p:nvSpPr>
          <p:cNvPr id="41" name="">
            <a:extLst xmlns:a="http://schemas.openxmlformats.org/drawingml/2006/main">
              <a:ext uri="{FF2B5EF4-FFF2-40B4-BE49-F238E27FC236}">
                <a16:creationId xmlns:a16="http://schemas.microsoft.com/office/drawing/2014/main" id="{9D64CF76-FB15-4EC6-ADE6-D3C57FCB8512}"/>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setup section and run configuration</a:t>
            </a:r>
          </a:p>
        </p:txBody>
      </p:sp>
      <p:sp>
        <p:nvSpPr>
          <p:cNvPr id="42" name="">
            <a:extLst xmlns:a="http://schemas.openxmlformats.org/drawingml/2006/main">
              <a:ext uri="{FF2B5EF4-FFF2-40B4-BE49-F238E27FC236}">
                <a16:creationId xmlns:a16="http://schemas.microsoft.com/office/drawing/2014/main" id="{F83092EF-C7D1-4DD4-AD04-403C45AF8AD3}"/>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43" name="">
            <a:extLst xmlns:a="http://schemas.openxmlformats.org/drawingml/2006/main">
              <a:ext uri="{FF2B5EF4-FFF2-40B4-BE49-F238E27FC236}">
                <a16:creationId xmlns:a16="http://schemas.microsoft.com/office/drawing/2014/main" id="{72C50B5B-5D46-424D-9DCB-1041EC5CE587}"/>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03</a:t>
            </a:r>
          </a:p>
        </p:txBody>
      </p:sp>
    </p:spTree>
    <p:extLst>
      <p:ext uri="{BB962C8B-B14F-4D97-AF65-F5344CB8AC3E}">
        <p14:creationId xmlns:p14="http://schemas.microsoft.com/office/powerpoint/2010/main" val="1917389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C9904DF-E872-4045-A561-59C33C009C8B}"/>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Today’s DMA engines move bytes, not intent</a:t>
            </a:r>
          </a:p>
        </p:txBody>
      </p:sp>
      <p:sp>
        <p:nvSpPr>
          <p:cNvPr id="2" name="">
            <a:extLst xmlns:a="http://schemas.openxmlformats.org/drawingml/2006/main">
              <a:ext uri="{FF2B5EF4-FFF2-40B4-BE49-F238E27FC236}">
                <a16:creationId xmlns:a16="http://schemas.microsoft.com/office/drawing/2014/main" id="{A56AB9AC-A3CB-4B18-BED9-CD9E80758276}"/>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hardware path is fast, but it usually lacks agent/session semantics.</a:t>
            </a:r>
          </a:p>
        </p:txBody>
      </p:sp>
      <p:sp>
        <p:nvSpPr>
          <p:cNvPr id="3" name="">
            <a:extLst xmlns:a="http://schemas.openxmlformats.org/drawingml/2006/main">
              <a:ext uri="{FF2B5EF4-FFF2-40B4-BE49-F238E27FC236}">
                <a16:creationId xmlns:a16="http://schemas.microsoft.com/office/drawing/2014/main" id="{5F4B55C9-65DA-4685-81A3-C27CDBD432C2}"/>
              </a:ext>
            </a:extLst>
          </p:cNvPr>
          <p:cNvSpPr>
            <a:spLocks xmlns:a="http://schemas.openxmlformats.org/drawingml/2006/main" noGrp="1"/>
          </p:cNvSpPr>
          <p:nvPr/>
        </p:nvSpPr>
        <p:spPr>
          <a:xfrm xmlns:a="http://schemas.openxmlformats.org/drawingml/2006/main">
            <a:off x="552450" y="1790700"/>
            <a:ext cx="4953000" cy="3429000"/>
          </a:xfrm>
          <a:prstGeom xmlns:a="http://schemas.openxmlformats.org/drawingml/2006/main" prst="roundRect">
            <a:avLst>
              <a:gd name="adj" fmla="val 1667"/>
            </a:avLst>
          </a:prstGeom>
          <a:solidFill xmlns:a="http://schemas.openxmlformats.org/drawingml/2006/main">
            <a:srgbClr val="F8FAFC"/>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93F0BB8C-C628-4F65-BE8F-1889250FF303}"/>
              </a:ext>
            </a:extLst>
          </p:cNvPr>
          <p:cNvSpPr>
            <a:spLocks xmlns:a="http://schemas.openxmlformats.org/drawingml/2006/main" noGrp="1"/>
          </p:cNvSpPr>
          <p:nvPr/>
        </p:nvSpPr>
        <p:spPr>
          <a:xfrm xmlns:a="http://schemas.openxmlformats.org/drawingml/2006/main">
            <a:off x="838200" y="20764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F172A"/>
                </a:solidFill>
              </a:defRPr>
            </a:pPr>
            <a:r>
              <a:rPr sz="1950" b="1">
                <a:solidFill>
                  <a:srgbClr val="0F172A"/>
                </a:solidFill>
              </a:rPr>
              <a:t>Context-agnostic movement</a:t>
            </a:r>
          </a:p>
        </p:txBody>
      </p:sp>
      <p:sp>
        <p:nvSpPr>
          <p:cNvPr id="5" name="">
            <a:extLst xmlns:a="http://schemas.openxmlformats.org/drawingml/2006/main">
              <a:ext uri="{FF2B5EF4-FFF2-40B4-BE49-F238E27FC236}">
                <a16:creationId xmlns:a16="http://schemas.microsoft.com/office/drawing/2014/main" id="{0F6329F6-D543-4769-ACD9-8F3B99378530}"/>
              </a:ext>
            </a:extLst>
          </p:cNvPr>
          <p:cNvSpPr>
            <a:spLocks xmlns:a="http://schemas.openxmlformats.org/drawingml/2006/main" noGrp="1"/>
          </p:cNvSpPr>
          <p:nvPr/>
        </p:nvSpPr>
        <p:spPr>
          <a:xfrm xmlns:a="http://schemas.openxmlformats.org/drawingml/2006/main">
            <a:off x="876300" y="278130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E8AC30A-8C12-4000-AB09-1C85346A041F}"/>
              </a:ext>
            </a:extLst>
          </p:cNvPr>
          <p:cNvSpPr>
            <a:spLocks xmlns:a="http://schemas.openxmlformats.org/drawingml/2006/main" noGrp="1"/>
          </p:cNvSpPr>
          <p:nvPr/>
        </p:nvSpPr>
        <p:spPr>
          <a:xfrm xmlns:a="http://schemas.openxmlformats.org/drawingml/2006/main">
            <a:off x="1104900" y="27051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sees memory ranges</a:t>
            </a:r>
          </a:p>
        </p:txBody>
      </p:sp>
      <p:sp>
        <p:nvSpPr>
          <p:cNvPr id="7" name="">
            <a:extLst xmlns:a="http://schemas.openxmlformats.org/drawingml/2006/main">
              <a:ext uri="{FF2B5EF4-FFF2-40B4-BE49-F238E27FC236}">
                <a16:creationId xmlns:a16="http://schemas.microsoft.com/office/drawing/2014/main" id="{D540C6D3-4E7B-4110-86F9-DDF2E685B486}"/>
              </a:ext>
            </a:extLst>
          </p:cNvPr>
          <p:cNvSpPr>
            <a:spLocks xmlns:a="http://schemas.openxmlformats.org/drawingml/2006/main" noGrp="1"/>
          </p:cNvSpPr>
          <p:nvPr/>
        </p:nvSpPr>
        <p:spPr>
          <a:xfrm xmlns:a="http://schemas.openxmlformats.org/drawingml/2006/main">
            <a:off x="876300" y="329565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4D255D1-B9FB-4A5C-A046-259AF007BC25}"/>
              </a:ext>
            </a:extLst>
          </p:cNvPr>
          <p:cNvSpPr>
            <a:spLocks xmlns:a="http://schemas.openxmlformats.org/drawingml/2006/main" noGrp="1"/>
          </p:cNvSpPr>
          <p:nvPr/>
        </p:nvSpPr>
        <p:spPr>
          <a:xfrm xmlns:a="http://schemas.openxmlformats.org/drawingml/2006/main">
            <a:off x="1104900" y="32194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know the agent session</a:t>
            </a:r>
          </a:p>
        </p:txBody>
      </p:sp>
      <p:sp>
        <p:nvSpPr>
          <p:cNvPr id="9" name="">
            <a:extLst xmlns:a="http://schemas.openxmlformats.org/drawingml/2006/main">
              <a:ext uri="{FF2B5EF4-FFF2-40B4-BE49-F238E27FC236}">
                <a16:creationId xmlns:a16="http://schemas.microsoft.com/office/drawing/2014/main" id="{EE07DE1B-FD83-472C-9C54-7BFD8C2A2AE5}"/>
              </a:ext>
            </a:extLst>
          </p:cNvPr>
          <p:cNvSpPr>
            <a:spLocks xmlns:a="http://schemas.openxmlformats.org/drawingml/2006/main" noGrp="1"/>
          </p:cNvSpPr>
          <p:nvPr/>
        </p:nvSpPr>
        <p:spPr>
          <a:xfrm xmlns:a="http://schemas.openxmlformats.org/drawingml/2006/main">
            <a:off x="876300" y="381000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5864CE6-4F40-4B3B-9DCF-1989D3A55C2F}"/>
              </a:ext>
            </a:extLst>
          </p:cNvPr>
          <p:cNvSpPr>
            <a:spLocks xmlns:a="http://schemas.openxmlformats.org/drawingml/2006/main" noGrp="1"/>
          </p:cNvSpPr>
          <p:nvPr/>
        </p:nvSpPr>
        <p:spPr>
          <a:xfrm xmlns:a="http://schemas.openxmlformats.org/drawingml/2006/main">
            <a:off x="1104900" y="37338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know replay deadline</a:t>
            </a:r>
          </a:p>
        </p:txBody>
      </p:sp>
      <p:sp>
        <p:nvSpPr>
          <p:cNvPr id="11" name="">
            <a:extLst xmlns:a="http://schemas.openxmlformats.org/drawingml/2006/main">
              <a:ext uri="{FF2B5EF4-FFF2-40B4-BE49-F238E27FC236}">
                <a16:creationId xmlns:a16="http://schemas.microsoft.com/office/drawing/2014/main" id="{A2A5A1B3-EF58-427A-A302-7488677A4CAC}"/>
              </a:ext>
            </a:extLst>
          </p:cNvPr>
          <p:cNvSpPr>
            <a:spLocks xmlns:a="http://schemas.openxmlformats.org/drawingml/2006/main" noGrp="1"/>
          </p:cNvSpPr>
          <p:nvPr/>
        </p:nvSpPr>
        <p:spPr>
          <a:xfrm xmlns:a="http://schemas.openxmlformats.org/drawingml/2006/main">
            <a:off x="876300" y="432435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BDF1B09-1858-46A3-91CC-0696BDFDAD35}"/>
              </a:ext>
            </a:extLst>
          </p:cNvPr>
          <p:cNvSpPr>
            <a:spLocks xmlns:a="http://schemas.openxmlformats.org/drawingml/2006/main" noGrp="1"/>
          </p:cNvSpPr>
          <p:nvPr/>
        </p:nvSpPr>
        <p:spPr>
          <a:xfrm xmlns:a="http://schemas.openxmlformats.org/drawingml/2006/main">
            <a:off x="1104900" y="42481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protect useful prefetched KV</a:t>
            </a:r>
          </a:p>
        </p:txBody>
      </p:sp>
      <p:sp>
        <p:nvSpPr>
          <p:cNvPr id="13" name="">
            <a:extLst xmlns:a="http://schemas.openxmlformats.org/drawingml/2006/main">
              <a:ext uri="{FF2B5EF4-FFF2-40B4-BE49-F238E27FC236}">
                <a16:creationId xmlns:a16="http://schemas.microsoft.com/office/drawing/2014/main" id="{EA0F9C3A-4953-4E69-839E-61F413213550}"/>
              </a:ext>
            </a:extLst>
          </p:cNvPr>
          <p:cNvSpPr>
            <a:spLocks xmlns:a="http://schemas.openxmlformats.org/drawingml/2006/main" noGrp="1"/>
          </p:cNvSpPr>
          <p:nvPr/>
        </p:nvSpPr>
        <p:spPr>
          <a:xfrm xmlns:a="http://schemas.openxmlformats.org/drawingml/2006/main">
            <a:off x="5753100" y="308610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050" b="1">
                <a:solidFill>
                  <a:srgbClr val="64748B"/>
                </a:solidFill>
              </a:defRPr>
            </a:pPr>
            <a:r>
              <a:rPr sz="4050" b="1">
                <a:solidFill>
                  <a:srgbClr val="64748B"/>
                </a:solidFill>
              </a:rPr>
              <a:t>→</a:t>
            </a:r>
          </a:p>
        </p:txBody>
      </p:sp>
      <p:sp>
        <p:nvSpPr>
          <p:cNvPr id="14" name="">
            <a:extLst xmlns:a="http://schemas.openxmlformats.org/drawingml/2006/main">
              <a:ext uri="{FF2B5EF4-FFF2-40B4-BE49-F238E27FC236}">
                <a16:creationId xmlns:a16="http://schemas.microsoft.com/office/drawing/2014/main" id="{6DE10328-14AA-45F7-93F6-C7C579DD01CF}"/>
              </a:ext>
            </a:extLst>
          </p:cNvPr>
          <p:cNvSpPr>
            <a:spLocks xmlns:a="http://schemas.openxmlformats.org/drawingml/2006/main" noGrp="1"/>
          </p:cNvSpPr>
          <p:nvPr/>
        </p:nvSpPr>
        <p:spPr>
          <a:xfrm xmlns:a="http://schemas.openxmlformats.org/drawingml/2006/main">
            <a:off x="6686550" y="1790700"/>
            <a:ext cx="4953000" cy="3429000"/>
          </a:xfrm>
          <a:prstGeom xmlns:a="http://schemas.openxmlformats.org/drawingml/2006/main" prst="roundRect">
            <a:avLst>
              <a:gd name="adj" fmla="val 1667"/>
            </a:avLst>
          </a:prstGeom>
          <a:solidFill xmlns:a="http://schemas.openxmlformats.org/drawingml/2006/main">
            <a:srgbClr val="EFF6FF"/>
          </a:solidFill>
          <a:ln xmlns:a="http://schemas.openxmlformats.org/drawingml/2006/main" w="9525">
            <a:solidFill>
              <a:srgbClr val="BFDBFE"/>
            </a:solidFill>
            <a:prstDash val="solid"/>
          </a:ln>
        </p:spPr>
      </p:sp>
      <p:sp>
        <p:nvSpPr>
          <p:cNvPr id="15" name="">
            <a:extLst xmlns:a="http://schemas.openxmlformats.org/drawingml/2006/main">
              <a:ext uri="{FF2B5EF4-FFF2-40B4-BE49-F238E27FC236}">
                <a16:creationId xmlns:a16="http://schemas.microsoft.com/office/drawing/2014/main" id="{85664607-2746-401F-9495-DF7B130A9A9B}"/>
              </a:ext>
            </a:extLst>
          </p:cNvPr>
          <p:cNvSpPr>
            <a:spLocks xmlns:a="http://schemas.openxmlformats.org/drawingml/2006/main" noGrp="1"/>
          </p:cNvSpPr>
          <p:nvPr/>
        </p:nvSpPr>
        <p:spPr>
          <a:xfrm xmlns:a="http://schemas.openxmlformats.org/drawingml/2006/main">
            <a:off x="6972300" y="20764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F172A"/>
                </a:solidFill>
              </a:defRPr>
            </a:pPr>
            <a:r>
              <a:rPr sz="1950" b="1">
                <a:solidFill>
                  <a:srgbClr val="0F172A"/>
                </a:solidFill>
              </a:rPr>
              <a:t>Hint-aware movement</a:t>
            </a:r>
          </a:p>
        </p:txBody>
      </p:sp>
      <p:sp>
        <p:nvSpPr>
          <p:cNvPr id="16" name="">
            <a:extLst xmlns:a="http://schemas.openxmlformats.org/drawingml/2006/main">
              <a:ext uri="{FF2B5EF4-FFF2-40B4-BE49-F238E27FC236}">
                <a16:creationId xmlns:a16="http://schemas.microsoft.com/office/drawing/2014/main" id="{B175B546-3EB1-47C9-9BE3-6ACB71470822}"/>
              </a:ext>
            </a:extLst>
          </p:cNvPr>
          <p:cNvSpPr>
            <a:spLocks xmlns:a="http://schemas.openxmlformats.org/drawingml/2006/main" noGrp="1"/>
          </p:cNvSpPr>
          <p:nvPr/>
        </p:nvSpPr>
        <p:spPr>
          <a:xfrm xmlns:a="http://schemas.openxmlformats.org/drawingml/2006/main">
            <a:off x="7010400" y="2781300"/>
            <a:ext cx="85725" cy="85725"/>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DA6C38D-A402-4C55-BAC2-CB4567160A4E}"/>
              </a:ext>
            </a:extLst>
          </p:cNvPr>
          <p:cNvSpPr>
            <a:spLocks xmlns:a="http://schemas.openxmlformats.org/drawingml/2006/main" noGrp="1"/>
          </p:cNvSpPr>
          <p:nvPr/>
        </p:nvSpPr>
        <p:spPr>
          <a:xfrm xmlns:a="http://schemas.openxmlformats.org/drawingml/2006/main">
            <a:off x="7239000" y="27051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tags KV by session and priority</a:t>
            </a:r>
          </a:p>
        </p:txBody>
      </p:sp>
      <p:sp>
        <p:nvSpPr>
          <p:cNvPr id="18" name="">
            <a:extLst xmlns:a="http://schemas.openxmlformats.org/drawingml/2006/main">
              <a:ext uri="{FF2B5EF4-FFF2-40B4-BE49-F238E27FC236}">
                <a16:creationId xmlns:a16="http://schemas.microsoft.com/office/drawing/2014/main" id="{8E6D2637-CA3C-4CBB-A3BA-91448A4F9892}"/>
              </a:ext>
            </a:extLst>
          </p:cNvPr>
          <p:cNvSpPr>
            <a:spLocks xmlns:a="http://schemas.openxmlformats.org/drawingml/2006/main" noGrp="1"/>
          </p:cNvSpPr>
          <p:nvPr/>
        </p:nvSpPr>
        <p:spPr>
          <a:xfrm xmlns:a="http://schemas.openxmlformats.org/drawingml/2006/main">
            <a:off x="7010400" y="3295650"/>
            <a:ext cx="85725" cy="85725"/>
          </a:xfrm>
          <a:prstGeom xmlns:a="http://schemas.openxmlformats.org/drawingml/2006/main" prst="ellipse">
            <a:avLst/>
          </a:prstGeom>
          <a:solidFill xmlns:a="http://schemas.openxmlformats.org/drawingml/2006/main">
            <a:srgbClr val="A855F7"/>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D4A5B4F-F585-4DD7-A281-967B03522D9D}"/>
              </a:ext>
            </a:extLst>
          </p:cNvPr>
          <p:cNvSpPr>
            <a:spLocks xmlns:a="http://schemas.openxmlformats.org/drawingml/2006/main" noGrp="1"/>
          </p:cNvSpPr>
          <p:nvPr/>
        </p:nvSpPr>
        <p:spPr>
          <a:xfrm xmlns:a="http://schemas.openxmlformats.org/drawingml/2006/main">
            <a:off x="7239000" y="32194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schedules against replay deadlines</a:t>
            </a:r>
          </a:p>
        </p:txBody>
      </p:sp>
      <p:sp>
        <p:nvSpPr>
          <p:cNvPr id="20" name="">
            <a:extLst xmlns:a="http://schemas.openxmlformats.org/drawingml/2006/main">
              <a:ext uri="{FF2B5EF4-FFF2-40B4-BE49-F238E27FC236}">
                <a16:creationId xmlns:a16="http://schemas.microsoft.com/office/drawing/2014/main" id="{C96109B9-C728-459C-8471-3AA8370E8687}"/>
              </a:ext>
            </a:extLst>
          </p:cNvPr>
          <p:cNvSpPr>
            <a:spLocks xmlns:a="http://schemas.openxmlformats.org/drawingml/2006/main" noGrp="1"/>
          </p:cNvSpPr>
          <p:nvPr/>
        </p:nvSpPr>
        <p:spPr>
          <a:xfrm xmlns:a="http://schemas.openxmlformats.org/drawingml/2006/main">
            <a:off x="7010400" y="3810000"/>
            <a:ext cx="85725" cy="85725"/>
          </a:xfrm>
          <a:prstGeom xmlns:a="http://schemas.openxmlformats.org/drawingml/2006/main" prst="ellipse">
            <a:avLst/>
          </a:prstGeom>
          <a:solidFill xmlns:a="http://schemas.openxmlformats.org/drawingml/2006/main">
            <a:srgbClr val="06B6D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9682262-66E1-46F2-8B4D-7DB191D7D6C6}"/>
              </a:ext>
            </a:extLst>
          </p:cNvPr>
          <p:cNvSpPr>
            <a:spLocks xmlns:a="http://schemas.openxmlformats.org/drawingml/2006/main" noGrp="1"/>
          </p:cNvSpPr>
          <p:nvPr/>
        </p:nvSpPr>
        <p:spPr>
          <a:xfrm xmlns:a="http://schemas.openxmlformats.org/drawingml/2006/main">
            <a:off x="7239000" y="37338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moves hot KV before replay</a:t>
            </a:r>
          </a:p>
        </p:txBody>
      </p:sp>
      <p:sp>
        <p:nvSpPr>
          <p:cNvPr id="22" name="">
            <a:extLst xmlns:a="http://schemas.openxmlformats.org/drawingml/2006/main">
              <a:ext uri="{FF2B5EF4-FFF2-40B4-BE49-F238E27FC236}">
                <a16:creationId xmlns:a16="http://schemas.microsoft.com/office/drawing/2014/main" id="{1D93A7D0-ED24-458B-AC6C-B4AC0F7C06C2}"/>
              </a:ext>
            </a:extLst>
          </p:cNvPr>
          <p:cNvSpPr>
            <a:spLocks xmlns:a="http://schemas.openxmlformats.org/drawingml/2006/main" noGrp="1"/>
          </p:cNvSpPr>
          <p:nvPr/>
        </p:nvSpPr>
        <p:spPr>
          <a:xfrm xmlns:a="http://schemas.openxmlformats.org/drawingml/2006/main">
            <a:off x="7010400" y="4324350"/>
            <a:ext cx="85725" cy="85725"/>
          </a:xfrm>
          <a:prstGeom xmlns:a="http://schemas.openxmlformats.org/drawingml/2006/main" prst="ellipse">
            <a:avLst/>
          </a:prstGeom>
          <a:solidFill xmlns:a="http://schemas.openxmlformats.org/drawingml/2006/main">
            <a:srgbClr val="16A34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851CE3D-3CD3-48EC-A723-3EB79E938B3D}"/>
              </a:ext>
            </a:extLst>
          </p:cNvPr>
          <p:cNvSpPr>
            <a:spLocks xmlns:a="http://schemas.openxmlformats.org/drawingml/2006/main" noGrp="1"/>
          </p:cNvSpPr>
          <p:nvPr/>
        </p:nvSpPr>
        <p:spPr>
          <a:xfrm xmlns:a="http://schemas.openxmlformats.org/drawingml/2006/main">
            <a:off x="7239000" y="42481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reports late, useful, and wasted movement</a:t>
            </a:r>
          </a:p>
        </p:txBody>
      </p:sp>
      <p:sp>
        <p:nvSpPr>
          <p:cNvPr id="24" name="">
            <a:extLst xmlns:a="http://schemas.openxmlformats.org/drawingml/2006/main">
              <a:ext uri="{FF2B5EF4-FFF2-40B4-BE49-F238E27FC236}">
                <a16:creationId xmlns:a16="http://schemas.microsoft.com/office/drawing/2014/main" id="{449C23BF-4ED4-42CE-BB79-0F8EE0A2EDE7}"/>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5" name="">
            <a:extLst xmlns:a="http://schemas.openxmlformats.org/drawingml/2006/main">
              <a:ext uri="{FF2B5EF4-FFF2-40B4-BE49-F238E27FC236}">
                <a16:creationId xmlns:a16="http://schemas.microsoft.com/office/drawing/2014/main" id="{0E14A752-2D97-46AF-A739-2274E50B8EAB}"/>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04</a:t>
            </a:r>
          </a:p>
        </p:txBody>
      </p:sp>
    </p:spTree>
    <p:extLst>
      <p:ext uri="{BB962C8B-B14F-4D97-AF65-F5344CB8AC3E}">
        <p14:creationId xmlns:p14="http://schemas.microsoft.com/office/powerpoint/2010/main" val="116951970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4E0F9E-2978-4805-8A99-42194A0191ED}"/>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replay path exposes the bottleneck</a:t>
            </a:r>
          </a:p>
        </p:txBody>
      </p:sp>
      <p:sp>
        <p:nvSpPr>
          <p:cNvPr id="2" name="">
            <a:extLst xmlns:a="http://schemas.openxmlformats.org/drawingml/2006/main">
              <a:ext uri="{FF2B5EF4-FFF2-40B4-BE49-F238E27FC236}">
                <a16:creationId xmlns:a16="http://schemas.microsoft.com/office/drawing/2014/main" id="{65345122-7962-4FEF-A84A-AEF2D086BF75}"/>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Several tool-gap sessions show where replay spends time before the first useful token.</a:t>
            </a:r>
          </a:p>
        </p:txBody>
      </p:sp>
      <p:sp>
        <p:nvSpPr>
          <p:cNvPr id="3" name="">
            <a:extLst xmlns:a="http://schemas.openxmlformats.org/drawingml/2006/main">
              <a:ext uri="{FF2B5EF4-FFF2-40B4-BE49-F238E27FC236}">
                <a16:creationId xmlns:a16="http://schemas.microsoft.com/office/drawing/2014/main" id="{211862FF-9821-4999-B6EE-DE5A7F7B676D}"/>
              </a:ext>
            </a:extLst>
          </p:cNvPr>
          <p:cNvSpPr>
            <a:spLocks xmlns:a="http://schemas.openxmlformats.org/drawingml/2006/main" noGrp="1"/>
          </p:cNvSpPr>
          <p:nvPr/>
        </p:nvSpPr>
        <p:spPr>
          <a:xfrm xmlns:a="http://schemas.openxmlformats.org/drawingml/2006/main">
            <a:off x="228600" y="1181100"/>
            <a:ext cx="11734800" cy="4972050"/>
          </a:xfrm>
          <a:prstGeom xmlns:a="http://schemas.openxmlformats.org/drawingml/2006/main" prst="roundRect">
            <a:avLst>
              <a:gd name="adj" fmla="val 1149"/>
            </a:avLst>
          </a:prstGeom>
          <a:solidFill xmlns:a="http://schemas.openxmlformats.org/drawingml/2006/main">
            <a:srgbClr val="FFFFFF"/>
          </a:solidFill>
          <a:ln xmlns:a="http://schemas.openxmlformats.org/drawingml/2006/main" w="9525">
            <a:solidFill>
              <a:srgbClr val="E5E7EB"/>
            </a:solidFill>
            <a:prstDash val="solid"/>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60f92ac3142478a"/>
          <a:stretch xmlns:a="http://schemas.openxmlformats.org/drawingml/2006/main"/>
        </p:blipFill>
        <p:spPr>
          <a:xfrm xmlns:a="http://schemas.openxmlformats.org/drawingml/2006/main">
            <a:off x="304800" y="1285315"/>
            <a:ext cx="11582400" cy="4763619"/>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CA55B69-90C1-4D6A-95AC-BC1D51880B4F}"/>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controlled run</a:t>
            </a:r>
          </a:p>
        </p:txBody>
      </p:sp>
      <p:sp>
        <p:nvSpPr>
          <p:cNvPr id="6" name="">
            <a:extLst xmlns:a="http://schemas.openxmlformats.org/drawingml/2006/main">
              <a:ext uri="{FF2B5EF4-FFF2-40B4-BE49-F238E27FC236}">
                <a16:creationId xmlns:a16="http://schemas.microsoft.com/office/drawing/2014/main" id="{4F4852C3-0125-4FCB-848D-A08A5D953547}"/>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7" name="">
            <a:extLst xmlns:a="http://schemas.openxmlformats.org/drawingml/2006/main">
              <a:ext uri="{FF2B5EF4-FFF2-40B4-BE49-F238E27FC236}">
                <a16:creationId xmlns:a16="http://schemas.microsoft.com/office/drawing/2014/main" id="{9F2F6E27-0464-4F0B-9055-B8DF8EDA32E3}"/>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05</a:t>
            </a:r>
          </a:p>
        </p:txBody>
      </p:sp>
    </p:spTree>
    <p:extLst>
      <p:ext uri="{BB962C8B-B14F-4D97-AF65-F5344CB8AC3E}">
        <p14:creationId xmlns:p14="http://schemas.microsoft.com/office/powerpoint/2010/main" val="38795665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47E4C7B-A4A8-4569-A66F-28CC2434A6F3}"/>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Software prefetch often missed the agent replay deadline</a:t>
            </a:r>
          </a:p>
        </p:txBody>
      </p:sp>
      <p:sp>
        <p:nvSpPr>
          <p:cNvPr id="2" name="">
            <a:extLst xmlns:a="http://schemas.openxmlformats.org/drawingml/2006/main">
              <a:ext uri="{FF2B5EF4-FFF2-40B4-BE49-F238E27FC236}">
                <a16:creationId xmlns:a16="http://schemas.microsoft.com/office/drawing/2014/main" id="{7B7A393E-CE68-49D4-9F0E-EA8C04916D77}"/>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Across live prefetch attempts, nearly every hint completed after the agent had already resumed.</a:t>
            </a:r>
          </a:p>
        </p:txBody>
      </p:sp>
      <p:sp>
        <p:nvSpPr>
          <p:cNvPr id="3" name="">
            <a:extLst xmlns:a="http://schemas.openxmlformats.org/drawingml/2006/main">
              <a:ext uri="{FF2B5EF4-FFF2-40B4-BE49-F238E27FC236}">
                <a16:creationId xmlns:a16="http://schemas.microsoft.com/office/drawing/2014/main" id="{DC792BF2-6CB7-4A2B-99D0-3B906B1CCA4E}"/>
              </a:ext>
            </a:extLst>
          </p:cNvPr>
          <p:cNvSpPr>
            <a:spLocks xmlns:a="http://schemas.openxmlformats.org/drawingml/2006/main" noGrp="1"/>
          </p:cNvSpPr>
          <p:nvPr/>
        </p:nvSpPr>
        <p:spPr>
          <a:xfrm xmlns:a="http://schemas.openxmlformats.org/drawingml/2006/main">
            <a:off x="323850" y="1428750"/>
            <a:ext cx="8572500" cy="3886200"/>
          </a:xfrm>
          <a:prstGeom xmlns:a="http://schemas.openxmlformats.org/drawingml/2006/main" prst="roundRect">
            <a:avLst>
              <a:gd name="adj" fmla="val 1471"/>
            </a:avLst>
          </a:prstGeom>
          <a:solidFill xmlns:a="http://schemas.openxmlformats.org/drawingml/2006/main">
            <a:srgbClr val="FFFFFF"/>
          </a:solidFill>
          <a:ln xmlns:a="http://schemas.openxmlformats.org/drawingml/2006/main" w="9525">
            <a:solidFill>
              <a:srgbClr val="E5E7EB"/>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6d142085d9b42ab"/>
          <a:stretch xmlns:a="http://schemas.openxmlformats.org/drawingml/2006/main"/>
        </p:blipFill>
        <p:spPr>
          <a:xfrm xmlns:a="http://schemas.openxmlformats.org/drawingml/2006/main">
            <a:off x="400050" y="1890170"/>
            <a:ext cx="8420100" cy="296336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5CB8AE5-5131-4AD4-B2EF-9E24EEEE37C4}"/>
              </a:ext>
            </a:extLst>
          </p:cNvPr>
          <p:cNvSpPr>
            <a:spLocks xmlns:a="http://schemas.openxmlformats.org/drawingml/2006/main" noGrp="1"/>
          </p:cNvSpPr>
          <p:nvPr/>
        </p:nvSpPr>
        <p:spPr>
          <a:xfrm xmlns:a="http://schemas.openxmlformats.org/drawingml/2006/main">
            <a:off x="9124950" y="1600200"/>
            <a:ext cx="2228850" cy="1295400"/>
          </a:xfrm>
          <a:prstGeom xmlns:a="http://schemas.openxmlformats.org/drawingml/2006/main" prst="roundRect">
            <a:avLst>
              <a:gd name="adj" fmla="val 4412"/>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6359ED24-9912-4890-92AA-3DF7546EAA7D}"/>
              </a:ext>
            </a:extLst>
          </p:cNvPr>
          <p:cNvSpPr>
            <a:spLocks xmlns:a="http://schemas.openxmlformats.org/drawingml/2006/main" noGrp="1"/>
          </p:cNvSpPr>
          <p:nvPr/>
        </p:nvSpPr>
        <p:spPr>
          <a:xfrm xmlns:a="http://schemas.openxmlformats.org/drawingml/2006/main">
            <a:off x="9296400" y="1809750"/>
            <a:ext cx="188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700" b="1">
                <a:solidFill>
                  <a:srgbClr val="B91C1C"/>
                </a:solidFill>
              </a:defRPr>
            </a:pPr>
            <a:r>
              <a:rPr sz="2700" b="1">
                <a:solidFill>
                  <a:srgbClr val="B91C1C"/>
                </a:solidFill>
              </a:rPr>
              <a:t>112 of 114</a:t>
            </a:r>
          </a:p>
        </p:txBody>
      </p:sp>
      <p:sp>
        <p:nvSpPr>
          <p:cNvPr id="7" name="">
            <a:extLst xmlns:a="http://schemas.openxmlformats.org/drawingml/2006/main">
              <a:ext uri="{FF2B5EF4-FFF2-40B4-BE49-F238E27FC236}">
                <a16:creationId xmlns:a16="http://schemas.microsoft.com/office/drawing/2014/main" id="{8A7E27C9-65A6-4FC3-B283-FCD79A8C472D}"/>
              </a:ext>
            </a:extLst>
          </p:cNvPr>
          <p:cNvSpPr>
            <a:spLocks xmlns:a="http://schemas.openxmlformats.org/drawingml/2006/main" noGrp="1"/>
          </p:cNvSpPr>
          <p:nvPr/>
        </p:nvSpPr>
        <p:spPr>
          <a:xfrm xmlns:a="http://schemas.openxmlformats.org/drawingml/2006/main">
            <a:off x="9353550" y="2324100"/>
            <a:ext cx="1771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334155"/>
                </a:solidFill>
              </a:defRPr>
            </a:pPr>
            <a:r>
              <a:rPr sz="1350" b="0">
                <a:solidFill>
                  <a:srgbClr val="334155"/>
                </a:solidFill>
              </a:rPr>
              <a:t>prefetch attempts</a:t>
            </a:r>
          </a:p>
        </p:txBody>
      </p:sp>
      <p:sp>
        <p:nvSpPr>
          <p:cNvPr id="8" name="">
            <a:extLst xmlns:a="http://schemas.openxmlformats.org/drawingml/2006/main">
              <a:ext uri="{FF2B5EF4-FFF2-40B4-BE49-F238E27FC236}">
                <a16:creationId xmlns:a16="http://schemas.microsoft.com/office/drawing/2014/main" id="{6DF60C98-54B1-4FAF-AAF3-5150F35B0E16}"/>
              </a:ext>
            </a:extLst>
          </p:cNvPr>
          <p:cNvSpPr>
            <a:spLocks xmlns:a="http://schemas.openxmlformats.org/drawingml/2006/main" noGrp="1"/>
          </p:cNvSpPr>
          <p:nvPr/>
        </p:nvSpPr>
        <p:spPr>
          <a:xfrm xmlns:a="http://schemas.openxmlformats.org/drawingml/2006/main">
            <a:off x="9353550" y="2571750"/>
            <a:ext cx="1771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334155"/>
                </a:solidFill>
              </a:defRPr>
            </a:pPr>
            <a:r>
              <a:rPr sz="1350" b="0">
                <a:solidFill>
                  <a:srgbClr val="334155"/>
                </a:solidFill>
              </a:rPr>
              <a:t>were late</a:t>
            </a:r>
          </a:p>
        </p:txBody>
      </p:sp>
      <p:sp>
        <p:nvSpPr>
          <p:cNvPr id="9" name="">
            <a:extLst xmlns:a="http://schemas.openxmlformats.org/drawingml/2006/main">
              <a:ext uri="{FF2B5EF4-FFF2-40B4-BE49-F238E27FC236}">
                <a16:creationId xmlns:a16="http://schemas.microsoft.com/office/drawing/2014/main" id="{1919D814-B982-4DF7-A54D-8169F905CDF3}"/>
              </a:ext>
            </a:extLst>
          </p:cNvPr>
          <p:cNvSpPr>
            <a:spLocks xmlns:a="http://schemas.openxmlformats.org/drawingml/2006/main" noGrp="1"/>
          </p:cNvSpPr>
          <p:nvPr/>
        </p:nvSpPr>
        <p:spPr>
          <a:xfrm xmlns:a="http://schemas.openxmlformats.org/drawingml/2006/main">
            <a:off x="9124950" y="3143250"/>
            <a:ext cx="2228850" cy="1066800"/>
          </a:xfrm>
          <a:prstGeom xmlns:a="http://schemas.openxmlformats.org/drawingml/2006/main" prst="roundRect">
            <a:avLst>
              <a:gd name="adj" fmla="val 5357"/>
            </a:avLst>
          </a:prstGeom>
          <a:solidFill xmlns:a="http://schemas.openxmlformats.org/drawingml/2006/main">
            <a:srgbClr val="FFF7ED"/>
          </a:solidFill>
          <a:ln xmlns:a="http://schemas.openxmlformats.org/drawingml/2006/main" w="9525">
            <a:solidFill>
              <a:srgbClr val="FED7AA"/>
            </a:solidFill>
            <a:prstDash val="solid"/>
          </a:ln>
        </p:spPr>
      </p:sp>
      <p:sp>
        <p:nvSpPr>
          <p:cNvPr id="10" name="">
            <a:extLst xmlns:a="http://schemas.openxmlformats.org/drawingml/2006/main">
              <a:ext uri="{FF2B5EF4-FFF2-40B4-BE49-F238E27FC236}">
                <a16:creationId xmlns:a16="http://schemas.microsoft.com/office/drawing/2014/main" id="{598FCF1A-44BB-4AB0-B3D7-D8D4ADC9E975}"/>
              </a:ext>
            </a:extLst>
          </p:cNvPr>
          <p:cNvSpPr>
            <a:spLocks xmlns:a="http://schemas.openxmlformats.org/drawingml/2006/main" noGrp="1"/>
          </p:cNvSpPr>
          <p:nvPr/>
        </p:nvSpPr>
        <p:spPr>
          <a:xfrm xmlns:a="http://schemas.openxmlformats.org/drawingml/2006/main">
            <a:off x="9353550" y="3333750"/>
            <a:ext cx="1771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000" b="1">
                <a:solidFill>
                  <a:srgbClr val="C2410C"/>
                </a:solidFill>
              </a:defRPr>
            </a:pPr>
            <a:r>
              <a:rPr sz="3000" b="1">
                <a:solidFill>
                  <a:srgbClr val="C2410C"/>
                </a:solidFill>
              </a:rPr>
              <a:t>98.25%</a:t>
            </a:r>
          </a:p>
        </p:txBody>
      </p:sp>
      <p:sp>
        <p:nvSpPr>
          <p:cNvPr id="11" name="">
            <a:extLst xmlns:a="http://schemas.openxmlformats.org/drawingml/2006/main">
              <a:ext uri="{FF2B5EF4-FFF2-40B4-BE49-F238E27FC236}">
                <a16:creationId xmlns:a16="http://schemas.microsoft.com/office/drawing/2014/main" id="{1D21F941-8D67-49BB-BF57-979B2B831DFE}"/>
              </a:ext>
            </a:extLst>
          </p:cNvPr>
          <p:cNvSpPr>
            <a:spLocks xmlns:a="http://schemas.openxmlformats.org/drawingml/2006/main" noGrp="1"/>
          </p:cNvSpPr>
          <p:nvPr/>
        </p:nvSpPr>
        <p:spPr>
          <a:xfrm xmlns:a="http://schemas.openxmlformats.org/drawingml/2006/main">
            <a:off x="9353550" y="3829050"/>
            <a:ext cx="1771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missed replay due deadline</a:t>
            </a:r>
          </a:p>
        </p:txBody>
      </p:sp>
      <p:sp>
        <p:nvSpPr>
          <p:cNvPr id="12" name="">
            <a:extLst xmlns:a="http://schemas.openxmlformats.org/drawingml/2006/main">
              <a:ext uri="{FF2B5EF4-FFF2-40B4-BE49-F238E27FC236}">
                <a16:creationId xmlns:a16="http://schemas.microsoft.com/office/drawing/2014/main" id="{B5295529-18D6-4E15-8626-C9C1B70DA4DA}"/>
              </a:ext>
            </a:extLst>
          </p:cNvPr>
          <p:cNvSpPr>
            <a:spLocks xmlns:a="http://schemas.openxmlformats.org/drawingml/2006/main" noGrp="1"/>
          </p:cNvSpPr>
          <p:nvPr/>
        </p:nvSpPr>
        <p:spPr>
          <a:xfrm xmlns:a="http://schemas.openxmlformats.org/drawingml/2006/main">
            <a:off x="9124950" y="4514850"/>
            <a:ext cx="2247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This shows that semantic knowledge alone is not enough if the movement path cannot act on hints predictably.</a:t>
            </a:r>
          </a:p>
        </p:txBody>
      </p:sp>
      <p:sp>
        <p:nvSpPr>
          <p:cNvPr id="13" name="">
            <a:extLst xmlns:a="http://schemas.openxmlformats.org/drawingml/2006/main">
              <a:ext uri="{FF2B5EF4-FFF2-40B4-BE49-F238E27FC236}">
                <a16:creationId xmlns:a16="http://schemas.microsoft.com/office/drawing/2014/main" id="{0BF5292F-7FAC-4E8F-B45F-4AA1FDC55F96}"/>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backups/latest_master_report-1.html, Global Prefetch Margin</a:t>
            </a:r>
          </a:p>
        </p:txBody>
      </p:sp>
      <p:sp>
        <p:nvSpPr>
          <p:cNvPr id="14" name="">
            <a:extLst xmlns:a="http://schemas.openxmlformats.org/drawingml/2006/main">
              <a:ext uri="{FF2B5EF4-FFF2-40B4-BE49-F238E27FC236}">
                <a16:creationId xmlns:a16="http://schemas.microsoft.com/office/drawing/2014/main" id="{F21CFDE2-0351-41F8-9FB4-D929694D5C7E}"/>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5" name="">
            <a:extLst xmlns:a="http://schemas.openxmlformats.org/drawingml/2006/main">
              <a:ext uri="{FF2B5EF4-FFF2-40B4-BE49-F238E27FC236}">
                <a16:creationId xmlns:a16="http://schemas.microsoft.com/office/drawing/2014/main" id="{531F7D17-3789-49A6-8D03-DBE0C3099972}"/>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06</a:t>
            </a:r>
          </a:p>
        </p:txBody>
      </p:sp>
    </p:spTree>
    <p:extLst>
      <p:ext uri="{BB962C8B-B14F-4D97-AF65-F5344CB8AC3E}">
        <p14:creationId xmlns:p14="http://schemas.microsoft.com/office/powerpoint/2010/main" val="116619703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A4613DF-F9B4-4BFC-8D6D-B0DA39BE49E7}"/>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Mechanism traces show why prefetch misses</a:t>
            </a:r>
          </a:p>
        </p:txBody>
      </p:sp>
      <p:sp>
        <p:nvSpPr>
          <p:cNvPr id="2" name="">
            <a:extLst xmlns:a="http://schemas.openxmlformats.org/drawingml/2006/main">
              <a:ext uri="{FF2B5EF4-FFF2-40B4-BE49-F238E27FC236}">
                <a16:creationId xmlns:a16="http://schemas.microsoft.com/office/drawing/2014/main" id="{E199B795-95D7-4E93-85A6-D5A3C9C003DB}"/>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In the profiled synthetic run, the hint path existed, but KV copy/readiness still landed too late for replay.</a:t>
            </a:r>
          </a:p>
        </p:txBody>
      </p:sp>
      <p:sp>
        <p:nvSpPr>
          <p:cNvPr id="3" name="">
            <a:extLst xmlns:a="http://schemas.openxmlformats.org/drawingml/2006/main">
              <a:ext uri="{FF2B5EF4-FFF2-40B4-BE49-F238E27FC236}">
                <a16:creationId xmlns:a16="http://schemas.microsoft.com/office/drawing/2014/main" id="{CC5A896C-106A-488E-9F35-4329E8164F93}"/>
              </a:ext>
            </a:extLst>
          </p:cNvPr>
          <p:cNvSpPr>
            <a:spLocks xmlns:a="http://schemas.openxmlformats.org/drawingml/2006/main" noGrp="1"/>
          </p:cNvSpPr>
          <p:nvPr/>
        </p:nvSpPr>
        <p:spPr>
          <a:xfrm xmlns:a="http://schemas.openxmlformats.org/drawingml/2006/main">
            <a:off x="247650" y="1447800"/>
            <a:ext cx="7677150" cy="3581400"/>
          </a:xfrm>
          <a:prstGeom xmlns:a="http://schemas.openxmlformats.org/drawingml/2006/main" prst="roundRect">
            <a:avLst>
              <a:gd name="adj" fmla="val 1596"/>
            </a:avLst>
          </a:prstGeom>
          <a:solidFill xmlns:a="http://schemas.openxmlformats.org/drawingml/2006/main">
            <a:srgbClr val="FFFFFF"/>
          </a:solidFill>
          <a:ln xmlns:a="http://schemas.openxmlformats.org/drawingml/2006/main" w="9525">
            <a:solidFill>
              <a:srgbClr val="E5E7EB"/>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a64803f388a4bec"/>
          <a:stretch xmlns:a="http://schemas.openxmlformats.org/drawingml/2006/main"/>
        </p:blipFill>
        <p:spPr>
          <a:xfrm xmlns:a="http://schemas.openxmlformats.org/drawingml/2006/main">
            <a:off x="323850" y="1858963"/>
            <a:ext cx="7524750" cy="27590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1FC3205-5B72-496C-8891-43F05149FC5D}"/>
              </a:ext>
            </a:extLst>
          </p:cNvPr>
          <p:cNvSpPr>
            <a:spLocks xmlns:a="http://schemas.openxmlformats.org/drawingml/2006/main" noGrp="1"/>
          </p:cNvSpPr>
          <p:nvPr/>
        </p:nvSpPr>
        <p:spPr>
          <a:xfrm xmlns:a="http://schemas.openxmlformats.org/drawingml/2006/main">
            <a:off x="8191500" y="1619250"/>
            <a:ext cx="3124200" cy="781050"/>
          </a:xfrm>
          <a:prstGeom xmlns:a="http://schemas.openxmlformats.org/drawingml/2006/main" prst="roundRect">
            <a:avLst>
              <a:gd name="adj" fmla="val 7317"/>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7A690524-3B70-4D47-B64D-A1A40154F528}"/>
              </a:ext>
            </a:extLst>
          </p:cNvPr>
          <p:cNvSpPr>
            <a:spLocks xmlns:a="http://schemas.openxmlformats.org/drawingml/2006/main" noGrp="1"/>
          </p:cNvSpPr>
          <p:nvPr/>
        </p:nvSpPr>
        <p:spPr>
          <a:xfrm xmlns:a="http://schemas.openxmlformats.org/drawingml/2006/main">
            <a:off x="8420100" y="17907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B91C1C"/>
                </a:solidFill>
              </a:defRPr>
            </a:pPr>
            <a:r>
              <a:rPr sz="2550" b="1">
                <a:solidFill>
                  <a:srgbClr val="B91C1C"/>
                </a:solidFill>
              </a:rPr>
              <a:t>0 / 6</a:t>
            </a:r>
          </a:p>
        </p:txBody>
      </p:sp>
      <p:sp>
        <p:nvSpPr>
          <p:cNvPr id="7" name="">
            <a:extLst xmlns:a="http://schemas.openxmlformats.org/drawingml/2006/main">
              <a:ext uri="{FF2B5EF4-FFF2-40B4-BE49-F238E27FC236}">
                <a16:creationId xmlns:a16="http://schemas.microsoft.com/office/drawing/2014/main" id="{E21206F9-DD38-4C31-8A60-F2B680E96ACA}"/>
              </a:ext>
            </a:extLst>
          </p:cNvPr>
          <p:cNvSpPr>
            <a:spLocks xmlns:a="http://schemas.openxmlformats.org/drawingml/2006/main" noGrp="1"/>
          </p:cNvSpPr>
          <p:nvPr/>
        </p:nvSpPr>
        <p:spPr>
          <a:xfrm xmlns:a="http://schemas.openxmlformats.org/drawingml/2006/main">
            <a:off x="8420100" y="2152650"/>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334155"/>
                </a:solidFill>
              </a:defRPr>
            </a:pPr>
            <a:r>
              <a:rPr sz="1200" b="0">
                <a:solidFill>
                  <a:srgbClr val="334155"/>
                </a:solidFill>
              </a:rPr>
              <a:t>ready before replay</a:t>
            </a:r>
          </a:p>
        </p:txBody>
      </p:sp>
      <p:sp>
        <p:nvSpPr>
          <p:cNvPr id="8" name="">
            <a:extLst xmlns:a="http://schemas.openxmlformats.org/drawingml/2006/main">
              <a:ext uri="{FF2B5EF4-FFF2-40B4-BE49-F238E27FC236}">
                <a16:creationId xmlns:a16="http://schemas.microsoft.com/office/drawing/2014/main" id="{1A22EED6-326F-4475-8BDB-8EA9AD5A7614}"/>
              </a:ext>
            </a:extLst>
          </p:cNvPr>
          <p:cNvSpPr>
            <a:spLocks xmlns:a="http://schemas.openxmlformats.org/drawingml/2006/main" noGrp="1"/>
          </p:cNvSpPr>
          <p:nvPr/>
        </p:nvSpPr>
        <p:spPr>
          <a:xfrm xmlns:a="http://schemas.openxmlformats.org/drawingml/2006/main">
            <a:off x="8191500" y="2647950"/>
            <a:ext cx="3124200" cy="781050"/>
          </a:xfrm>
          <a:prstGeom xmlns:a="http://schemas.openxmlformats.org/drawingml/2006/main" prst="roundRect">
            <a:avLst>
              <a:gd name="adj" fmla="val 7317"/>
            </a:avLst>
          </a:prstGeom>
          <a:solidFill xmlns:a="http://schemas.openxmlformats.org/drawingml/2006/main">
            <a:srgbClr val="ECFEFF"/>
          </a:solidFill>
          <a:ln xmlns:a="http://schemas.openxmlformats.org/drawingml/2006/main" w="9525">
            <a:solidFill>
              <a:srgbClr val="67E8F9"/>
            </a:solidFill>
            <a:prstDash val="solid"/>
          </a:ln>
        </p:spPr>
      </p:sp>
      <p:sp>
        <p:nvSpPr>
          <p:cNvPr id="9" name="">
            <a:extLst xmlns:a="http://schemas.openxmlformats.org/drawingml/2006/main">
              <a:ext uri="{FF2B5EF4-FFF2-40B4-BE49-F238E27FC236}">
                <a16:creationId xmlns:a16="http://schemas.microsoft.com/office/drawing/2014/main" id="{FD088CC6-4BE6-4B45-B08A-F200B6B62AF7}"/>
              </a:ext>
            </a:extLst>
          </p:cNvPr>
          <p:cNvSpPr>
            <a:spLocks xmlns:a="http://schemas.openxmlformats.org/drawingml/2006/main" noGrp="1"/>
          </p:cNvSpPr>
          <p:nvPr/>
        </p:nvSpPr>
        <p:spPr>
          <a:xfrm xmlns:a="http://schemas.openxmlformats.org/drawingml/2006/main">
            <a:off x="8420100" y="28194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0E7490"/>
                </a:solidFill>
              </a:defRPr>
            </a:pPr>
            <a:r>
              <a:rPr sz="2550" b="1">
                <a:solidFill>
                  <a:srgbClr val="0E7490"/>
                </a:solidFill>
              </a:rPr>
              <a:t>3 / 6</a:t>
            </a:r>
          </a:p>
        </p:txBody>
      </p:sp>
      <p:sp>
        <p:nvSpPr>
          <p:cNvPr id="10" name="">
            <a:extLst xmlns:a="http://schemas.openxmlformats.org/drawingml/2006/main">
              <a:ext uri="{FF2B5EF4-FFF2-40B4-BE49-F238E27FC236}">
                <a16:creationId xmlns:a16="http://schemas.microsoft.com/office/drawing/2014/main" id="{9DEF483D-8906-48FE-93A5-21397BB8ECCD}"/>
              </a:ext>
            </a:extLst>
          </p:cNvPr>
          <p:cNvSpPr>
            <a:spLocks xmlns:a="http://schemas.openxmlformats.org/drawingml/2006/main" noGrp="1"/>
          </p:cNvSpPr>
          <p:nvPr/>
        </p:nvSpPr>
        <p:spPr>
          <a:xfrm xmlns:a="http://schemas.openxmlformats.org/drawingml/2006/main">
            <a:off x="8420100" y="3181350"/>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334155"/>
                </a:solidFill>
              </a:defRPr>
            </a:pPr>
            <a:r>
              <a:rPr sz="1200" b="0">
                <a:solidFill>
                  <a:srgbClr val="334155"/>
                </a:solidFill>
              </a:rPr>
              <a:t>visible CUDA HtoD</a:t>
            </a:r>
          </a:p>
        </p:txBody>
      </p:sp>
      <p:sp>
        <p:nvSpPr>
          <p:cNvPr id="11" name="">
            <a:extLst xmlns:a="http://schemas.openxmlformats.org/drawingml/2006/main">
              <a:ext uri="{FF2B5EF4-FFF2-40B4-BE49-F238E27FC236}">
                <a16:creationId xmlns:a16="http://schemas.microsoft.com/office/drawing/2014/main" id="{CCD68155-73C7-4AA9-9EDE-6180850749F3}"/>
              </a:ext>
            </a:extLst>
          </p:cNvPr>
          <p:cNvSpPr>
            <a:spLocks xmlns:a="http://schemas.openxmlformats.org/drawingml/2006/main" noGrp="1"/>
          </p:cNvSpPr>
          <p:nvPr/>
        </p:nvSpPr>
        <p:spPr>
          <a:xfrm xmlns:a="http://schemas.openxmlformats.org/drawingml/2006/main">
            <a:off x="8191500" y="3676650"/>
            <a:ext cx="3124200" cy="781050"/>
          </a:xfrm>
          <a:prstGeom xmlns:a="http://schemas.openxmlformats.org/drawingml/2006/main" prst="roundRect">
            <a:avLst>
              <a:gd name="adj" fmla="val 7317"/>
            </a:avLst>
          </a:prstGeom>
          <a:solidFill xmlns:a="http://schemas.openxmlformats.org/drawingml/2006/main">
            <a:srgbClr val="FFF7ED"/>
          </a:solidFill>
          <a:ln xmlns:a="http://schemas.openxmlformats.org/drawingml/2006/main" w="9525">
            <a:solidFill>
              <a:srgbClr val="FED7AA"/>
            </a:solidFill>
            <a:prstDash val="solid"/>
          </a:ln>
        </p:spPr>
      </p:sp>
      <p:sp>
        <p:nvSpPr>
          <p:cNvPr id="12" name="">
            <a:extLst xmlns:a="http://schemas.openxmlformats.org/drawingml/2006/main">
              <a:ext uri="{FF2B5EF4-FFF2-40B4-BE49-F238E27FC236}">
                <a16:creationId xmlns:a16="http://schemas.microsoft.com/office/drawing/2014/main" id="{A4B80967-9A17-46B6-8512-BAD9CE769292}"/>
              </a:ext>
            </a:extLst>
          </p:cNvPr>
          <p:cNvSpPr>
            <a:spLocks xmlns:a="http://schemas.openxmlformats.org/drawingml/2006/main" noGrp="1"/>
          </p:cNvSpPr>
          <p:nvPr/>
        </p:nvSpPr>
        <p:spPr>
          <a:xfrm xmlns:a="http://schemas.openxmlformats.org/drawingml/2006/main">
            <a:off x="8420100" y="38481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C2410C"/>
                </a:solidFill>
              </a:defRPr>
            </a:pPr>
            <a:r>
              <a:rPr sz="2550" b="1">
                <a:solidFill>
                  <a:srgbClr val="C2410C"/>
                </a:solidFill>
              </a:rPr>
              <a:t>6 / 6</a:t>
            </a:r>
          </a:p>
        </p:txBody>
      </p:sp>
      <p:sp>
        <p:nvSpPr>
          <p:cNvPr id="13" name="">
            <a:extLst xmlns:a="http://schemas.openxmlformats.org/drawingml/2006/main">
              <a:ext uri="{FF2B5EF4-FFF2-40B4-BE49-F238E27FC236}">
                <a16:creationId xmlns:a16="http://schemas.microsoft.com/office/drawing/2014/main" id="{8875D84C-EA46-4D7C-8BA3-57F7BE6A5017}"/>
              </a:ext>
            </a:extLst>
          </p:cNvPr>
          <p:cNvSpPr>
            <a:spLocks xmlns:a="http://schemas.openxmlformats.org/drawingml/2006/main" noGrp="1"/>
          </p:cNvSpPr>
          <p:nvPr/>
        </p:nvSpPr>
        <p:spPr>
          <a:xfrm xmlns:a="http://schemas.openxmlformats.org/drawingml/2006/main">
            <a:off x="8420100" y="4210050"/>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334155"/>
                </a:solidFill>
              </a:defRPr>
            </a:pPr>
            <a:r>
              <a:rPr sz="1200" b="0">
                <a:solidFill>
                  <a:srgbClr val="334155"/>
                </a:solidFill>
              </a:rPr>
              <a:t>replay reloaded KV</a:t>
            </a:r>
          </a:p>
        </p:txBody>
      </p:sp>
      <p:sp>
        <p:nvSpPr>
          <p:cNvPr id="14" name="">
            <a:extLst xmlns:a="http://schemas.openxmlformats.org/drawingml/2006/main">
              <a:ext uri="{FF2B5EF4-FFF2-40B4-BE49-F238E27FC236}">
                <a16:creationId xmlns:a16="http://schemas.microsoft.com/office/drawing/2014/main" id="{1E45C44A-479D-40F4-A04D-B60E3DFF339E}"/>
              </a:ext>
            </a:extLst>
          </p:cNvPr>
          <p:cNvSpPr>
            <a:spLocks xmlns:a="http://schemas.openxmlformats.org/drawingml/2006/main" noGrp="1"/>
          </p:cNvSpPr>
          <p:nvPr/>
        </p:nvSpPr>
        <p:spPr>
          <a:xfrm xmlns:a="http://schemas.openxmlformats.org/drawingml/2006/main">
            <a:off x="8134350" y="4686300"/>
            <a:ext cx="3314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The semantic hint was present, but the normal movement path did not make residency/reuse predictable before replay.</a:t>
            </a:r>
          </a:p>
        </p:txBody>
      </p:sp>
      <p:sp>
        <p:nvSpPr>
          <p:cNvPr id="15" name="">
            <a:extLst xmlns:a="http://schemas.openxmlformats.org/drawingml/2006/main">
              <a:ext uri="{FF2B5EF4-FFF2-40B4-BE49-F238E27FC236}">
                <a16:creationId xmlns:a16="http://schemas.microsoft.com/office/drawing/2014/main" id="{38CA4649-E6AB-4C21-AA16-7B6F683879CF}"/>
              </a:ext>
            </a:extLst>
          </p:cNvPr>
          <p:cNvSpPr>
            <a:spLocks xmlns:a="http://schemas.openxmlformats.org/drawingml/2006/main" noGrp="1"/>
          </p:cNvSpPr>
          <p:nvPr/>
        </p:nvSpPr>
        <p:spPr>
          <a:xfrm xmlns:a="http://schemas.openxmlformats.org/drawingml/2006/main">
            <a:off x="685800" y="5334000"/>
            <a:ext cx="1019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4748B"/>
                </a:solidFill>
              </a:defRPr>
            </a:pPr>
            <a:r>
              <a:rPr sz="1200" b="0">
                <a:solidFill>
                  <a:srgbClr val="64748B"/>
                </a:solidFill>
              </a:rPr>
              <a:t>Preliminary mechanism evidence only: useful for copy-path attribution, not clean TTFT claims.</a:t>
            </a:r>
          </a:p>
        </p:txBody>
      </p:sp>
      <p:sp>
        <p:nvSpPr>
          <p:cNvPr id="16" name="">
            <a:extLst xmlns:a="http://schemas.openxmlformats.org/drawingml/2006/main">
              <a:ext uri="{FF2B5EF4-FFF2-40B4-BE49-F238E27FC236}">
                <a16:creationId xmlns:a16="http://schemas.microsoft.com/office/drawing/2014/main" id="{1BE4B4EC-FF02-4814-89B3-B6A54BC2BED2}"/>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latest_synthetic_master_report.html, Profiled Mechanism Timelines</a:t>
            </a:r>
          </a:p>
        </p:txBody>
      </p:sp>
      <p:sp>
        <p:nvSpPr>
          <p:cNvPr id="17" name="">
            <a:extLst xmlns:a="http://schemas.openxmlformats.org/drawingml/2006/main">
              <a:ext uri="{FF2B5EF4-FFF2-40B4-BE49-F238E27FC236}">
                <a16:creationId xmlns:a16="http://schemas.microsoft.com/office/drawing/2014/main" id="{89CB325D-25F2-44B5-B04F-257AC7448D35}"/>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8" name="">
            <a:extLst xmlns:a="http://schemas.openxmlformats.org/drawingml/2006/main">
              <a:ext uri="{FF2B5EF4-FFF2-40B4-BE49-F238E27FC236}">
                <a16:creationId xmlns:a16="http://schemas.microsoft.com/office/drawing/2014/main" id="{5CC25300-651E-48A4-B342-D499D85F4F46}"/>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07</a:t>
            </a:r>
          </a:p>
        </p:txBody>
      </p:sp>
    </p:spTree>
    <p:extLst>
      <p:ext uri="{BB962C8B-B14F-4D97-AF65-F5344CB8AC3E}">
        <p14:creationId xmlns:p14="http://schemas.microsoft.com/office/powerpoint/2010/main" val="143400244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5A1DE5F-EBB2-47BE-A8C7-27DA9990ED32}"/>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Replay-side KV loads missed the deadline in this run</a:t>
            </a:r>
          </a:p>
        </p:txBody>
      </p:sp>
      <p:sp>
        <p:nvSpPr>
          <p:cNvPr id="2" name="">
            <a:extLst xmlns:a="http://schemas.openxmlformats.org/drawingml/2006/main">
              <a:ext uri="{FF2B5EF4-FFF2-40B4-BE49-F238E27FC236}">
                <a16:creationId xmlns:a16="http://schemas.microsoft.com/office/drawing/2014/main" id="{A273795D-DF79-41E2-BDAA-0796C1265DA0}"/>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aggregate view shows whether KV H2D finished before or after replay was due.</a:t>
            </a:r>
          </a:p>
        </p:txBody>
      </p:sp>
      <p:sp>
        <p:nvSpPr>
          <p:cNvPr id="3" name="">
            <a:extLst xmlns:a="http://schemas.openxmlformats.org/drawingml/2006/main">
              <a:ext uri="{FF2B5EF4-FFF2-40B4-BE49-F238E27FC236}">
                <a16:creationId xmlns:a16="http://schemas.microsoft.com/office/drawing/2014/main" id="{A24DF1CF-A9D4-43D7-A63E-86CB8F385CA4}"/>
              </a:ext>
            </a:extLst>
          </p:cNvPr>
          <p:cNvSpPr>
            <a:spLocks xmlns:a="http://schemas.openxmlformats.org/drawingml/2006/main" noGrp="1"/>
          </p:cNvSpPr>
          <p:nvPr/>
        </p:nvSpPr>
        <p:spPr>
          <a:xfrm xmlns:a="http://schemas.openxmlformats.org/drawingml/2006/main">
            <a:off x="323850" y="1428750"/>
            <a:ext cx="8724900" cy="3867150"/>
          </a:xfrm>
          <a:prstGeom xmlns:a="http://schemas.openxmlformats.org/drawingml/2006/main" prst="roundRect">
            <a:avLst>
              <a:gd name="adj" fmla="val 1478"/>
            </a:avLst>
          </a:prstGeom>
          <a:solidFill xmlns:a="http://schemas.openxmlformats.org/drawingml/2006/main">
            <a:srgbClr val="FFFFFF"/>
          </a:solidFill>
          <a:ln xmlns:a="http://schemas.openxmlformats.org/drawingml/2006/main" w="9525">
            <a:solidFill>
              <a:srgbClr val="E5E7EB"/>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8372ffadd9244e8"/>
          <a:stretch xmlns:a="http://schemas.openxmlformats.org/drawingml/2006/main"/>
        </p:blipFill>
        <p:spPr>
          <a:xfrm xmlns:a="http://schemas.openxmlformats.org/drawingml/2006/main">
            <a:off x="400050" y="1795905"/>
            <a:ext cx="8572500" cy="313284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061D14D-3C11-47A1-8E65-522E591A9083}"/>
              </a:ext>
            </a:extLst>
          </p:cNvPr>
          <p:cNvSpPr>
            <a:spLocks xmlns:a="http://schemas.openxmlformats.org/drawingml/2006/main" noGrp="1"/>
          </p:cNvSpPr>
          <p:nvPr/>
        </p:nvSpPr>
        <p:spPr>
          <a:xfrm xmlns:a="http://schemas.openxmlformats.org/drawingml/2006/main">
            <a:off x="9258300" y="1847850"/>
            <a:ext cx="2095500" cy="1104900"/>
          </a:xfrm>
          <a:prstGeom xmlns:a="http://schemas.openxmlformats.org/drawingml/2006/main" prst="roundRect">
            <a:avLst>
              <a:gd name="adj" fmla="val 5172"/>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CB00F1AF-4D34-490F-A0A5-9DC095CA6716}"/>
              </a:ext>
            </a:extLst>
          </p:cNvPr>
          <p:cNvSpPr>
            <a:spLocks xmlns:a="http://schemas.openxmlformats.org/drawingml/2006/main" noGrp="1"/>
          </p:cNvSpPr>
          <p:nvPr/>
        </p:nvSpPr>
        <p:spPr>
          <a:xfrm xmlns:a="http://schemas.openxmlformats.org/drawingml/2006/main">
            <a:off x="9505950" y="2076450"/>
            <a:ext cx="1600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600" b="1">
                <a:solidFill>
                  <a:srgbClr val="B91C1C"/>
                </a:solidFill>
              </a:defRPr>
            </a:pPr>
            <a:r>
              <a:rPr sz="3600" b="1">
                <a:solidFill>
                  <a:srgbClr val="B91C1C"/>
                </a:solidFill>
              </a:rPr>
              <a:t>8 / 8</a:t>
            </a:r>
          </a:p>
        </p:txBody>
      </p:sp>
      <p:sp>
        <p:nvSpPr>
          <p:cNvPr id="7" name="">
            <a:extLst xmlns:a="http://schemas.openxmlformats.org/drawingml/2006/main">
              <a:ext uri="{FF2B5EF4-FFF2-40B4-BE49-F238E27FC236}">
                <a16:creationId xmlns:a16="http://schemas.microsoft.com/office/drawing/2014/main" id="{7F74B511-1B9E-4841-94D2-DBACEA63503A}"/>
              </a:ext>
            </a:extLst>
          </p:cNvPr>
          <p:cNvSpPr>
            <a:spLocks xmlns:a="http://schemas.openxmlformats.org/drawingml/2006/main" noGrp="1"/>
          </p:cNvSpPr>
          <p:nvPr/>
        </p:nvSpPr>
        <p:spPr>
          <a:xfrm xmlns:a="http://schemas.openxmlformats.org/drawingml/2006/main">
            <a:off x="9505950" y="2628900"/>
            <a:ext cx="1600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H2D loads finished late</a:t>
            </a:r>
          </a:p>
        </p:txBody>
      </p:sp>
      <p:sp>
        <p:nvSpPr>
          <p:cNvPr id="8" name="">
            <a:extLst xmlns:a="http://schemas.openxmlformats.org/drawingml/2006/main">
              <a:ext uri="{FF2B5EF4-FFF2-40B4-BE49-F238E27FC236}">
                <a16:creationId xmlns:a16="http://schemas.microsoft.com/office/drawing/2014/main" id="{F191A9BD-D0E6-44BE-AD05-C608F17D0DB4}"/>
              </a:ext>
            </a:extLst>
          </p:cNvPr>
          <p:cNvSpPr>
            <a:spLocks xmlns:a="http://schemas.openxmlformats.org/drawingml/2006/main" noGrp="1"/>
          </p:cNvSpPr>
          <p:nvPr/>
        </p:nvSpPr>
        <p:spPr>
          <a:xfrm xmlns:a="http://schemas.openxmlformats.org/drawingml/2006/main">
            <a:off x="9258300" y="3524250"/>
            <a:ext cx="2095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334155"/>
                </a:solidFill>
              </a:defRPr>
            </a:pPr>
            <a:r>
              <a:rPr sz="1575" b="0">
                <a:solidFill>
                  <a:srgbClr val="334155"/>
                </a:solidFill>
              </a:rPr>
              <a:t>All visible replay-side KV loads finished below the 0 ms deadline line.</a:t>
            </a:r>
          </a:p>
        </p:txBody>
      </p:sp>
      <p:sp>
        <p:nvSpPr>
          <p:cNvPr id="9" name="">
            <a:extLst xmlns:a="http://schemas.openxmlformats.org/drawingml/2006/main">
              <a:ext uri="{FF2B5EF4-FFF2-40B4-BE49-F238E27FC236}">
                <a16:creationId xmlns:a16="http://schemas.microsoft.com/office/drawing/2014/main" id="{9E2CC8D2-F04E-44B5-97A2-0CD12CDF4131}"/>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Global Replay H2D Readiness</a:t>
            </a:r>
          </a:p>
        </p:txBody>
      </p:sp>
      <p:sp>
        <p:nvSpPr>
          <p:cNvPr id="10" name="">
            <a:extLst xmlns:a="http://schemas.openxmlformats.org/drawingml/2006/main">
              <a:ext uri="{FF2B5EF4-FFF2-40B4-BE49-F238E27FC236}">
                <a16:creationId xmlns:a16="http://schemas.microsoft.com/office/drawing/2014/main" id="{7A1CC0CE-C2D7-4B3F-BE6F-67B3578AC330}"/>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28822C22-DF86-44B2-BCB1-C8171CF456A0}"/>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08</a:t>
            </a:r>
          </a:p>
        </p:txBody>
      </p:sp>
    </p:spTree>
    <p:extLst>
      <p:ext uri="{BB962C8B-B14F-4D97-AF65-F5344CB8AC3E}">
        <p14:creationId xmlns:p14="http://schemas.microsoft.com/office/powerpoint/2010/main" val="209144520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EF5D84-8BD8-4153-9201-B8605B844B10}"/>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delay is not just copy time</a:t>
            </a:r>
          </a:p>
        </p:txBody>
      </p:sp>
      <p:sp>
        <p:nvSpPr>
          <p:cNvPr id="2" name="">
            <a:extLst xmlns:a="http://schemas.openxmlformats.org/drawingml/2006/main">
              <a:ext uri="{FF2B5EF4-FFF2-40B4-BE49-F238E27FC236}">
                <a16:creationId xmlns:a16="http://schemas.microsoft.com/office/drawing/2014/main" id="{5391E6EE-7B0E-4FA2-8310-C8BBEA91CE1C}"/>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request enters normal software/runtime scheduling before visible KV H2D begins.</a:t>
            </a:r>
          </a:p>
        </p:txBody>
      </p:sp>
      <p:sp>
        <p:nvSpPr>
          <p:cNvPr id="3" name="">
            <a:extLst xmlns:a="http://schemas.openxmlformats.org/drawingml/2006/main">
              <a:ext uri="{FF2B5EF4-FFF2-40B4-BE49-F238E27FC236}">
                <a16:creationId xmlns:a16="http://schemas.microsoft.com/office/drawing/2014/main" id="{A5A495FB-4327-499E-95E7-108260CD409D}"/>
              </a:ext>
            </a:extLst>
          </p:cNvPr>
          <p:cNvSpPr>
            <a:spLocks xmlns:a="http://schemas.openxmlformats.org/drawingml/2006/main" noGrp="1"/>
          </p:cNvSpPr>
          <p:nvPr/>
        </p:nvSpPr>
        <p:spPr>
          <a:xfrm xmlns:a="http://schemas.openxmlformats.org/drawingml/2006/main">
            <a:off x="323850" y="1333500"/>
            <a:ext cx="10820400" cy="4343400"/>
          </a:xfrm>
          <a:prstGeom xmlns:a="http://schemas.openxmlformats.org/drawingml/2006/main" prst="roundRect">
            <a:avLst>
              <a:gd name="adj" fmla="val 1316"/>
            </a:avLst>
          </a:prstGeom>
          <a:solidFill xmlns:a="http://schemas.openxmlformats.org/drawingml/2006/main">
            <a:srgbClr val="FFFFFF"/>
          </a:solidFill>
          <a:ln xmlns:a="http://schemas.openxmlformats.org/drawingml/2006/main" w="9525">
            <a:solidFill>
              <a:srgbClr val="E5E7EB"/>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10ab5f9d2f2746c3"/>
          <a:stretch xmlns:a="http://schemas.openxmlformats.org/drawingml/2006/main"/>
        </p:blipFill>
        <p:spPr>
          <a:xfrm xmlns:a="http://schemas.openxmlformats.org/drawingml/2006/main">
            <a:off x="1247835" y="1409700"/>
            <a:ext cx="8972430" cy="4191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D004F01-8F39-4253-A54F-0C13C4E736FA}"/>
              </a:ext>
            </a:extLst>
          </p:cNvPr>
          <p:cNvSpPr>
            <a:spLocks xmlns:a="http://schemas.openxmlformats.org/drawingml/2006/main" noGrp="1"/>
          </p:cNvSpPr>
          <p:nvPr/>
        </p:nvSpPr>
        <p:spPr>
          <a:xfrm xmlns:a="http://schemas.openxmlformats.org/drawingml/2006/main">
            <a:off x="685800" y="5791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334155"/>
                </a:solidFill>
              </a:defRPr>
            </a:pPr>
            <a:r>
              <a:rPr sz="1275" b="0">
                <a:solidFill>
                  <a:srgbClr val="334155"/>
                </a:solidFill>
              </a:rPr>
              <a:t>The stage markers separate submission, SGLang receive, scheduler queue/admit, and visible KV H2D movement.</a:t>
            </a:r>
          </a:p>
        </p:txBody>
      </p:sp>
      <p:sp>
        <p:nvSpPr>
          <p:cNvPr id="6" name="">
            <a:extLst xmlns:a="http://schemas.openxmlformats.org/drawingml/2006/main">
              <a:ext uri="{FF2B5EF4-FFF2-40B4-BE49-F238E27FC236}">
                <a16:creationId xmlns:a16="http://schemas.microsoft.com/office/drawing/2014/main" id="{DAF4585C-DAD1-4142-887B-94740EAE2140}"/>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Replay Queue Timeline vs H2D Start</a:t>
            </a:r>
          </a:p>
        </p:txBody>
      </p:sp>
      <p:sp>
        <p:nvSpPr>
          <p:cNvPr id="7" name="">
            <a:extLst xmlns:a="http://schemas.openxmlformats.org/drawingml/2006/main">
              <a:ext uri="{FF2B5EF4-FFF2-40B4-BE49-F238E27FC236}">
                <a16:creationId xmlns:a16="http://schemas.microsoft.com/office/drawing/2014/main" id="{A279A9B1-D052-4683-B54C-6582090AF322}"/>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8" name="">
            <a:extLst xmlns:a="http://schemas.openxmlformats.org/drawingml/2006/main">
              <a:ext uri="{FF2B5EF4-FFF2-40B4-BE49-F238E27FC236}">
                <a16:creationId xmlns:a16="http://schemas.microsoft.com/office/drawing/2014/main" id="{7CEDB7B5-4C60-4A95-9365-197E644348AC}"/>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09</a:t>
            </a:r>
          </a:p>
        </p:txBody>
      </p:sp>
    </p:spTree>
    <p:extLst>
      <p:ext uri="{BB962C8B-B14F-4D97-AF65-F5344CB8AC3E}">
        <p14:creationId xmlns:p14="http://schemas.microsoft.com/office/powerpoint/2010/main" val="105713540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6440635-592A-4EEC-B999-6B63790201B2}"/>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Hardware support can make hints enforceable</a:t>
            </a:r>
          </a:p>
        </p:txBody>
      </p:sp>
      <p:sp>
        <p:nvSpPr>
          <p:cNvPr id="2" name="">
            <a:extLst xmlns:a="http://schemas.openxmlformats.org/drawingml/2006/main">
              <a:ext uri="{FF2B5EF4-FFF2-40B4-BE49-F238E27FC236}">
                <a16:creationId xmlns:a16="http://schemas.microsoft.com/office/drawing/2014/main" id="{775D5695-BBCC-4521-AB34-4C410A0379B4}"/>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opportunity is to treat KV as deadline-sensitive memory, not generic bytes.</a:t>
            </a:r>
          </a:p>
        </p:txBody>
      </p:sp>
      <p:sp>
        <p:nvSpPr>
          <p:cNvPr id="3" name="">
            <a:extLst xmlns:a="http://schemas.openxmlformats.org/drawingml/2006/main">
              <a:ext uri="{FF2B5EF4-FFF2-40B4-BE49-F238E27FC236}">
                <a16:creationId xmlns:a16="http://schemas.microsoft.com/office/drawing/2014/main" id="{B919F1E8-595D-45ED-A9EF-2BBAEF6635C8}"/>
              </a:ext>
            </a:extLst>
          </p:cNvPr>
          <p:cNvSpPr>
            <a:spLocks xmlns:a="http://schemas.openxmlformats.org/drawingml/2006/main" noGrp="1"/>
          </p:cNvSpPr>
          <p:nvPr/>
        </p:nvSpPr>
        <p:spPr>
          <a:xfrm xmlns:a="http://schemas.openxmlformats.org/drawingml/2006/main">
            <a:off x="552450" y="1962150"/>
            <a:ext cx="1695450" cy="1695450"/>
          </a:xfrm>
          <a:prstGeom xmlns:a="http://schemas.openxmlformats.org/drawingml/2006/main" prst="roundRect">
            <a:avLst>
              <a:gd name="adj" fmla="val 3371"/>
            </a:avLst>
          </a:prstGeom>
          <a:solidFill xmlns:a="http://schemas.openxmlformats.org/drawingml/2006/main">
            <a:srgbClr val="EFF6FF"/>
          </a:solidFill>
          <a:ln xmlns:a="http://schemas.openxmlformats.org/drawingml/2006/main" w="9525">
            <a:solidFill>
              <a:srgbClr val="2563EB"/>
            </a:solidFill>
            <a:prstDash val="solid"/>
          </a:ln>
        </p:spPr>
      </p:sp>
      <p:sp>
        <p:nvSpPr>
          <p:cNvPr id="4" name="">
            <a:extLst xmlns:a="http://schemas.openxmlformats.org/drawingml/2006/main">
              <a:ext uri="{FF2B5EF4-FFF2-40B4-BE49-F238E27FC236}">
                <a16:creationId xmlns:a16="http://schemas.microsoft.com/office/drawing/2014/main" id="{BC918451-9840-418E-A215-090B3A5301CB}"/>
              </a:ext>
            </a:extLst>
          </p:cNvPr>
          <p:cNvSpPr>
            <a:spLocks xmlns:a="http://schemas.openxmlformats.org/drawingml/2006/main" noGrp="1"/>
          </p:cNvSpPr>
          <p:nvPr/>
        </p:nvSpPr>
        <p:spPr>
          <a:xfrm xmlns:a="http://schemas.openxmlformats.org/drawingml/2006/main">
            <a:off x="7048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Runtime hint</a:t>
            </a:r>
          </a:p>
        </p:txBody>
      </p:sp>
      <p:sp>
        <p:nvSpPr>
          <p:cNvPr id="5" name="">
            <a:extLst xmlns:a="http://schemas.openxmlformats.org/drawingml/2006/main">
              <a:ext uri="{FF2B5EF4-FFF2-40B4-BE49-F238E27FC236}">
                <a16:creationId xmlns:a16="http://schemas.microsoft.com/office/drawing/2014/main" id="{5C14670C-522D-49B1-852B-3208D7C87FF2}"/>
              </a:ext>
            </a:extLst>
          </p:cNvPr>
          <p:cNvSpPr>
            <a:spLocks xmlns:a="http://schemas.openxmlformats.org/drawingml/2006/main" noGrp="1"/>
          </p:cNvSpPr>
          <p:nvPr/>
        </p:nvSpPr>
        <p:spPr>
          <a:xfrm xmlns:a="http://schemas.openxmlformats.org/drawingml/2006/main">
            <a:off x="7239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session, priority, deadline</a:t>
            </a:r>
          </a:p>
        </p:txBody>
      </p:sp>
      <p:sp>
        <p:nvSpPr>
          <p:cNvPr id="6" name="">
            <a:extLst xmlns:a="http://schemas.openxmlformats.org/drawingml/2006/main">
              <a:ext uri="{FF2B5EF4-FFF2-40B4-BE49-F238E27FC236}">
                <a16:creationId xmlns:a16="http://schemas.microsoft.com/office/drawing/2014/main" id="{ED09A8D7-54E5-4C23-89EA-B88811642562}"/>
              </a:ext>
            </a:extLst>
          </p:cNvPr>
          <p:cNvSpPr>
            <a:spLocks xmlns:a="http://schemas.openxmlformats.org/drawingml/2006/main" noGrp="1"/>
          </p:cNvSpPr>
          <p:nvPr/>
        </p:nvSpPr>
        <p:spPr>
          <a:xfrm xmlns:a="http://schemas.openxmlformats.org/drawingml/2006/main">
            <a:off x="230505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7" name="">
            <a:extLst xmlns:a="http://schemas.openxmlformats.org/drawingml/2006/main">
              <a:ext uri="{FF2B5EF4-FFF2-40B4-BE49-F238E27FC236}">
                <a16:creationId xmlns:a16="http://schemas.microsoft.com/office/drawing/2014/main" id="{9AAB7A8C-8B1D-4A7A-93E9-049E17493353}"/>
              </a:ext>
            </a:extLst>
          </p:cNvPr>
          <p:cNvSpPr>
            <a:spLocks xmlns:a="http://schemas.openxmlformats.org/drawingml/2006/main" noGrp="1"/>
          </p:cNvSpPr>
          <p:nvPr/>
        </p:nvSpPr>
        <p:spPr>
          <a:xfrm xmlns:a="http://schemas.openxmlformats.org/drawingml/2006/main">
            <a:off x="2857500" y="1962150"/>
            <a:ext cx="1695450" cy="1695450"/>
          </a:xfrm>
          <a:prstGeom xmlns:a="http://schemas.openxmlformats.org/drawingml/2006/main" prst="roundRect">
            <a:avLst>
              <a:gd name="adj" fmla="val 3371"/>
            </a:avLst>
          </a:prstGeom>
          <a:solidFill xmlns:a="http://schemas.openxmlformats.org/drawingml/2006/main">
            <a:srgbClr val="F5F3FF"/>
          </a:solidFill>
          <a:ln xmlns:a="http://schemas.openxmlformats.org/drawingml/2006/main" w="9525">
            <a:solidFill>
              <a:srgbClr val="A855F7"/>
            </a:solidFill>
            <a:prstDash val="solid"/>
          </a:ln>
        </p:spPr>
      </p:sp>
      <p:sp>
        <p:nvSpPr>
          <p:cNvPr id="8" name="">
            <a:extLst xmlns:a="http://schemas.openxmlformats.org/drawingml/2006/main">
              <a:ext uri="{FF2B5EF4-FFF2-40B4-BE49-F238E27FC236}">
                <a16:creationId xmlns:a16="http://schemas.microsoft.com/office/drawing/2014/main" id="{E41ABD46-71E0-4DB9-B747-77B06D5B3516}"/>
              </a:ext>
            </a:extLst>
          </p:cNvPr>
          <p:cNvSpPr>
            <a:spLocks xmlns:a="http://schemas.openxmlformats.org/drawingml/2006/main" noGrp="1"/>
          </p:cNvSpPr>
          <p:nvPr/>
        </p:nvSpPr>
        <p:spPr>
          <a:xfrm xmlns:a="http://schemas.openxmlformats.org/drawingml/2006/main">
            <a:off x="300990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KV-aware queue</a:t>
            </a:r>
          </a:p>
        </p:txBody>
      </p:sp>
      <p:sp>
        <p:nvSpPr>
          <p:cNvPr id="9" name="">
            <a:extLst xmlns:a="http://schemas.openxmlformats.org/drawingml/2006/main">
              <a:ext uri="{FF2B5EF4-FFF2-40B4-BE49-F238E27FC236}">
                <a16:creationId xmlns:a16="http://schemas.microsoft.com/office/drawing/2014/main" id="{096A9AAE-E82C-4720-812A-0D4946B0FCEE}"/>
              </a:ext>
            </a:extLst>
          </p:cNvPr>
          <p:cNvSpPr>
            <a:spLocks xmlns:a="http://schemas.openxmlformats.org/drawingml/2006/main" noGrp="1"/>
          </p:cNvSpPr>
          <p:nvPr/>
        </p:nvSpPr>
        <p:spPr>
          <a:xfrm xmlns:a="http://schemas.openxmlformats.org/drawingml/2006/main">
            <a:off x="302895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order urgent KV first</a:t>
            </a:r>
          </a:p>
        </p:txBody>
      </p:sp>
      <p:sp>
        <p:nvSpPr>
          <p:cNvPr id="10" name="">
            <a:extLst xmlns:a="http://schemas.openxmlformats.org/drawingml/2006/main">
              <a:ext uri="{FF2B5EF4-FFF2-40B4-BE49-F238E27FC236}">
                <a16:creationId xmlns:a16="http://schemas.microsoft.com/office/drawing/2014/main" id="{61160B5E-283D-4B39-9E26-86AF1A21E97E}"/>
              </a:ext>
            </a:extLst>
          </p:cNvPr>
          <p:cNvSpPr>
            <a:spLocks xmlns:a="http://schemas.openxmlformats.org/drawingml/2006/main" noGrp="1"/>
          </p:cNvSpPr>
          <p:nvPr/>
        </p:nvSpPr>
        <p:spPr>
          <a:xfrm xmlns:a="http://schemas.openxmlformats.org/drawingml/2006/main">
            <a:off x="461010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1" name="">
            <a:extLst xmlns:a="http://schemas.openxmlformats.org/drawingml/2006/main">
              <a:ext uri="{FF2B5EF4-FFF2-40B4-BE49-F238E27FC236}">
                <a16:creationId xmlns:a16="http://schemas.microsoft.com/office/drawing/2014/main" id="{DEA0A620-1499-4C8C-9779-5B81C1E9B8D7}"/>
              </a:ext>
            </a:extLst>
          </p:cNvPr>
          <p:cNvSpPr>
            <a:spLocks xmlns:a="http://schemas.openxmlformats.org/drawingml/2006/main" noGrp="1"/>
          </p:cNvSpPr>
          <p:nvPr/>
        </p:nvSpPr>
        <p:spPr>
          <a:xfrm xmlns:a="http://schemas.openxmlformats.org/drawingml/2006/main">
            <a:off x="5162550" y="1962150"/>
            <a:ext cx="1695450" cy="1695450"/>
          </a:xfrm>
          <a:prstGeom xmlns:a="http://schemas.openxmlformats.org/drawingml/2006/main" prst="roundRect">
            <a:avLst>
              <a:gd name="adj" fmla="val 3371"/>
            </a:avLst>
          </a:prstGeom>
          <a:solidFill xmlns:a="http://schemas.openxmlformats.org/drawingml/2006/main">
            <a:srgbClr val="ECFEFF"/>
          </a:solidFill>
          <a:ln xmlns:a="http://schemas.openxmlformats.org/drawingml/2006/main" w="9525">
            <a:solidFill>
              <a:srgbClr val="06B6D4"/>
            </a:solidFill>
            <a:prstDash val="solid"/>
          </a:ln>
        </p:spPr>
      </p:sp>
      <p:sp>
        <p:nvSpPr>
          <p:cNvPr id="12" name="">
            <a:extLst xmlns:a="http://schemas.openxmlformats.org/drawingml/2006/main">
              <a:ext uri="{FF2B5EF4-FFF2-40B4-BE49-F238E27FC236}">
                <a16:creationId xmlns:a16="http://schemas.microsoft.com/office/drawing/2014/main" id="{0E271240-12AD-4197-9874-59AD12A972F5}"/>
              </a:ext>
            </a:extLst>
          </p:cNvPr>
          <p:cNvSpPr>
            <a:spLocks xmlns:a="http://schemas.openxmlformats.org/drawingml/2006/main" noGrp="1"/>
          </p:cNvSpPr>
          <p:nvPr/>
        </p:nvSpPr>
        <p:spPr>
          <a:xfrm xmlns:a="http://schemas.openxmlformats.org/drawingml/2006/main">
            <a:off x="53149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DMA / copy engine</a:t>
            </a:r>
          </a:p>
        </p:txBody>
      </p:sp>
      <p:sp>
        <p:nvSpPr>
          <p:cNvPr id="13" name="">
            <a:extLst xmlns:a="http://schemas.openxmlformats.org/drawingml/2006/main">
              <a:ext uri="{FF2B5EF4-FFF2-40B4-BE49-F238E27FC236}">
                <a16:creationId xmlns:a16="http://schemas.microsoft.com/office/drawing/2014/main" id="{1442192C-9A8F-4A32-881C-9D2D6FCB6197}"/>
              </a:ext>
            </a:extLst>
          </p:cNvPr>
          <p:cNvSpPr>
            <a:spLocks xmlns:a="http://schemas.openxmlformats.org/drawingml/2006/main" noGrp="1"/>
          </p:cNvSpPr>
          <p:nvPr/>
        </p:nvSpPr>
        <p:spPr>
          <a:xfrm xmlns:a="http://schemas.openxmlformats.org/drawingml/2006/main">
            <a:off x="53340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throttle and prioritize</a:t>
            </a:r>
          </a:p>
        </p:txBody>
      </p:sp>
      <p:sp>
        <p:nvSpPr>
          <p:cNvPr id="14" name="">
            <a:extLst xmlns:a="http://schemas.openxmlformats.org/drawingml/2006/main">
              <a:ext uri="{FF2B5EF4-FFF2-40B4-BE49-F238E27FC236}">
                <a16:creationId xmlns:a16="http://schemas.microsoft.com/office/drawing/2014/main" id="{3010C93D-115D-416A-ACC6-E3A292715326}"/>
              </a:ext>
            </a:extLst>
          </p:cNvPr>
          <p:cNvSpPr>
            <a:spLocks xmlns:a="http://schemas.openxmlformats.org/drawingml/2006/main" noGrp="1"/>
          </p:cNvSpPr>
          <p:nvPr/>
        </p:nvSpPr>
        <p:spPr>
          <a:xfrm xmlns:a="http://schemas.openxmlformats.org/drawingml/2006/main">
            <a:off x="691515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5" name="">
            <a:extLst xmlns:a="http://schemas.openxmlformats.org/drawingml/2006/main">
              <a:ext uri="{FF2B5EF4-FFF2-40B4-BE49-F238E27FC236}">
                <a16:creationId xmlns:a16="http://schemas.microsoft.com/office/drawing/2014/main" id="{D6D3D268-BEEF-4778-BD26-EFD53C4FB867}"/>
              </a:ext>
            </a:extLst>
          </p:cNvPr>
          <p:cNvSpPr>
            <a:spLocks xmlns:a="http://schemas.openxmlformats.org/drawingml/2006/main" noGrp="1"/>
          </p:cNvSpPr>
          <p:nvPr/>
        </p:nvSpPr>
        <p:spPr>
          <a:xfrm xmlns:a="http://schemas.openxmlformats.org/drawingml/2006/main">
            <a:off x="7467600" y="1962150"/>
            <a:ext cx="1695450" cy="1695450"/>
          </a:xfrm>
          <a:prstGeom xmlns:a="http://schemas.openxmlformats.org/drawingml/2006/main" prst="roundRect">
            <a:avLst>
              <a:gd name="adj" fmla="val 3371"/>
            </a:avLst>
          </a:prstGeom>
          <a:solidFill xmlns:a="http://schemas.openxmlformats.org/drawingml/2006/main">
            <a:srgbClr val="F0FDF4"/>
          </a:solidFill>
          <a:ln xmlns:a="http://schemas.openxmlformats.org/drawingml/2006/main" w="9525">
            <a:solidFill>
              <a:srgbClr val="16A34A"/>
            </a:solidFill>
            <a:prstDash val="solid"/>
          </a:ln>
        </p:spPr>
      </p:sp>
      <p:sp>
        <p:nvSpPr>
          <p:cNvPr id="16" name="">
            <a:extLst xmlns:a="http://schemas.openxmlformats.org/drawingml/2006/main">
              <a:ext uri="{FF2B5EF4-FFF2-40B4-BE49-F238E27FC236}">
                <a16:creationId xmlns:a16="http://schemas.microsoft.com/office/drawing/2014/main" id="{2B5178BF-995A-4A29-80E0-D4F85A2FAFF9}"/>
              </a:ext>
            </a:extLst>
          </p:cNvPr>
          <p:cNvSpPr>
            <a:spLocks xmlns:a="http://schemas.openxmlformats.org/drawingml/2006/main" noGrp="1"/>
          </p:cNvSpPr>
          <p:nvPr/>
        </p:nvSpPr>
        <p:spPr>
          <a:xfrm xmlns:a="http://schemas.openxmlformats.org/drawingml/2006/main">
            <a:off x="762000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Residency control</a:t>
            </a:r>
          </a:p>
        </p:txBody>
      </p:sp>
      <p:sp>
        <p:nvSpPr>
          <p:cNvPr id="17" name="">
            <a:extLst xmlns:a="http://schemas.openxmlformats.org/drawingml/2006/main">
              <a:ext uri="{FF2B5EF4-FFF2-40B4-BE49-F238E27FC236}">
                <a16:creationId xmlns:a16="http://schemas.microsoft.com/office/drawing/2014/main" id="{DADF1759-77D3-4754-A043-87D046C82E1B}"/>
              </a:ext>
            </a:extLst>
          </p:cNvPr>
          <p:cNvSpPr>
            <a:spLocks xmlns:a="http://schemas.openxmlformats.org/drawingml/2006/main" noGrp="1"/>
          </p:cNvSpPr>
          <p:nvPr/>
        </p:nvSpPr>
        <p:spPr>
          <a:xfrm xmlns:a="http://schemas.openxmlformats.org/drawingml/2006/main">
            <a:off x="763905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protect useful KV</a:t>
            </a:r>
          </a:p>
        </p:txBody>
      </p:sp>
      <p:sp>
        <p:nvSpPr>
          <p:cNvPr id="18" name="">
            <a:extLst xmlns:a="http://schemas.openxmlformats.org/drawingml/2006/main">
              <a:ext uri="{FF2B5EF4-FFF2-40B4-BE49-F238E27FC236}">
                <a16:creationId xmlns:a16="http://schemas.microsoft.com/office/drawing/2014/main" id="{DC98FF0B-2B17-4F70-88FE-8304DEF05A22}"/>
              </a:ext>
            </a:extLst>
          </p:cNvPr>
          <p:cNvSpPr>
            <a:spLocks xmlns:a="http://schemas.openxmlformats.org/drawingml/2006/main" noGrp="1"/>
          </p:cNvSpPr>
          <p:nvPr/>
        </p:nvSpPr>
        <p:spPr>
          <a:xfrm xmlns:a="http://schemas.openxmlformats.org/drawingml/2006/main">
            <a:off x="922020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9" name="">
            <a:extLst xmlns:a="http://schemas.openxmlformats.org/drawingml/2006/main">
              <a:ext uri="{FF2B5EF4-FFF2-40B4-BE49-F238E27FC236}">
                <a16:creationId xmlns:a16="http://schemas.microsoft.com/office/drawing/2014/main" id="{E66DFCA9-8FD9-449C-831F-CD33CEE05208}"/>
              </a:ext>
            </a:extLst>
          </p:cNvPr>
          <p:cNvSpPr>
            <a:spLocks xmlns:a="http://schemas.openxmlformats.org/drawingml/2006/main" noGrp="1"/>
          </p:cNvSpPr>
          <p:nvPr/>
        </p:nvSpPr>
        <p:spPr>
          <a:xfrm xmlns:a="http://schemas.openxmlformats.org/drawingml/2006/main">
            <a:off x="9772650" y="1962150"/>
            <a:ext cx="1695450" cy="1695450"/>
          </a:xfrm>
          <a:prstGeom xmlns:a="http://schemas.openxmlformats.org/drawingml/2006/main" prst="roundRect">
            <a:avLst>
              <a:gd name="adj" fmla="val 3371"/>
            </a:avLst>
          </a:prstGeom>
          <a:solidFill xmlns:a="http://schemas.openxmlformats.org/drawingml/2006/main">
            <a:srgbClr val="FFF7ED"/>
          </a:solidFill>
          <a:ln xmlns:a="http://schemas.openxmlformats.org/drawingml/2006/main" w="9525">
            <a:solidFill>
              <a:srgbClr val="F97316"/>
            </a:solidFill>
            <a:prstDash val="solid"/>
          </a:ln>
        </p:spPr>
      </p:sp>
      <p:sp>
        <p:nvSpPr>
          <p:cNvPr id="20" name="">
            <a:extLst xmlns:a="http://schemas.openxmlformats.org/drawingml/2006/main">
              <a:ext uri="{FF2B5EF4-FFF2-40B4-BE49-F238E27FC236}">
                <a16:creationId xmlns:a16="http://schemas.microsoft.com/office/drawing/2014/main" id="{EDD22A59-6806-4DE5-AF11-5F338F6FE749}"/>
              </a:ext>
            </a:extLst>
          </p:cNvPr>
          <p:cNvSpPr>
            <a:spLocks xmlns:a="http://schemas.openxmlformats.org/drawingml/2006/main" noGrp="1"/>
          </p:cNvSpPr>
          <p:nvPr/>
        </p:nvSpPr>
        <p:spPr>
          <a:xfrm xmlns:a="http://schemas.openxmlformats.org/drawingml/2006/main">
            <a:off x="99250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Telemetry</a:t>
            </a:r>
          </a:p>
        </p:txBody>
      </p:sp>
      <p:sp>
        <p:nvSpPr>
          <p:cNvPr id="21" name="">
            <a:extLst xmlns:a="http://schemas.openxmlformats.org/drawingml/2006/main">
              <a:ext uri="{FF2B5EF4-FFF2-40B4-BE49-F238E27FC236}">
                <a16:creationId xmlns:a16="http://schemas.microsoft.com/office/drawing/2014/main" id="{E32FC3B7-0FAE-46F3-AF72-228EF272B6FC}"/>
              </a:ext>
            </a:extLst>
          </p:cNvPr>
          <p:cNvSpPr>
            <a:spLocks xmlns:a="http://schemas.openxmlformats.org/drawingml/2006/main" noGrp="1"/>
          </p:cNvSpPr>
          <p:nvPr/>
        </p:nvSpPr>
        <p:spPr>
          <a:xfrm xmlns:a="http://schemas.openxmlformats.org/drawingml/2006/main">
            <a:off x="99441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late / useful / wasted</a:t>
            </a:r>
          </a:p>
        </p:txBody>
      </p:sp>
      <p:sp>
        <p:nvSpPr>
          <p:cNvPr id="22" name="">
            <a:extLst xmlns:a="http://schemas.openxmlformats.org/drawingml/2006/main">
              <a:ext uri="{FF2B5EF4-FFF2-40B4-BE49-F238E27FC236}">
                <a16:creationId xmlns:a16="http://schemas.microsoft.com/office/drawing/2014/main" id="{BD658E17-8C90-4FF7-9B43-8CCD1DF156C1}"/>
              </a:ext>
            </a:extLst>
          </p:cNvPr>
          <p:cNvSpPr>
            <a:spLocks xmlns:a="http://schemas.openxmlformats.org/drawingml/2006/main" noGrp="1"/>
          </p:cNvSpPr>
          <p:nvPr/>
        </p:nvSpPr>
        <p:spPr>
          <a:xfrm xmlns:a="http://schemas.openxmlformats.org/drawingml/2006/main">
            <a:off x="2000250" y="4514850"/>
            <a:ext cx="8191500" cy="800100"/>
          </a:xfrm>
          <a:prstGeom xmlns:a="http://schemas.openxmlformats.org/drawingml/2006/main" prst="roundRect">
            <a:avLst>
              <a:gd name="adj" fmla="val 7143"/>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484D4CAF-69BB-4328-B8B0-B6BC5C6425FE}"/>
              </a:ext>
            </a:extLst>
          </p:cNvPr>
          <p:cNvSpPr>
            <a:spLocks xmlns:a="http://schemas.openxmlformats.org/drawingml/2006/main" noGrp="1"/>
          </p:cNvSpPr>
          <p:nvPr/>
        </p:nvSpPr>
        <p:spPr>
          <a:xfrm xmlns:a="http://schemas.openxmlformats.org/drawingml/2006/main">
            <a:off x="2247900" y="47434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F172A"/>
                </a:solidFill>
              </a:defRPr>
            </a:pPr>
            <a:r>
              <a:rPr sz="1650" b="1">
                <a:solidFill>
                  <a:srgbClr val="0F172A"/>
                </a:solidFill>
              </a:rPr>
              <a:t>Resulting research question</a:t>
            </a:r>
          </a:p>
        </p:txBody>
      </p:sp>
      <p:sp>
        <p:nvSpPr>
          <p:cNvPr id="24" name="">
            <a:extLst xmlns:a="http://schemas.openxmlformats.org/drawingml/2006/main">
              <a:ext uri="{FF2B5EF4-FFF2-40B4-BE49-F238E27FC236}">
                <a16:creationId xmlns:a16="http://schemas.microsoft.com/office/drawing/2014/main" id="{9193DF78-1B62-4618-9334-0768AD22B07E}"/>
              </a:ext>
            </a:extLst>
          </p:cNvPr>
          <p:cNvSpPr>
            <a:spLocks xmlns:a="http://schemas.openxmlformats.org/drawingml/2006/main" noGrp="1"/>
          </p:cNvSpPr>
          <p:nvPr/>
        </p:nvSpPr>
        <p:spPr>
          <a:xfrm xmlns:a="http://schemas.openxmlformats.org/drawingml/2006/main">
            <a:off x="4953000" y="4686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How much replay latency and wasted movement can be avoided when KV movement has session context, priority, deadline, protection, and telemetry?</a:t>
            </a:r>
          </a:p>
        </p:txBody>
      </p:sp>
      <p:sp>
        <p:nvSpPr>
          <p:cNvPr id="25" name="">
            <a:extLst xmlns:a="http://schemas.openxmlformats.org/drawingml/2006/main">
              <a:ext uri="{FF2B5EF4-FFF2-40B4-BE49-F238E27FC236}">
                <a16:creationId xmlns:a16="http://schemas.microsoft.com/office/drawing/2014/main" id="{541AF021-097C-4ECC-8CE5-1D49324AC31C}"/>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6" name="">
            <a:extLst xmlns:a="http://schemas.openxmlformats.org/drawingml/2006/main">
              <a:ext uri="{FF2B5EF4-FFF2-40B4-BE49-F238E27FC236}">
                <a16:creationId xmlns:a16="http://schemas.microsoft.com/office/drawing/2014/main" id="{C27257B0-D38C-44BA-BFBC-4EBF115ABA38}"/>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10</a:t>
            </a:r>
          </a:p>
        </p:txBody>
      </p:sp>
    </p:spTree>
    <p:extLst>
      <p:ext uri="{BB962C8B-B14F-4D97-AF65-F5344CB8AC3E}">
        <p14:creationId xmlns:p14="http://schemas.microsoft.com/office/powerpoint/2010/main" val="14406899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2026-08-19T16:43:36.1410000Z</dcterms:created>
  <dcterms:modified xsi:type="dcterms:W3CDTF">2026-08-19T16:43:36.1410000Z</dcterms:modified>
</coreProperties>
</file>