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f397c1bbda4784" /><Relationship Type="http://schemas.openxmlformats.org/officeDocument/2006/relationships/extended-properties" Target="/docProps/app.xml" Id="R03335adacea04818" /><Relationship Type="http://schemas.openxmlformats.org/officeDocument/2006/relationships/officeDocument" Target="/ppt/presentation.xml" Id="R6cb3d29ea1954b7c" /></Relationships>
</file>

<file path=ppt/presentation.xml><?xml version="1.0" encoding="utf-8"?>
<p:presentation xmlns:p="http://schemas.openxmlformats.org/presentationml/2006/main">
  <p:sldMasterIdLst>
    <p:sldMasterId xmlns:r="http://schemas.openxmlformats.org/officeDocument/2006/relationships" id="2147483648" r:id="R19be7142173d40bb"/>
  </p:sldMasterIdLst>
  <p:notesMasterIdLst>
    <p:notesMasterId xmlns:r="http://schemas.openxmlformats.org/officeDocument/2006/relationships" r:id="Rba21d89858f145ff"/>
  </p:notesMasterIdLst>
  <p:sldIdLst>
    <p:sldId xmlns:r="http://schemas.openxmlformats.org/officeDocument/2006/relationships" id="256" r:id="Ra4670e6b3a7147e5"/>
    <p:sldId xmlns:r="http://schemas.openxmlformats.org/officeDocument/2006/relationships" id="257" r:id="Rcb75cfb42c684b3c"/>
    <p:sldId xmlns:r="http://schemas.openxmlformats.org/officeDocument/2006/relationships" id="258" r:id="R2e30584c14604f2f"/>
    <p:sldId xmlns:r="http://schemas.openxmlformats.org/officeDocument/2006/relationships" id="259" r:id="R7ee322f34d4440df"/>
    <p:sldId xmlns:r="http://schemas.openxmlformats.org/officeDocument/2006/relationships" id="260" r:id="R824a8ef9527341ce"/>
    <p:sldId xmlns:r="http://schemas.openxmlformats.org/officeDocument/2006/relationships" id="261" r:id="Rad13eff0818a4233"/>
    <p:sldId xmlns:r="http://schemas.openxmlformats.org/officeDocument/2006/relationships" id="262" r:id="Rdcd3ddad9e594b9d"/>
    <p:sldId xmlns:r="http://schemas.openxmlformats.org/officeDocument/2006/relationships" id="263" r:id="Rc2b8ab27cb76421a"/>
    <p:sldId xmlns:r="http://schemas.openxmlformats.org/officeDocument/2006/relationships" id="264" r:id="Re6c9d8d0764d4a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c9389e7f1d491d" /><Relationship Type="http://schemas.openxmlformats.org/officeDocument/2006/relationships/slideMaster" Target="/ppt/slideMasters/slideMaster1.xml" Id="R19be7142173d40bb" /><Relationship Type="http://schemas.openxmlformats.org/officeDocument/2006/relationships/notesMaster" Target="/ppt/notesMasters/notesMaster1.xml" Id="Rba21d89858f145ff" /><Relationship Type="http://schemas.openxmlformats.org/officeDocument/2006/relationships/presProps" Target="/ppt/presProps.xml" Id="Rb4f1acf7b8c341bd" /><Relationship Type="http://schemas.openxmlformats.org/officeDocument/2006/relationships/tableStyles" Target="/ppt/tableStyles.xml" Id="R4def7c8837454925" /><Relationship Type="http://schemas.openxmlformats.org/officeDocument/2006/relationships/slide" Target="/ppt/slides/slide1.xml" Id="Ra4670e6b3a7147e5" /><Relationship Type="http://schemas.openxmlformats.org/officeDocument/2006/relationships/slide" Target="/ppt/slides/slide2.xml" Id="Rcb75cfb42c684b3c" /><Relationship Type="http://schemas.openxmlformats.org/officeDocument/2006/relationships/slide" Target="/ppt/slides/slide3.xml" Id="R2e30584c14604f2f" /><Relationship Type="http://schemas.openxmlformats.org/officeDocument/2006/relationships/slide" Target="/ppt/slides/slide4.xml" Id="R7ee322f34d4440df" /><Relationship Type="http://schemas.openxmlformats.org/officeDocument/2006/relationships/slide" Target="/ppt/slides/slide5.xml" Id="R824a8ef9527341ce" /><Relationship Type="http://schemas.openxmlformats.org/officeDocument/2006/relationships/slide" Target="/ppt/slides/slide6.xml" Id="Rad13eff0818a4233" /><Relationship Type="http://schemas.openxmlformats.org/officeDocument/2006/relationships/slide" Target="/ppt/slides/slide7.xml" Id="Rdcd3ddad9e594b9d" /><Relationship Type="http://schemas.openxmlformats.org/officeDocument/2006/relationships/slide" Target="/ppt/slides/slide8.xml" Id="Rc2b8ab27cb76421a" /><Relationship Type="http://schemas.openxmlformats.org/officeDocument/2006/relationships/slide" Target="/ppt/slides/slide9.xml" Id="Re6c9d8d0764d4a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900c2cf3c24a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2c674a49f948c6" /><Relationship Type="http://schemas.openxmlformats.org/officeDocument/2006/relationships/notesMaster" Target="/ppt/notesMasters/notesMaster1.xml" Id="Rf54140082bad4a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bd8042a0ac45bf" /><Relationship Type="http://schemas.openxmlformats.org/officeDocument/2006/relationships/notesMaster" Target="/ppt/notesMasters/notesMaster1.xml" Id="Rc82057c450f244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75e64f24744312" /><Relationship Type="http://schemas.openxmlformats.org/officeDocument/2006/relationships/notesMaster" Target="/ppt/notesMasters/notesMaster1.xml" Id="R1512ba3dd4a742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b20853c0ac44d9" /><Relationship Type="http://schemas.openxmlformats.org/officeDocument/2006/relationships/notesMaster" Target="/ppt/notesMasters/notesMaster1.xml" Id="R039f50c9a78248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214419c8274ee6" /><Relationship Type="http://schemas.openxmlformats.org/officeDocument/2006/relationships/notesMaster" Target="/ppt/notesMasters/notesMaster1.xml" Id="R255079fe298647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9298a57215408f" /><Relationship Type="http://schemas.openxmlformats.org/officeDocument/2006/relationships/notesMaster" Target="/ppt/notesMasters/notesMaster1.xml" Id="Rf9186ea34fe340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e887a65f034ef5" /><Relationship Type="http://schemas.openxmlformats.org/officeDocument/2006/relationships/notesMaster" Target="/ppt/notesMasters/notesMaster1.xml" Id="Rd113718d7a624d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792d34f6c545f5" /><Relationship Type="http://schemas.openxmlformats.org/officeDocument/2006/relationships/notesMaster" Target="/ppt/notesMasters/notesMaster1.xml" Id="R1966c891becc416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c5cc4f0836410e" /><Relationship Type="http://schemas.openxmlformats.org/officeDocument/2006/relationships/notesMaster" Target="/ppt/notesMasters/notesMaster1.xml" Id="R9d377a6db28241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slide. Position this as a hardware/runtime co-design question, not just an SGLang software optimization.</a:t>
            </a:r>
          </a:p>
          <a:p xmlns:a="http://schemas.openxmlformats.org/drawingml/2006/main">
            <a:r>
              <a:t>Goal: Coding agents naturally pause during tool calls, then resume with tight latency expectations. Current memory movement paths are largely context-agnostic: they can move KV pages, but they do not know which agent needs them, when they are needed, or whether missing the deadline will stall replay. This project aims to quantify that gap and prototype hint-guided KV movement as a path toward smarter DMA engines, KV-aware memory scheduling, and hardware/runtime co-design.</a:t>
            </a:r>
          </a:p>
          <a:p xmlns:a="http://schemas.openxmlformats.org/drawingml/2006/main">
            <a:r>
              <a:t/>
            </a:r>
          </a:p>
          <a:p xmlns:a="http://schemas.openxmlformats.org/drawingml/2006/main">
            <a:r>
              <a:t>[Sources]</a:t>
            </a:r>
          </a:p>
          <a:p xmlns:a="http://schemas.openxmlformats.org/drawingml/2006/main">
            <a:r>
              <a:t>Local report: /Users/oluwolejaiyeoba/Documents/GitHub/agentic_hardware/sglang_direct_kv/artifacts/results/latest_master_report.html</a:t>
            </a:r>
          </a:p>
          <a:p xmlns:a="http://schemas.openxmlformats.org/drawingml/2006/main">
            <a:r>
              <a:t>Backup report: /Users/oluwolejaiyeoba/Documents/GitHub/agentic_hardware/backups/latest_master_report-1.html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explains the two traffic feeds. Synthetic runs let us control pressure and timing; real DeepAgents/SWE-bench traces preserve realistic coding-agent prompts and tool gaps.</a:t>
            </a:r>
          </a:p>
          <a:p xmlns:a="http://schemas.openxmlformats.org/drawingml/2006/main">
            <a:r>
              <a:t>The setup flow image comes from latest_master_report.html.</a:t>
            </a:r>
          </a:p>
          <a:p xmlns:a="http://schemas.openxmlformats.org/drawingml/2006/main">
            <a:r>
              <a:t/>
            </a:r>
          </a:p>
          <a:p xmlns:a="http://schemas.openxmlformats.org/drawingml/2006/main">
            <a:r>
              <a:t>[Sources]</a:t>
            </a:r>
          </a:p>
          <a:p xmlns:a="http://schemas.openxmlformats.org/drawingml/2006/main">
            <a:r>
              <a:t>Local report: /Users/oluwolejaiyeoba/Documents/GitHub/agentic_hardware/sglang_direct_kv/artifacts/results/latest_master_report.html</a:t>
            </a:r>
          </a:p>
          <a:p xmlns:a="http://schemas.openxmlformats.org/drawingml/2006/main">
            <a:r>
              <a:t>Backup report: /Users/oluwolejaiyeoba/Documents/GitHub/agentic_hardware/backups/latest_master_report-1.html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summarizes the concrete prototype setup used for the current manager report.</a:t>
            </a:r>
          </a:p>
          <a:p xmlns:a="http://schemas.openxmlformats.org/drawingml/2006/main">
            <a:r>
              <a:t>Hardware/runtime values are from the latest master report setup section and the project run configuration: Qwen2.5-Coder-7B, A10G-class single GPU, 24 GB GDDR6 GPU memory, 16 GB HiCache host KV shelf, context length 32768, max total tokens 12288, mem fraction static 0.72, tensor parallel size 1.</a:t>
            </a:r>
          </a:p>
          <a:p xmlns:a="http://schemas.openxmlformats.org/drawingml/2006/main">
            <a:r>
              <a:t/>
            </a:r>
          </a:p>
          <a:p xmlns:a="http://schemas.openxmlformats.org/drawingml/2006/main">
            <a:r>
              <a:t>[Sources]</a:t>
            </a:r>
          </a:p>
          <a:p xmlns:a="http://schemas.openxmlformats.org/drawingml/2006/main">
            <a:r>
              <a:t>Local report: /Users/oluwolejaiyeoba/Documents/GitHub/agentic_hardware/sglang_direct_kv/artifacts/results/latest_master_report.html</a:t>
            </a:r>
          </a:p>
          <a:p xmlns:a="http://schemas.openxmlformats.org/drawingml/2006/main">
            <a:r>
              <a:t>Backup report: /Users/oluwolejaiyeoba/Documents/GitHub/agentic_hardware/backups/latest_master_report-1.html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frames the hardware opportunity: hints must become enforceable by the memory movement path.</a:t>
            </a:r>
          </a:p>
          <a:p xmlns:a="http://schemas.openxmlformats.org/drawingml/2006/main">
            <a:r>
              <a:t>Hardware examples include SDMA, CPU-side DMA, NIC DMA, SSD DMA, and copy/migration engines.</a:t>
            </a:r>
          </a:p>
          <a:p xmlns:a="http://schemas.openxmlformats.org/drawingml/2006/main">
            <a:r>
              <a:t/>
            </a:r>
          </a:p>
          <a:p xmlns:a="http://schemas.openxmlformats.org/drawingml/2006/main">
            <a:r>
              <a:t>[Sources]</a:t>
            </a:r>
          </a:p>
          <a:p xmlns:a="http://schemas.openxmlformats.org/drawingml/2006/main">
            <a:r>
              <a:t>Local report: /Users/oluwolejaiyeoba/Documents/GitHub/agentic_hardware/sglang_direct_kv/artifacts/results/latest_master_report.html</a:t>
            </a:r>
          </a:p>
          <a:p xmlns:a="http://schemas.openxmlformats.org/drawingml/2006/main">
            <a:r>
              <a:t>Backup report: /Users/oluwolejaiyeoba/Documents/GitHub/agentic_hardware/backups/latest_master_report-1.html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narrative chart. It shows the initial model turn, tool wait, replay path, replay-side H2D, recompute, prefill, and decode.</a:t>
            </a:r>
          </a:p>
          <a:p xmlns:a="http://schemas.openxmlformats.org/drawingml/2006/main">
            <a:r>
              <a:t>The image is a cropped view of the Readable Phase Timeline in latest_master_report.html.</a:t>
            </a:r>
          </a:p>
          <a:p xmlns:a="http://schemas.openxmlformats.org/drawingml/2006/main">
            <a:r>
              <a:t/>
            </a:r>
          </a:p>
          <a:p xmlns:a="http://schemas.openxmlformats.org/drawingml/2006/main">
            <a:r>
              <a:t>[Sources]</a:t>
            </a:r>
          </a:p>
          <a:p xmlns:a="http://schemas.openxmlformats.org/drawingml/2006/main">
            <a:r>
              <a:t>Local report: /Users/oluwolejaiyeoba/Documents/GitHub/agentic_hardware/sglang_direct_kv/artifacts/results/latest_master_report.html</a:t>
            </a:r>
          </a:p>
          <a:p xmlns:a="http://schemas.openxmlformats.org/drawingml/2006/main">
            <a:r>
              <a:t>Backup report: /Users/oluwolejaiyeoba/Documents/GitHub/agentic_hardware/backups/latest_master_report-1.html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the global prefetch-attempt evidence. The backup report shows 114 matched prefetch attempts, 112 late, and 98.25% late.</a:t>
            </a:r>
          </a:p>
          <a:p xmlns:a="http://schemas.openxmlformats.org/drawingml/2006/main">
            <a:r>
              <a:t>Use it to show that software prefetch through the normal serving path often misses tight replay windows.</a:t>
            </a:r>
          </a:p>
          <a:p xmlns:a="http://schemas.openxmlformats.org/drawingml/2006/main">
            <a:r>
              <a:t/>
            </a:r>
          </a:p>
          <a:p xmlns:a="http://schemas.openxmlformats.org/drawingml/2006/main">
            <a:r>
              <a:t>[Sources]</a:t>
            </a:r>
          </a:p>
          <a:p xmlns:a="http://schemas.openxmlformats.org/drawingml/2006/main">
            <a:r>
              <a:t>Local report: /Users/oluwolejaiyeoba/Documents/GitHub/agentic_hardware/sglang_direct_kv/artifacts/results/latest_master_report.html</a:t>
            </a:r>
          </a:p>
          <a:p xmlns:a="http://schemas.openxmlformats.org/drawingml/2006/main">
            <a:r>
              <a:t>Backup report: /Users/oluwolejaiyeoba/Documents/GitHub/agentic_hardware/backups/latest_master_report-1.html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aggregate evidence slide. The current controlled no-prefetch run reports 8 no-prefetch replay H2D gaps and 8 late H2D finishes.</a:t>
            </a:r>
          </a:p>
          <a:p xmlns:a="http://schemas.openxmlformats.org/drawingml/2006/main">
            <a:r>
              <a:t>Measured claim source: Global Replay H2D Readiness table and dot plot in latest_master_report.html.</a:t>
            </a:r>
          </a:p>
          <a:p xmlns:a="http://schemas.openxmlformats.org/drawingml/2006/main">
            <a:r>
              <a:t/>
            </a:r>
          </a:p>
          <a:p xmlns:a="http://schemas.openxmlformats.org/drawingml/2006/main">
            <a:r>
              <a:t>[Sources]</a:t>
            </a:r>
          </a:p>
          <a:p xmlns:a="http://schemas.openxmlformats.org/drawingml/2006/main">
            <a:r>
              <a:t>Local report: /Users/oluwolejaiyeoba/Documents/GitHub/agentic_hardware/sglang_direct_kv/artifacts/results/latest_master_report.html</a:t>
            </a:r>
          </a:p>
          <a:p xmlns:a="http://schemas.openxmlformats.org/drawingml/2006/main">
            <a:r>
              <a:t>Backup report: /Users/oluwolejaiyeoba/Documents/GitHub/agentic_hardware/backups/latest_master_report-1.html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separates replay due, client submit, SGLang receive, scheduler queue/admit, H2D start, and H2D finish.</a:t>
            </a:r>
          </a:p>
          <a:p xmlns:a="http://schemas.openxmlformats.org/drawingml/2006/main">
            <a:r>
              <a:t>The key manager takeaway: a hint-aware design should influence scheduling and priority, not merely request more copies.</a:t>
            </a:r>
          </a:p>
          <a:p xmlns:a="http://schemas.openxmlformats.org/drawingml/2006/main">
            <a:r>
              <a:t/>
            </a:r>
          </a:p>
          <a:p xmlns:a="http://schemas.openxmlformats.org/drawingml/2006/main">
            <a:r>
              <a:t>[Sources]</a:t>
            </a:r>
          </a:p>
          <a:p xmlns:a="http://schemas.openxmlformats.org/drawingml/2006/main">
            <a:r>
              <a:t>Local report: /Users/oluwolejaiyeoba/Documents/GitHub/agentic_hardware/sglang_direct_kv/artifacts/results/latest_master_report.html</a:t>
            </a:r>
          </a:p>
          <a:p xmlns:a="http://schemas.openxmlformats.org/drawingml/2006/main">
            <a:r>
              <a:t>Backup report: /Users/oluwolejaiyeoba/Documents/GitHub/agentic_hardware/backups/latest_master_report-1.html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slide. This translates observed software/runtime behavior into concrete hardware support candidates.</a:t>
            </a:r>
          </a:p>
          <a:p xmlns:a="http://schemas.openxmlformats.org/drawingml/2006/main">
            <a:r>
              <a:t>Hardware ideas come from the project proposal: KV metadata, deadline-aware queues, priority-aware migration, residency protection, and telemetry.</a:t>
            </a:r>
          </a:p>
          <a:p xmlns:a="http://schemas.openxmlformats.org/drawingml/2006/main">
            <a:r>
              <a:t/>
            </a:r>
          </a:p>
          <a:p xmlns:a="http://schemas.openxmlformats.org/drawingml/2006/main">
            <a:r>
              <a:t>[Sources]</a:t>
            </a:r>
          </a:p>
          <a:p xmlns:a="http://schemas.openxmlformats.org/drawingml/2006/main">
            <a:r>
              <a:t>Local report: /Users/oluwolejaiyeoba/Documents/GitHub/agentic_hardware/sglang_direct_kv/artifacts/results/latest_master_report.html</a:t>
            </a:r>
          </a:p>
          <a:p xmlns:a="http://schemas.openxmlformats.org/drawingml/2006/main">
            <a:r>
              <a:t>Backup report: /Users/oluwolejaiyeoba/Documents/GitHub/agentic_hardware/backups/latest_master_report-1.html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44826f198442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0fa9f640c54ffa" /><Relationship Type="http://schemas.openxmlformats.org/officeDocument/2006/relationships/slideLayout" Target="/ppt/slideLayouts/slideLayout1.xml" Id="R719b5a8e665343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9b5a8e665343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1047b7c14254a86" /><Relationship Type="http://schemas.openxmlformats.org/officeDocument/2006/relationships/notesSlide" Target="/ppt/notesSlides/notesSlide1.xml" Id="Redb44e745d334c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5938b780cc9471f" /><Relationship Type="http://schemas.openxmlformats.org/officeDocument/2006/relationships/image" Target="/ppt/media/image.png" Id="Ra2a90ef8e5c54102" /><Relationship Type="http://schemas.openxmlformats.org/officeDocument/2006/relationships/notesSlide" Target="/ppt/notesSlides/notesSlide2.xml" Id="Rc8f6e2667bbc4e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c82594dfce4d41" /><Relationship Type="http://schemas.openxmlformats.org/officeDocument/2006/relationships/notesSlide" Target="/ppt/notesSlides/notesSlide3.xml" Id="Rc4dedc0512f34d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9e80b914754131" /><Relationship Type="http://schemas.openxmlformats.org/officeDocument/2006/relationships/notesSlide" Target="/ppt/notesSlides/notesSlide4.xml" Id="R29834f40d7674c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4482dd5323e427e" /><Relationship Type="http://schemas.openxmlformats.org/officeDocument/2006/relationships/image" Target="/ppt/media/image2.png" Id="Rfac2162f30804ea9" /><Relationship Type="http://schemas.openxmlformats.org/officeDocument/2006/relationships/notesSlide" Target="/ppt/notesSlides/notesSlide5.xml" Id="Racbaa72578ab4c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4be270817aa4d78" /><Relationship Type="http://schemas.openxmlformats.org/officeDocument/2006/relationships/image" Target="/ppt/media/image3.png" Id="R0302a95fac6a4540" /><Relationship Type="http://schemas.openxmlformats.org/officeDocument/2006/relationships/notesSlide" Target="/ppt/notesSlides/notesSlide6.xml" Id="R402c528816e749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a28ce42c0744c75" /><Relationship Type="http://schemas.openxmlformats.org/officeDocument/2006/relationships/image" Target="/ppt/media/image4.png" Id="R9be63e229c60453a" /><Relationship Type="http://schemas.openxmlformats.org/officeDocument/2006/relationships/notesSlide" Target="/ppt/notesSlides/notesSlide7.xml" Id="R8137b1a8cd2140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167778e3512450a" /><Relationship Type="http://schemas.openxmlformats.org/officeDocument/2006/relationships/image" Target="/ppt/media/image5.png" Id="R8c1aed6ad210448d" /><Relationship Type="http://schemas.openxmlformats.org/officeDocument/2006/relationships/notesSlide" Target="/ppt/notesSlides/notesSlide8.xml" Id="R0ca9d76c9ba447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f0a25adb94b4bb5" /><Relationship Type="http://schemas.openxmlformats.org/officeDocument/2006/relationships/notesSlide" Target="/ppt/notesSlides/notesSlide9.xml" Id="R3630400c648e49e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9AB6631-AFEA-47DA-9BBC-FF6B8570C3F8}"/>
              </a:ext>
            </a:extLst>
          </p:cNvPr>
          <p:cNvSpPr>
            <a:spLocks xmlns:a="http://schemas.openxmlformats.org/drawingml/2006/main" noGrp="1"/>
          </p:cNvSpPr>
          <p:nvPr/>
        </p:nvSpPr>
        <p:spPr>
          <a:xfrm xmlns:a="http://schemas.openxmlformats.org/drawingml/2006/main">
            <a:off x="400050" y="514350"/>
            <a:ext cx="8382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a:solidFill>
                  <a:srgbClr val="0F172A"/>
                </a:solidFill>
              </a:defRPr>
            </a:pPr>
            <a:r>
              <a:rPr sz="4350" b="1">
                <a:solidFill>
                  <a:srgbClr val="0F172A"/>
                </a:solidFill>
              </a:rPr>
              <a:t>Making KV Movement Agent-Aware</a:t>
            </a:r>
          </a:p>
        </p:txBody>
      </p:sp>
      <p:sp>
        <p:nvSpPr>
          <p:cNvPr id="2" name="">
            <a:extLst xmlns:a="http://schemas.openxmlformats.org/drawingml/2006/main">
              <a:ext uri="{FF2B5EF4-FFF2-40B4-BE49-F238E27FC236}">
                <a16:creationId xmlns:a16="http://schemas.microsoft.com/office/drawing/2014/main" id="{CD2E1BA6-5ED2-4A7E-9869-DB6DEBE41C2B}"/>
              </a:ext>
            </a:extLst>
          </p:cNvPr>
          <p:cNvSpPr>
            <a:spLocks xmlns:a="http://schemas.openxmlformats.org/drawingml/2006/main" noGrp="1"/>
          </p:cNvSpPr>
          <p:nvPr/>
        </p:nvSpPr>
        <p:spPr>
          <a:xfrm xmlns:a="http://schemas.openxmlformats.org/drawingml/2006/main">
            <a:off x="438150" y="1714500"/>
            <a:ext cx="10287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334155"/>
                </a:solidFill>
              </a:defRPr>
            </a:pPr>
            <a:r>
              <a:rPr sz="1575" b="0">
                <a:solidFill>
                  <a:srgbClr val="334155"/>
                </a:solidFill>
              </a:rPr>
              <a:t>Coding agents naturally pause during tool calls, then resume with tight latency expectations. Current memory movement paths are largely context-agnostic: they can move KV pages, but they do not know which agent needs them, when they are needed, or whether missing the deadline will stall replay. This project aims to quantify that gap and prototype hint-guided KV movement as a path toward smarter DMA engines, KV-aware memory scheduling, and hardware/runtime co-design.</a:t>
            </a:r>
          </a:p>
        </p:txBody>
      </p:sp>
      <p:sp>
        <p:nvSpPr>
          <p:cNvPr id="3" name="">
            <a:extLst xmlns:a="http://schemas.openxmlformats.org/drawingml/2006/main">
              <a:ext uri="{FF2B5EF4-FFF2-40B4-BE49-F238E27FC236}">
                <a16:creationId xmlns:a16="http://schemas.microsoft.com/office/drawing/2014/main" id="{3C0A07E2-34CF-4C22-B9FA-07890AC6AB8C}"/>
              </a:ext>
            </a:extLst>
          </p:cNvPr>
          <p:cNvSpPr>
            <a:spLocks xmlns:a="http://schemas.openxmlformats.org/drawingml/2006/main" noGrp="1"/>
          </p:cNvSpPr>
          <p:nvPr/>
        </p:nvSpPr>
        <p:spPr>
          <a:xfrm xmlns:a="http://schemas.openxmlformats.org/drawingml/2006/main">
            <a:off x="495300" y="3829050"/>
            <a:ext cx="1619250" cy="781050"/>
          </a:xfrm>
          <a:prstGeom xmlns:a="http://schemas.openxmlformats.org/drawingml/2006/main" prst="roundRect">
            <a:avLst>
              <a:gd name="adj" fmla="val 7317"/>
            </a:avLst>
          </a:prstGeom>
          <a:solidFill xmlns:a="http://schemas.openxmlformats.org/drawingml/2006/main">
            <a:srgbClr val="DBEAFE"/>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1648394F-91DB-45DA-BBAE-B60F8A965E42}"/>
              </a:ext>
            </a:extLst>
          </p:cNvPr>
          <p:cNvSpPr>
            <a:spLocks xmlns:a="http://schemas.openxmlformats.org/drawingml/2006/main" noGrp="1"/>
          </p:cNvSpPr>
          <p:nvPr/>
        </p:nvSpPr>
        <p:spPr>
          <a:xfrm xmlns:a="http://schemas.openxmlformats.org/drawingml/2006/main">
            <a:off x="628650" y="3971925"/>
            <a:ext cx="1352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F172A"/>
                </a:solidFill>
              </a:defRPr>
            </a:pPr>
            <a:r>
              <a:rPr sz="1500" b="1">
                <a:solidFill>
                  <a:srgbClr val="0F172A"/>
                </a:solidFill>
              </a:rPr>
              <a:t>model turn</a:t>
            </a:r>
          </a:p>
        </p:txBody>
      </p:sp>
      <p:sp>
        <p:nvSpPr>
          <p:cNvPr id="5" name="">
            <a:extLst xmlns:a="http://schemas.openxmlformats.org/drawingml/2006/main">
              <a:ext uri="{FF2B5EF4-FFF2-40B4-BE49-F238E27FC236}">
                <a16:creationId xmlns:a16="http://schemas.microsoft.com/office/drawing/2014/main" id="{C87513AA-AF0E-42F1-9E33-F49502313A2E}"/>
              </a:ext>
            </a:extLst>
          </p:cNvPr>
          <p:cNvSpPr>
            <a:spLocks xmlns:a="http://schemas.openxmlformats.org/drawingml/2006/main" noGrp="1"/>
          </p:cNvSpPr>
          <p:nvPr/>
        </p:nvSpPr>
        <p:spPr>
          <a:xfrm xmlns:a="http://schemas.openxmlformats.org/drawingml/2006/main">
            <a:off x="2228850" y="40290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64748B"/>
                </a:solidFill>
              </a:defRPr>
            </a:pPr>
            <a:r>
              <a:rPr sz="2400" b="1">
                <a:solidFill>
                  <a:srgbClr val="64748B"/>
                </a:solidFill>
              </a:rPr>
              <a:t>→</a:t>
            </a:r>
          </a:p>
        </p:txBody>
      </p:sp>
      <p:sp>
        <p:nvSpPr>
          <p:cNvPr id="6" name="">
            <a:extLst xmlns:a="http://schemas.openxmlformats.org/drawingml/2006/main">
              <a:ext uri="{FF2B5EF4-FFF2-40B4-BE49-F238E27FC236}">
                <a16:creationId xmlns:a16="http://schemas.microsoft.com/office/drawing/2014/main" id="{EA340BD4-41AB-47F8-ABE6-C5B1A39DC980}"/>
              </a:ext>
            </a:extLst>
          </p:cNvPr>
          <p:cNvSpPr>
            <a:spLocks xmlns:a="http://schemas.openxmlformats.org/drawingml/2006/main" noGrp="1"/>
          </p:cNvSpPr>
          <p:nvPr/>
        </p:nvSpPr>
        <p:spPr>
          <a:xfrm xmlns:a="http://schemas.openxmlformats.org/drawingml/2006/main">
            <a:off x="2714625" y="3829050"/>
            <a:ext cx="1619250" cy="781050"/>
          </a:xfrm>
          <a:prstGeom xmlns:a="http://schemas.openxmlformats.org/drawingml/2006/main" prst="roundRect">
            <a:avLst>
              <a:gd name="adj" fmla="val 7317"/>
            </a:avLst>
          </a:prstGeom>
          <a:solidFill xmlns:a="http://schemas.openxmlformats.org/drawingml/2006/main">
            <a:srgbClr val="F1F5F9"/>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61675222-4D7B-4B73-A335-FBCBD2354C0F}"/>
              </a:ext>
            </a:extLst>
          </p:cNvPr>
          <p:cNvSpPr>
            <a:spLocks xmlns:a="http://schemas.openxmlformats.org/drawingml/2006/main" noGrp="1"/>
          </p:cNvSpPr>
          <p:nvPr/>
        </p:nvSpPr>
        <p:spPr>
          <a:xfrm xmlns:a="http://schemas.openxmlformats.org/drawingml/2006/main">
            <a:off x="2847975" y="3971925"/>
            <a:ext cx="1352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F172A"/>
                </a:solidFill>
              </a:defRPr>
            </a:pPr>
            <a:r>
              <a:rPr sz="1500" b="1">
                <a:solidFill>
                  <a:srgbClr val="0F172A"/>
                </a:solidFill>
              </a:rPr>
              <a:t>tool wait</a:t>
            </a:r>
          </a:p>
        </p:txBody>
      </p:sp>
      <p:sp>
        <p:nvSpPr>
          <p:cNvPr id="8" name="">
            <a:extLst xmlns:a="http://schemas.openxmlformats.org/drawingml/2006/main">
              <a:ext uri="{FF2B5EF4-FFF2-40B4-BE49-F238E27FC236}">
                <a16:creationId xmlns:a16="http://schemas.microsoft.com/office/drawing/2014/main" id="{894274B6-8C74-430D-81F2-BA691606E10E}"/>
              </a:ext>
            </a:extLst>
          </p:cNvPr>
          <p:cNvSpPr>
            <a:spLocks xmlns:a="http://schemas.openxmlformats.org/drawingml/2006/main" noGrp="1"/>
          </p:cNvSpPr>
          <p:nvPr/>
        </p:nvSpPr>
        <p:spPr>
          <a:xfrm xmlns:a="http://schemas.openxmlformats.org/drawingml/2006/main">
            <a:off x="4448175" y="40290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64748B"/>
                </a:solidFill>
              </a:defRPr>
            </a:pPr>
            <a:r>
              <a:rPr sz="2400" b="1">
                <a:solidFill>
                  <a:srgbClr val="64748B"/>
                </a:solidFill>
              </a:rPr>
              <a:t>→</a:t>
            </a:r>
          </a:p>
        </p:txBody>
      </p:sp>
      <p:sp>
        <p:nvSpPr>
          <p:cNvPr id="9" name="">
            <a:extLst xmlns:a="http://schemas.openxmlformats.org/drawingml/2006/main">
              <a:ext uri="{FF2B5EF4-FFF2-40B4-BE49-F238E27FC236}">
                <a16:creationId xmlns:a16="http://schemas.microsoft.com/office/drawing/2014/main" id="{0C0CDA4E-B18E-4383-B251-648A79852200}"/>
              </a:ext>
            </a:extLst>
          </p:cNvPr>
          <p:cNvSpPr>
            <a:spLocks xmlns:a="http://schemas.openxmlformats.org/drawingml/2006/main" noGrp="1"/>
          </p:cNvSpPr>
          <p:nvPr/>
        </p:nvSpPr>
        <p:spPr>
          <a:xfrm xmlns:a="http://schemas.openxmlformats.org/drawingml/2006/main">
            <a:off x="4933950" y="3829050"/>
            <a:ext cx="1619250" cy="781050"/>
          </a:xfrm>
          <a:prstGeom xmlns:a="http://schemas.openxmlformats.org/drawingml/2006/main" prst="roundRect">
            <a:avLst>
              <a:gd name="adj" fmla="val 7317"/>
            </a:avLst>
          </a:prstGeom>
          <a:solidFill xmlns:a="http://schemas.openxmlformats.org/drawingml/2006/main">
            <a:srgbClr val="FEE2E2"/>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5A85D7F3-3F78-4469-A17E-EF12464463E0}"/>
              </a:ext>
            </a:extLst>
          </p:cNvPr>
          <p:cNvSpPr>
            <a:spLocks xmlns:a="http://schemas.openxmlformats.org/drawingml/2006/main" noGrp="1"/>
          </p:cNvSpPr>
          <p:nvPr/>
        </p:nvSpPr>
        <p:spPr>
          <a:xfrm xmlns:a="http://schemas.openxmlformats.org/drawingml/2006/main">
            <a:off x="5067300" y="3971925"/>
            <a:ext cx="1352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F172A"/>
                </a:solidFill>
              </a:defRPr>
            </a:pPr>
            <a:r>
              <a:rPr sz="1500" b="1">
                <a:solidFill>
                  <a:srgbClr val="0F172A"/>
                </a:solidFill>
              </a:rPr>
              <a:t>replay request</a:t>
            </a:r>
          </a:p>
        </p:txBody>
      </p:sp>
      <p:sp>
        <p:nvSpPr>
          <p:cNvPr id="11" name="">
            <a:extLst xmlns:a="http://schemas.openxmlformats.org/drawingml/2006/main">
              <a:ext uri="{FF2B5EF4-FFF2-40B4-BE49-F238E27FC236}">
                <a16:creationId xmlns:a16="http://schemas.microsoft.com/office/drawing/2014/main" id="{117CBBF6-E44B-4D98-BE3D-040824E513AB}"/>
              </a:ext>
            </a:extLst>
          </p:cNvPr>
          <p:cNvSpPr>
            <a:spLocks xmlns:a="http://schemas.openxmlformats.org/drawingml/2006/main" noGrp="1"/>
          </p:cNvSpPr>
          <p:nvPr/>
        </p:nvSpPr>
        <p:spPr>
          <a:xfrm xmlns:a="http://schemas.openxmlformats.org/drawingml/2006/main">
            <a:off x="6667500" y="40290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64748B"/>
                </a:solidFill>
              </a:defRPr>
            </a:pPr>
            <a:r>
              <a:rPr sz="2400" b="1">
                <a:solidFill>
                  <a:srgbClr val="64748B"/>
                </a:solidFill>
              </a:rPr>
              <a:t>→</a:t>
            </a:r>
          </a:p>
        </p:txBody>
      </p:sp>
      <p:sp>
        <p:nvSpPr>
          <p:cNvPr id="12" name="">
            <a:extLst xmlns:a="http://schemas.openxmlformats.org/drawingml/2006/main">
              <a:ext uri="{FF2B5EF4-FFF2-40B4-BE49-F238E27FC236}">
                <a16:creationId xmlns:a16="http://schemas.microsoft.com/office/drawing/2014/main" id="{993CC2AD-90AC-4059-8A8E-5ED70C879908}"/>
              </a:ext>
            </a:extLst>
          </p:cNvPr>
          <p:cNvSpPr>
            <a:spLocks xmlns:a="http://schemas.openxmlformats.org/drawingml/2006/main" noGrp="1"/>
          </p:cNvSpPr>
          <p:nvPr/>
        </p:nvSpPr>
        <p:spPr>
          <a:xfrm xmlns:a="http://schemas.openxmlformats.org/drawingml/2006/main">
            <a:off x="7153275" y="3829050"/>
            <a:ext cx="1619250" cy="781050"/>
          </a:xfrm>
          <a:prstGeom xmlns:a="http://schemas.openxmlformats.org/drawingml/2006/main" prst="roundRect">
            <a:avLst>
              <a:gd name="adj" fmla="val 7317"/>
            </a:avLst>
          </a:prstGeom>
          <a:solidFill xmlns:a="http://schemas.openxmlformats.org/drawingml/2006/main">
            <a:srgbClr val="DCFCE7"/>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3095EACB-17E5-4C38-8715-09651E39272E}"/>
              </a:ext>
            </a:extLst>
          </p:cNvPr>
          <p:cNvSpPr>
            <a:spLocks xmlns:a="http://schemas.openxmlformats.org/drawingml/2006/main" noGrp="1"/>
          </p:cNvSpPr>
          <p:nvPr/>
        </p:nvSpPr>
        <p:spPr>
          <a:xfrm xmlns:a="http://schemas.openxmlformats.org/drawingml/2006/main">
            <a:off x="7286625" y="3971925"/>
            <a:ext cx="1352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F172A"/>
                </a:solidFill>
              </a:defRPr>
            </a:pPr>
            <a:r>
              <a:rPr sz="1500" b="1">
                <a:solidFill>
                  <a:srgbClr val="0F172A"/>
                </a:solidFill>
              </a:rPr>
              <a:t>KV ready?</a:t>
            </a:r>
          </a:p>
        </p:txBody>
      </p:sp>
      <p:sp>
        <p:nvSpPr>
          <p:cNvPr id="14" name="">
            <a:extLst xmlns:a="http://schemas.openxmlformats.org/drawingml/2006/main">
              <a:ext uri="{FF2B5EF4-FFF2-40B4-BE49-F238E27FC236}">
                <a16:creationId xmlns:a16="http://schemas.microsoft.com/office/drawing/2014/main" id="{55C271DD-7013-4AC2-A618-FAFD564FFB5B}"/>
              </a:ext>
            </a:extLst>
          </p:cNvPr>
          <p:cNvSpPr>
            <a:spLocks xmlns:a="http://schemas.openxmlformats.org/drawingml/2006/main" noGrp="1"/>
          </p:cNvSpPr>
          <p:nvPr/>
        </p:nvSpPr>
        <p:spPr>
          <a:xfrm xmlns:a="http://schemas.openxmlformats.org/drawingml/2006/main">
            <a:off x="400050" y="6381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4748B"/>
                </a:solidFill>
              </a:defRPr>
            </a:pPr>
            <a:r>
              <a:rPr sz="975" b="0">
                <a:solidFill>
                  <a:srgbClr val="64748B"/>
                </a:solidFill>
              </a:rPr>
              <a:t>Agent-aware KV movement</a:t>
            </a:r>
          </a:p>
        </p:txBody>
      </p:sp>
      <p:sp>
        <p:nvSpPr>
          <p:cNvPr id="15" name="">
            <a:extLst xmlns:a="http://schemas.openxmlformats.org/drawingml/2006/main">
              <a:ext uri="{FF2B5EF4-FFF2-40B4-BE49-F238E27FC236}">
                <a16:creationId xmlns:a16="http://schemas.microsoft.com/office/drawing/2014/main" id="{2325E4FA-4CED-4BA2-996D-77F42AD2F933}"/>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4748B"/>
                </a:solidFill>
              </a:defRPr>
            </a:pPr>
            <a:r>
              <a:rPr sz="975" b="0">
                <a:solidFill>
                  <a:srgbClr val="64748B"/>
                </a:solidFill>
              </a:rPr>
              <a:t>01</a:t>
            </a:r>
          </a:p>
        </p:txBody>
      </p:sp>
    </p:spTree>
    <p:extLst>
      <p:ext uri="{BB962C8B-B14F-4D97-AF65-F5344CB8AC3E}">
        <p14:creationId xmlns:p14="http://schemas.microsoft.com/office/powerpoint/2010/main" val="87117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CB27B2F-8040-4F21-961B-9500B53F2B95}"/>
              </a:ext>
            </a:extLst>
          </p:cNvPr>
          <p:cNvSpPr>
            <a:spLocks xmlns:a="http://schemas.openxmlformats.org/drawingml/2006/main" noGrp="1"/>
          </p:cNvSpPr>
          <p:nvPr/>
        </p:nvSpPr>
        <p:spPr>
          <a:xfrm xmlns:a="http://schemas.openxmlformats.org/drawingml/2006/main">
            <a:off x="400050" y="32385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defRPr>
            </a:pPr>
            <a:r>
              <a:rPr sz="2850" b="1">
                <a:solidFill>
                  <a:srgbClr val="0F172A"/>
                </a:solidFill>
              </a:rPr>
              <a:t>The testbed uses both controlled and real agent traffic</a:t>
            </a:r>
          </a:p>
        </p:txBody>
      </p:sp>
      <p:sp>
        <p:nvSpPr>
          <p:cNvPr id="2" name="">
            <a:extLst xmlns:a="http://schemas.openxmlformats.org/drawingml/2006/main">
              <a:ext uri="{FF2B5EF4-FFF2-40B4-BE49-F238E27FC236}">
                <a16:creationId xmlns:a16="http://schemas.microsoft.com/office/drawing/2014/main" id="{8BE0CD20-7C43-4401-83DB-44D5D4436DE0}"/>
              </a:ext>
            </a:extLst>
          </p:cNvPr>
          <p:cNvSpPr>
            <a:spLocks xmlns:a="http://schemas.openxmlformats.org/drawingml/2006/main" noGrp="1"/>
          </p:cNvSpPr>
          <p:nvPr/>
        </p:nvSpPr>
        <p:spPr>
          <a:xfrm xmlns:a="http://schemas.openxmlformats.org/drawingml/2006/main">
            <a:off x="419100" y="102870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748B"/>
                </a:solidFill>
              </a:defRPr>
            </a:pPr>
            <a:r>
              <a:rPr sz="1350" b="0">
                <a:solidFill>
                  <a:srgbClr val="64748B"/>
                </a:solidFill>
              </a:rPr>
              <a:t>Synthetic request generators give clean knobs; SWE-bench/DeepAgents traces give realistic coding-agent behavior.</a:t>
            </a:r>
          </a:p>
        </p:txBody>
      </p:sp>
      <p:sp>
        <p:nvSpPr>
          <p:cNvPr id="3" name="">
            <a:extLst xmlns:a="http://schemas.openxmlformats.org/drawingml/2006/main">
              <a:ext uri="{FF2B5EF4-FFF2-40B4-BE49-F238E27FC236}">
                <a16:creationId xmlns:a16="http://schemas.microsoft.com/office/drawing/2014/main" id="{5D7E99B7-5D14-40BA-B62E-DBFA0442E552}"/>
              </a:ext>
            </a:extLst>
          </p:cNvPr>
          <p:cNvSpPr>
            <a:spLocks xmlns:a="http://schemas.openxmlformats.org/drawingml/2006/main" noGrp="1"/>
          </p:cNvSpPr>
          <p:nvPr/>
        </p:nvSpPr>
        <p:spPr>
          <a:xfrm xmlns:a="http://schemas.openxmlformats.org/drawingml/2006/main">
            <a:off x="419100" y="1428750"/>
            <a:ext cx="11353800" cy="179070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9525">
            <a:solidFill>
              <a:srgbClr val="E5E7EB"/>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2a90ef8e5c54102"/>
          <a:stretch xmlns:a="http://schemas.openxmlformats.org/drawingml/2006/main"/>
        </p:blipFill>
        <p:spPr>
          <a:xfrm xmlns:a="http://schemas.openxmlformats.org/drawingml/2006/main">
            <a:off x="496830" y="1504950"/>
            <a:ext cx="11198340" cy="1638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61BC007-10AA-43D8-B0C3-84D773F62802}"/>
              </a:ext>
            </a:extLst>
          </p:cNvPr>
          <p:cNvSpPr>
            <a:spLocks xmlns:a="http://schemas.openxmlformats.org/drawingml/2006/main" noGrp="1"/>
          </p:cNvSpPr>
          <p:nvPr/>
        </p:nvSpPr>
        <p:spPr>
          <a:xfrm xmlns:a="http://schemas.openxmlformats.org/drawingml/2006/main">
            <a:off x="819150" y="3733800"/>
            <a:ext cx="4552950" cy="142875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sp>
      <p:sp>
        <p:nvSpPr>
          <p:cNvPr id="6" name="">
            <a:extLst xmlns:a="http://schemas.openxmlformats.org/drawingml/2006/main">
              <a:ext uri="{FF2B5EF4-FFF2-40B4-BE49-F238E27FC236}">
                <a16:creationId xmlns:a16="http://schemas.microsoft.com/office/drawing/2014/main" id="{9EF09307-6CAE-46ED-8EAB-C36C590D6288}"/>
              </a:ext>
            </a:extLst>
          </p:cNvPr>
          <p:cNvSpPr>
            <a:spLocks xmlns:a="http://schemas.openxmlformats.org/drawingml/2006/main" noGrp="1"/>
          </p:cNvSpPr>
          <p:nvPr/>
        </p:nvSpPr>
        <p:spPr>
          <a:xfrm xmlns:a="http://schemas.openxmlformats.org/drawingml/2006/main">
            <a:off x="1104900" y="39624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F172A"/>
                </a:solidFill>
              </a:defRPr>
            </a:pPr>
            <a:r>
              <a:rPr sz="1800" b="1">
                <a:solidFill>
                  <a:srgbClr val="0F172A"/>
                </a:solidFill>
              </a:rPr>
              <a:t>Controlled synthetic path</a:t>
            </a:r>
          </a:p>
        </p:txBody>
      </p:sp>
      <p:sp>
        <p:nvSpPr>
          <p:cNvPr id="7" name="">
            <a:extLst xmlns:a="http://schemas.openxmlformats.org/drawingml/2006/main">
              <a:ext uri="{FF2B5EF4-FFF2-40B4-BE49-F238E27FC236}">
                <a16:creationId xmlns:a16="http://schemas.microsoft.com/office/drawing/2014/main" id="{AF787D38-6392-4A06-B3A9-6986C0CA2148}"/>
              </a:ext>
            </a:extLst>
          </p:cNvPr>
          <p:cNvSpPr>
            <a:spLocks xmlns:a="http://schemas.openxmlformats.org/drawingml/2006/main" noGrp="1"/>
          </p:cNvSpPr>
          <p:nvPr/>
        </p:nvSpPr>
        <p:spPr>
          <a:xfrm xmlns:a="http://schemas.openxmlformats.org/drawingml/2006/main">
            <a:off x="1104900" y="4362450"/>
            <a:ext cx="3695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334155"/>
                </a:solidFill>
              </a:defRPr>
            </a:pPr>
            <a:r>
              <a:rPr sz="1350" b="0">
                <a:solidFill>
                  <a:srgbClr val="334155"/>
                </a:solidFill>
              </a:rPr>
              <a:t>Synthetic request generator creates known prompt sizes, tool-wait windows, filler pressure, and replay deadlines.</a:t>
            </a:r>
          </a:p>
        </p:txBody>
      </p:sp>
      <p:sp>
        <p:nvSpPr>
          <p:cNvPr id="8" name="">
            <a:extLst xmlns:a="http://schemas.openxmlformats.org/drawingml/2006/main">
              <a:ext uri="{FF2B5EF4-FFF2-40B4-BE49-F238E27FC236}">
                <a16:creationId xmlns:a16="http://schemas.microsoft.com/office/drawing/2014/main" id="{172D2B5F-C810-4BE6-AAAB-B8A6A26685E1}"/>
              </a:ext>
            </a:extLst>
          </p:cNvPr>
          <p:cNvSpPr>
            <a:spLocks xmlns:a="http://schemas.openxmlformats.org/drawingml/2006/main" noGrp="1"/>
          </p:cNvSpPr>
          <p:nvPr/>
        </p:nvSpPr>
        <p:spPr>
          <a:xfrm xmlns:a="http://schemas.openxmlformats.org/drawingml/2006/main">
            <a:off x="6096000" y="3733800"/>
            <a:ext cx="4552950" cy="1428750"/>
          </a:xfrm>
          <a:prstGeom xmlns:a="http://schemas.openxmlformats.org/drawingml/2006/main" prst="roundRect">
            <a:avLst>
              <a:gd name="adj" fmla="val 4000"/>
            </a:avLst>
          </a:prstGeom>
          <a:solidFill xmlns:a="http://schemas.openxmlformats.org/drawingml/2006/main">
            <a:srgbClr val="EFF6FF"/>
          </a:solidFill>
          <a:ln xmlns:a="http://schemas.openxmlformats.org/drawingml/2006/main" w="9525">
            <a:solidFill>
              <a:srgbClr val="BFDBFE"/>
            </a:solidFill>
            <a:prstDash val="solid"/>
          </a:ln>
        </p:spPr>
      </p:sp>
      <p:sp>
        <p:nvSpPr>
          <p:cNvPr id="9" name="">
            <a:extLst xmlns:a="http://schemas.openxmlformats.org/drawingml/2006/main">
              <a:ext uri="{FF2B5EF4-FFF2-40B4-BE49-F238E27FC236}">
                <a16:creationId xmlns:a16="http://schemas.microsoft.com/office/drawing/2014/main" id="{C65CEB16-2BB3-4C23-8421-2B780C439C1B}"/>
              </a:ext>
            </a:extLst>
          </p:cNvPr>
          <p:cNvSpPr>
            <a:spLocks xmlns:a="http://schemas.openxmlformats.org/drawingml/2006/main" noGrp="1"/>
          </p:cNvSpPr>
          <p:nvPr/>
        </p:nvSpPr>
        <p:spPr>
          <a:xfrm xmlns:a="http://schemas.openxmlformats.org/drawingml/2006/main">
            <a:off x="6381750" y="39624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F172A"/>
                </a:solidFill>
              </a:defRPr>
            </a:pPr>
            <a:r>
              <a:rPr sz="1800" b="1">
                <a:solidFill>
                  <a:srgbClr val="0F172A"/>
                </a:solidFill>
              </a:rPr>
              <a:t>Real coding-agent path</a:t>
            </a:r>
          </a:p>
        </p:txBody>
      </p:sp>
      <p:sp>
        <p:nvSpPr>
          <p:cNvPr id="10" name="">
            <a:extLst xmlns:a="http://schemas.openxmlformats.org/drawingml/2006/main">
              <a:ext uri="{FF2B5EF4-FFF2-40B4-BE49-F238E27FC236}">
                <a16:creationId xmlns:a16="http://schemas.microsoft.com/office/drawing/2014/main" id="{14AEDEF9-1183-4714-A9B2-3AABCBFA1917}"/>
              </a:ext>
            </a:extLst>
          </p:cNvPr>
          <p:cNvSpPr>
            <a:spLocks xmlns:a="http://schemas.openxmlformats.org/drawingml/2006/main" noGrp="1"/>
          </p:cNvSpPr>
          <p:nvPr/>
        </p:nvSpPr>
        <p:spPr>
          <a:xfrm xmlns:a="http://schemas.openxmlformats.org/drawingml/2006/main">
            <a:off x="6381750" y="4362450"/>
            <a:ext cx="3695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334155"/>
                </a:solidFill>
              </a:defRPr>
            </a:pPr>
            <a:r>
              <a:rPr sz="1350" b="0">
                <a:solidFill>
                  <a:srgbClr val="334155"/>
                </a:solidFill>
              </a:rPr>
              <a:t>SWE-bench / AgentBench tasks feed DeepAgents, which emits model turns and tool-call gaps into SGLang.</a:t>
            </a:r>
          </a:p>
        </p:txBody>
      </p:sp>
      <p:sp>
        <p:nvSpPr>
          <p:cNvPr id="11" name="">
            <a:extLst xmlns:a="http://schemas.openxmlformats.org/drawingml/2006/main">
              <a:ext uri="{FF2B5EF4-FFF2-40B4-BE49-F238E27FC236}">
                <a16:creationId xmlns:a16="http://schemas.microsoft.com/office/drawing/2014/main" id="{496224DD-FCCD-48FA-9429-08C67D7CE35C}"/>
              </a:ext>
            </a:extLst>
          </p:cNvPr>
          <p:cNvSpPr>
            <a:spLocks xmlns:a="http://schemas.openxmlformats.org/drawingml/2006/main" noGrp="1"/>
          </p:cNvSpPr>
          <p:nvPr/>
        </p:nvSpPr>
        <p:spPr>
          <a:xfrm xmlns:a="http://schemas.openxmlformats.org/drawingml/2006/main">
            <a:off x="400050" y="6153150"/>
            <a:ext cx="781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4748B"/>
                </a:solidFill>
              </a:defRPr>
            </a:pPr>
            <a:r>
              <a:rPr sz="825" b="0">
                <a:solidFill>
                  <a:srgbClr val="64748B"/>
                </a:solidFill>
              </a:rPr>
              <a:t>Source: latest_master_report.html, Experiment Setup And Manager Summary</a:t>
            </a:r>
          </a:p>
        </p:txBody>
      </p:sp>
      <p:sp>
        <p:nvSpPr>
          <p:cNvPr id="12" name="">
            <a:extLst xmlns:a="http://schemas.openxmlformats.org/drawingml/2006/main">
              <a:ext uri="{FF2B5EF4-FFF2-40B4-BE49-F238E27FC236}">
                <a16:creationId xmlns:a16="http://schemas.microsoft.com/office/drawing/2014/main" id="{25605FB8-6F0B-4027-B004-B6FD775B0E51}"/>
              </a:ext>
            </a:extLst>
          </p:cNvPr>
          <p:cNvSpPr>
            <a:spLocks xmlns:a="http://schemas.openxmlformats.org/drawingml/2006/main" noGrp="1"/>
          </p:cNvSpPr>
          <p:nvPr/>
        </p:nvSpPr>
        <p:spPr>
          <a:xfrm xmlns:a="http://schemas.openxmlformats.org/drawingml/2006/main">
            <a:off x="400050" y="6381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4748B"/>
                </a:solidFill>
              </a:defRPr>
            </a:pPr>
            <a:r>
              <a:rPr sz="975" b="0">
                <a:solidFill>
                  <a:srgbClr val="64748B"/>
                </a:solidFill>
              </a:rPr>
              <a:t>Agent-aware KV movement</a:t>
            </a:r>
          </a:p>
        </p:txBody>
      </p:sp>
      <p:sp>
        <p:nvSpPr>
          <p:cNvPr id="13" name="">
            <a:extLst xmlns:a="http://schemas.openxmlformats.org/drawingml/2006/main">
              <a:ext uri="{FF2B5EF4-FFF2-40B4-BE49-F238E27FC236}">
                <a16:creationId xmlns:a16="http://schemas.microsoft.com/office/drawing/2014/main" id="{9AC283EB-EEDD-4D3A-B0E1-F25EF72181D8}"/>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4748B"/>
                </a:solidFill>
              </a:defRPr>
            </a:pPr>
            <a:r>
              <a:rPr sz="975" b="0">
                <a:solidFill>
                  <a:srgbClr val="64748B"/>
                </a:solidFill>
              </a:rPr>
              <a:t>02</a:t>
            </a:r>
          </a:p>
        </p:txBody>
      </p:sp>
    </p:spTree>
    <p:extLst>
      <p:ext uri="{BB962C8B-B14F-4D97-AF65-F5344CB8AC3E}">
        <p14:creationId xmlns:p14="http://schemas.microsoft.com/office/powerpoint/2010/main" val="5510795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B9938FF0-0F20-4264-B181-F91D0D45DB02}"/>
              </a:ext>
            </a:extLst>
          </p:cNvPr>
          <p:cNvSpPr>
            <a:spLocks xmlns:a="http://schemas.openxmlformats.org/drawingml/2006/main" noGrp="1"/>
          </p:cNvSpPr>
          <p:nvPr/>
        </p:nvSpPr>
        <p:spPr>
          <a:xfrm xmlns:a="http://schemas.openxmlformats.org/drawingml/2006/main">
            <a:off x="400050" y="32385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defRPr>
            </a:pPr>
            <a:r>
              <a:rPr sz="2850" b="1">
                <a:solidFill>
                  <a:srgbClr val="0F172A"/>
                </a:solidFill>
              </a:rPr>
              <a:t>The prototype runs real prompts through SGLang</a:t>
            </a:r>
          </a:p>
        </p:txBody>
      </p:sp>
      <p:sp>
        <p:nvSpPr>
          <p:cNvPr id="2" name="">
            <a:extLst xmlns:a="http://schemas.openxmlformats.org/drawingml/2006/main">
              <a:ext uri="{FF2B5EF4-FFF2-40B4-BE49-F238E27FC236}">
                <a16:creationId xmlns:a16="http://schemas.microsoft.com/office/drawing/2014/main" id="{666A5885-EC20-4295-9E23-FEF1A9CA0F42}"/>
              </a:ext>
            </a:extLst>
          </p:cNvPr>
          <p:cNvSpPr>
            <a:spLocks xmlns:a="http://schemas.openxmlformats.org/drawingml/2006/main" noGrp="1"/>
          </p:cNvSpPr>
          <p:nvPr/>
        </p:nvSpPr>
        <p:spPr>
          <a:xfrm xmlns:a="http://schemas.openxmlformats.org/drawingml/2006/main">
            <a:off x="419100" y="102870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748B"/>
                </a:solidFill>
              </a:defRPr>
            </a:pPr>
            <a:r>
              <a:rPr sz="1350" b="0">
                <a:solidFill>
                  <a:srgbClr val="64748B"/>
                </a:solidFill>
              </a:rPr>
              <a:t>Concrete setup behind the charts: traffic source, serving stack, one GPU, model, and host-side KV cache.</a:t>
            </a:r>
          </a:p>
        </p:txBody>
      </p:sp>
      <p:sp>
        <p:nvSpPr>
          <p:cNvPr id="3" name="">
            <a:extLst xmlns:a="http://schemas.openxmlformats.org/drawingml/2006/main">
              <a:ext uri="{FF2B5EF4-FFF2-40B4-BE49-F238E27FC236}">
                <a16:creationId xmlns:a16="http://schemas.microsoft.com/office/drawing/2014/main" id="{4252BA33-7C75-49ED-B351-BE8DF49C4285}"/>
              </a:ext>
            </a:extLst>
          </p:cNvPr>
          <p:cNvSpPr>
            <a:spLocks xmlns:a="http://schemas.openxmlformats.org/drawingml/2006/main" noGrp="1"/>
          </p:cNvSpPr>
          <p:nvPr/>
        </p:nvSpPr>
        <p:spPr>
          <a:xfrm xmlns:a="http://schemas.openxmlformats.org/drawingml/2006/main">
            <a:off x="514350" y="1752600"/>
            <a:ext cx="1695450" cy="914400"/>
          </a:xfrm>
          <a:prstGeom xmlns:a="http://schemas.openxmlformats.org/drawingml/2006/main" prst="roundRect">
            <a:avLst>
              <a:gd name="adj" fmla="val 6250"/>
            </a:avLst>
          </a:prstGeom>
          <a:solidFill xmlns:a="http://schemas.openxmlformats.org/drawingml/2006/main">
            <a:srgbClr val="F8FAFC"/>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F98EBC35-3657-49C3-9C36-97F46493A0EC}"/>
              </a:ext>
            </a:extLst>
          </p:cNvPr>
          <p:cNvSpPr>
            <a:spLocks xmlns:a="http://schemas.openxmlformats.org/drawingml/2006/main" noGrp="1"/>
          </p:cNvSpPr>
          <p:nvPr/>
        </p:nvSpPr>
        <p:spPr>
          <a:xfrm xmlns:a="http://schemas.openxmlformats.org/drawingml/2006/main">
            <a:off x="647700" y="1895475"/>
            <a:ext cx="1428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F172A"/>
                </a:solidFill>
              </a:defRPr>
            </a:pPr>
            <a:r>
              <a:rPr sz="1500" b="1">
                <a:solidFill>
                  <a:srgbClr val="0F172A"/>
                </a:solidFill>
              </a:rPr>
              <a:t>Synthetic</a:t>
            </a:r>
          </a:p>
          <a:p xmlns:a="http://schemas.openxmlformats.org/drawingml/2006/main">
            <a:pPr algn="ctr">
              <a:defRPr sz="1500" b="1">
                <a:solidFill>
                  <a:srgbClr val="0F172A"/>
                </a:solidFill>
              </a:defRPr>
            </a:pPr>
            <a:r>
              <a:rPr sz="1500" b="1">
                <a:solidFill>
                  <a:srgbClr val="0F172A"/>
                </a:solidFill>
              </a:rPr>
              <a:t>request generator</a:t>
            </a:r>
          </a:p>
        </p:txBody>
      </p:sp>
      <p:sp>
        <p:nvSpPr>
          <p:cNvPr id="5" name="">
            <a:extLst xmlns:a="http://schemas.openxmlformats.org/drawingml/2006/main">
              <a:ext uri="{FF2B5EF4-FFF2-40B4-BE49-F238E27FC236}">
                <a16:creationId xmlns:a16="http://schemas.microsoft.com/office/drawing/2014/main" id="{53865425-AED9-4487-8238-03D950554468}"/>
              </a:ext>
            </a:extLst>
          </p:cNvPr>
          <p:cNvSpPr>
            <a:spLocks xmlns:a="http://schemas.openxmlformats.org/drawingml/2006/main" noGrp="1"/>
          </p:cNvSpPr>
          <p:nvPr/>
        </p:nvSpPr>
        <p:spPr>
          <a:xfrm xmlns:a="http://schemas.openxmlformats.org/drawingml/2006/main">
            <a:off x="2286000" y="2038350"/>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64748B"/>
                </a:solidFill>
              </a:defRPr>
            </a:pPr>
            <a:r>
              <a:rPr sz="2250" b="1">
                <a:solidFill>
                  <a:srgbClr val="64748B"/>
                </a:solidFill>
              </a:rPr>
              <a:t>→</a:t>
            </a:r>
          </a:p>
        </p:txBody>
      </p:sp>
      <p:sp>
        <p:nvSpPr>
          <p:cNvPr id="6" name="">
            <a:extLst xmlns:a="http://schemas.openxmlformats.org/drawingml/2006/main">
              <a:ext uri="{FF2B5EF4-FFF2-40B4-BE49-F238E27FC236}">
                <a16:creationId xmlns:a16="http://schemas.microsoft.com/office/drawing/2014/main" id="{EA3BAC1B-2E40-454A-BD72-11C078AF958F}"/>
              </a:ext>
            </a:extLst>
          </p:cNvPr>
          <p:cNvSpPr>
            <a:spLocks xmlns:a="http://schemas.openxmlformats.org/drawingml/2006/main" noGrp="1"/>
          </p:cNvSpPr>
          <p:nvPr/>
        </p:nvSpPr>
        <p:spPr>
          <a:xfrm xmlns:a="http://schemas.openxmlformats.org/drawingml/2006/main">
            <a:off x="2724150" y="1752600"/>
            <a:ext cx="1695450" cy="914400"/>
          </a:xfrm>
          <a:prstGeom xmlns:a="http://schemas.openxmlformats.org/drawingml/2006/main" prst="roundRect">
            <a:avLst>
              <a:gd name="adj" fmla="val 6250"/>
            </a:avLst>
          </a:prstGeom>
          <a:solidFill xmlns:a="http://schemas.openxmlformats.org/drawingml/2006/main">
            <a:srgbClr val="EFF6FF"/>
          </a:solidFill>
          <a:ln xmlns:a="http://schemas.openxmlformats.org/drawingml/2006/main" w="9525">
            <a:solidFill>
              <a:srgbClr val="BFDBFE"/>
            </a:solidFill>
            <a:prstDash val="solid"/>
          </a:ln>
        </p:spPr>
      </p:sp>
      <p:sp>
        <p:nvSpPr>
          <p:cNvPr id="7" name="">
            <a:extLst xmlns:a="http://schemas.openxmlformats.org/drawingml/2006/main">
              <a:ext uri="{FF2B5EF4-FFF2-40B4-BE49-F238E27FC236}">
                <a16:creationId xmlns:a16="http://schemas.microsoft.com/office/drawing/2014/main" id="{ECBF0D6F-AF21-49EE-8EF6-1F7BA4930291}"/>
              </a:ext>
            </a:extLst>
          </p:cNvPr>
          <p:cNvSpPr>
            <a:spLocks xmlns:a="http://schemas.openxmlformats.org/drawingml/2006/main" noGrp="1"/>
          </p:cNvSpPr>
          <p:nvPr/>
        </p:nvSpPr>
        <p:spPr>
          <a:xfrm xmlns:a="http://schemas.openxmlformats.org/drawingml/2006/main">
            <a:off x="2857500" y="1895475"/>
            <a:ext cx="1428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F172A"/>
                </a:solidFill>
              </a:defRPr>
            </a:pPr>
            <a:r>
              <a:rPr sz="1500" b="1">
                <a:solidFill>
                  <a:srgbClr val="0F172A"/>
                </a:solidFill>
              </a:rPr>
              <a:t>SWE-bench /</a:t>
            </a:r>
          </a:p>
          <a:p xmlns:a="http://schemas.openxmlformats.org/drawingml/2006/main">
            <a:pPr algn="ctr">
              <a:defRPr sz="1500" b="1">
                <a:solidFill>
                  <a:srgbClr val="0F172A"/>
                </a:solidFill>
              </a:defRPr>
            </a:pPr>
            <a:r>
              <a:rPr sz="1500" b="1">
                <a:solidFill>
                  <a:srgbClr val="0F172A"/>
                </a:solidFill>
              </a:rPr>
              <a:t>DeepAgents traces</a:t>
            </a:r>
          </a:p>
        </p:txBody>
      </p:sp>
      <p:sp>
        <p:nvSpPr>
          <p:cNvPr id="8" name="">
            <a:extLst xmlns:a="http://schemas.openxmlformats.org/drawingml/2006/main">
              <a:ext uri="{FF2B5EF4-FFF2-40B4-BE49-F238E27FC236}">
                <a16:creationId xmlns:a16="http://schemas.microsoft.com/office/drawing/2014/main" id="{742E2C10-0F4A-44A4-9850-DBD332945658}"/>
              </a:ext>
            </a:extLst>
          </p:cNvPr>
          <p:cNvSpPr>
            <a:spLocks xmlns:a="http://schemas.openxmlformats.org/drawingml/2006/main" noGrp="1"/>
          </p:cNvSpPr>
          <p:nvPr/>
        </p:nvSpPr>
        <p:spPr>
          <a:xfrm xmlns:a="http://schemas.openxmlformats.org/drawingml/2006/main">
            <a:off x="4495800" y="2038350"/>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64748B"/>
                </a:solidFill>
              </a:defRPr>
            </a:pPr>
            <a:r>
              <a:rPr sz="2250" b="1">
                <a:solidFill>
                  <a:srgbClr val="64748B"/>
                </a:solidFill>
              </a:rPr>
              <a:t>→</a:t>
            </a:r>
          </a:p>
        </p:txBody>
      </p:sp>
      <p:sp>
        <p:nvSpPr>
          <p:cNvPr id="9" name="">
            <a:extLst xmlns:a="http://schemas.openxmlformats.org/drawingml/2006/main">
              <a:ext uri="{FF2B5EF4-FFF2-40B4-BE49-F238E27FC236}">
                <a16:creationId xmlns:a16="http://schemas.microsoft.com/office/drawing/2014/main" id="{6165527A-BBB6-46A6-AC5B-04F1BA7C7596}"/>
              </a:ext>
            </a:extLst>
          </p:cNvPr>
          <p:cNvSpPr>
            <a:spLocks xmlns:a="http://schemas.openxmlformats.org/drawingml/2006/main" noGrp="1"/>
          </p:cNvSpPr>
          <p:nvPr/>
        </p:nvSpPr>
        <p:spPr>
          <a:xfrm xmlns:a="http://schemas.openxmlformats.org/drawingml/2006/main">
            <a:off x="4933950" y="1752600"/>
            <a:ext cx="1695450" cy="914400"/>
          </a:xfrm>
          <a:prstGeom xmlns:a="http://schemas.openxmlformats.org/drawingml/2006/main" prst="roundRect">
            <a:avLst>
              <a:gd name="adj" fmla="val 6250"/>
            </a:avLst>
          </a:prstGeom>
          <a:solidFill xmlns:a="http://schemas.openxmlformats.org/drawingml/2006/main">
            <a:srgbClr val="F5F3FF"/>
          </a:solidFill>
          <a:ln xmlns:a="http://schemas.openxmlformats.org/drawingml/2006/main" w="9525">
            <a:solidFill>
              <a:srgbClr val="C4B5FD"/>
            </a:solidFill>
            <a:prstDash val="solid"/>
          </a:ln>
        </p:spPr>
      </p:sp>
      <p:sp>
        <p:nvSpPr>
          <p:cNvPr id="10" name="">
            <a:extLst xmlns:a="http://schemas.openxmlformats.org/drawingml/2006/main">
              <a:ext uri="{FF2B5EF4-FFF2-40B4-BE49-F238E27FC236}">
                <a16:creationId xmlns:a16="http://schemas.microsoft.com/office/drawing/2014/main" id="{35A642AE-6B86-4F6F-8B07-248D65E71965}"/>
              </a:ext>
            </a:extLst>
          </p:cNvPr>
          <p:cNvSpPr>
            <a:spLocks xmlns:a="http://schemas.openxmlformats.org/drawingml/2006/main" noGrp="1"/>
          </p:cNvSpPr>
          <p:nvPr/>
        </p:nvSpPr>
        <p:spPr>
          <a:xfrm xmlns:a="http://schemas.openxmlformats.org/drawingml/2006/main">
            <a:off x="5067300" y="1895475"/>
            <a:ext cx="1428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F172A"/>
                </a:solidFill>
              </a:defRPr>
            </a:pPr>
            <a:r>
              <a:rPr sz="1500" b="1">
                <a:solidFill>
                  <a:srgbClr val="0F172A"/>
                </a:solidFill>
              </a:rPr>
              <a:t>SGLang</a:t>
            </a:r>
          </a:p>
          <a:p xmlns:a="http://schemas.openxmlformats.org/drawingml/2006/main">
            <a:pPr algn="ctr">
              <a:defRPr sz="1500" b="1">
                <a:solidFill>
                  <a:srgbClr val="0F172A"/>
                </a:solidFill>
              </a:defRPr>
            </a:pPr>
            <a:r>
              <a:rPr sz="1500" b="1">
                <a:solidFill>
                  <a:srgbClr val="0F172A"/>
                </a:solidFill>
              </a:rPr>
              <a:t>OpenAI server</a:t>
            </a:r>
          </a:p>
        </p:txBody>
      </p:sp>
      <p:sp>
        <p:nvSpPr>
          <p:cNvPr id="11" name="">
            <a:extLst xmlns:a="http://schemas.openxmlformats.org/drawingml/2006/main">
              <a:ext uri="{FF2B5EF4-FFF2-40B4-BE49-F238E27FC236}">
                <a16:creationId xmlns:a16="http://schemas.microsoft.com/office/drawing/2014/main" id="{A8BCA6D7-D66F-4A12-826F-826A5497A6F0}"/>
              </a:ext>
            </a:extLst>
          </p:cNvPr>
          <p:cNvSpPr>
            <a:spLocks xmlns:a="http://schemas.openxmlformats.org/drawingml/2006/main" noGrp="1"/>
          </p:cNvSpPr>
          <p:nvPr/>
        </p:nvSpPr>
        <p:spPr>
          <a:xfrm xmlns:a="http://schemas.openxmlformats.org/drawingml/2006/main">
            <a:off x="6705600" y="2038350"/>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64748B"/>
                </a:solidFill>
              </a:defRPr>
            </a:pPr>
            <a:r>
              <a:rPr sz="2250" b="1">
                <a:solidFill>
                  <a:srgbClr val="64748B"/>
                </a:solidFill>
              </a:rPr>
              <a:t>→</a:t>
            </a:r>
          </a:p>
        </p:txBody>
      </p:sp>
      <p:sp>
        <p:nvSpPr>
          <p:cNvPr id="12" name="">
            <a:extLst xmlns:a="http://schemas.openxmlformats.org/drawingml/2006/main">
              <a:ext uri="{FF2B5EF4-FFF2-40B4-BE49-F238E27FC236}">
                <a16:creationId xmlns:a16="http://schemas.microsoft.com/office/drawing/2014/main" id="{9BECE95C-3025-4C7E-B35C-C10B68456BFA}"/>
              </a:ext>
            </a:extLst>
          </p:cNvPr>
          <p:cNvSpPr>
            <a:spLocks xmlns:a="http://schemas.openxmlformats.org/drawingml/2006/main" noGrp="1"/>
          </p:cNvSpPr>
          <p:nvPr/>
        </p:nvSpPr>
        <p:spPr>
          <a:xfrm xmlns:a="http://schemas.openxmlformats.org/drawingml/2006/main">
            <a:off x="7143750" y="1752600"/>
            <a:ext cx="1695450" cy="914400"/>
          </a:xfrm>
          <a:prstGeom xmlns:a="http://schemas.openxmlformats.org/drawingml/2006/main" prst="roundRect">
            <a:avLst>
              <a:gd name="adj" fmla="val 6250"/>
            </a:avLst>
          </a:prstGeom>
          <a:solidFill xmlns:a="http://schemas.openxmlformats.org/drawingml/2006/main">
            <a:srgbClr val="ECFEFF"/>
          </a:solidFill>
          <a:ln xmlns:a="http://schemas.openxmlformats.org/drawingml/2006/main" w="9525">
            <a:solidFill>
              <a:srgbClr val="67E8F9"/>
            </a:solidFill>
            <a:prstDash val="solid"/>
          </a:ln>
        </p:spPr>
      </p:sp>
      <p:sp>
        <p:nvSpPr>
          <p:cNvPr id="13" name="">
            <a:extLst xmlns:a="http://schemas.openxmlformats.org/drawingml/2006/main">
              <a:ext uri="{FF2B5EF4-FFF2-40B4-BE49-F238E27FC236}">
                <a16:creationId xmlns:a16="http://schemas.microsoft.com/office/drawing/2014/main" id="{CCD669CF-D297-4A20-886F-683876E48792}"/>
              </a:ext>
            </a:extLst>
          </p:cNvPr>
          <p:cNvSpPr>
            <a:spLocks xmlns:a="http://schemas.openxmlformats.org/drawingml/2006/main" noGrp="1"/>
          </p:cNvSpPr>
          <p:nvPr/>
        </p:nvSpPr>
        <p:spPr>
          <a:xfrm xmlns:a="http://schemas.openxmlformats.org/drawingml/2006/main">
            <a:off x="7277100" y="1895475"/>
            <a:ext cx="1428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F172A"/>
                </a:solidFill>
              </a:defRPr>
            </a:pPr>
            <a:r>
              <a:rPr sz="1500" b="1">
                <a:solidFill>
                  <a:srgbClr val="0F172A"/>
                </a:solidFill>
              </a:rPr>
              <a:t>Qwen Coder</a:t>
            </a:r>
          </a:p>
          <a:p xmlns:a="http://schemas.openxmlformats.org/drawingml/2006/main">
            <a:pPr algn="ctr">
              <a:defRPr sz="1500" b="1">
                <a:solidFill>
                  <a:srgbClr val="0F172A"/>
                </a:solidFill>
              </a:defRPr>
            </a:pPr>
            <a:r>
              <a:rPr sz="1500" b="1">
                <a:solidFill>
                  <a:srgbClr val="0F172A"/>
                </a:solidFill>
              </a:rPr>
              <a:t>7B Instruct</a:t>
            </a:r>
          </a:p>
        </p:txBody>
      </p:sp>
      <p:sp>
        <p:nvSpPr>
          <p:cNvPr id="14" name="">
            <a:extLst xmlns:a="http://schemas.openxmlformats.org/drawingml/2006/main">
              <a:ext uri="{FF2B5EF4-FFF2-40B4-BE49-F238E27FC236}">
                <a16:creationId xmlns:a16="http://schemas.microsoft.com/office/drawing/2014/main" id="{E5834862-26C5-4D5C-8088-D96A016D2ED4}"/>
              </a:ext>
            </a:extLst>
          </p:cNvPr>
          <p:cNvSpPr>
            <a:spLocks xmlns:a="http://schemas.openxmlformats.org/drawingml/2006/main" noGrp="1"/>
          </p:cNvSpPr>
          <p:nvPr/>
        </p:nvSpPr>
        <p:spPr>
          <a:xfrm xmlns:a="http://schemas.openxmlformats.org/drawingml/2006/main">
            <a:off x="8915400" y="2038350"/>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64748B"/>
                </a:solidFill>
              </a:defRPr>
            </a:pPr>
            <a:r>
              <a:rPr sz="2250" b="1">
                <a:solidFill>
                  <a:srgbClr val="64748B"/>
                </a:solidFill>
              </a:rPr>
              <a:t>→</a:t>
            </a:r>
          </a:p>
        </p:txBody>
      </p:sp>
      <p:sp>
        <p:nvSpPr>
          <p:cNvPr id="15" name="">
            <a:extLst xmlns:a="http://schemas.openxmlformats.org/drawingml/2006/main">
              <a:ext uri="{FF2B5EF4-FFF2-40B4-BE49-F238E27FC236}">
                <a16:creationId xmlns:a16="http://schemas.microsoft.com/office/drawing/2014/main" id="{88269B3C-EAA4-43B1-BC45-15875BF50027}"/>
              </a:ext>
            </a:extLst>
          </p:cNvPr>
          <p:cNvSpPr>
            <a:spLocks xmlns:a="http://schemas.openxmlformats.org/drawingml/2006/main" noGrp="1"/>
          </p:cNvSpPr>
          <p:nvPr/>
        </p:nvSpPr>
        <p:spPr>
          <a:xfrm xmlns:a="http://schemas.openxmlformats.org/drawingml/2006/main">
            <a:off x="9353550" y="1752600"/>
            <a:ext cx="1695450" cy="914400"/>
          </a:xfrm>
          <a:prstGeom xmlns:a="http://schemas.openxmlformats.org/drawingml/2006/main" prst="roundRect">
            <a:avLst>
              <a:gd name="adj" fmla="val 6250"/>
            </a:avLst>
          </a:prstGeom>
          <a:solidFill xmlns:a="http://schemas.openxmlformats.org/drawingml/2006/main">
            <a:srgbClr val="F0FDF4"/>
          </a:solidFill>
          <a:ln xmlns:a="http://schemas.openxmlformats.org/drawingml/2006/main" w="9525">
            <a:solidFill>
              <a:srgbClr val="86EFAC"/>
            </a:solidFill>
            <a:prstDash val="solid"/>
          </a:ln>
        </p:spPr>
      </p:sp>
      <p:sp>
        <p:nvSpPr>
          <p:cNvPr id="16" name="">
            <a:extLst xmlns:a="http://schemas.openxmlformats.org/drawingml/2006/main">
              <a:ext uri="{FF2B5EF4-FFF2-40B4-BE49-F238E27FC236}">
                <a16:creationId xmlns:a16="http://schemas.microsoft.com/office/drawing/2014/main" id="{FE135ED4-EB5D-4FE4-B6FD-1D1456301317}"/>
              </a:ext>
            </a:extLst>
          </p:cNvPr>
          <p:cNvSpPr>
            <a:spLocks xmlns:a="http://schemas.openxmlformats.org/drawingml/2006/main" noGrp="1"/>
          </p:cNvSpPr>
          <p:nvPr/>
        </p:nvSpPr>
        <p:spPr>
          <a:xfrm xmlns:a="http://schemas.openxmlformats.org/drawingml/2006/main">
            <a:off x="9486900" y="1895475"/>
            <a:ext cx="1428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F172A"/>
                </a:solidFill>
              </a:defRPr>
            </a:pPr>
            <a:r>
              <a:rPr sz="1500" b="1">
                <a:solidFill>
                  <a:srgbClr val="0F172A"/>
                </a:solidFill>
              </a:rPr>
              <a:t>GPU KV cache</a:t>
            </a:r>
          </a:p>
          <a:p xmlns:a="http://schemas.openxmlformats.org/drawingml/2006/main">
            <a:pPr algn="ctr">
              <a:defRPr sz="1500" b="1">
                <a:solidFill>
                  <a:srgbClr val="0F172A"/>
                </a:solidFill>
              </a:defRPr>
            </a:pPr>
            <a:r>
              <a:rPr sz="1500" b="1">
                <a:solidFill>
                  <a:srgbClr val="0F172A"/>
                </a:solidFill>
              </a:rPr>
              <a:t>+ HiCache</a:t>
            </a:r>
          </a:p>
        </p:txBody>
      </p:sp>
      <p:sp>
        <p:nvSpPr>
          <p:cNvPr id="17" name="">
            <a:extLst xmlns:a="http://schemas.openxmlformats.org/drawingml/2006/main">
              <a:ext uri="{FF2B5EF4-FFF2-40B4-BE49-F238E27FC236}">
                <a16:creationId xmlns:a16="http://schemas.microsoft.com/office/drawing/2014/main" id="{889DEB2C-E9D9-4E64-99A4-42CF436C86A9}"/>
              </a:ext>
            </a:extLst>
          </p:cNvPr>
          <p:cNvSpPr>
            <a:spLocks xmlns:a="http://schemas.openxmlformats.org/drawingml/2006/main" noGrp="1"/>
          </p:cNvSpPr>
          <p:nvPr/>
        </p:nvSpPr>
        <p:spPr>
          <a:xfrm xmlns:a="http://schemas.openxmlformats.org/drawingml/2006/main">
            <a:off x="666750" y="3390900"/>
            <a:ext cx="2343150" cy="895350"/>
          </a:xfrm>
          <a:prstGeom xmlns:a="http://schemas.openxmlformats.org/drawingml/2006/main" prst="roundRect">
            <a:avLst>
              <a:gd name="adj" fmla="val 6383"/>
            </a:avLst>
          </a:prstGeom>
          <a:solidFill xmlns:a="http://schemas.openxmlformats.org/drawingml/2006/main">
            <a:srgbClr val="F8FAFC"/>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1065E258-09D9-47CE-A725-714AD2958B02}"/>
              </a:ext>
            </a:extLst>
          </p:cNvPr>
          <p:cNvSpPr>
            <a:spLocks xmlns:a="http://schemas.openxmlformats.org/drawingml/2006/main" noGrp="1"/>
          </p:cNvSpPr>
          <p:nvPr/>
        </p:nvSpPr>
        <p:spPr>
          <a:xfrm xmlns:a="http://schemas.openxmlformats.org/drawingml/2006/main">
            <a:off x="819150" y="3524250"/>
            <a:ext cx="2038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48B"/>
                </a:solidFill>
              </a:defRPr>
            </a:pPr>
            <a:r>
              <a:rPr sz="1125" b="1">
                <a:solidFill>
                  <a:srgbClr val="64748B"/>
                </a:solidFill>
              </a:rPr>
              <a:t>GPU</a:t>
            </a:r>
          </a:p>
        </p:txBody>
      </p:sp>
      <p:sp>
        <p:nvSpPr>
          <p:cNvPr id="19" name="">
            <a:extLst xmlns:a="http://schemas.openxmlformats.org/drawingml/2006/main">
              <a:ext uri="{FF2B5EF4-FFF2-40B4-BE49-F238E27FC236}">
                <a16:creationId xmlns:a16="http://schemas.microsoft.com/office/drawing/2014/main" id="{8538A6C4-9B9D-43E4-B569-5B697E9A7D67}"/>
              </a:ext>
            </a:extLst>
          </p:cNvPr>
          <p:cNvSpPr>
            <a:spLocks xmlns:a="http://schemas.openxmlformats.org/drawingml/2006/main" noGrp="1"/>
          </p:cNvSpPr>
          <p:nvPr/>
        </p:nvSpPr>
        <p:spPr>
          <a:xfrm xmlns:a="http://schemas.openxmlformats.org/drawingml/2006/main">
            <a:off x="819150" y="379095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defRPr>
            </a:pPr>
            <a:r>
              <a:rPr sz="1575" b="1">
                <a:solidFill>
                  <a:srgbClr val="0F172A"/>
                </a:solidFill>
              </a:rPr>
              <a:t>NVIDIA A10G class</a:t>
            </a:r>
          </a:p>
        </p:txBody>
      </p:sp>
      <p:sp>
        <p:nvSpPr>
          <p:cNvPr id="20" name="">
            <a:extLst xmlns:a="http://schemas.openxmlformats.org/drawingml/2006/main">
              <a:ext uri="{FF2B5EF4-FFF2-40B4-BE49-F238E27FC236}">
                <a16:creationId xmlns:a16="http://schemas.microsoft.com/office/drawing/2014/main" id="{61F94492-CC60-4B04-A783-33590DF5C96B}"/>
              </a:ext>
            </a:extLst>
          </p:cNvPr>
          <p:cNvSpPr>
            <a:spLocks xmlns:a="http://schemas.openxmlformats.org/drawingml/2006/main" noGrp="1"/>
          </p:cNvSpPr>
          <p:nvPr/>
        </p:nvSpPr>
        <p:spPr>
          <a:xfrm xmlns:a="http://schemas.openxmlformats.org/drawingml/2006/main">
            <a:off x="3238500" y="3390900"/>
            <a:ext cx="2343150" cy="895350"/>
          </a:xfrm>
          <a:prstGeom xmlns:a="http://schemas.openxmlformats.org/drawingml/2006/main" prst="roundRect">
            <a:avLst>
              <a:gd name="adj" fmla="val 6383"/>
            </a:avLst>
          </a:prstGeom>
          <a:solidFill xmlns:a="http://schemas.openxmlformats.org/drawingml/2006/main">
            <a:srgbClr val="F8FAFC"/>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54CE13CA-14BD-4ECB-A21B-BDD93603921A}"/>
              </a:ext>
            </a:extLst>
          </p:cNvPr>
          <p:cNvSpPr>
            <a:spLocks xmlns:a="http://schemas.openxmlformats.org/drawingml/2006/main" noGrp="1"/>
          </p:cNvSpPr>
          <p:nvPr/>
        </p:nvSpPr>
        <p:spPr>
          <a:xfrm xmlns:a="http://schemas.openxmlformats.org/drawingml/2006/main">
            <a:off x="3390900" y="3524250"/>
            <a:ext cx="2038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48B"/>
                </a:solidFill>
              </a:defRPr>
            </a:pPr>
            <a:r>
              <a:rPr sz="1125" b="1">
                <a:solidFill>
                  <a:srgbClr val="64748B"/>
                </a:solidFill>
              </a:rPr>
              <a:t>GPU memory</a:t>
            </a:r>
          </a:p>
        </p:txBody>
      </p:sp>
      <p:sp>
        <p:nvSpPr>
          <p:cNvPr id="22" name="">
            <a:extLst xmlns:a="http://schemas.openxmlformats.org/drawingml/2006/main">
              <a:ext uri="{FF2B5EF4-FFF2-40B4-BE49-F238E27FC236}">
                <a16:creationId xmlns:a16="http://schemas.microsoft.com/office/drawing/2014/main" id="{6DC72D05-0552-45D2-8F90-69F7D878CFFC}"/>
              </a:ext>
            </a:extLst>
          </p:cNvPr>
          <p:cNvSpPr>
            <a:spLocks xmlns:a="http://schemas.openxmlformats.org/drawingml/2006/main" noGrp="1"/>
          </p:cNvSpPr>
          <p:nvPr/>
        </p:nvSpPr>
        <p:spPr>
          <a:xfrm xmlns:a="http://schemas.openxmlformats.org/drawingml/2006/main">
            <a:off x="3390900" y="379095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defRPr>
            </a:pPr>
            <a:r>
              <a:rPr sz="1575" b="1">
                <a:solidFill>
                  <a:srgbClr val="0F172A"/>
                </a:solidFill>
              </a:rPr>
              <a:t>24 GB GDDR6</a:t>
            </a:r>
          </a:p>
        </p:txBody>
      </p:sp>
      <p:sp>
        <p:nvSpPr>
          <p:cNvPr id="23" name="">
            <a:extLst xmlns:a="http://schemas.openxmlformats.org/drawingml/2006/main">
              <a:ext uri="{FF2B5EF4-FFF2-40B4-BE49-F238E27FC236}">
                <a16:creationId xmlns:a16="http://schemas.microsoft.com/office/drawing/2014/main" id="{22F17FD1-088C-4ED1-B362-98C026E35639}"/>
              </a:ext>
            </a:extLst>
          </p:cNvPr>
          <p:cNvSpPr>
            <a:spLocks xmlns:a="http://schemas.openxmlformats.org/drawingml/2006/main" noGrp="1"/>
          </p:cNvSpPr>
          <p:nvPr/>
        </p:nvSpPr>
        <p:spPr>
          <a:xfrm xmlns:a="http://schemas.openxmlformats.org/drawingml/2006/main">
            <a:off x="5810250" y="3390900"/>
            <a:ext cx="2343150" cy="895350"/>
          </a:xfrm>
          <a:prstGeom xmlns:a="http://schemas.openxmlformats.org/drawingml/2006/main" prst="roundRect">
            <a:avLst>
              <a:gd name="adj" fmla="val 6383"/>
            </a:avLst>
          </a:prstGeom>
          <a:solidFill xmlns:a="http://schemas.openxmlformats.org/drawingml/2006/main">
            <a:srgbClr val="FFF7ED"/>
          </a:solidFill>
          <a:ln xmlns:a="http://schemas.openxmlformats.org/drawingml/2006/main" w="9525">
            <a:solidFill>
              <a:srgbClr val="FED7AA"/>
            </a:solidFill>
            <a:prstDash val="solid"/>
          </a:ln>
        </p:spPr>
      </p:sp>
      <p:sp>
        <p:nvSpPr>
          <p:cNvPr id="24" name="">
            <a:extLst xmlns:a="http://schemas.openxmlformats.org/drawingml/2006/main">
              <a:ext uri="{FF2B5EF4-FFF2-40B4-BE49-F238E27FC236}">
                <a16:creationId xmlns:a16="http://schemas.microsoft.com/office/drawing/2014/main" id="{FDD4CA0F-6156-469D-ACF1-5D1403B11CA8}"/>
              </a:ext>
            </a:extLst>
          </p:cNvPr>
          <p:cNvSpPr>
            <a:spLocks xmlns:a="http://schemas.openxmlformats.org/drawingml/2006/main" noGrp="1"/>
          </p:cNvSpPr>
          <p:nvPr/>
        </p:nvSpPr>
        <p:spPr>
          <a:xfrm xmlns:a="http://schemas.openxmlformats.org/drawingml/2006/main">
            <a:off x="5962650" y="3524250"/>
            <a:ext cx="2038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48B"/>
                </a:solidFill>
              </a:defRPr>
            </a:pPr>
            <a:r>
              <a:rPr sz="1125" b="1">
                <a:solidFill>
                  <a:srgbClr val="64748B"/>
                </a:solidFill>
              </a:rPr>
              <a:t>HiCache host KV shelf</a:t>
            </a:r>
          </a:p>
        </p:txBody>
      </p:sp>
      <p:sp>
        <p:nvSpPr>
          <p:cNvPr id="25" name="">
            <a:extLst xmlns:a="http://schemas.openxmlformats.org/drawingml/2006/main">
              <a:ext uri="{FF2B5EF4-FFF2-40B4-BE49-F238E27FC236}">
                <a16:creationId xmlns:a16="http://schemas.microsoft.com/office/drawing/2014/main" id="{A2DC7A80-EAC3-4C1C-AA0B-D48325846CC8}"/>
              </a:ext>
            </a:extLst>
          </p:cNvPr>
          <p:cNvSpPr>
            <a:spLocks xmlns:a="http://schemas.openxmlformats.org/drawingml/2006/main" noGrp="1"/>
          </p:cNvSpPr>
          <p:nvPr/>
        </p:nvSpPr>
        <p:spPr>
          <a:xfrm xmlns:a="http://schemas.openxmlformats.org/drawingml/2006/main">
            <a:off x="5962650" y="379095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defRPr>
            </a:pPr>
            <a:r>
              <a:rPr sz="1575" b="1">
                <a:solidFill>
                  <a:srgbClr val="0F172A"/>
                </a:solidFill>
              </a:rPr>
              <a:t>16 GB configured</a:t>
            </a:r>
          </a:p>
        </p:txBody>
      </p:sp>
      <p:sp>
        <p:nvSpPr>
          <p:cNvPr id="26" name="">
            <a:extLst xmlns:a="http://schemas.openxmlformats.org/drawingml/2006/main">
              <a:ext uri="{FF2B5EF4-FFF2-40B4-BE49-F238E27FC236}">
                <a16:creationId xmlns:a16="http://schemas.microsoft.com/office/drawing/2014/main" id="{ADFFCE07-20A1-486F-BA59-05E53EC68E06}"/>
              </a:ext>
            </a:extLst>
          </p:cNvPr>
          <p:cNvSpPr>
            <a:spLocks xmlns:a="http://schemas.openxmlformats.org/drawingml/2006/main" noGrp="1"/>
          </p:cNvSpPr>
          <p:nvPr/>
        </p:nvSpPr>
        <p:spPr>
          <a:xfrm xmlns:a="http://schemas.openxmlformats.org/drawingml/2006/main">
            <a:off x="8382000" y="3390900"/>
            <a:ext cx="2343150" cy="895350"/>
          </a:xfrm>
          <a:prstGeom xmlns:a="http://schemas.openxmlformats.org/drawingml/2006/main" prst="roundRect">
            <a:avLst>
              <a:gd name="adj" fmla="val 6383"/>
            </a:avLst>
          </a:prstGeom>
          <a:solidFill xmlns:a="http://schemas.openxmlformats.org/drawingml/2006/main">
            <a:srgbClr val="F8FAFC"/>
          </a:solidFill>
          <a:ln xmlns:a="http://schemas.openxmlformats.org/drawingml/2006/main" w="9525">
            <a:solidFill>
              <a:srgbClr val="CBD5E1"/>
            </a:solidFill>
            <a:prstDash val="solid"/>
          </a:ln>
        </p:spPr>
      </p:sp>
      <p:sp>
        <p:nvSpPr>
          <p:cNvPr id="27" name="">
            <a:extLst xmlns:a="http://schemas.openxmlformats.org/drawingml/2006/main">
              <a:ext uri="{FF2B5EF4-FFF2-40B4-BE49-F238E27FC236}">
                <a16:creationId xmlns:a16="http://schemas.microsoft.com/office/drawing/2014/main" id="{6D8C4E72-9451-447F-B294-9B40C02B25ED}"/>
              </a:ext>
            </a:extLst>
          </p:cNvPr>
          <p:cNvSpPr>
            <a:spLocks xmlns:a="http://schemas.openxmlformats.org/drawingml/2006/main" noGrp="1"/>
          </p:cNvSpPr>
          <p:nvPr/>
        </p:nvSpPr>
        <p:spPr>
          <a:xfrm xmlns:a="http://schemas.openxmlformats.org/drawingml/2006/main">
            <a:off x="8534400" y="3524250"/>
            <a:ext cx="2038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48B"/>
                </a:solidFill>
              </a:defRPr>
            </a:pPr>
            <a:r>
              <a:rPr sz="1125" b="1">
                <a:solidFill>
                  <a:srgbClr val="64748B"/>
                </a:solidFill>
              </a:rPr>
              <a:t>Context length</a:t>
            </a:r>
          </a:p>
        </p:txBody>
      </p:sp>
      <p:sp>
        <p:nvSpPr>
          <p:cNvPr id="28" name="">
            <a:extLst xmlns:a="http://schemas.openxmlformats.org/drawingml/2006/main">
              <a:ext uri="{FF2B5EF4-FFF2-40B4-BE49-F238E27FC236}">
                <a16:creationId xmlns:a16="http://schemas.microsoft.com/office/drawing/2014/main" id="{405CA7D9-D69B-46F2-BFCF-88D57F1575A5}"/>
              </a:ext>
            </a:extLst>
          </p:cNvPr>
          <p:cNvSpPr>
            <a:spLocks xmlns:a="http://schemas.openxmlformats.org/drawingml/2006/main" noGrp="1"/>
          </p:cNvSpPr>
          <p:nvPr/>
        </p:nvSpPr>
        <p:spPr>
          <a:xfrm xmlns:a="http://schemas.openxmlformats.org/drawingml/2006/main">
            <a:off x="8534400" y="379095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defRPr>
            </a:pPr>
            <a:r>
              <a:rPr sz="1575" b="1">
                <a:solidFill>
                  <a:srgbClr val="0F172A"/>
                </a:solidFill>
              </a:rPr>
              <a:t>32,768 tokens</a:t>
            </a:r>
          </a:p>
        </p:txBody>
      </p:sp>
      <p:sp>
        <p:nvSpPr>
          <p:cNvPr id="29" name="">
            <a:extLst xmlns:a="http://schemas.openxmlformats.org/drawingml/2006/main">
              <a:ext uri="{FF2B5EF4-FFF2-40B4-BE49-F238E27FC236}">
                <a16:creationId xmlns:a16="http://schemas.microsoft.com/office/drawing/2014/main" id="{41B97843-2DF7-4B6A-81F7-FAC3AC9540AA}"/>
              </a:ext>
            </a:extLst>
          </p:cNvPr>
          <p:cNvSpPr>
            <a:spLocks xmlns:a="http://schemas.openxmlformats.org/drawingml/2006/main" noGrp="1"/>
          </p:cNvSpPr>
          <p:nvPr/>
        </p:nvSpPr>
        <p:spPr>
          <a:xfrm xmlns:a="http://schemas.openxmlformats.org/drawingml/2006/main">
            <a:off x="666750" y="4572000"/>
            <a:ext cx="2343150" cy="895350"/>
          </a:xfrm>
          <a:prstGeom xmlns:a="http://schemas.openxmlformats.org/drawingml/2006/main" prst="roundRect">
            <a:avLst>
              <a:gd name="adj" fmla="val 6383"/>
            </a:avLst>
          </a:prstGeom>
          <a:solidFill xmlns:a="http://schemas.openxmlformats.org/drawingml/2006/main">
            <a:srgbClr val="F8FAFC"/>
          </a:solidFill>
          <a:ln xmlns:a="http://schemas.openxmlformats.org/drawingml/2006/main" w="9525">
            <a:solidFill>
              <a:srgbClr val="CBD5E1"/>
            </a:solidFill>
            <a:prstDash val="solid"/>
          </a:ln>
        </p:spPr>
      </p:sp>
      <p:sp>
        <p:nvSpPr>
          <p:cNvPr id="30" name="">
            <a:extLst xmlns:a="http://schemas.openxmlformats.org/drawingml/2006/main">
              <a:ext uri="{FF2B5EF4-FFF2-40B4-BE49-F238E27FC236}">
                <a16:creationId xmlns:a16="http://schemas.microsoft.com/office/drawing/2014/main" id="{CC4BEF0F-D456-49B7-A2E6-4623A8C42998}"/>
              </a:ext>
            </a:extLst>
          </p:cNvPr>
          <p:cNvSpPr>
            <a:spLocks xmlns:a="http://schemas.openxmlformats.org/drawingml/2006/main" noGrp="1"/>
          </p:cNvSpPr>
          <p:nvPr/>
        </p:nvSpPr>
        <p:spPr>
          <a:xfrm xmlns:a="http://schemas.openxmlformats.org/drawingml/2006/main">
            <a:off x="819150" y="4705350"/>
            <a:ext cx="2038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48B"/>
                </a:solidFill>
              </a:defRPr>
            </a:pPr>
            <a:r>
              <a:rPr sz="1125" b="1">
                <a:solidFill>
                  <a:srgbClr val="64748B"/>
                </a:solidFill>
              </a:rPr>
              <a:t>Max total tokens</a:t>
            </a:r>
          </a:p>
        </p:txBody>
      </p:sp>
      <p:sp>
        <p:nvSpPr>
          <p:cNvPr id="31" name="">
            <a:extLst xmlns:a="http://schemas.openxmlformats.org/drawingml/2006/main">
              <a:ext uri="{FF2B5EF4-FFF2-40B4-BE49-F238E27FC236}">
                <a16:creationId xmlns:a16="http://schemas.microsoft.com/office/drawing/2014/main" id="{A9754C85-FC10-4202-8CB1-A3E616119D44}"/>
              </a:ext>
            </a:extLst>
          </p:cNvPr>
          <p:cNvSpPr>
            <a:spLocks xmlns:a="http://schemas.openxmlformats.org/drawingml/2006/main" noGrp="1"/>
          </p:cNvSpPr>
          <p:nvPr/>
        </p:nvSpPr>
        <p:spPr>
          <a:xfrm xmlns:a="http://schemas.openxmlformats.org/drawingml/2006/main">
            <a:off x="819150" y="497205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defRPr>
            </a:pPr>
            <a:r>
              <a:rPr sz="1575" b="1">
                <a:solidFill>
                  <a:srgbClr val="0F172A"/>
                </a:solidFill>
              </a:rPr>
              <a:t>12,288</a:t>
            </a:r>
          </a:p>
        </p:txBody>
      </p:sp>
      <p:sp>
        <p:nvSpPr>
          <p:cNvPr id="32" name="">
            <a:extLst xmlns:a="http://schemas.openxmlformats.org/drawingml/2006/main">
              <a:ext uri="{FF2B5EF4-FFF2-40B4-BE49-F238E27FC236}">
                <a16:creationId xmlns:a16="http://schemas.microsoft.com/office/drawing/2014/main" id="{A7F17BEC-E133-4646-95E0-0FCF8C2E7BAB}"/>
              </a:ext>
            </a:extLst>
          </p:cNvPr>
          <p:cNvSpPr>
            <a:spLocks xmlns:a="http://schemas.openxmlformats.org/drawingml/2006/main" noGrp="1"/>
          </p:cNvSpPr>
          <p:nvPr/>
        </p:nvSpPr>
        <p:spPr>
          <a:xfrm xmlns:a="http://schemas.openxmlformats.org/drawingml/2006/main">
            <a:off x="3238500" y="4572000"/>
            <a:ext cx="2343150" cy="895350"/>
          </a:xfrm>
          <a:prstGeom xmlns:a="http://schemas.openxmlformats.org/drawingml/2006/main" prst="roundRect">
            <a:avLst>
              <a:gd name="adj" fmla="val 6383"/>
            </a:avLst>
          </a:prstGeom>
          <a:solidFill xmlns:a="http://schemas.openxmlformats.org/drawingml/2006/main">
            <a:srgbClr val="F8FAFC"/>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350AD7A1-E70A-4B76-AE21-C3E1F6FD0BB1}"/>
              </a:ext>
            </a:extLst>
          </p:cNvPr>
          <p:cNvSpPr>
            <a:spLocks xmlns:a="http://schemas.openxmlformats.org/drawingml/2006/main" noGrp="1"/>
          </p:cNvSpPr>
          <p:nvPr/>
        </p:nvSpPr>
        <p:spPr>
          <a:xfrm xmlns:a="http://schemas.openxmlformats.org/drawingml/2006/main">
            <a:off x="3390900" y="4705350"/>
            <a:ext cx="2038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48B"/>
                </a:solidFill>
              </a:defRPr>
            </a:pPr>
            <a:r>
              <a:rPr sz="1125" b="1">
                <a:solidFill>
                  <a:srgbClr val="64748B"/>
                </a:solidFill>
              </a:rPr>
              <a:t>Memory fraction static</a:t>
            </a:r>
          </a:p>
        </p:txBody>
      </p:sp>
      <p:sp>
        <p:nvSpPr>
          <p:cNvPr id="34" name="">
            <a:extLst xmlns:a="http://schemas.openxmlformats.org/drawingml/2006/main">
              <a:ext uri="{FF2B5EF4-FFF2-40B4-BE49-F238E27FC236}">
                <a16:creationId xmlns:a16="http://schemas.microsoft.com/office/drawing/2014/main" id="{244897F8-B1A4-41EA-8E6A-4451749CF97D}"/>
              </a:ext>
            </a:extLst>
          </p:cNvPr>
          <p:cNvSpPr>
            <a:spLocks xmlns:a="http://schemas.openxmlformats.org/drawingml/2006/main" noGrp="1"/>
          </p:cNvSpPr>
          <p:nvPr/>
        </p:nvSpPr>
        <p:spPr>
          <a:xfrm xmlns:a="http://schemas.openxmlformats.org/drawingml/2006/main">
            <a:off x="3390900" y="497205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defRPr>
            </a:pPr>
            <a:r>
              <a:rPr sz="1575" b="1">
                <a:solidFill>
                  <a:srgbClr val="0F172A"/>
                </a:solidFill>
              </a:rPr>
              <a:t>0.72</a:t>
            </a:r>
          </a:p>
        </p:txBody>
      </p:sp>
      <p:sp>
        <p:nvSpPr>
          <p:cNvPr id="35" name="">
            <a:extLst xmlns:a="http://schemas.openxmlformats.org/drawingml/2006/main">
              <a:ext uri="{FF2B5EF4-FFF2-40B4-BE49-F238E27FC236}">
                <a16:creationId xmlns:a16="http://schemas.microsoft.com/office/drawing/2014/main" id="{5EFD6AC4-1235-417C-BAE7-66AFB43CCD03}"/>
              </a:ext>
            </a:extLst>
          </p:cNvPr>
          <p:cNvSpPr>
            <a:spLocks xmlns:a="http://schemas.openxmlformats.org/drawingml/2006/main" noGrp="1"/>
          </p:cNvSpPr>
          <p:nvPr/>
        </p:nvSpPr>
        <p:spPr>
          <a:xfrm xmlns:a="http://schemas.openxmlformats.org/drawingml/2006/main">
            <a:off x="5810250" y="4572000"/>
            <a:ext cx="2343150" cy="895350"/>
          </a:xfrm>
          <a:prstGeom xmlns:a="http://schemas.openxmlformats.org/drawingml/2006/main" prst="roundRect">
            <a:avLst>
              <a:gd name="adj" fmla="val 6383"/>
            </a:avLst>
          </a:prstGeom>
          <a:solidFill xmlns:a="http://schemas.openxmlformats.org/drawingml/2006/main">
            <a:srgbClr val="F8FAFC"/>
          </a:solidFill>
          <a:ln xmlns:a="http://schemas.openxmlformats.org/drawingml/2006/main" w="9525">
            <a:solidFill>
              <a:srgbClr val="CBD5E1"/>
            </a:solidFill>
            <a:prstDash val="solid"/>
          </a:ln>
        </p:spPr>
      </p:sp>
      <p:sp>
        <p:nvSpPr>
          <p:cNvPr id="36" name="">
            <a:extLst xmlns:a="http://schemas.openxmlformats.org/drawingml/2006/main">
              <a:ext uri="{FF2B5EF4-FFF2-40B4-BE49-F238E27FC236}">
                <a16:creationId xmlns:a16="http://schemas.microsoft.com/office/drawing/2014/main" id="{BE96BD14-DB99-4797-8699-56A7AB8440F0}"/>
              </a:ext>
            </a:extLst>
          </p:cNvPr>
          <p:cNvSpPr>
            <a:spLocks xmlns:a="http://schemas.openxmlformats.org/drawingml/2006/main" noGrp="1"/>
          </p:cNvSpPr>
          <p:nvPr/>
        </p:nvSpPr>
        <p:spPr>
          <a:xfrm xmlns:a="http://schemas.openxmlformats.org/drawingml/2006/main">
            <a:off x="5962650" y="4705350"/>
            <a:ext cx="2038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48B"/>
                </a:solidFill>
              </a:defRPr>
            </a:pPr>
            <a:r>
              <a:rPr sz="1125" b="1">
                <a:solidFill>
                  <a:srgbClr val="64748B"/>
                </a:solidFill>
              </a:rPr>
              <a:t>Tensor parallel</a:t>
            </a:r>
          </a:p>
        </p:txBody>
      </p:sp>
      <p:sp>
        <p:nvSpPr>
          <p:cNvPr id="37" name="">
            <a:extLst xmlns:a="http://schemas.openxmlformats.org/drawingml/2006/main">
              <a:ext uri="{FF2B5EF4-FFF2-40B4-BE49-F238E27FC236}">
                <a16:creationId xmlns:a16="http://schemas.microsoft.com/office/drawing/2014/main" id="{E9E2EE5B-A33F-4D85-AF12-9285EF750602}"/>
              </a:ext>
            </a:extLst>
          </p:cNvPr>
          <p:cNvSpPr>
            <a:spLocks xmlns:a="http://schemas.openxmlformats.org/drawingml/2006/main" noGrp="1"/>
          </p:cNvSpPr>
          <p:nvPr/>
        </p:nvSpPr>
        <p:spPr>
          <a:xfrm xmlns:a="http://schemas.openxmlformats.org/drawingml/2006/main">
            <a:off x="5962650" y="497205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defRPr>
            </a:pPr>
            <a:r>
              <a:rPr sz="1575" b="1">
                <a:solidFill>
                  <a:srgbClr val="0F172A"/>
                </a:solidFill>
              </a:rPr>
              <a:t>TP = 1</a:t>
            </a:r>
          </a:p>
        </p:txBody>
      </p:sp>
      <p:sp>
        <p:nvSpPr>
          <p:cNvPr id="38" name="">
            <a:extLst xmlns:a="http://schemas.openxmlformats.org/drawingml/2006/main">
              <a:ext uri="{FF2B5EF4-FFF2-40B4-BE49-F238E27FC236}">
                <a16:creationId xmlns:a16="http://schemas.microsoft.com/office/drawing/2014/main" id="{5CA26C4B-0846-4464-B08F-0938C1540D2D}"/>
              </a:ext>
            </a:extLst>
          </p:cNvPr>
          <p:cNvSpPr>
            <a:spLocks xmlns:a="http://schemas.openxmlformats.org/drawingml/2006/main" noGrp="1"/>
          </p:cNvSpPr>
          <p:nvPr/>
        </p:nvSpPr>
        <p:spPr>
          <a:xfrm xmlns:a="http://schemas.openxmlformats.org/drawingml/2006/main">
            <a:off x="8382000" y="4572000"/>
            <a:ext cx="2343150" cy="895350"/>
          </a:xfrm>
          <a:prstGeom xmlns:a="http://schemas.openxmlformats.org/drawingml/2006/main" prst="roundRect">
            <a:avLst>
              <a:gd name="adj" fmla="val 6383"/>
            </a:avLst>
          </a:prstGeom>
          <a:solidFill xmlns:a="http://schemas.openxmlformats.org/drawingml/2006/main">
            <a:srgbClr val="FFF7ED"/>
          </a:solidFill>
          <a:ln xmlns:a="http://schemas.openxmlformats.org/drawingml/2006/main" w="9525">
            <a:solidFill>
              <a:srgbClr val="FED7AA"/>
            </a:solidFill>
            <a:prstDash val="solid"/>
          </a:ln>
        </p:spPr>
      </p:sp>
      <p:sp>
        <p:nvSpPr>
          <p:cNvPr id="39" name="">
            <a:extLst xmlns:a="http://schemas.openxmlformats.org/drawingml/2006/main">
              <a:ext uri="{FF2B5EF4-FFF2-40B4-BE49-F238E27FC236}">
                <a16:creationId xmlns:a16="http://schemas.microsoft.com/office/drawing/2014/main" id="{A7DBFD87-09A0-47C7-8F31-7F56059BE18C}"/>
              </a:ext>
            </a:extLst>
          </p:cNvPr>
          <p:cNvSpPr>
            <a:spLocks xmlns:a="http://schemas.openxmlformats.org/drawingml/2006/main" noGrp="1"/>
          </p:cNvSpPr>
          <p:nvPr/>
        </p:nvSpPr>
        <p:spPr>
          <a:xfrm xmlns:a="http://schemas.openxmlformats.org/drawingml/2006/main">
            <a:off x="8534400" y="4705350"/>
            <a:ext cx="2038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48B"/>
                </a:solidFill>
              </a:defRPr>
            </a:pPr>
            <a:r>
              <a:rPr sz="1125" b="1">
                <a:solidFill>
                  <a:srgbClr val="64748B"/>
                </a:solidFill>
              </a:rPr>
              <a:t>HiCache policy</a:t>
            </a:r>
          </a:p>
        </p:txBody>
      </p:sp>
      <p:sp>
        <p:nvSpPr>
          <p:cNvPr id="40" name="">
            <a:extLst xmlns:a="http://schemas.openxmlformats.org/drawingml/2006/main">
              <a:ext uri="{FF2B5EF4-FFF2-40B4-BE49-F238E27FC236}">
                <a16:creationId xmlns:a16="http://schemas.microsoft.com/office/drawing/2014/main" id="{0FB1D28C-C353-4897-8692-216DEFFBE27C}"/>
              </a:ext>
            </a:extLst>
          </p:cNvPr>
          <p:cNvSpPr>
            <a:spLocks xmlns:a="http://schemas.openxmlformats.org/drawingml/2006/main" noGrp="1"/>
          </p:cNvSpPr>
          <p:nvPr/>
        </p:nvSpPr>
        <p:spPr>
          <a:xfrm xmlns:a="http://schemas.openxmlformats.org/drawingml/2006/main">
            <a:off x="8534400" y="497205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F172A"/>
                </a:solidFill>
              </a:defRPr>
            </a:pPr>
            <a:r>
              <a:rPr sz="1350" b="1">
                <a:solidFill>
                  <a:srgbClr val="0F172A"/>
                </a:solidFill>
              </a:rPr>
              <a:t>direct + write-through</a:t>
            </a:r>
          </a:p>
        </p:txBody>
      </p:sp>
      <p:sp>
        <p:nvSpPr>
          <p:cNvPr id="41" name="">
            <a:extLst xmlns:a="http://schemas.openxmlformats.org/drawingml/2006/main">
              <a:ext uri="{FF2B5EF4-FFF2-40B4-BE49-F238E27FC236}">
                <a16:creationId xmlns:a16="http://schemas.microsoft.com/office/drawing/2014/main" id="{B37AB779-6B5A-414A-9739-A84555C867D9}"/>
              </a:ext>
            </a:extLst>
          </p:cNvPr>
          <p:cNvSpPr>
            <a:spLocks xmlns:a="http://schemas.openxmlformats.org/drawingml/2006/main" noGrp="1"/>
          </p:cNvSpPr>
          <p:nvPr/>
        </p:nvSpPr>
        <p:spPr>
          <a:xfrm xmlns:a="http://schemas.openxmlformats.org/drawingml/2006/main">
            <a:off x="400050" y="6153150"/>
            <a:ext cx="781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4748B"/>
                </a:solidFill>
              </a:defRPr>
            </a:pPr>
            <a:r>
              <a:rPr sz="825" b="0">
                <a:solidFill>
                  <a:srgbClr val="64748B"/>
                </a:solidFill>
              </a:rPr>
              <a:t>Source: latest_master_report.html setup section and run configuration</a:t>
            </a:r>
          </a:p>
        </p:txBody>
      </p:sp>
      <p:sp>
        <p:nvSpPr>
          <p:cNvPr id="42" name="">
            <a:extLst xmlns:a="http://schemas.openxmlformats.org/drawingml/2006/main">
              <a:ext uri="{FF2B5EF4-FFF2-40B4-BE49-F238E27FC236}">
                <a16:creationId xmlns:a16="http://schemas.microsoft.com/office/drawing/2014/main" id="{8016548A-B701-4197-843A-DDA7EA877897}"/>
              </a:ext>
            </a:extLst>
          </p:cNvPr>
          <p:cNvSpPr>
            <a:spLocks xmlns:a="http://schemas.openxmlformats.org/drawingml/2006/main" noGrp="1"/>
          </p:cNvSpPr>
          <p:nvPr/>
        </p:nvSpPr>
        <p:spPr>
          <a:xfrm xmlns:a="http://schemas.openxmlformats.org/drawingml/2006/main">
            <a:off x="400050" y="6381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4748B"/>
                </a:solidFill>
              </a:defRPr>
            </a:pPr>
            <a:r>
              <a:rPr sz="975" b="0">
                <a:solidFill>
                  <a:srgbClr val="64748B"/>
                </a:solidFill>
              </a:rPr>
              <a:t>Agent-aware KV movement</a:t>
            </a:r>
          </a:p>
        </p:txBody>
      </p:sp>
      <p:sp>
        <p:nvSpPr>
          <p:cNvPr id="43" name="">
            <a:extLst xmlns:a="http://schemas.openxmlformats.org/drawingml/2006/main">
              <a:ext uri="{FF2B5EF4-FFF2-40B4-BE49-F238E27FC236}">
                <a16:creationId xmlns:a16="http://schemas.microsoft.com/office/drawing/2014/main" id="{A8C76464-C988-4F8A-896B-8D2BD05EDF8E}"/>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4748B"/>
                </a:solidFill>
              </a:defRPr>
            </a:pPr>
            <a:r>
              <a:rPr sz="975" b="0">
                <a:solidFill>
                  <a:srgbClr val="64748B"/>
                </a:solidFill>
              </a:rPr>
              <a:t>03</a:t>
            </a:r>
          </a:p>
        </p:txBody>
      </p:sp>
    </p:spTree>
    <p:extLst>
      <p:ext uri="{BB962C8B-B14F-4D97-AF65-F5344CB8AC3E}">
        <p14:creationId xmlns:p14="http://schemas.microsoft.com/office/powerpoint/2010/main" val="3699897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46684DD-B17D-41CA-9CEE-147E4AFC5947}"/>
              </a:ext>
            </a:extLst>
          </p:cNvPr>
          <p:cNvSpPr>
            <a:spLocks xmlns:a="http://schemas.openxmlformats.org/drawingml/2006/main" noGrp="1"/>
          </p:cNvSpPr>
          <p:nvPr/>
        </p:nvSpPr>
        <p:spPr>
          <a:xfrm xmlns:a="http://schemas.openxmlformats.org/drawingml/2006/main">
            <a:off x="400050" y="32385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defRPr>
            </a:pPr>
            <a:r>
              <a:rPr sz="2850" b="1">
                <a:solidFill>
                  <a:srgbClr val="0F172A"/>
                </a:solidFill>
              </a:rPr>
              <a:t>Today’s DMA engines move bytes, not intent</a:t>
            </a:r>
          </a:p>
        </p:txBody>
      </p:sp>
      <p:sp>
        <p:nvSpPr>
          <p:cNvPr id="2" name="">
            <a:extLst xmlns:a="http://schemas.openxmlformats.org/drawingml/2006/main">
              <a:ext uri="{FF2B5EF4-FFF2-40B4-BE49-F238E27FC236}">
                <a16:creationId xmlns:a16="http://schemas.microsoft.com/office/drawing/2014/main" id="{7BE35B10-839A-44A6-A08D-9B594F750766}"/>
              </a:ext>
            </a:extLst>
          </p:cNvPr>
          <p:cNvSpPr>
            <a:spLocks xmlns:a="http://schemas.openxmlformats.org/drawingml/2006/main" noGrp="1"/>
          </p:cNvSpPr>
          <p:nvPr/>
        </p:nvSpPr>
        <p:spPr>
          <a:xfrm xmlns:a="http://schemas.openxmlformats.org/drawingml/2006/main">
            <a:off x="419100" y="102870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748B"/>
                </a:solidFill>
              </a:defRPr>
            </a:pPr>
            <a:r>
              <a:rPr sz="1350" b="0">
                <a:solidFill>
                  <a:srgbClr val="64748B"/>
                </a:solidFill>
              </a:rPr>
              <a:t>The hardware path is fast, but it usually lacks agent/session semantics.</a:t>
            </a:r>
          </a:p>
        </p:txBody>
      </p:sp>
      <p:sp>
        <p:nvSpPr>
          <p:cNvPr id="3" name="">
            <a:extLst xmlns:a="http://schemas.openxmlformats.org/drawingml/2006/main">
              <a:ext uri="{FF2B5EF4-FFF2-40B4-BE49-F238E27FC236}">
                <a16:creationId xmlns:a16="http://schemas.microsoft.com/office/drawing/2014/main" id="{5BF69A02-3270-49F6-A368-B524D41D2AE5}"/>
              </a:ext>
            </a:extLst>
          </p:cNvPr>
          <p:cNvSpPr>
            <a:spLocks xmlns:a="http://schemas.openxmlformats.org/drawingml/2006/main" noGrp="1"/>
          </p:cNvSpPr>
          <p:nvPr/>
        </p:nvSpPr>
        <p:spPr>
          <a:xfrm xmlns:a="http://schemas.openxmlformats.org/drawingml/2006/main">
            <a:off x="552450" y="1790700"/>
            <a:ext cx="4953000" cy="3429000"/>
          </a:xfrm>
          <a:prstGeom xmlns:a="http://schemas.openxmlformats.org/drawingml/2006/main" prst="roundRect">
            <a:avLst>
              <a:gd name="adj" fmla="val 1667"/>
            </a:avLst>
          </a:prstGeom>
          <a:solidFill xmlns:a="http://schemas.openxmlformats.org/drawingml/2006/main">
            <a:srgbClr val="F8FAFC"/>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542E02A1-093E-48E7-BEAC-31C429AB4169}"/>
              </a:ext>
            </a:extLst>
          </p:cNvPr>
          <p:cNvSpPr>
            <a:spLocks xmlns:a="http://schemas.openxmlformats.org/drawingml/2006/main" noGrp="1"/>
          </p:cNvSpPr>
          <p:nvPr/>
        </p:nvSpPr>
        <p:spPr>
          <a:xfrm xmlns:a="http://schemas.openxmlformats.org/drawingml/2006/main">
            <a:off x="838200" y="207645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0F172A"/>
                </a:solidFill>
              </a:defRPr>
            </a:pPr>
            <a:r>
              <a:rPr sz="1950" b="1">
                <a:solidFill>
                  <a:srgbClr val="0F172A"/>
                </a:solidFill>
              </a:rPr>
              <a:t>Context-agnostic movement</a:t>
            </a:r>
          </a:p>
        </p:txBody>
      </p:sp>
      <p:sp>
        <p:nvSpPr>
          <p:cNvPr id="5" name="">
            <a:extLst xmlns:a="http://schemas.openxmlformats.org/drawingml/2006/main">
              <a:ext uri="{FF2B5EF4-FFF2-40B4-BE49-F238E27FC236}">
                <a16:creationId xmlns:a16="http://schemas.microsoft.com/office/drawing/2014/main" id="{D88B9067-A442-45ED-8A5E-5161725FA48C}"/>
              </a:ext>
            </a:extLst>
          </p:cNvPr>
          <p:cNvSpPr>
            <a:spLocks xmlns:a="http://schemas.openxmlformats.org/drawingml/2006/main" noGrp="1"/>
          </p:cNvSpPr>
          <p:nvPr/>
        </p:nvSpPr>
        <p:spPr>
          <a:xfrm xmlns:a="http://schemas.openxmlformats.org/drawingml/2006/main">
            <a:off x="876300" y="2781300"/>
            <a:ext cx="85725" cy="85725"/>
          </a:xfrm>
          <a:prstGeom xmlns:a="http://schemas.openxmlformats.org/drawingml/2006/main" prst="ellipse">
            <a:avLst/>
          </a:prstGeom>
          <a:solidFill xmlns:a="http://schemas.openxmlformats.org/drawingml/2006/main">
            <a:srgbClr val="64748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C1E20FB-7845-41CC-9EE4-5546E377A9D1}"/>
              </a:ext>
            </a:extLst>
          </p:cNvPr>
          <p:cNvSpPr>
            <a:spLocks xmlns:a="http://schemas.openxmlformats.org/drawingml/2006/main" noGrp="1"/>
          </p:cNvSpPr>
          <p:nvPr/>
        </p:nvSpPr>
        <p:spPr>
          <a:xfrm xmlns:a="http://schemas.openxmlformats.org/drawingml/2006/main">
            <a:off x="1104900" y="270510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334155"/>
                </a:solidFill>
              </a:defRPr>
            </a:pPr>
            <a:r>
              <a:rPr sz="1500" b="0">
                <a:solidFill>
                  <a:srgbClr val="334155"/>
                </a:solidFill>
              </a:rPr>
              <a:t>sees memory ranges</a:t>
            </a:r>
          </a:p>
        </p:txBody>
      </p:sp>
      <p:sp>
        <p:nvSpPr>
          <p:cNvPr id="7" name="">
            <a:extLst xmlns:a="http://schemas.openxmlformats.org/drawingml/2006/main">
              <a:ext uri="{FF2B5EF4-FFF2-40B4-BE49-F238E27FC236}">
                <a16:creationId xmlns:a16="http://schemas.microsoft.com/office/drawing/2014/main" id="{581C252A-5319-4380-9B1F-2D482582AFC8}"/>
              </a:ext>
            </a:extLst>
          </p:cNvPr>
          <p:cNvSpPr>
            <a:spLocks xmlns:a="http://schemas.openxmlformats.org/drawingml/2006/main" noGrp="1"/>
          </p:cNvSpPr>
          <p:nvPr/>
        </p:nvSpPr>
        <p:spPr>
          <a:xfrm xmlns:a="http://schemas.openxmlformats.org/drawingml/2006/main">
            <a:off x="876300" y="3295650"/>
            <a:ext cx="85725" cy="85725"/>
          </a:xfrm>
          <a:prstGeom xmlns:a="http://schemas.openxmlformats.org/drawingml/2006/main" prst="ellipse">
            <a:avLst/>
          </a:prstGeom>
          <a:solidFill xmlns:a="http://schemas.openxmlformats.org/drawingml/2006/main">
            <a:srgbClr val="64748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CFE2979-5975-4A8C-9CB2-D5DD59DFA1B0}"/>
              </a:ext>
            </a:extLst>
          </p:cNvPr>
          <p:cNvSpPr>
            <a:spLocks xmlns:a="http://schemas.openxmlformats.org/drawingml/2006/main" noGrp="1"/>
          </p:cNvSpPr>
          <p:nvPr/>
        </p:nvSpPr>
        <p:spPr>
          <a:xfrm xmlns:a="http://schemas.openxmlformats.org/drawingml/2006/main">
            <a:off x="1104900" y="321945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334155"/>
                </a:solidFill>
              </a:defRPr>
            </a:pPr>
            <a:r>
              <a:rPr sz="1500" b="0">
                <a:solidFill>
                  <a:srgbClr val="334155"/>
                </a:solidFill>
              </a:rPr>
              <a:t>does not know the agent session</a:t>
            </a:r>
          </a:p>
        </p:txBody>
      </p:sp>
      <p:sp>
        <p:nvSpPr>
          <p:cNvPr id="9" name="">
            <a:extLst xmlns:a="http://schemas.openxmlformats.org/drawingml/2006/main">
              <a:ext uri="{FF2B5EF4-FFF2-40B4-BE49-F238E27FC236}">
                <a16:creationId xmlns:a16="http://schemas.microsoft.com/office/drawing/2014/main" id="{7B73D51C-CF48-458C-B7DC-949B7D9561C9}"/>
              </a:ext>
            </a:extLst>
          </p:cNvPr>
          <p:cNvSpPr>
            <a:spLocks xmlns:a="http://schemas.openxmlformats.org/drawingml/2006/main" noGrp="1"/>
          </p:cNvSpPr>
          <p:nvPr/>
        </p:nvSpPr>
        <p:spPr>
          <a:xfrm xmlns:a="http://schemas.openxmlformats.org/drawingml/2006/main">
            <a:off x="876300" y="3810000"/>
            <a:ext cx="85725" cy="85725"/>
          </a:xfrm>
          <a:prstGeom xmlns:a="http://schemas.openxmlformats.org/drawingml/2006/main" prst="ellipse">
            <a:avLst/>
          </a:prstGeom>
          <a:solidFill xmlns:a="http://schemas.openxmlformats.org/drawingml/2006/main">
            <a:srgbClr val="64748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A7DF84F-942B-418C-986F-9879EF4E77FF}"/>
              </a:ext>
            </a:extLst>
          </p:cNvPr>
          <p:cNvSpPr>
            <a:spLocks xmlns:a="http://schemas.openxmlformats.org/drawingml/2006/main" noGrp="1"/>
          </p:cNvSpPr>
          <p:nvPr/>
        </p:nvSpPr>
        <p:spPr>
          <a:xfrm xmlns:a="http://schemas.openxmlformats.org/drawingml/2006/main">
            <a:off x="1104900" y="373380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334155"/>
                </a:solidFill>
              </a:defRPr>
            </a:pPr>
            <a:r>
              <a:rPr sz="1500" b="0">
                <a:solidFill>
                  <a:srgbClr val="334155"/>
                </a:solidFill>
              </a:rPr>
              <a:t>does not know replay deadline</a:t>
            </a:r>
          </a:p>
        </p:txBody>
      </p:sp>
      <p:sp>
        <p:nvSpPr>
          <p:cNvPr id="11" name="">
            <a:extLst xmlns:a="http://schemas.openxmlformats.org/drawingml/2006/main">
              <a:ext uri="{FF2B5EF4-FFF2-40B4-BE49-F238E27FC236}">
                <a16:creationId xmlns:a16="http://schemas.microsoft.com/office/drawing/2014/main" id="{1745A46A-0A53-4DCE-B958-E756CACE0B8B}"/>
              </a:ext>
            </a:extLst>
          </p:cNvPr>
          <p:cNvSpPr>
            <a:spLocks xmlns:a="http://schemas.openxmlformats.org/drawingml/2006/main" noGrp="1"/>
          </p:cNvSpPr>
          <p:nvPr/>
        </p:nvSpPr>
        <p:spPr>
          <a:xfrm xmlns:a="http://schemas.openxmlformats.org/drawingml/2006/main">
            <a:off x="876300" y="4324350"/>
            <a:ext cx="85725" cy="85725"/>
          </a:xfrm>
          <a:prstGeom xmlns:a="http://schemas.openxmlformats.org/drawingml/2006/main" prst="ellipse">
            <a:avLst/>
          </a:prstGeom>
          <a:solidFill xmlns:a="http://schemas.openxmlformats.org/drawingml/2006/main">
            <a:srgbClr val="64748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49C45ED-8CD3-4BAD-A51B-575D7C6D6711}"/>
              </a:ext>
            </a:extLst>
          </p:cNvPr>
          <p:cNvSpPr>
            <a:spLocks xmlns:a="http://schemas.openxmlformats.org/drawingml/2006/main" noGrp="1"/>
          </p:cNvSpPr>
          <p:nvPr/>
        </p:nvSpPr>
        <p:spPr>
          <a:xfrm xmlns:a="http://schemas.openxmlformats.org/drawingml/2006/main">
            <a:off x="1104900" y="424815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334155"/>
                </a:solidFill>
              </a:defRPr>
            </a:pPr>
            <a:r>
              <a:rPr sz="1500" b="0">
                <a:solidFill>
                  <a:srgbClr val="334155"/>
                </a:solidFill>
              </a:rPr>
              <a:t>does not protect useful prefetched KV</a:t>
            </a:r>
          </a:p>
        </p:txBody>
      </p:sp>
      <p:sp>
        <p:nvSpPr>
          <p:cNvPr id="13" name="">
            <a:extLst xmlns:a="http://schemas.openxmlformats.org/drawingml/2006/main">
              <a:ext uri="{FF2B5EF4-FFF2-40B4-BE49-F238E27FC236}">
                <a16:creationId xmlns:a16="http://schemas.microsoft.com/office/drawing/2014/main" id="{64C7BEE5-73CD-45C1-A81A-8A3306B89692}"/>
              </a:ext>
            </a:extLst>
          </p:cNvPr>
          <p:cNvSpPr>
            <a:spLocks xmlns:a="http://schemas.openxmlformats.org/drawingml/2006/main" noGrp="1"/>
          </p:cNvSpPr>
          <p:nvPr/>
        </p:nvSpPr>
        <p:spPr>
          <a:xfrm xmlns:a="http://schemas.openxmlformats.org/drawingml/2006/main">
            <a:off x="5753100" y="3086100"/>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4050" b="1">
                <a:solidFill>
                  <a:srgbClr val="64748B"/>
                </a:solidFill>
              </a:defRPr>
            </a:pPr>
            <a:r>
              <a:rPr sz="4050" b="1">
                <a:solidFill>
                  <a:srgbClr val="64748B"/>
                </a:solidFill>
              </a:rPr>
              <a:t>→</a:t>
            </a:r>
          </a:p>
        </p:txBody>
      </p:sp>
      <p:sp>
        <p:nvSpPr>
          <p:cNvPr id="14" name="">
            <a:extLst xmlns:a="http://schemas.openxmlformats.org/drawingml/2006/main">
              <a:ext uri="{FF2B5EF4-FFF2-40B4-BE49-F238E27FC236}">
                <a16:creationId xmlns:a16="http://schemas.microsoft.com/office/drawing/2014/main" id="{EFEA93E8-754D-4930-A8F3-C17E32EC60C4}"/>
              </a:ext>
            </a:extLst>
          </p:cNvPr>
          <p:cNvSpPr>
            <a:spLocks xmlns:a="http://schemas.openxmlformats.org/drawingml/2006/main" noGrp="1"/>
          </p:cNvSpPr>
          <p:nvPr/>
        </p:nvSpPr>
        <p:spPr>
          <a:xfrm xmlns:a="http://schemas.openxmlformats.org/drawingml/2006/main">
            <a:off x="6686550" y="1790700"/>
            <a:ext cx="4953000" cy="3429000"/>
          </a:xfrm>
          <a:prstGeom xmlns:a="http://schemas.openxmlformats.org/drawingml/2006/main" prst="roundRect">
            <a:avLst>
              <a:gd name="adj" fmla="val 1667"/>
            </a:avLst>
          </a:prstGeom>
          <a:solidFill xmlns:a="http://schemas.openxmlformats.org/drawingml/2006/main">
            <a:srgbClr val="EFF6FF"/>
          </a:solidFill>
          <a:ln xmlns:a="http://schemas.openxmlformats.org/drawingml/2006/main" w="9525">
            <a:solidFill>
              <a:srgbClr val="BFDBFE"/>
            </a:solidFill>
            <a:prstDash val="solid"/>
          </a:ln>
        </p:spPr>
      </p:sp>
      <p:sp>
        <p:nvSpPr>
          <p:cNvPr id="15" name="">
            <a:extLst xmlns:a="http://schemas.openxmlformats.org/drawingml/2006/main">
              <a:ext uri="{FF2B5EF4-FFF2-40B4-BE49-F238E27FC236}">
                <a16:creationId xmlns:a16="http://schemas.microsoft.com/office/drawing/2014/main" id="{3479463A-7096-480C-9D12-86C556D54384}"/>
              </a:ext>
            </a:extLst>
          </p:cNvPr>
          <p:cNvSpPr>
            <a:spLocks xmlns:a="http://schemas.openxmlformats.org/drawingml/2006/main" noGrp="1"/>
          </p:cNvSpPr>
          <p:nvPr/>
        </p:nvSpPr>
        <p:spPr>
          <a:xfrm xmlns:a="http://schemas.openxmlformats.org/drawingml/2006/main">
            <a:off x="6972300" y="20764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0F172A"/>
                </a:solidFill>
              </a:defRPr>
            </a:pPr>
            <a:r>
              <a:rPr sz="1950" b="1">
                <a:solidFill>
                  <a:srgbClr val="0F172A"/>
                </a:solidFill>
              </a:rPr>
              <a:t>Hint-aware movement</a:t>
            </a:r>
          </a:p>
        </p:txBody>
      </p:sp>
      <p:sp>
        <p:nvSpPr>
          <p:cNvPr id="16" name="">
            <a:extLst xmlns:a="http://schemas.openxmlformats.org/drawingml/2006/main">
              <a:ext uri="{FF2B5EF4-FFF2-40B4-BE49-F238E27FC236}">
                <a16:creationId xmlns:a16="http://schemas.microsoft.com/office/drawing/2014/main" id="{CB536808-FA20-492D-9F4A-6D6DFE2AB68A}"/>
              </a:ext>
            </a:extLst>
          </p:cNvPr>
          <p:cNvSpPr>
            <a:spLocks xmlns:a="http://schemas.openxmlformats.org/drawingml/2006/main" noGrp="1"/>
          </p:cNvSpPr>
          <p:nvPr/>
        </p:nvSpPr>
        <p:spPr>
          <a:xfrm xmlns:a="http://schemas.openxmlformats.org/drawingml/2006/main">
            <a:off x="7010400" y="2781300"/>
            <a:ext cx="85725" cy="85725"/>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7403ECC-6F6A-4ACF-8948-91C5C1C50847}"/>
              </a:ext>
            </a:extLst>
          </p:cNvPr>
          <p:cNvSpPr>
            <a:spLocks xmlns:a="http://schemas.openxmlformats.org/drawingml/2006/main" noGrp="1"/>
          </p:cNvSpPr>
          <p:nvPr/>
        </p:nvSpPr>
        <p:spPr>
          <a:xfrm xmlns:a="http://schemas.openxmlformats.org/drawingml/2006/main">
            <a:off x="7239000" y="270510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334155"/>
                </a:solidFill>
              </a:defRPr>
            </a:pPr>
            <a:r>
              <a:rPr sz="1500" b="0">
                <a:solidFill>
                  <a:srgbClr val="334155"/>
                </a:solidFill>
              </a:rPr>
              <a:t>tags KV by session and priority</a:t>
            </a:r>
          </a:p>
        </p:txBody>
      </p:sp>
      <p:sp>
        <p:nvSpPr>
          <p:cNvPr id="18" name="">
            <a:extLst xmlns:a="http://schemas.openxmlformats.org/drawingml/2006/main">
              <a:ext uri="{FF2B5EF4-FFF2-40B4-BE49-F238E27FC236}">
                <a16:creationId xmlns:a16="http://schemas.microsoft.com/office/drawing/2014/main" id="{5706EF25-E15F-4FB4-B811-772C2D797440}"/>
              </a:ext>
            </a:extLst>
          </p:cNvPr>
          <p:cNvSpPr>
            <a:spLocks xmlns:a="http://schemas.openxmlformats.org/drawingml/2006/main" noGrp="1"/>
          </p:cNvSpPr>
          <p:nvPr/>
        </p:nvSpPr>
        <p:spPr>
          <a:xfrm xmlns:a="http://schemas.openxmlformats.org/drawingml/2006/main">
            <a:off x="7010400" y="3295650"/>
            <a:ext cx="85725" cy="85725"/>
          </a:xfrm>
          <a:prstGeom xmlns:a="http://schemas.openxmlformats.org/drawingml/2006/main" prst="ellipse">
            <a:avLst/>
          </a:prstGeom>
          <a:solidFill xmlns:a="http://schemas.openxmlformats.org/drawingml/2006/main">
            <a:srgbClr val="A855F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1498836-E12D-4E21-9EB0-9B57AD99E1EA}"/>
              </a:ext>
            </a:extLst>
          </p:cNvPr>
          <p:cNvSpPr>
            <a:spLocks xmlns:a="http://schemas.openxmlformats.org/drawingml/2006/main" noGrp="1"/>
          </p:cNvSpPr>
          <p:nvPr/>
        </p:nvSpPr>
        <p:spPr>
          <a:xfrm xmlns:a="http://schemas.openxmlformats.org/drawingml/2006/main">
            <a:off x="7239000" y="321945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334155"/>
                </a:solidFill>
              </a:defRPr>
            </a:pPr>
            <a:r>
              <a:rPr sz="1500" b="0">
                <a:solidFill>
                  <a:srgbClr val="334155"/>
                </a:solidFill>
              </a:rPr>
              <a:t>schedules against replay deadlines</a:t>
            </a:r>
          </a:p>
        </p:txBody>
      </p:sp>
      <p:sp>
        <p:nvSpPr>
          <p:cNvPr id="20" name="">
            <a:extLst xmlns:a="http://schemas.openxmlformats.org/drawingml/2006/main">
              <a:ext uri="{FF2B5EF4-FFF2-40B4-BE49-F238E27FC236}">
                <a16:creationId xmlns:a16="http://schemas.microsoft.com/office/drawing/2014/main" id="{24DA658C-BDE2-4ED2-91CD-8985D0A4A44C}"/>
              </a:ext>
            </a:extLst>
          </p:cNvPr>
          <p:cNvSpPr>
            <a:spLocks xmlns:a="http://schemas.openxmlformats.org/drawingml/2006/main" noGrp="1"/>
          </p:cNvSpPr>
          <p:nvPr/>
        </p:nvSpPr>
        <p:spPr>
          <a:xfrm xmlns:a="http://schemas.openxmlformats.org/drawingml/2006/main">
            <a:off x="7010400" y="3810000"/>
            <a:ext cx="85725" cy="85725"/>
          </a:xfrm>
          <a:prstGeom xmlns:a="http://schemas.openxmlformats.org/drawingml/2006/main" prst="ellipse">
            <a:avLst/>
          </a:prstGeom>
          <a:solidFill xmlns:a="http://schemas.openxmlformats.org/drawingml/2006/main">
            <a:srgbClr val="06B6D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109D8DE-B82D-4B66-BEA5-D33F101DF0B9}"/>
              </a:ext>
            </a:extLst>
          </p:cNvPr>
          <p:cNvSpPr>
            <a:spLocks xmlns:a="http://schemas.openxmlformats.org/drawingml/2006/main" noGrp="1"/>
          </p:cNvSpPr>
          <p:nvPr/>
        </p:nvSpPr>
        <p:spPr>
          <a:xfrm xmlns:a="http://schemas.openxmlformats.org/drawingml/2006/main">
            <a:off x="7239000" y="373380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334155"/>
                </a:solidFill>
              </a:defRPr>
            </a:pPr>
            <a:r>
              <a:rPr sz="1500" b="0">
                <a:solidFill>
                  <a:srgbClr val="334155"/>
                </a:solidFill>
              </a:rPr>
              <a:t>moves hot KV before replay</a:t>
            </a:r>
          </a:p>
        </p:txBody>
      </p:sp>
      <p:sp>
        <p:nvSpPr>
          <p:cNvPr id="22" name="">
            <a:extLst xmlns:a="http://schemas.openxmlformats.org/drawingml/2006/main">
              <a:ext uri="{FF2B5EF4-FFF2-40B4-BE49-F238E27FC236}">
                <a16:creationId xmlns:a16="http://schemas.microsoft.com/office/drawing/2014/main" id="{3AFC8DFD-9737-4F56-B8BA-6813B1DAF62B}"/>
              </a:ext>
            </a:extLst>
          </p:cNvPr>
          <p:cNvSpPr>
            <a:spLocks xmlns:a="http://schemas.openxmlformats.org/drawingml/2006/main" noGrp="1"/>
          </p:cNvSpPr>
          <p:nvPr/>
        </p:nvSpPr>
        <p:spPr>
          <a:xfrm xmlns:a="http://schemas.openxmlformats.org/drawingml/2006/main">
            <a:off x="7010400" y="4324350"/>
            <a:ext cx="85725" cy="85725"/>
          </a:xfrm>
          <a:prstGeom xmlns:a="http://schemas.openxmlformats.org/drawingml/2006/main" prst="ellipse">
            <a:avLst/>
          </a:prstGeom>
          <a:solidFill xmlns:a="http://schemas.openxmlformats.org/drawingml/2006/main">
            <a:srgbClr val="16A34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6140D05-F4BE-47B2-88D3-3219B5C0BD50}"/>
              </a:ext>
            </a:extLst>
          </p:cNvPr>
          <p:cNvSpPr>
            <a:spLocks xmlns:a="http://schemas.openxmlformats.org/drawingml/2006/main" noGrp="1"/>
          </p:cNvSpPr>
          <p:nvPr/>
        </p:nvSpPr>
        <p:spPr>
          <a:xfrm xmlns:a="http://schemas.openxmlformats.org/drawingml/2006/main">
            <a:off x="7239000" y="424815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334155"/>
                </a:solidFill>
              </a:defRPr>
            </a:pPr>
            <a:r>
              <a:rPr sz="1500" b="0">
                <a:solidFill>
                  <a:srgbClr val="334155"/>
                </a:solidFill>
              </a:rPr>
              <a:t>reports late, useful, and wasted movement</a:t>
            </a:r>
          </a:p>
        </p:txBody>
      </p:sp>
      <p:sp>
        <p:nvSpPr>
          <p:cNvPr id="24" name="">
            <a:extLst xmlns:a="http://schemas.openxmlformats.org/drawingml/2006/main">
              <a:ext uri="{FF2B5EF4-FFF2-40B4-BE49-F238E27FC236}">
                <a16:creationId xmlns:a16="http://schemas.microsoft.com/office/drawing/2014/main" id="{F613DA12-8B36-4E88-BB0A-199A23649269}"/>
              </a:ext>
            </a:extLst>
          </p:cNvPr>
          <p:cNvSpPr>
            <a:spLocks xmlns:a="http://schemas.openxmlformats.org/drawingml/2006/main" noGrp="1"/>
          </p:cNvSpPr>
          <p:nvPr/>
        </p:nvSpPr>
        <p:spPr>
          <a:xfrm xmlns:a="http://schemas.openxmlformats.org/drawingml/2006/main">
            <a:off x="400050" y="6381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4748B"/>
                </a:solidFill>
              </a:defRPr>
            </a:pPr>
            <a:r>
              <a:rPr sz="975" b="0">
                <a:solidFill>
                  <a:srgbClr val="64748B"/>
                </a:solidFill>
              </a:rPr>
              <a:t>Agent-aware KV movement</a:t>
            </a:r>
          </a:p>
        </p:txBody>
      </p:sp>
      <p:sp>
        <p:nvSpPr>
          <p:cNvPr id="25" name="">
            <a:extLst xmlns:a="http://schemas.openxmlformats.org/drawingml/2006/main">
              <a:ext uri="{FF2B5EF4-FFF2-40B4-BE49-F238E27FC236}">
                <a16:creationId xmlns:a16="http://schemas.microsoft.com/office/drawing/2014/main" id="{A192BBB2-FB50-4264-8DF9-1BE806F27E57}"/>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4748B"/>
                </a:solidFill>
              </a:defRPr>
            </a:pPr>
            <a:r>
              <a:rPr sz="975" b="0">
                <a:solidFill>
                  <a:srgbClr val="64748B"/>
                </a:solidFill>
              </a:rPr>
              <a:t>04</a:t>
            </a:r>
          </a:p>
        </p:txBody>
      </p:sp>
    </p:spTree>
    <p:extLst>
      <p:ext uri="{BB962C8B-B14F-4D97-AF65-F5344CB8AC3E}">
        <p14:creationId xmlns:p14="http://schemas.microsoft.com/office/powerpoint/2010/main" val="17572691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F3CE87-51EC-4277-82B3-968BEA504941}"/>
              </a:ext>
            </a:extLst>
          </p:cNvPr>
          <p:cNvSpPr>
            <a:spLocks xmlns:a="http://schemas.openxmlformats.org/drawingml/2006/main" noGrp="1"/>
          </p:cNvSpPr>
          <p:nvPr/>
        </p:nvSpPr>
        <p:spPr>
          <a:xfrm xmlns:a="http://schemas.openxmlformats.org/drawingml/2006/main">
            <a:off x="400050" y="32385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defRPr>
            </a:pPr>
            <a:r>
              <a:rPr sz="2850" b="1">
                <a:solidFill>
                  <a:srgbClr val="0F172A"/>
                </a:solidFill>
              </a:rPr>
              <a:t>The replay path exposes the bottleneck</a:t>
            </a:r>
          </a:p>
        </p:txBody>
      </p:sp>
      <p:sp>
        <p:nvSpPr>
          <p:cNvPr id="2" name="">
            <a:extLst xmlns:a="http://schemas.openxmlformats.org/drawingml/2006/main">
              <a:ext uri="{FF2B5EF4-FFF2-40B4-BE49-F238E27FC236}">
                <a16:creationId xmlns:a16="http://schemas.microsoft.com/office/drawing/2014/main" id="{4FDC9E96-0B75-4292-AB48-CCF4331077CA}"/>
              </a:ext>
            </a:extLst>
          </p:cNvPr>
          <p:cNvSpPr>
            <a:spLocks xmlns:a="http://schemas.openxmlformats.org/drawingml/2006/main" noGrp="1"/>
          </p:cNvSpPr>
          <p:nvPr/>
        </p:nvSpPr>
        <p:spPr>
          <a:xfrm xmlns:a="http://schemas.openxmlformats.org/drawingml/2006/main">
            <a:off x="419100" y="102870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748B"/>
                </a:solidFill>
              </a:defRPr>
            </a:pPr>
            <a:r>
              <a:rPr sz="1350" b="0">
                <a:solidFill>
                  <a:srgbClr val="64748B"/>
                </a:solidFill>
              </a:rPr>
              <a:t>Several tool-gap sessions show where replay spends time before the first useful token.</a:t>
            </a:r>
          </a:p>
        </p:txBody>
      </p:sp>
      <p:sp>
        <p:nvSpPr>
          <p:cNvPr id="3" name="">
            <a:extLst xmlns:a="http://schemas.openxmlformats.org/drawingml/2006/main">
              <a:ext uri="{FF2B5EF4-FFF2-40B4-BE49-F238E27FC236}">
                <a16:creationId xmlns:a16="http://schemas.microsoft.com/office/drawing/2014/main" id="{AC93ED74-AEE4-4F44-9237-FDDC9C117B31}"/>
              </a:ext>
            </a:extLst>
          </p:cNvPr>
          <p:cNvSpPr>
            <a:spLocks xmlns:a="http://schemas.openxmlformats.org/drawingml/2006/main" noGrp="1"/>
          </p:cNvSpPr>
          <p:nvPr/>
        </p:nvSpPr>
        <p:spPr>
          <a:xfrm xmlns:a="http://schemas.openxmlformats.org/drawingml/2006/main">
            <a:off x="228600" y="1181100"/>
            <a:ext cx="11734800" cy="4972050"/>
          </a:xfrm>
          <a:prstGeom xmlns:a="http://schemas.openxmlformats.org/drawingml/2006/main" prst="roundRect">
            <a:avLst>
              <a:gd name="adj" fmla="val 1149"/>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ac2162f30804ea9"/>
          <a:stretch xmlns:a="http://schemas.openxmlformats.org/drawingml/2006/main"/>
        </p:blipFill>
        <p:spPr>
          <a:xfrm xmlns:a="http://schemas.openxmlformats.org/drawingml/2006/main">
            <a:off x="304800" y="1285315"/>
            <a:ext cx="11582400" cy="476361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8E901A1-CC5A-4483-A730-EB6E0073EA84}"/>
              </a:ext>
            </a:extLst>
          </p:cNvPr>
          <p:cNvSpPr>
            <a:spLocks xmlns:a="http://schemas.openxmlformats.org/drawingml/2006/main" noGrp="1"/>
          </p:cNvSpPr>
          <p:nvPr/>
        </p:nvSpPr>
        <p:spPr>
          <a:xfrm xmlns:a="http://schemas.openxmlformats.org/drawingml/2006/main">
            <a:off x="400050" y="6153150"/>
            <a:ext cx="781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4748B"/>
                </a:solidFill>
              </a:defRPr>
            </a:pPr>
            <a:r>
              <a:rPr sz="825" b="0">
                <a:solidFill>
                  <a:srgbClr val="64748B"/>
                </a:solidFill>
              </a:rPr>
              <a:t>Source: latest_master_report.html controlled run</a:t>
            </a:r>
          </a:p>
        </p:txBody>
      </p:sp>
      <p:sp>
        <p:nvSpPr>
          <p:cNvPr id="6" name="">
            <a:extLst xmlns:a="http://schemas.openxmlformats.org/drawingml/2006/main">
              <a:ext uri="{FF2B5EF4-FFF2-40B4-BE49-F238E27FC236}">
                <a16:creationId xmlns:a16="http://schemas.microsoft.com/office/drawing/2014/main" id="{A2417F06-F3DB-4472-9509-5CC9E2B51728}"/>
              </a:ext>
            </a:extLst>
          </p:cNvPr>
          <p:cNvSpPr>
            <a:spLocks xmlns:a="http://schemas.openxmlformats.org/drawingml/2006/main" noGrp="1"/>
          </p:cNvSpPr>
          <p:nvPr/>
        </p:nvSpPr>
        <p:spPr>
          <a:xfrm xmlns:a="http://schemas.openxmlformats.org/drawingml/2006/main">
            <a:off x="400050" y="6381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4748B"/>
                </a:solidFill>
              </a:defRPr>
            </a:pPr>
            <a:r>
              <a:rPr sz="975" b="0">
                <a:solidFill>
                  <a:srgbClr val="64748B"/>
                </a:solidFill>
              </a:rPr>
              <a:t>Agent-aware KV movement</a:t>
            </a:r>
          </a:p>
        </p:txBody>
      </p:sp>
      <p:sp>
        <p:nvSpPr>
          <p:cNvPr id="7" name="">
            <a:extLst xmlns:a="http://schemas.openxmlformats.org/drawingml/2006/main">
              <a:ext uri="{FF2B5EF4-FFF2-40B4-BE49-F238E27FC236}">
                <a16:creationId xmlns:a16="http://schemas.microsoft.com/office/drawing/2014/main" id="{6FEB3ECD-9BCD-407D-9BC8-10C880D5621A}"/>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4748B"/>
                </a:solidFill>
              </a:defRPr>
            </a:pPr>
            <a:r>
              <a:rPr sz="975" b="0">
                <a:solidFill>
                  <a:srgbClr val="64748B"/>
                </a:solidFill>
              </a:rPr>
              <a:t>05</a:t>
            </a:r>
          </a:p>
        </p:txBody>
      </p:sp>
    </p:spTree>
    <p:extLst>
      <p:ext uri="{BB962C8B-B14F-4D97-AF65-F5344CB8AC3E}">
        <p14:creationId xmlns:p14="http://schemas.microsoft.com/office/powerpoint/2010/main" val="190083049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2D3BE00-4DD1-46E3-AD91-95B642BD463B}"/>
              </a:ext>
            </a:extLst>
          </p:cNvPr>
          <p:cNvSpPr>
            <a:spLocks xmlns:a="http://schemas.openxmlformats.org/drawingml/2006/main" noGrp="1"/>
          </p:cNvSpPr>
          <p:nvPr/>
        </p:nvSpPr>
        <p:spPr>
          <a:xfrm xmlns:a="http://schemas.openxmlformats.org/drawingml/2006/main">
            <a:off x="400050" y="32385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defRPr>
            </a:pPr>
            <a:r>
              <a:rPr sz="2850" b="1">
                <a:solidFill>
                  <a:srgbClr val="0F172A"/>
                </a:solidFill>
              </a:rPr>
              <a:t>Software prefetch often missed the agent replay deadline</a:t>
            </a:r>
          </a:p>
        </p:txBody>
      </p:sp>
      <p:sp>
        <p:nvSpPr>
          <p:cNvPr id="2" name="">
            <a:extLst xmlns:a="http://schemas.openxmlformats.org/drawingml/2006/main">
              <a:ext uri="{FF2B5EF4-FFF2-40B4-BE49-F238E27FC236}">
                <a16:creationId xmlns:a16="http://schemas.microsoft.com/office/drawing/2014/main" id="{A4CEC726-DE17-48DB-BEFA-A2D16E07D88C}"/>
              </a:ext>
            </a:extLst>
          </p:cNvPr>
          <p:cNvSpPr>
            <a:spLocks xmlns:a="http://schemas.openxmlformats.org/drawingml/2006/main" noGrp="1"/>
          </p:cNvSpPr>
          <p:nvPr/>
        </p:nvSpPr>
        <p:spPr>
          <a:xfrm xmlns:a="http://schemas.openxmlformats.org/drawingml/2006/main">
            <a:off x="419100" y="102870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748B"/>
                </a:solidFill>
              </a:defRPr>
            </a:pPr>
            <a:r>
              <a:rPr sz="1350" b="0">
                <a:solidFill>
                  <a:srgbClr val="64748B"/>
                </a:solidFill>
              </a:rPr>
              <a:t>Across live prefetch attempts, nearly every hint completed after the agent had already resumed.</a:t>
            </a:r>
          </a:p>
        </p:txBody>
      </p:sp>
      <p:sp>
        <p:nvSpPr>
          <p:cNvPr id="3" name="">
            <a:extLst xmlns:a="http://schemas.openxmlformats.org/drawingml/2006/main">
              <a:ext uri="{FF2B5EF4-FFF2-40B4-BE49-F238E27FC236}">
                <a16:creationId xmlns:a16="http://schemas.microsoft.com/office/drawing/2014/main" id="{5ACB51C7-14FA-48FD-8775-4756525FA965}"/>
              </a:ext>
            </a:extLst>
          </p:cNvPr>
          <p:cNvSpPr>
            <a:spLocks xmlns:a="http://schemas.openxmlformats.org/drawingml/2006/main" noGrp="1"/>
          </p:cNvSpPr>
          <p:nvPr/>
        </p:nvSpPr>
        <p:spPr>
          <a:xfrm xmlns:a="http://schemas.openxmlformats.org/drawingml/2006/main">
            <a:off x="323850" y="1428750"/>
            <a:ext cx="8572500" cy="3886200"/>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9525">
            <a:solidFill>
              <a:srgbClr val="E5E7EB"/>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302a95fac6a4540"/>
          <a:stretch xmlns:a="http://schemas.openxmlformats.org/drawingml/2006/main"/>
        </p:blipFill>
        <p:spPr>
          <a:xfrm xmlns:a="http://schemas.openxmlformats.org/drawingml/2006/main">
            <a:off x="400050" y="1890170"/>
            <a:ext cx="8420100" cy="296336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C94354D-3908-4943-9BA9-8B9465579C4B}"/>
              </a:ext>
            </a:extLst>
          </p:cNvPr>
          <p:cNvSpPr>
            <a:spLocks xmlns:a="http://schemas.openxmlformats.org/drawingml/2006/main" noGrp="1"/>
          </p:cNvSpPr>
          <p:nvPr/>
        </p:nvSpPr>
        <p:spPr>
          <a:xfrm xmlns:a="http://schemas.openxmlformats.org/drawingml/2006/main">
            <a:off x="9124950" y="1600200"/>
            <a:ext cx="2228850" cy="1295400"/>
          </a:xfrm>
          <a:prstGeom xmlns:a="http://schemas.openxmlformats.org/drawingml/2006/main" prst="roundRect">
            <a:avLst>
              <a:gd name="adj" fmla="val 4412"/>
            </a:avLst>
          </a:prstGeom>
          <a:solidFill xmlns:a="http://schemas.openxmlformats.org/drawingml/2006/main">
            <a:srgbClr val="FEF2F2"/>
          </a:solidFill>
          <a:ln xmlns:a="http://schemas.openxmlformats.org/drawingml/2006/main" w="9525">
            <a:solidFill>
              <a:srgbClr val="FECACA"/>
            </a:solidFill>
            <a:prstDash val="solid"/>
          </a:ln>
        </p:spPr>
      </p:sp>
      <p:sp>
        <p:nvSpPr>
          <p:cNvPr id="6" name="">
            <a:extLst xmlns:a="http://schemas.openxmlformats.org/drawingml/2006/main">
              <a:ext uri="{FF2B5EF4-FFF2-40B4-BE49-F238E27FC236}">
                <a16:creationId xmlns:a16="http://schemas.microsoft.com/office/drawing/2014/main" id="{A8439B89-BC18-4A23-8B4B-6D774229F523}"/>
              </a:ext>
            </a:extLst>
          </p:cNvPr>
          <p:cNvSpPr>
            <a:spLocks xmlns:a="http://schemas.openxmlformats.org/drawingml/2006/main" noGrp="1"/>
          </p:cNvSpPr>
          <p:nvPr/>
        </p:nvSpPr>
        <p:spPr>
          <a:xfrm xmlns:a="http://schemas.openxmlformats.org/drawingml/2006/main">
            <a:off x="9296400" y="1809750"/>
            <a:ext cx="188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700" b="1">
                <a:solidFill>
                  <a:srgbClr val="B91C1C"/>
                </a:solidFill>
              </a:defRPr>
            </a:pPr>
            <a:r>
              <a:rPr sz="2700" b="1">
                <a:solidFill>
                  <a:srgbClr val="B91C1C"/>
                </a:solidFill>
              </a:rPr>
              <a:t>112 of 114</a:t>
            </a:r>
          </a:p>
        </p:txBody>
      </p:sp>
      <p:sp>
        <p:nvSpPr>
          <p:cNvPr id="7" name="">
            <a:extLst xmlns:a="http://schemas.openxmlformats.org/drawingml/2006/main">
              <a:ext uri="{FF2B5EF4-FFF2-40B4-BE49-F238E27FC236}">
                <a16:creationId xmlns:a16="http://schemas.microsoft.com/office/drawing/2014/main" id="{032F41C6-A6E9-4269-A5F5-2A34F08C5B55}"/>
              </a:ext>
            </a:extLst>
          </p:cNvPr>
          <p:cNvSpPr>
            <a:spLocks xmlns:a="http://schemas.openxmlformats.org/drawingml/2006/main" noGrp="1"/>
          </p:cNvSpPr>
          <p:nvPr/>
        </p:nvSpPr>
        <p:spPr>
          <a:xfrm xmlns:a="http://schemas.openxmlformats.org/drawingml/2006/main">
            <a:off x="9353550" y="2324100"/>
            <a:ext cx="1771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334155"/>
                </a:solidFill>
              </a:defRPr>
            </a:pPr>
            <a:r>
              <a:rPr sz="1350" b="0">
                <a:solidFill>
                  <a:srgbClr val="334155"/>
                </a:solidFill>
              </a:rPr>
              <a:t>prefetch attempts</a:t>
            </a:r>
          </a:p>
        </p:txBody>
      </p:sp>
      <p:sp>
        <p:nvSpPr>
          <p:cNvPr id="8" name="">
            <a:extLst xmlns:a="http://schemas.openxmlformats.org/drawingml/2006/main">
              <a:ext uri="{FF2B5EF4-FFF2-40B4-BE49-F238E27FC236}">
                <a16:creationId xmlns:a16="http://schemas.microsoft.com/office/drawing/2014/main" id="{482042DA-551E-45B7-94E1-7B10492B43CF}"/>
              </a:ext>
            </a:extLst>
          </p:cNvPr>
          <p:cNvSpPr>
            <a:spLocks xmlns:a="http://schemas.openxmlformats.org/drawingml/2006/main" noGrp="1"/>
          </p:cNvSpPr>
          <p:nvPr/>
        </p:nvSpPr>
        <p:spPr>
          <a:xfrm xmlns:a="http://schemas.openxmlformats.org/drawingml/2006/main">
            <a:off x="9353550" y="2571750"/>
            <a:ext cx="1771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334155"/>
                </a:solidFill>
              </a:defRPr>
            </a:pPr>
            <a:r>
              <a:rPr sz="1350" b="0">
                <a:solidFill>
                  <a:srgbClr val="334155"/>
                </a:solidFill>
              </a:rPr>
              <a:t>were late</a:t>
            </a:r>
          </a:p>
        </p:txBody>
      </p:sp>
      <p:sp>
        <p:nvSpPr>
          <p:cNvPr id="9" name="">
            <a:extLst xmlns:a="http://schemas.openxmlformats.org/drawingml/2006/main">
              <a:ext uri="{FF2B5EF4-FFF2-40B4-BE49-F238E27FC236}">
                <a16:creationId xmlns:a16="http://schemas.microsoft.com/office/drawing/2014/main" id="{D7E65C6D-2B72-412A-B4BB-EA56ADEE250A}"/>
              </a:ext>
            </a:extLst>
          </p:cNvPr>
          <p:cNvSpPr>
            <a:spLocks xmlns:a="http://schemas.openxmlformats.org/drawingml/2006/main" noGrp="1"/>
          </p:cNvSpPr>
          <p:nvPr/>
        </p:nvSpPr>
        <p:spPr>
          <a:xfrm xmlns:a="http://schemas.openxmlformats.org/drawingml/2006/main">
            <a:off x="9124950" y="3143250"/>
            <a:ext cx="2228850" cy="1066800"/>
          </a:xfrm>
          <a:prstGeom xmlns:a="http://schemas.openxmlformats.org/drawingml/2006/main" prst="roundRect">
            <a:avLst>
              <a:gd name="adj" fmla="val 5357"/>
            </a:avLst>
          </a:prstGeom>
          <a:solidFill xmlns:a="http://schemas.openxmlformats.org/drawingml/2006/main">
            <a:srgbClr val="FFF7ED"/>
          </a:solidFill>
          <a:ln xmlns:a="http://schemas.openxmlformats.org/drawingml/2006/main" w="9525">
            <a:solidFill>
              <a:srgbClr val="FED7AA"/>
            </a:solidFill>
            <a:prstDash val="solid"/>
          </a:ln>
        </p:spPr>
      </p:sp>
      <p:sp>
        <p:nvSpPr>
          <p:cNvPr id="10" name="">
            <a:extLst xmlns:a="http://schemas.openxmlformats.org/drawingml/2006/main">
              <a:ext uri="{FF2B5EF4-FFF2-40B4-BE49-F238E27FC236}">
                <a16:creationId xmlns:a16="http://schemas.microsoft.com/office/drawing/2014/main" id="{2954A896-3C5D-4A55-A2DD-124F4F285F79}"/>
              </a:ext>
            </a:extLst>
          </p:cNvPr>
          <p:cNvSpPr>
            <a:spLocks xmlns:a="http://schemas.openxmlformats.org/drawingml/2006/main" noGrp="1"/>
          </p:cNvSpPr>
          <p:nvPr/>
        </p:nvSpPr>
        <p:spPr>
          <a:xfrm xmlns:a="http://schemas.openxmlformats.org/drawingml/2006/main">
            <a:off x="9353550" y="3333750"/>
            <a:ext cx="1771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C2410C"/>
                </a:solidFill>
              </a:defRPr>
            </a:pPr>
            <a:r>
              <a:rPr sz="3000" b="1">
                <a:solidFill>
                  <a:srgbClr val="C2410C"/>
                </a:solidFill>
              </a:rPr>
              <a:t>98.25%</a:t>
            </a:r>
          </a:p>
        </p:txBody>
      </p:sp>
      <p:sp>
        <p:nvSpPr>
          <p:cNvPr id="11" name="">
            <a:extLst xmlns:a="http://schemas.openxmlformats.org/drawingml/2006/main">
              <a:ext uri="{FF2B5EF4-FFF2-40B4-BE49-F238E27FC236}">
                <a16:creationId xmlns:a16="http://schemas.microsoft.com/office/drawing/2014/main" id="{F7166217-FF0B-4F1A-A440-2CE481CA1F30}"/>
              </a:ext>
            </a:extLst>
          </p:cNvPr>
          <p:cNvSpPr>
            <a:spLocks xmlns:a="http://schemas.openxmlformats.org/drawingml/2006/main" noGrp="1"/>
          </p:cNvSpPr>
          <p:nvPr/>
        </p:nvSpPr>
        <p:spPr>
          <a:xfrm xmlns:a="http://schemas.openxmlformats.org/drawingml/2006/main">
            <a:off x="9353550" y="38290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334155"/>
                </a:solidFill>
              </a:defRPr>
            </a:pPr>
            <a:r>
              <a:rPr sz="1275" b="0">
                <a:solidFill>
                  <a:srgbClr val="334155"/>
                </a:solidFill>
              </a:rPr>
              <a:t>missed replay due deadline</a:t>
            </a:r>
          </a:p>
        </p:txBody>
      </p:sp>
      <p:sp>
        <p:nvSpPr>
          <p:cNvPr id="12" name="">
            <a:extLst xmlns:a="http://schemas.openxmlformats.org/drawingml/2006/main">
              <a:ext uri="{FF2B5EF4-FFF2-40B4-BE49-F238E27FC236}">
                <a16:creationId xmlns:a16="http://schemas.microsoft.com/office/drawing/2014/main" id="{DEC42A3A-304C-4902-96B6-66305CBD2913}"/>
              </a:ext>
            </a:extLst>
          </p:cNvPr>
          <p:cNvSpPr>
            <a:spLocks xmlns:a="http://schemas.openxmlformats.org/drawingml/2006/main" noGrp="1"/>
          </p:cNvSpPr>
          <p:nvPr/>
        </p:nvSpPr>
        <p:spPr>
          <a:xfrm xmlns:a="http://schemas.openxmlformats.org/drawingml/2006/main">
            <a:off x="9124950" y="4514850"/>
            <a:ext cx="2247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334155"/>
                </a:solidFill>
              </a:defRPr>
            </a:pPr>
            <a:r>
              <a:rPr sz="1500" b="0">
                <a:solidFill>
                  <a:srgbClr val="334155"/>
                </a:solidFill>
              </a:rPr>
              <a:t>This shows that semantic knowledge alone is not enough if the movement path cannot act on hints predictably.</a:t>
            </a:r>
          </a:p>
        </p:txBody>
      </p:sp>
      <p:sp>
        <p:nvSpPr>
          <p:cNvPr id="13" name="">
            <a:extLst xmlns:a="http://schemas.openxmlformats.org/drawingml/2006/main">
              <a:ext uri="{FF2B5EF4-FFF2-40B4-BE49-F238E27FC236}">
                <a16:creationId xmlns:a16="http://schemas.microsoft.com/office/drawing/2014/main" id="{0AA22665-380D-4EEB-AA08-886F4009D3F9}"/>
              </a:ext>
            </a:extLst>
          </p:cNvPr>
          <p:cNvSpPr>
            <a:spLocks xmlns:a="http://schemas.openxmlformats.org/drawingml/2006/main" noGrp="1"/>
          </p:cNvSpPr>
          <p:nvPr/>
        </p:nvSpPr>
        <p:spPr>
          <a:xfrm xmlns:a="http://schemas.openxmlformats.org/drawingml/2006/main">
            <a:off x="400050" y="6153150"/>
            <a:ext cx="781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4748B"/>
                </a:solidFill>
              </a:defRPr>
            </a:pPr>
            <a:r>
              <a:rPr sz="825" b="0">
                <a:solidFill>
                  <a:srgbClr val="64748B"/>
                </a:solidFill>
              </a:rPr>
              <a:t>Source: backups/latest_master_report-1.html, Global Prefetch Margin</a:t>
            </a:r>
          </a:p>
        </p:txBody>
      </p:sp>
      <p:sp>
        <p:nvSpPr>
          <p:cNvPr id="14" name="">
            <a:extLst xmlns:a="http://schemas.openxmlformats.org/drawingml/2006/main">
              <a:ext uri="{FF2B5EF4-FFF2-40B4-BE49-F238E27FC236}">
                <a16:creationId xmlns:a16="http://schemas.microsoft.com/office/drawing/2014/main" id="{186E5304-69F0-4CC3-8E27-ED0AA9F83B72}"/>
              </a:ext>
            </a:extLst>
          </p:cNvPr>
          <p:cNvSpPr>
            <a:spLocks xmlns:a="http://schemas.openxmlformats.org/drawingml/2006/main" noGrp="1"/>
          </p:cNvSpPr>
          <p:nvPr/>
        </p:nvSpPr>
        <p:spPr>
          <a:xfrm xmlns:a="http://schemas.openxmlformats.org/drawingml/2006/main">
            <a:off x="400050" y="6381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4748B"/>
                </a:solidFill>
              </a:defRPr>
            </a:pPr>
            <a:r>
              <a:rPr sz="975" b="0">
                <a:solidFill>
                  <a:srgbClr val="64748B"/>
                </a:solidFill>
              </a:rPr>
              <a:t>Agent-aware KV movement</a:t>
            </a:r>
          </a:p>
        </p:txBody>
      </p:sp>
      <p:sp>
        <p:nvSpPr>
          <p:cNvPr id="15" name="">
            <a:extLst xmlns:a="http://schemas.openxmlformats.org/drawingml/2006/main">
              <a:ext uri="{FF2B5EF4-FFF2-40B4-BE49-F238E27FC236}">
                <a16:creationId xmlns:a16="http://schemas.microsoft.com/office/drawing/2014/main" id="{A0E4E615-8C88-4F05-9A0B-5D0196305BEC}"/>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4748B"/>
                </a:solidFill>
              </a:defRPr>
            </a:pPr>
            <a:r>
              <a:rPr sz="975" b="0">
                <a:solidFill>
                  <a:srgbClr val="64748B"/>
                </a:solidFill>
              </a:rPr>
              <a:t>06</a:t>
            </a:r>
          </a:p>
        </p:txBody>
      </p:sp>
    </p:spTree>
    <p:extLst>
      <p:ext uri="{BB962C8B-B14F-4D97-AF65-F5344CB8AC3E}">
        <p14:creationId xmlns:p14="http://schemas.microsoft.com/office/powerpoint/2010/main" val="18118371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0AA618B-EF38-4F91-916B-41E6B3B042FF}"/>
              </a:ext>
            </a:extLst>
          </p:cNvPr>
          <p:cNvSpPr>
            <a:spLocks xmlns:a="http://schemas.openxmlformats.org/drawingml/2006/main" noGrp="1"/>
          </p:cNvSpPr>
          <p:nvPr/>
        </p:nvSpPr>
        <p:spPr>
          <a:xfrm xmlns:a="http://schemas.openxmlformats.org/drawingml/2006/main">
            <a:off x="400050" y="32385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defRPr>
            </a:pPr>
            <a:r>
              <a:rPr sz="2850" b="1">
                <a:solidFill>
                  <a:srgbClr val="0F172A"/>
                </a:solidFill>
              </a:rPr>
              <a:t>Replay-side KV loads missed the deadline in this run</a:t>
            </a:r>
          </a:p>
        </p:txBody>
      </p:sp>
      <p:sp>
        <p:nvSpPr>
          <p:cNvPr id="2" name="">
            <a:extLst xmlns:a="http://schemas.openxmlformats.org/drawingml/2006/main">
              <a:ext uri="{FF2B5EF4-FFF2-40B4-BE49-F238E27FC236}">
                <a16:creationId xmlns:a16="http://schemas.microsoft.com/office/drawing/2014/main" id="{FBAB8E2C-FD64-4D86-ADAE-EF18D8D8E24F}"/>
              </a:ext>
            </a:extLst>
          </p:cNvPr>
          <p:cNvSpPr>
            <a:spLocks xmlns:a="http://schemas.openxmlformats.org/drawingml/2006/main" noGrp="1"/>
          </p:cNvSpPr>
          <p:nvPr/>
        </p:nvSpPr>
        <p:spPr>
          <a:xfrm xmlns:a="http://schemas.openxmlformats.org/drawingml/2006/main">
            <a:off x="419100" y="102870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748B"/>
                </a:solidFill>
              </a:defRPr>
            </a:pPr>
            <a:r>
              <a:rPr sz="1350" b="0">
                <a:solidFill>
                  <a:srgbClr val="64748B"/>
                </a:solidFill>
              </a:rPr>
              <a:t>The aggregate view shows whether KV H2D finished before or after replay was due.</a:t>
            </a:r>
          </a:p>
        </p:txBody>
      </p:sp>
      <p:sp>
        <p:nvSpPr>
          <p:cNvPr id="3" name="">
            <a:extLst xmlns:a="http://schemas.openxmlformats.org/drawingml/2006/main">
              <a:ext uri="{FF2B5EF4-FFF2-40B4-BE49-F238E27FC236}">
                <a16:creationId xmlns:a16="http://schemas.microsoft.com/office/drawing/2014/main" id="{2E330626-E3C5-4A3A-ABC5-D106FA0805C4}"/>
              </a:ext>
            </a:extLst>
          </p:cNvPr>
          <p:cNvSpPr>
            <a:spLocks xmlns:a="http://schemas.openxmlformats.org/drawingml/2006/main" noGrp="1"/>
          </p:cNvSpPr>
          <p:nvPr/>
        </p:nvSpPr>
        <p:spPr>
          <a:xfrm xmlns:a="http://schemas.openxmlformats.org/drawingml/2006/main">
            <a:off x="323850" y="1428750"/>
            <a:ext cx="8724900" cy="3867150"/>
          </a:xfrm>
          <a:prstGeom xmlns:a="http://schemas.openxmlformats.org/drawingml/2006/main" prst="roundRect">
            <a:avLst>
              <a:gd name="adj" fmla="val 1478"/>
            </a:avLst>
          </a:prstGeom>
          <a:solidFill xmlns:a="http://schemas.openxmlformats.org/drawingml/2006/main">
            <a:srgbClr val="FFFFFF"/>
          </a:solidFill>
          <a:ln xmlns:a="http://schemas.openxmlformats.org/drawingml/2006/main" w="9525">
            <a:solidFill>
              <a:srgbClr val="E5E7EB"/>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be63e229c60453a"/>
          <a:stretch xmlns:a="http://schemas.openxmlformats.org/drawingml/2006/main"/>
        </p:blipFill>
        <p:spPr>
          <a:xfrm xmlns:a="http://schemas.openxmlformats.org/drawingml/2006/main">
            <a:off x="400050" y="1795905"/>
            <a:ext cx="8572500" cy="313284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CC59742-449F-4E22-B140-61B04664DADF}"/>
              </a:ext>
            </a:extLst>
          </p:cNvPr>
          <p:cNvSpPr>
            <a:spLocks xmlns:a="http://schemas.openxmlformats.org/drawingml/2006/main" noGrp="1"/>
          </p:cNvSpPr>
          <p:nvPr/>
        </p:nvSpPr>
        <p:spPr>
          <a:xfrm xmlns:a="http://schemas.openxmlformats.org/drawingml/2006/main">
            <a:off x="9258300" y="1847850"/>
            <a:ext cx="2095500" cy="1104900"/>
          </a:xfrm>
          <a:prstGeom xmlns:a="http://schemas.openxmlformats.org/drawingml/2006/main" prst="roundRect">
            <a:avLst>
              <a:gd name="adj" fmla="val 5172"/>
            </a:avLst>
          </a:prstGeom>
          <a:solidFill xmlns:a="http://schemas.openxmlformats.org/drawingml/2006/main">
            <a:srgbClr val="FEF2F2"/>
          </a:solidFill>
          <a:ln xmlns:a="http://schemas.openxmlformats.org/drawingml/2006/main" w="9525">
            <a:solidFill>
              <a:srgbClr val="FECACA"/>
            </a:solidFill>
            <a:prstDash val="solid"/>
          </a:ln>
        </p:spPr>
      </p:sp>
      <p:sp>
        <p:nvSpPr>
          <p:cNvPr id="6" name="">
            <a:extLst xmlns:a="http://schemas.openxmlformats.org/drawingml/2006/main">
              <a:ext uri="{FF2B5EF4-FFF2-40B4-BE49-F238E27FC236}">
                <a16:creationId xmlns:a16="http://schemas.microsoft.com/office/drawing/2014/main" id="{13DF3E7E-B41F-41E9-BF57-716F50ED1C32}"/>
              </a:ext>
            </a:extLst>
          </p:cNvPr>
          <p:cNvSpPr>
            <a:spLocks xmlns:a="http://schemas.openxmlformats.org/drawingml/2006/main" noGrp="1"/>
          </p:cNvSpPr>
          <p:nvPr/>
        </p:nvSpPr>
        <p:spPr>
          <a:xfrm xmlns:a="http://schemas.openxmlformats.org/drawingml/2006/main">
            <a:off x="9505950" y="2076450"/>
            <a:ext cx="1600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600" b="1">
                <a:solidFill>
                  <a:srgbClr val="B91C1C"/>
                </a:solidFill>
              </a:defRPr>
            </a:pPr>
            <a:r>
              <a:rPr sz="3600" b="1">
                <a:solidFill>
                  <a:srgbClr val="B91C1C"/>
                </a:solidFill>
              </a:rPr>
              <a:t>8 / 8</a:t>
            </a:r>
          </a:p>
        </p:txBody>
      </p:sp>
      <p:sp>
        <p:nvSpPr>
          <p:cNvPr id="7" name="">
            <a:extLst xmlns:a="http://schemas.openxmlformats.org/drawingml/2006/main">
              <a:ext uri="{FF2B5EF4-FFF2-40B4-BE49-F238E27FC236}">
                <a16:creationId xmlns:a16="http://schemas.microsoft.com/office/drawing/2014/main" id="{83C52F6A-7360-457A-8440-FB39A167AA19}"/>
              </a:ext>
            </a:extLst>
          </p:cNvPr>
          <p:cNvSpPr>
            <a:spLocks xmlns:a="http://schemas.openxmlformats.org/drawingml/2006/main" noGrp="1"/>
          </p:cNvSpPr>
          <p:nvPr/>
        </p:nvSpPr>
        <p:spPr>
          <a:xfrm xmlns:a="http://schemas.openxmlformats.org/drawingml/2006/main">
            <a:off x="9505950" y="2628900"/>
            <a:ext cx="160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334155"/>
                </a:solidFill>
              </a:defRPr>
            </a:pPr>
            <a:r>
              <a:rPr sz="1275" b="0">
                <a:solidFill>
                  <a:srgbClr val="334155"/>
                </a:solidFill>
              </a:rPr>
              <a:t>H2D loads finished late</a:t>
            </a:r>
          </a:p>
        </p:txBody>
      </p:sp>
      <p:sp>
        <p:nvSpPr>
          <p:cNvPr id="8" name="">
            <a:extLst xmlns:a="http://schemas.openxmlformats.org/drawingml/2006/main">
              <a:ext uri="{FF2B5EF4-FFF2-40B4-BE49-F238E27FC236}">
                <a16:creationId xmlns:a16="http://schemas.microsoft.com/office/drawing/2014/main" id="{A344BDC2-22DD-4CF8-AAD0-491BE8AC87A9}"/>
              </a:ext>
            </a:extLst>
          </p:cNvPr>
          <p:cNvSpPr>
            <a:spLocks xmlns:a="http://schemas.openxmlformats.org/drawingml/2006/main" noGrp="1"/>
          </p:cNvSpPr>
          <p:nvPr/>
        </p:nvSpPr>
        <p:spPr>
          <a:xfrm xmlns:a="http://schemas.openxmlformats.org/drawingml/2006/main">
            <a:off x="9258300" y="35242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334155"/>
                </a:solidFill>
              </a:defRPr>
            </a:pPr>
            <a:r>
              <a:rPr sz="1575" b="0">
                <a:solidFill>
                  <a:srgbClr val="334155"/>
                </a:solidFill>
              </a:rPr>
              <a:t>All visible replay-side KV loads finished below the 0 ms deadline line.</a:t>
            </a:r>
          </a:p>
        </p:txBody>
      </p:sp>
      <p:sp>
        <p:nvSpPr>
          <p:cNvPr id="9" name="">
            <a:extLst xmlns:a="http://schemas.openxmlformats.org/drawingml/2006/main">
              <a:ext uri="{FF2B5EF4-FFF2-40B4-BE49-F238E27FC236}">
                <a16:creationId xmlns:a16="http://schemas.microsoft.com/office/drawing/2014/main" id="{570D357B-C522-4B23-8905-45AF27F1AC1A}"/>
              </a:ext>
            </a:extLst>
          </p:cNvPr>
          <p:cNvSpPr>
            <a:spLocks xmlns:a="http://schemas.openxmlformats.org/drawingml/2006/main" noGrp="1"/>
          </p:cNvSpPr>
          <p:nvPr/>
        </p:nvSpPr>
        <p:spPr>
          <a:xfrm xmlns:a="http://schemas.openxmlformats.org/drawingml/2006/main">
            <a:off x="400050" y="6153150"/>
            <a:ext cx="781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4748B"/>
                </a:solidFill>
              </a:defRPr>
            </a:pPr>
            <a:r>
              <a:rPr sz="825" b="0">
                <a:solidFill>
                  <a:srgbClr val="64748B"/>
                </a:solidFill>
              </a:rPr>
              <a:t>Source: latest_master_report.html, Global Replay H2D Readiness</a:t>
            </a:r>
          </a:p>
        </p:txBody>
      </p:sp>
      <p:sp>
        <p:nvSpPr>
          <p:cNvPr id="10" name="">
            <a:extLst xmlns:a="http://schemas.openxmlformats.org/drawingml/2006/main">
              <a:ext uri="{FF2B5EF4-FFF2-40B4-BE49-F238E27FC236}">
                <a16:creationId xmlns:a16="http://schemas.microsoft.com/office/drawing/2014/main" id="{2F7503C8-5A98-44E2-A89C-F86A3B330A3B}"/>
              </a:ext>
            </a:extLst>
          </p:cNvPr>
          <p:cNvSpPr>
            <a:spLocks xmlns:a="http://schemas.openxmlformats.org/drawingml/2006/main" noGrp="1"/>
          </p:cNvSpPr>
          <p:nvPr/>
        </p:nvSpPr>
        <p:spPr>
          <a:xfrm xmlns:a="http://schemas.openxmlformats.org/drawingml/2006/main">
            <a:off x="400050" y="6381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4748B"/>
                </a:solidFill>
              </a:defRPr>
            </a:pPr>
            <a:r>
              <a:rPr sz="975" b="0">
                <a:solidFill>
                  <a:srgbClr val="64748B"/>
                </a:solidFill>
              </a:rPr>
              <a:t>Agent-aware KV movement</a:t>
            </a:r>
          </a:p>
        </p:txBody>
      </p:sp>
      <p:sp>
        <p:nvSpPr>
          <p:cNvPr id="11" name="">
            <a:extLst xmlns:a="http://schemas.openxmlformats.org/drawingml/2006/main">
              <a:ext uri="{FF2B5EF4-FFF2-40B4-BE49-F238E27FC236}">
                <a16:creationId xmlns:a16="http://schemas.microsoft.com/office/drawing/2014/main" id="{EC3D20A8-B027-4867-811A-B3F41179943C}"/>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4748B"/>
                </a:solidFill>
              </a:defRPr>
            </a:pPr>
            <a:r>
              <a:rPr sz="975" b="0">
                <a:solidFill>
                  <a:srgbClr val="64748B"/>
                </a:solidFill>
              </a:rPr>
              <a:t>07</a:t>
            </a:r>
          </a:p>
        </p:txBody>
      </p:sp>
    </p:spTree>
    <p:extLst>
      <p:ext uri="{BB962C8B-B14F-4D97-AF65-F5344CB8AC3E}">
        <p14:creationId xmlns:p14="http://schemas.microsoft.com/office/powerpoint/2010/main" val="15899672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31F8236-5F19-4701-9E52-DA82679C3C78}"/>
              </a:ext>
            </a:extLst>
          </p:cNvPr>
          <p:cNvSpPr>
            <a:spLocks xmlns:a="http://schemas.openxmlformats.org/drawingml/2006/main" noGrp="1"/>
          </p:cNvSpPr>
          <p:nvPr/>
        </p:nvSpPr>
        <p:spPr>
          <a:xfrm xmlns:a="http://schemas.openxmlformats.org/drawingml/2006/main">
            <a:off x="400050" y="32385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defRPr>
            </a:pPr>
            <a:r>
              <a:rPr sz="2850" b="1">
                <a:solidFill>
                  <a:srgbClr val="0F172A"/>
                </a:solidFill>
              </a:rPr>
              <a:t>The delay is not just copy time</a:t>
            </a:r>
          </a:p>
        </p:txBody>
      </p:sp>
      <p:sp>
        <p:nvSpPr>
          <p:cNvPr id="2" name="">
            <a:extLst xmlns:a="http://schemas.openxmlformats.org/drawingml/2006/main">
              <a:ext uri="{FF2B5EF4-FFF2-40B4-BE49-F238E27FC236}">
                <a16:creationId xmlns:a16="http://schemas.microsoft.com/office/drawing/2014/main" id="{3139F9F3-84F4-46C4-B05C-DE22630AD849}"/>
              </a:ext>
            </a:extLst>
          </p:cNvPr>
          <p:cNvSpPr>
            <a:spLocks xmlns:a="http://schemas.openxmlformats.org/drawingml/2006/main" noGrp="1"/>
          </p:cNvSpPr>
          <p:nvPr/>
        </p:nvSpPr>
        <p:spPr>
          <a:xfrm xmlns:a="http://schemas.openxmlformats.org/drawingml/2006/main">
            <a:off x="419100" y="102870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748B"/>
                </a:solidFill>
              </a:defRPr>
            </a:pPr>
            <a:r>
              <a:rPr sz="1350" b="0">
                <a:solidFill>
                  <a:srgbClr val="64748B"/>
                </a:solidFill>
              </a:rPr>
              <a:t>The request enters normal software/runtime scheduling before visible KV H2D begins.</a:t>
            </a:r>
          </a:p>
        </p:txBody>
      </p:sp>
      <p:sp>
        <p:nvSpPr>
          <p:cNvPr id="3" name="">
            <a:extLst xmlns:a="http://schemas.openxmlformats.org/drawingml/2006/main">
              <a:ext uri="{FF2B5EF4-FFF2-40B4-BE49-F238E27FC236}">
                <a16:creationId xmlns:a16="http://schemas.microsoft.com/office/drawing/2014/main" id="{F98BBA99-C6D7-4819-A4A4-936ACFB7EC53}"/>
              </a:ext>
            </a:extLst>
          </p:cNvPr>
          <p:cNvSpPr>
            <a:spLocks xmlns:a="http://schemas.openxmlformats.org/drawingml/2006/main" noGrp="1"/>
          </p:cNvSpPr>
          <p:nvPr/>
        </p:nvSpPr>
        <p:spPr>
          <a:xfrm xmlns:a="http://schemas.openxmlformats.org/drawingml/2006/main">
            <a:off x="323850" y="1333500"/>
            <a:ext cx="10820400" cy="4343400"/>
          </a:xfrm>
          <a:prstGeom xmlns:a="http://schemas.openxmlformats.org/drawingml/2006/main" prst="roundRect">
            <a:avLst>
              <a:gd name="adj" fmla="val 1316"/>
            </a:avLst>
          </a:prstGeom>
          <a:solidFill xmlns:a="http://schemas.openxmlformats.org/drawingml/2006/main">
            <a:srgbClr val="FFFFFF"/>
          </a:solidFill>
          <a:ln xmlns:a="http://schemas.openxmlformats.org/drawingml/2006/main" w="9525">
            <a:solidFill>
              <a:srgbClr val="E5E7EB"/>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c1aed6ad210448d"/>
          <a:stretch xmlns:a="http://schemas.openxmlformats.org/drawingml/2006/main"/>
        </p:blipFill>
        <p:spPr>
          <a:xfrm xmlns:a="http://schemas.openxmlformats.org/drawingml/2006/main">
            <a:off x="1247835" y="1409700"/>
            <a:ext cx="8972430" cy="419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01342CA-81E0-4D4F-A653-267F08F4F658}"/>
              </a:ext>
            </a:extLst>
          </p:cNvPr>
          <p:cNvSpPr>
            <a:spLocks xmlns:a="http://schemas.openxmlformats.org/drawingml/2006/main" noGrp="1"/>
          </p:cNvSpPr>
          <p:nvPr/>
        </p:nvSpPr>
        <p:spPr>
          <a:xfrm xmlns:a="http://schemas.openxmlformats.org/drawingml/2006/main">
            <a:off x="685800" y="579120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334155"/>
                </a:solidFill>
              </a:defRPr>
            </a:pPr>
            <a:r>
              <a:rPr sz="1275" b="0">
                <a:solidFill>
                  <a:srgbClr val="334155"/>
                </a:solidFill>
              </a:rPr>
              <a:t>The stage markers separate submission, SGLang receive, scheduler queue/admit, and visible KV H2D movement.</a:t>
            </a:r>
          </a:p>
        </p:txBody>
      </p:sp>
      <p:sp>
        <p:nvSpPr>
          <p:cNvPr id="6" name="">
            <a:extLst xmlns:a="http://schemas.openxmlformats.org/drawingml/2006/main">
              <a:ext uri="{FF2B5EF4-FFF2-40B4-BE49-F238E27FC236}">
                <a16:creationId xmlns:a16="http://schemas.microsoft.com/office/drawing/2014/main" id="{940D003E-7BEE-4EC5-A130-939FD5C9AD61}"/>
              </a:ext>
            </a:extLst>
          </p:cNvPr>
          <p:cNvSpPr>
            <a:spLocks xmlns:a="http://schemas.openxmlformats.org/drawingml/2006/main" noGrp="1"/>
          </p:cNvSpPr>
          <p:nvPr/>
        </p:nvSpPr>
        <p:spPr>
          <a:xfrm xmlns:a="http://schemas.openxmlformats.org/drawingml/2006/main">
            <a:off x="400050" y="6153150"/>
            <a:ext cx="781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4748B"/>
                </a:solidFill>
              </a:defRPr>
            </a:pPr>
            <a:r>
              <a:rPr sz="825" b="0">
                <a:solidFill>
                  <a:srgbClr val="64748B"/>
                </a:solidFill>
              </a:rPr>
              <a:t>Source: latest_master_report.html, Replay Queue Timeline vs H2D Start</a:t>
            </a:r>
          </a:p>
        </p:txBody>
      </p:sp>
      <p:sp>
        <p:nvSpPr>
          <p:cNvPr id="7" name="">
            <a:extLst xmlns:a="http://schemas.openxmlformats.org/drawingml/2006/main">
              <a:ext uri="{FF2B5EF4-FFF2-40B4-BE49-F238E27FC236}">
                <a16:creationId xmlns:a16="http://schemas.microsoft.com/office/drawing/2014/main" id="{72B9AC0E-AE27-4207-AA20-F5F9C3559210}"/>
              </a:ext>
            </a:extLst>
          </p:cNvPr>
          <p:cNvSpPr>
            <a:spLocks xmlns:a="http://schemas.openxmlformats.org/drawingml/2006/main" noGrp="1"/>
          </p:cNvSpPr>
          <p:nvPr/>
        </p:nvSpPr>
        <p:spPr>
          <a:xfrm xmlns:a="http://schemas.openxmlformats.org/drawingml/2006/main">
            <a:off x="400050" y="6381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4748B"/>
                </a:solidFill>
              </a:defRPr>
            </a:pPr>
            <a:r>
              <a:rPr sz="975" b="0">
                <a:solidFill>
                  <a:srgbClr val="64748B"/>
                </a:solidFill>
              </a:rPr>
              <a:t>Agent-aware KV movement</a:t>
            </a:r>
          </a:p>
        </p:txBody>
      </p:sp>
      <p:sp>
        <p:nvSpPr>
          <p:cNvPr id="8" name="">
            <a:extLst xmlns:a="http://schemas.openxmlformats.org/drawingml/2006/main">
              <a:ext uri="{FF2B5EF4-FFF2-40B4-BE49-F238E27FC236}">
                <a16:creationId xmlns:a16="http://schemas.microsoft.com/office/drawing/2014/main" id="{15F71398-B653-4B92-91A1-FA5F8DCDC495}"/>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4748B"/>
                </a:solidFill>
              </a:defRPr>
            </a:pPr>
            <a:r>
              <a:rPr sz="975" b="0">
                <a:solidFill>
                  <a:srgbClr val="64748B"/>
                </a:solidFill>
              </a:rPr>
              <a:t>08</a:t>
            </a:r>
          </a:p>
        </p:txBody>
      </p:sp>
    </p:spTree>
    <p:extLst>
      <p:ext uri="{BB962C8B-B14F-4D97-AF65-F5344CB8AC3E}">
        <p14:creationId xmlns:p14="http://schemas.microsoft.com/office/powerpoint/2010/main" val="14472237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AD63010-72F3-43BC-874A-B4C35AFD7869}"/>
              </a:ext>
            </a:extLst>
          </p:cNvPr>
          <p:cNvSpPr>
            <a:spLocks xmlns:a="http://schemas.openxmlformats.org/drawingml/2006/main" noGrp="1"/>
          </p:cNvSpPr>
          <p:nvPr/>
        </p:nvSpPr>
        <p:spPr>
          <a:xfrm xmlns:a="http://schemas.openxmlformats.org/drawingml/2006/main">
            <a:off x="400050" y="32385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defRPr>
            </a:pPr>
            <a:r>
              <a:rPr sz="2850" b="1">
                <a:solidFill>
                  <a:srgbClr val="0F172A"/>
                </a:solidFill>
              </a:rPr>
              <a:t>Hardware support can make hints enforceable</a:t>
            </a:r>
          </a:p>
        </p:txBody>
      </p:sp>
      <p:sp>
        <p:nvSpPr>
          <p:cNvPr id="2" name="">
            <a:extLst xmlns:a="http://schemas.openxmlformats.org/drawingml/2006/main">
              <a:ext uri="{FF2B5EF4-FFF2-40B4-BE49-F238E27FC236}">
                <a16:creationId xmlns:a16="http://schemas.microsoft.com/office/drawing/2014/main" id="{BF388ED5-EC26-49D5-980F-3A91AAC602EA}"/>
              </a:ext>
            </a:extLst>
          </p:cNvPr>
          <p:cNvSpPr>
            <a:spLocks xmlns:a="http://schemas.openxmlformats.org/drawingml/2006/main" noGrp="1"/>
          </p:cNvSpPr>
          <p:nvPr/>
        </p:nvSpPr>
        <p:spPr>
          <a:xfrm xmlns:a="http://schemas.openxmlformats.org/drawingml/2006/main">
            <a:off x="419100" y="102870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748B"/>
                </a:solidFill>
              </a:defRPr>
            </a:pPr>
            <a:r>
              <a:rPr sz="1350" b="0">
                <a:solidFill>
                  <a:srgbClr val="64748B"/>
                </a:solidFill>
              </a:rPr>
              <a:t>The opportunity is to treat KV as deadline-sensitive memory, not generic bytes.</a:t>
            </a:r>
          </a:p>
        </p:txBody>
      </p:sp>
      <p:sp>
        <p:nvSpPr>
          <p:cNvPr id="3" name="">
            <a:extLst xmlns:a="http://schemas.openxmlformats.org/drawingml/2006/main">
              <a:ext uri="{FF2B5EF4-FFF2-40B4-BE49-F238E27FC236}">
                <a16:creationId xmlns:a16="http://schemas.microsoft.com/office/drawing/2014/main" id="{E0092D56-1D70-4C0D-9171-499148EB32D4}"/>
              </a:ext>
            </a:extLst>
          </p:cNvPr>
          <p:cNvSpPr>
            <a:spLocks xmlns:a="http://schemas.openxmlformats.org/drawingml/2006/main" noGrp="1"/>
          </p:cNvSpPr>
          <p:nvPr/>
        </p:nvSpPr>
        <p:spPr>
          <a:xfrm xmlns:a="http://schemas.openxmlformats.org/drawingml/2006/main">
            <a:off x="552450" y="1962150"/>
            <a:ext cx="1695450" cy="1695450"/>
          </a:xfrm>
          <a:prstGeom xmlns:a="http://schemas.openxmlformats.org/drawingml/2006/main" prst="roundRect">
            <a:avLst>
              <a:gd name="adj" fmla="val 3371"/>
            </a:avLst>
          </a:prstGeom>
          <a:solidFill xmlns:a="http://schemas.openxmlformats.org/drawingml/2006/main">
            <a:srgbClr val="EFF6FF"/>
          </a:solidFill>
          <a:ln xmlns:a="http://schemas.openxmlformats.org/drawingml/2006/main" w="9525">
            <a:solidFill>
              <a:srgbClr val="2563EB"/>
            </a:solidFill>
            <a:prstDash val="solid"/>
          </a:ln>
        </p:spPr>
      </p:sp>
      <p:sp>
        <p:nvSpPr>
          <p:cNvPr id="4" name="">
            <a:extLst xmlns:a="http://schemas.openxmlformats.org/drawingml/2006/main">
              <a:ext uri="{FF2B5EF4-FFF2-40B4-BE49-F238E27FC236}">
                <a16:creationId xmlns:a16="http://schemas.microsoft.com/office/drawing/2014/main" id="{FFA6716C-D257-4B7C-BE30-575D01AD6F3F}"/>
              </a:ext>
            </a:extLst>
          </p:cNvPr>
          <p:cNvSpPr>
            <a:spLocks xmlns:a="http://schemas.openxmlformats.org/drawingml/2006/main" noGrp="1"/>
          </p:cNvSpPr>
          <p:nvPr/>
        </p:nvSpPr>
        <p:spPr>
          <a:xfrm xmlns:a="http://schemas.openxmlformats.org/drawingml/2006/main">
            <a:off x="704850" y="2228850"/>
            <a:ext cx="139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0F172A"/>
                </a:solidFill>
              </a:defRPr>
            </a:pPr>
            <a:r>
              <a:rPr sz="1650" b="1">
                <a:solidFill>
                  <a:srgbClr val="0F172A"/>
                </a:solidFill>
              </a:rPr>
              <a:t>Runtime hint</a:t>
            </a:r>
          </a:p>
        </p:txBody>
      </p:sp>
      <p:sp>
        <p:nvSpPr>
          <p:cNvPr id="5" name="">
            <a:extLst xmlns:a="http://schemas.openxmlformats.org/drawingml/2006/main">
              <a:ext uri="{FF2B5EF4-FFF2-40B4-BE49-F238E27FC236}">
                <a16:creationId xmlns:a16="http://schemas.microsoft.com/office/drawing/2014/main" id="{8952EEFE-705B-4BF3-AD38-A155B63F8E00}"/>
              </a:ext>
            </a:extLst>
          </p:cNvPr>
          <p:cNvSpPr>
            <a:spLocks xmlns:a="http://schemas.openxmlformats.org/drawingml/2006/main" noGrp="1"/>
          </p:cNvSpPr>
          <p:nvPr/>
        </p:nvSpPr>
        <p:spPr>
          <a:xfrm xmlns:a="http://schemas.openxmlformats.org/drawingml/2006/main">
            <a:off x="723900" y="2838450"/>
            <a:ext cx="1352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334155"/>
                </a:solidFill>
              </a:defRPr>
            </a:pPr>
            <a:r>
              <a:rPr sz="1275" b="0">
                <a:solidFill>
                  <a:srgbClr val="334155"/>
                </a:solidFill>
              </a:rPr>
              <a:t>session, priority, deadline</a:t>
            </a:r>
          </a:p>
        </p:txBody>
      </p:sp>
      <p:sp>
        <p:nvSpPr>
          <p:cNvPr id="6" name="">
            <a:extLst xmlns:a="http://schemas.openxmlformats.org/drawingml/2006/main">
              <a:ext uri="{FF2B5EF4-FFF2-40B4-BE49-F238E27FC236}">
                <a16:creationId xmlns:a16="http://schemas.microsoft.com/office/drawing/2014/main" id="{F2C79B21-6E3E-4DA4-B3C7-AB0E0B4C940D}"/>
              </a:ext>
            </a:extLst>
          </p:cNvPr>
          <p:cNvSpPr>
            <a:spLocks xmlns:a="http://schemas.openxmlformats.org/drawingml/2006/main" noGrp="1"/>
          </p:cNvSpPr>
          <p:nvPr/>
        </p:nvSpPr>
        <p:spPr>
          <a:xfrm xmlns:a="http://schemas.openxmlformats.org/drawingml/2006/main">
            <a:off x="2305050" y="25527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64748B"/>
                </a:solidFill>
              </a:defRPr>
            </a:pPr>
            <a:r>
              <a:rPr sz="2550" b="1">
                <a:solidFill>
                  <a:srgbClr val="64748B"/>
                </a:solidFill>
              </a:rPr>
              <a:t>→</a:t>
            </a:r>
          </a:p>
        </p:txBody>
      </p:sp>
      <p:sp>
        <p:nvSpPr>
          <p:cNvPr id="7" name="">
            <a:extLst xmlns:a="http://schemas.openxmlformats.org/drawingml/2006/main">
              <a:ext uri="{FF2B5EF4-FFF2-40B4-BE49-F238E27FC236}">
                <a16:creationId xmlns:a16="http://schemas.microsoft.com/office/drawing/2014/main" id="{072CDDCC-8365-4E38-812E-A3405E3F9F82}"/>
              </a:ext>
            </a:extLst>
          </p:cNvPr>
          <p:cNvSpPr>
            <a:spLocks xmlns:a="http://schemas.openxmlformats.org/drawingml/2006/main" noGrp="1"/>
          </p:cNvSpPr>
          <p:nvPr/>
        </p:nvSpPr>
        <p:spPr>
          <a:xfrm xmlns:a="http://schemas.openxmlformats.org/drawingml/2006/main">
            <a:off x="2857500" y="1962150"/>
            <a:ext cx="1695450" cy="1695450"/>
          </a:xfrm>
          <a:prstGeom xmlns:a="http://schemas.openxmlformats.org/drawingml/2006/main" prst="roundRect">
            <a:avLst>
              <a:gd name="adj" fmla="val 3371"/>
            </a:avLst>
          </a:prstGeom>
          <a:solidFill xmlns:a="http://schemas.openxmlformats.org/drawingml/2006/main">
            <a:srgbClr val="F5F3FF"/>
          </a:solidFill>
          <a:ln xmlns:a="http://schemas.openxmlformats.org/drawingml/2006/main" w="9525">
            <a:solidFill>
              <a:srgbClr val="A855F7"/>
            </a:solidFill>
            <a:prstDash val="solid"/>
          </a:ln>
        </p:spPr>
      </p:sp>
      <p:sp>
        <p:nvSpPr>
          <p:cNvPr id="8" name="">
            <a:extLst xmlns:a="http://schemas.openxmlformats.org/drawingml/2006/main">
              <a:ext uri="{FF2B5EF4-FFF2-40B4-BE49-F238E27FC236}">
                <a16:creationId xmlns:a16="http://schemas.microsoft.com/office/drawing/2014/main" id="{521C4A3C-E8A9-48B7-8777-B7ACE410042B}"/>
              </a:ext>
            </a:extLst>
          </p:cNvPr>
          <p:cNvSpPr>
            <a:spLocks xmlns:a="http://schemas.openxmlformats.org/drawingml/2006/main" noGrp="1"/>
          </p:cNvSpPr>
          <p:nvPr/>
        </p:nvSpPr>
        <p:spPr>
          <a:xfrm xmlns:a="http://schemas.openxmlformats.org/drawingml/2006/main">
            <a:off x="3009900" y="2228850"/>
            <a:ext cx="139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0F172A"/>
                </a:solidFill>
              </a:defRPr>
            </a:pPr>
            <a:r>
              <a:rPr sz="1650" b="1">
                <a:solidFill>
                  <a:srgbClr val="0F172A"/>
                </a:solidFill>
              </a:rPr>
              <a:t>KV-aware queue</a:t>
            </a:r>
          </a:p>
        </p:txBody>
      </p:sp>
      <p:sp>
        <p:nvSpPr>
          <p:cNvPr id="9" name="">
            <a:extLst xmlns:a="http://schemas.openxmlformats.org/drawingml/2006/main">
              <a:ext uri="{FF2B5EF4-FFF2-40B4-BE49-F238E27FC236}">
                <a16:creationId xmlns:a16="http://schemas.microsoft.com/office/drawing/2014/main" id="{CEDDC49B-9888-4BA0-8EF4-9C70F4297D43}"/>
              </a:ext>
            </a:extLst>
          </p:cNvPr>
          <p:cNvSpPr>
            <a:spLocks xmlns:a="http://schemas.openxmlformats.org/drawingml/2006/main" noGrp="1"/>
          </p:cNvSpPr>
          <p:nvPr/>
        </p:nvSpPr>
        <p:spPr>
          <a:xfrm xmlns:a="http://schemas.openxmlformats.org/drawingml/2006/main">
            <a:off x="3028950" y="2838450"/>
            <a:ext cx="1352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334155"/>
                </a:solidFill>
              </a:defRPr>
            </a:pPr>
            <a:r>
              <a:rPr sz="1275" b="0">
                <a:solidFill>
                  <a:srgbClr val="334155"/>
                </a:solidFill>
              </a:rPr>
              <a:t>order urgent KV first</a:t>
            </a:r>
          </a:p>
        </p:txBody>
      </p:sp>
      <p:sp>
        <p:nvSpPr>
          <p:cNvPr id="10" name="">
            <a:extLst xmlns:a="http://schemas.openxmlformats.org/drawingml/2006/main">
              <a:ext uri="{FF2B5EF4-FFF2-40B4-BE49-F238E27FC236}">
                <a16:creationId xmlns:a16="http://schemas.microsoft.com/office/drawing/2014/main" id="{7A943085-BFFD-4E65-B50A-35BA44D2D35F}"/>
              </a:ext>
            </a:extLst>
          </p:cNvPr>
          <p:cNvSpPr>
            <a:spLocks xmlns:a="http://schemas.openxmlformats.org/drawingml/2006/main" noGrp="1"/>
          </p:cNvSpPr>
          <p:nvPr/>
        </p:nvSpPr>
        <p:spPr>
          <a:xfrm xmlns:a="http://schemas.openxmlformats.org/drawingml/2006/main">
            <a:off x="4610100" y="25527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64748B"/>
                </a:solidFill>
              </a:defRPr>
            </a:pPr>
            <a:r>
              <a:rPr sz="2550" b="1">
                <a:solidFill>
                  <a:srgbClr val="64748B"/>
                </a:solidFill>
              </a:rPr>
              <a:t>→</a:t>
            </a:r>
          </a:p>
        </p:txBody>
      </p:sp>
      <p:sp>
        <p:nvSpPr>
          <p:cNvPr id="11" name="">
            <a:extLst xmlns:a="http://schemas.openxmlformats.org/drawingml/2006/main">
              <a:ext uri="{FF2B5EF4-FFF2-40B4-BE49-F238E27FC236}">
                <a16:creationId xmlns:a16="http://schemas.microsoft.com/office/drawing/2014/main" id="{BCA44681-C801-4B02-AE19-1E6E116E3845}"/>
              </a:ext>
            </a:extLst>
          </p:cNvPr>
          <p:cNvSpPr>
            <a:spLocks xmlns:a="http://schemas.openxmlformats.org/drawingml/2006/main" noGrp="1"/>
          </p:cNvSpPr>
          <p:nvPr/>
        </p:nvSpPr>
        <p:spPr>
          <a:xfrm xmlns:a="http://schemas.openxmlformats.org/drawingml/2006/main">
            <a:off x="5162550" y="1962150"/>
            <a:ext cx="1695450" cy="1695450"/>
          </a:xfrm>
          <a:prstGeom xmlns:a="http://schemas.openxmlformats.org/drawingml/2006/main" prst="roundRect">
            <a:avLst>
              <a:gd name="adj" fmla="val 3371"/>
            </a:avLst>
          </a:prstGeom>
          <a:solidFill xmlns:a="http://schemas.openxmlformats.org/drawingml/2006/main">
            <a:srgbClr val="ECFEFF"/>
          </a:solidFill>
          <a:ln xmlns:a="http://schemas.openxmlformats.org/drawingml/2006/main" w="9525">
            <a:solidFill>
              <a:srgbClr val="06B6D4"/>
            </a:solidFill>
            <a:prstDash val="solid"/>
          </a:ln>
        </p:spPr>
      </p:sp>
      <p:sp>
        <p:nvSpPr>
          <p:cNvPr id="12" name="">
            <a:extLst xmlns:a="http://schemas.openxmlformats.org/drawingml/2006/main">
              <a:ext uri="{FF2B5EF4-FFF2-40B4-BE49-F238E27FC236}">
                <a16:creationId xmlns:a16="http://schemas.microsoft.com/office/drawing/2014/main" id="{815A6AD4-39FF-4C1F-91AF-2B0BB446CFE9}"/>
              </a:ext>
            </a:extLst>
          </p:cNvPr>
          <p:cNvSpPr>
            <a:spLocks xmlns:a="http://schemas.openxmlformats.org/drawingml/2006/main" noGrp="1"/>
          </p:cNvSpPr>
          <p:nvPr/>
        </p:nvSpPr>
        <p:spPr>
          <a:xfrm xmlns:a="http://schemas.openxmlformats.org/drawingml/2006/main">
            <a:off x="5314950" y="2228850"/>
            <a:ext cx="139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0F172A"/>
                </a:solidFill>
              </a:defRPr>
            </a:pPr>
            <a:r>
              <a:rPr sz="1650" b="1">
                <a:solidFill>
                  <a:srgbClr val="0F172A"/>
                </a:solidFill>
              </a:rPr>
              <a:t>DMA / copy engine</a:t>
            </a:r>
          </a:p>
        </p:txBody>
      </p:sp>
      <p:sp>
        <p:nvSpPr>
          <p:cNvPr id="13" name="">
            <a:extLst xmlns:a="http://schemas.openxmlformats.org/drawingml/2006/main">
              <a:ext uri="{FF2B5EF4-FFF2-40B4-BE49-F238E27FC236}">
                <a16:creationId xmlns:a16="http://schemas.microsoft.com/office/drawing/2014/main" id="{1FBAC9FC-5A16-4D00-BF0A-705157BA3A26}"/>
              </a:ext>
            </a:extLst>
          </p:cNvPr>
          <p:cNvSpPr>
            <a:spLocks xmlns:a="http://schemas.openxmlformats.org/drawingml/2006/main" noGrp="1"/>
          </p:cNvSpPr>
          <p:nvPr/>
        </p:nvSpPr>
        <p:spPr>
          <a:xfrm xmlns:a="http://schemas.openxmlformats.org/drawingml/2006/main">
            <a:off x="5334000" y="2838450"/>
            <a:ext cx="1352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334155"/>
                </a:solidFill>
              </a:defRPr>
            </a:pPr>
            <a:r>
              <a:rPr sz="1275" b="0">
                <a:solidFill>
                  <a:srgbClr val="334155"/>
                </a:solidFill>
              </a:rPr>
              <a:t>throttle and prioritize</a:t>
            </a:r>
          </a:p>
        </p:txBody>
      </p:sp>
      <p:sp>
        <p:nvSpPr>
          <p:cNvPr id="14" name="">
            <a:extLst xmlns:a="http://schemas.openxmlformats.org/drawingml/2006/main">
              <a:ext uri="{FF2B5EF4-FFF2-40B4-BE49-F238E27FC236}">
                <a16:creationId xmlns:a16="http://schemas.microsoft.com/office/drawing/2014/main" id="{2A6D27E1-ACD8-4452-9B41-B79EF6C0FC2A}"/>
              </a:ext>
            </a:extLst>
          </p:cNvPr>
          <p:cNvSpPr>
            <a:spLocks xmlns:a="http://schemas.openxmlformats.org/drawingml/2006/main" noGrp="1"/>
          </p:cNvSpPr>
          <p:nvPr/>
        </p:nvSpPr>
        <p:spPr>
          <a:xfrm xmlns:a="http://schemas.openxmlformats.org/drawingml/2006/main">
            <a:off x="6915150" y="25527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64748B"/>
                </a:solidFill>
              </a:defRPr>
            </a:pPr>
            <a:r>
              <a:rPr sz="2550" b="1">
                <a:solidFill>
                  <a:srgbClr val="64748B"/>
                </a:solidFill>
              </a:rPr>
              <a:t>→</a:t>
            </a:r>
          </a:p>
        </p:txBody>
      </p:sp>
      <p:sp>
        <p:nvSpPr>
          <p:cNvPr id="15" name="">
            <a:extLst xmlns:a="http://schemas.openxmlformats.org/drawingml/2006/main">
              <a:ext uri="{FF2B5EF4-FFF2-40B4-BE49-F238E27FC236}">
                <a16:creationId xmlns:a16="http://schemas.microsoft.com/office/drawing/2014/main" id="{AB485DD5-B630-47AD-88A4-F9549735FCEC}"/>
              </a:ext>
            </a:extLst>
          </p:cNvPr>
          <p:cNvSpPr>
            <a:spLocks xmlns:a="http://schemas.openxmlformats.org/drawingml/2006/main" noGrp="1"/>
          </p:cNvSpPr>
          <p:nvPr/>
        </p:nvSpPr>
        <p:spPr>
          <a:xfrm xmlns:a="http://schemas.openxmlformats.org/drawingml/2006/main">
            <a:off x="7467600" y="1962150"/>
            <a:ext cx="1695450" cy="1695450"/>
          </a:xfrm>
          <a:prstGeom xmlns:a="http://schemas.openxmlformats.org/drawingml/2006/main" prst="roundRect">
            <a:avLst>
              <a:gd name="adj" fmla="val 3371"/>
            </a:avLst>
          </a:prstGeom>
          <a:solidFill xmlns:a="http://schemas.openxmlformats.org/drawingml/2006/main">
            <a:srgbClr val="F0FDF4"/>
          </a:solidFill>
          <a:ln xmlns:a="http://schemas.openxmlformats.org/drawingml/2006/main" w="9525">
            <a:solidFill>
              <a:srgbClr val="16A34A"/>
            </a:solidFill>
            <a:prstDash val="solid"/>
          </a:ln>
        </p:spPr>
      </p:sp>
      <p:sp>
        <p:nvSpPr>
          <p:cNvPr id="16" name="">
            <a:extLst xmlns:a="http://schemas.openxmlformats.org/drawingml/2006/main">
              <a:ext uri="{FF2B5EF4-FFF2-40B4-BE49-F238E27FC236}">
                <a16:creationId xmlns:a16="http://schemas.microsoft.com/office/drawing/2014/main" id="{D89EA56F-C88E-4520-B75B-49894E4BC3CA}"/>
              </a:ext>
            </a:extLst>
          </p:cNvPr>
          <p:cNvSpPr>
            <a:spLocks xmlns:a="http://schemas.openxmlformats.org/drawingml/2006/main" noGrp="1"/>
          </p:cNvSpPr>
          <p:nvPr/>
        </p:nvSpPr>
        <p:spPr>
          <a:xfrm xmlns:a="http://schemas.openxmlformats.org/drawingml/2006/main">
            <a:off x="7620000" y="2228850"/>
            <a:ext cx="139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0F172A"/>
                </a:solidFill>
              </a:defRPr>
            </a:pPr>
            <a:r>
              <a:rPr sz="1650" b="1">
                <a:solidFill>
                  <a:srgbClr val="0F172A"/>
                </a:solidFill>
              </a:rPr>
              <a:t>Residency control</a:t>
            </a:r>
          </a:p>
        </p:txBody>
      </p:sp>
      <p:sp>
        <p:nvSpPr>
          <p:cNvPr id="17" name="">
            <a:extLst xmlns:a="http://schemas.openxmlformats.org/drawingml/2006/main">
              <a:ext uri="{FF2B5EF4-FFF2-40B4-BE49-F238E27FC236}">
                <a16:creationId xmlns:a16="http://schemas.microsoft.com/office/drawing/2014/main" id="{EC379D16-E777-410C-A09D-A97E765A70F4}"/>
              </a:ext>
            </a:extLst>
          </p:cNvPr>
          <p:cNvSpPr>
            <a:spLocks xmlns:a="http://schemas.openxmlformats.org/drawingml/2006/main" noGrp="1"/>
          </p:cNvSpPr>
          <p:nvPr/>
        </p:nvSpPr>
        <p:spPr>
          <a:xfrm xmlns:a="http://schemas.openxmlformats.org/drawingml/2006/main">
            <a:off x="7639050" y="2838450"/>
            <a:ext cx="1352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334155"/>
                </a:solidFill>
              </a:defRPr>
            </a:pPr>
            <a:r>
              <a:rPr sz="1275" b="0">
                <a:solidFill>
                  <a:srgbClr val="334155"/>
                </a:solidFill>
              </a:rPr>
              <a:t>protect useful KV</a:t>
            </a:r>
          </a:p>
        </p:txBody>
      </p:sp>
      <p:sp>
        <p:nvSpPr>
          <p:cNvPr id="18" name="">
            <a:extLst xmlns:a="http://schemas.openxmlformats.org/drawingml/2006/main">
              <a:ext uri="{FF2B5EF4-FFF2-40B4-BE49-F238E27FC236}">
                <a16:creationId xmlns:a16="http://schemas.microsoft.com/office/drawing/2014/main" id="{C96EF447-5860-49BF-8461-2669CDE2134E}"/>
              </a:ext>
            </a:extLst>
          </p:cNvPr>
          <p:cNvSpPr>
            <a:spLocks xmlns:a="http://schemas.openxmlformats.org/drawingml/2006/main" noGrp="1"/>
          </p:cNvSpPr>
          <p:nvPr/>
        </p:nvSpPr>
        <p:spPr>
          <a:xfrm xmlns:a="http://schemas.openxmlformats.org/drawingml/2006/main">
            <a:off x="9220200" y="25527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64748B"/>
                </a:solidFill>
              </a:defRPr>
            </a:pPr>
            <a:r>
              <a:rPr sz="2550" b="1">
                <a:solidFill>
                  <a:srgbClr val="64748B"/>
                </a:solidFill>
              </a:rPr>
              <a:t>→</a:t>
            </a:r>
          </a:p>
        </p:txBody>
      </p:sp>
      <p:sp>
        <p:nvSpPr>
          <p:cNvPr id="19" name="">
            <a:extLst xmlns:a="http://schemas.openxmlformats.org/drawingml/2006/main">
              <a:ext uri="{FF2B5EF4-FFF2-40B4-BE49-F238E27FC236}">
                <a16:creationId xmlns:a16="http://schemas.microsoft.com/office/drawing/2014/main" id="{51A0AA63-D822-4C25-BEC4-C669493AB867}"/>
              </a:ext>
            </a:extLst>
          </p:cNvPr>
          <p:cNvSpPr>
            <a:spLocks xmlns:a="http://schemas.openxmlformats.org/drawingml/2006/main" noGrp="1"/>
          </p:cNvSpPr>
          <p:nvPr/>
        </p:nvSpPr>
        <p:spPr>
          <a:xfrm xmlns:a="http://schemas.openxmlformats.org/drawingml/2006/main">
            <a:off x="9772650" y="1962150"/>
            <a:ext cx="1695450" cy="1695450"/>
          </a:xfrm>
          <a:prstGeom xmlns:a="http://schemas.openxmlformats.org/drawingml/2006/main" prst="roundRect">
            <a:avLst>
              <a:gd name="adj" fmla="val 3371"/>
            </a:avLst>
          </a:prstGeom>
          <a:solidFill xmlns:a="http://schemas.openxmlformats.org/drawingml/2006/main">
            <a:srgbClr val="FFF7ED"/>
          </a:solidFill>
          <a:ln xmlns:a="http://schemas.openxmlformats.org/drawingml/2006/main" w="9525">
            <a:solidFill>
              <a:srgbClr val="F97316"/>
            </a:solidFill>
            <a:prstDash val="solid"/>
          </a:ln>
        </p:spPr>
      </p:sp>
      <p:sp>
        <p:nvSpPr>
          <p:cNvPr id="20" name="">
            <a:extLst xmlns:a="http://schemas.openxmlformats.org/drawingml/2006/main">
              <a:ext uri="{FF2B5EF4-FFF2-40B4-BE49-F238E27FC236}">
                <a16:creationId xmlns:a16="http://schemas.microsoft.com/office/drawing/2014/main" id="{F26F4CD2-582F-4BEC-A10B-8A85D0C6F639}"/>
              </a:ext>
            </a:extLst>
          </p:cNvPr>
          <p:cNvSpPr>
            <a:spLocks xmlns:a="http://schemas.openxmlformats.org/drawingml/2006/main" noGrp="1"/>
          </p:cNvSpPr>
          <p:nvPr/>
        </p:nvSpPr>
        <p:spPr>
          <a:xfrm xmlns:a="http://schemas.openxmlformats.org/drawingml/2006/main">
            <a:off x="9925050" y="2228850"/>
            <a:ext cx="139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0F172A"/>
                </a:solidFill>
              </a:defRPr>
            </a:pPr>
            <a:r>
              <a:rPr sz="1650" b="1">
                <a:solidFill>
                  <a:srgbClr val="0F172A"/>
                </a:solidFill>
              </a:rPr>
              <a:t>Telemetry</a:t>
            </a:r>
          </a:p>
        </p:txBody>
      </p:sp>
      <p:sp>
        <p:nvSpPr>
          <p:cNvPr id="21" name="">
            <a:extLst xmlns:a="http://schemas.openxmlformats.org/drawingml/2006/main">
              <a:ext uri="{FF2B5EF4-FFF2-40B4-BE49-F238E27FC236}">
                <a16:creationId xmlns:a16="http://schemas.microsoft.com/office/drawing/2014/main" id="{63BA5230-1DD5-49A7-9603-3D058128A753}"/>
              </a:ext>
            </a:extLst>
          </p:cNvPr>
          <p:cNvSpPr>
            <a:spLocks xmlns:a="http://schemas.openxmlformats.org/drawingml/2006/main" noGrp="1"/>
          </p:cNvSpPr>
          <p:nvPr/>
        </p:nvSpPr>
        <p:spPr>
          <a:xfrm xmlns:a="http://schemas.openxmlformats.org/drawingml/2006/main">
            <a:off x="9944100" y="2838450"/>
            <a:ext cx="1352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334155"/>
                </a:solidFill>
              </a:defRPr>
            </a:pPr>
            <a:r>
              <a:rPr sz="1275" b="0">
                <a:solidFill>
                  <a:srgbClr val="334155"/>
                </a:solidFill>
              </a:rPr>
              <a:t>late / useful / wasted</a:t>
            </a:r>
          </a:p>
        </p:txBody>
      </p:sp>
      <p:sp>
        <p:nvSpPr>
          <p:cNvPr id="22" name="">
            <a:extLst xmlns:a="http://schemas.openxmlformats.org/drawingml/2006/main">
              <a:ext uri="{FF2B5EF4-FFF2-40B4-BE49-F238E27FC236}">
                <a16:creationId xmlns:a16="http://schemas.microsoft.com/office/drawing/2014/main" id="{92C74EE2-975A-4EA1-B681-BA97DC7E281E}"/>
              </a:ext>
            </a:extLst>
          </p:cNvPr>
          <p:cNvSpPr>
            <a:spLocks xmlns:a="http://schemas.openxmlformats.org/drawingml/2006/main" noGrp="1"/>
          </p:cNvSpPr>
          <p:nvPr/>
        </p:nvSpPr>
        <p:spPr>
          <a:xfrm xmlns:a="http://schemas.openxmlformats.org/drawingml/2006/main">
            <a:off x="2000250" y="4514850"/>
            <a:ext cx="8191500" cy="800100"/>
          </a:xfrm>
          <a:prstGeom xmlns:a="http://schemas.openxmlformats.org/drawingml/2006/main" prst="roundRect">
            <a:avLst>
              <a:gd name="adj" fmla="val 7143"/>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B3FA8EC8-7CB9-4549-B017-929BA7A67E65}"/>
              </a:ext>
            </a:extLst>
          </p:cNvPr>
          <p:cNvSpPr>
            <a:spLocks xmlns:a="http://schemas.openxmlformats.org/drawingml/2006/main" noGrp="1"/>
          </p:cNvSpPr>
          <p:nvPr/>
        </p:nvSpPr>
        <p:spPr>
          <a:xfrm xmlns:a="http://schemas.openxmlformats.org/drawingml/2006/main">
            <a:off x="2247900" y="4743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defRPr>
            </a:pPr>
            <a:r>
              <a:rPr sz="1650" b="1">
                <a:solidFill>
                  <a:srgbClr val="0F172A"/>
                </a:solidFill>
              </a:rPr>
              <a:t>Resulting research question</a:t>
            </a:r>
          </a:p>
        </p:txBody>
      </p:sp>
      <p:sp>
        <p:nvSpPr>
          <p:cNvPr id="24" name="">
            <a:extLst xmlns:a="http://schemas.openxmlformats.org/drawingml/2006/main">
              <a:ext uri="{FF2B5EF4-FFF2-40B4-BE49-F238E27FC236}">
                <a16:creationId xmlns:a16="http://schemas.microsoft.com/office/drawing/2014/main" id="{8913022B-5B61-4A3E-9A1A-041A7FC87F85}"/>
              </a:ext>
            </a:extLst>
          </p:cNvPr>
          <p:cNvSpPr>
            <a:spLocks xmlns:a="http://schemas.openxmlformats.org/drawingml/2006/main" noGrp="1"/>
          </p:cNvSpPr>
          <p:nvPr/>
        </p:nvSpPr>
        <p:spPr>
          <a:xfrm xmlns:a="http://schemas.openxmlformats.org/drawingml/2006/main">
            <a:off x="4953000" y="46863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334155"/>
                </a:solidFill>
              </a:defRPr>
            </a:pPr>
            <a:r>
              <a:rPr sz="1425" b="0">
                <a:solidFill>
                  <a:srgbClr val="334155"/>
                </a:solidFill>
              </a:rPr>
              <a:t>How much replay latency and wasted movement can be avoided when KV movement has session context, priority, deadline, protection, and telemetry?</a:t>
            </a:r>
          </a:p>
        </p:txBody>
      </p:sp>
      <p:sp>
        <p:nvSpPr>
          <p:cNvPr id="25" name="">
            <a:extLst xmlns:a="http://schemas.openxmlformats.org/drawingml/2006/main">
              <a:ext uri="{FF2B5EF4-FFF2-40B4-BE49-F238E27FC236}">
                <a16:creationId xmlns:a16="http://schemas.microsoft.com/office/drawing/2014/main" id="{8DF687F8-FE0C-4D96-8896-0CE270921034}"/>
              </a:ext>
            </a:extLst>
          </p:cNvPr>
          <p:cNvSpPr>
            <a:spLocks xmlns:a="http://schemas.openxmlformats.org/drawingml/2006/main" noGrp="1"/>
          </p:cNvSpPr>
          <p:nvPr/>
        </p:nvSpPr>
        <p:spPr>
          <a:xfrm xmlns:a="http://schemas.openxmlformats.org/drawingml/2006/main">
            <a:off x="400050" y="6381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4748B"/>
                </a:solidFill>
              </a:defRPr>
            </a:pPr>
            <a:r>
              <a:rPr sz="975" b="0">
                <a:solidFill>
                  <a:srgbClr val="64748B"/>
                </a:solidFill>
              </a:rPr>
              <a:t>Agent-aware KV movement</a:t>
            </a:r>
          </a:p>
        </p:txBody>
      </p:sp>
      <p:sp>
        <p:nvSpPr>
          <p:cNvPr id="26" name="">
            <a:extLst xmlns:a="http://schemas.openxmlformats.org/drawingml/2006/main">
              <a:ext uri="{FF2B5EF4-FFF2-40B4-BE49-F238E27FC236}">
                <a16:creationId xmlns:a16="http://schemas.microsoft.com/office/drawing/2014/main" id="{11FC1CEA-31E3-4096-96DD-7104301FBC81}"/>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4748B"/>
                </a:solidFill>
              </a:defRPr>
            </a:pPr>
            <a:r>
              <a:rPr sz="975" b="0">
                <a:solidFill>
                  <a:srgbClr val="64748B"/>
                </a:solidFill>
              </a:rPr>
              <a:t>09</a:t>
            </a:r>
          </a:p>
        </p:txBody>
      </p:sp>
    </p:spTree>
    <p:extLst>
      <p:ext uri="{BB962C8B-B14F-4D97-AF65-F5344CB8AC3E}">
        <p14:creationId xmlns:p14="http://schemas.microsoft.com/office/powerpoint/2010/main" val="143808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2026-08-19T16:37:26.9260000Z</dcterms:created>
  <dcterms:modified xsi:type="dcterms:W3CDTF">2026-08-19T16:37:26.9270000Z</dcterms:modified>
</coreProperties>
</file>