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7531e336ad3428b" /><Relationship Type="http://schemas.openxmlformats.org/officeDocument/2006/relationships/extended-properties" Target="/docProps/app.xml" Id="Rd3f5f4a025734e23" /><Relationship Type="http://schemas.openxmlformats.org/officeDocument/2006/relationships/officeDocument" Target="/ppt/presentation.xml" Id="Rc66f4b03480643d1" /></Relationships>
</file>

<file path=ppt/presentation.xml><?xml version="1.0" encoding="utf-8"?>
<p:presentation xmlns:p="http://schemas.openxmlformats.org/presentationml/2006/main">
  <p:sldMasterIdLst>
    <p:sldMasterId xmlns:r="http://schemas.openxmlformats.org/officeDocument/2006/relationships" id="2147483648" r:id="R192ec0c512534232"/>
  </p:sldMasterIdLst>
  <p:notesMasterIdLst>
    <p:notesMasterId xmlns:r="http://schemas.openxmlformats.org/officeDocument/2006/relationships" r:id="R53a9988d234a45d6"/>
  </p:notesMasterIdLst>
  <p:sldIdLst>
    <p:sldId xmlns:r="http://schemas.openxmlformats.org/officeDocument/2006/relationships" id="256" r:id="Re34d58e080024f18"/>
    <p:sldId xmlns:r="http://schemas.openxmlformats.org/officeDocument/2006/relationships" id="257" r:id="Rb6cb70b5173140e1"/>
    <p:sldId xmlns:r="http://schemas.openxmlformats.org/officeDocument/2006/relationships" id="258" r:id="R082ef5d2f2c54649"/>
    <p:sldId xmlns:r="http://schemas.openxmlformats.org/officeDocument/2006/relationships" id="259" r:id="R7b9b19be8672452f"/>
    <p:sldId xmlns:r="http://schemas.openxmlformats.org/officeDocument/2006/relationships" id="260" r:id="R847a68fd188f45c0"/>
    <p:sldId xmlns:r="http://schemas.openxmlformats.org/officeDocument/2006/relationships" id="261" r:id="Rc609a81787d342cf"/>
    <p:sldId xmlns:r="http://schemas.openxmlformats.org/officeDocument/2006/relationships" id="262" r:id="R8a1021d62f06433b"/>
    <p:sldId xmlns:r="http://schemas.openxmlformats.org/officeDocument/2006/relationships" id="263" r:id="R9976faeb41d040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94f0f233b740f3" /><Relationship Type="http://schemas.openxmlformats.org/officeDocument/2006/relationships/slideMaster" Target="/ppt/slideMasters/slideMaster1.xml" Id="R192ec0c512534232" /><Relationship Type="http://schemas.openxmlformats.org/officeDocument/2006/relationships/notesMaster" Target="/ppt/notesMasters/notesMaster1.xml" Id="R53a9988d234a45d6" /><Relationship Type="http://schemas.openxmlformats.org/officeDocument/2006/relationships/presProps" Target="/ppt/presProps.xml" Id="R58a8c4113a4045d2" /><Relationship Type="http://schemas.openxmlformats.org/officeDocument/2006/relationships/tableStyles" Target="/ppt/tableStyles.xml" Id="Rc48a6c49a8904a1e" /><Relationship Type="http://schemas.openxmlformats.org/officeDocument/2006/relationships/slide" Target="/ppt/slides/slide1.xml" Id="Re34d58e080024f18" /><Relationship Type="http://schemas.openxmlformats.org/officeDocument/2006/relationships/slide" Target="/ppt/slides/slide2.xml" Id="Rb6cb70b5173140e1" /><Relationship Type="http://schemas.openxmlformats.org/officeDocument/2006/relationships/slide" Target="/ppt/slides/slide3.xml" Id="R082ef5d2f2c54649" /><Relationship Type="http://schemas.openxmlformats.org/officeDocument/2006/relationships/slide" Target="/ppt/slides/slide4.xml" Id="R7b9b19be8672452f" /><Relationship Type="http://schemas.openxmlformats.org/officeDocument/2006/relationships/slide" Target="/ppt/slides/slide5.xml" Id="R847a68fd188f45c0" /><Relationship Type="http://schemas.openxmlformats.org/officeDocument/2006/relationships/slide" Target="/ppt/slides/slide6.xml" Id="Rc609a81787d342cf" /><Relationship Type="http://schemas.openxmlformats.org/officeDocument/2006/relationships/slide" Target="/ppt/slides/slide7.xml" Id="R8a1021d62f06433b" /><Relationship Type="http://schemas.openxmlformats.org/officeDocument/2006/relationships/slide" Target="/ppt/slides/slide8.xml" Id="R9976faeb41d040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f7fc76bddf640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135e6a6d6e443a" /><Relationship Type="http://schemas.openxmlformats.org/officeDocument/2006/relationships/notesMaster" Target="/ppt/notesMasters/notesMaster1.xml" Id="R003cc1d73a1147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7c8d13c60d4bdb" /><Relationship Type="http://schemas.openxmlformats.org/officeDocument/2006/relationships/notesMaster" Target="/ppt/notesMasters/notesMaster1.xml" Id="Rc9c31d3584d041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6cb8187ae743ca" /><Relationship Type="http://schemas.openxmlformats.org/officeDocument/2006/relationships/notesMaster" Target="/ppt/notesMasters/notesMaster1.xml" Id="Rb793d6f1ab8247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0d840ff4064507" /><Relationship Type="http://schemas.openxmlformats.org/officeDocument/2006/relationships/notesMaster" Target="/ppt/notesMasters/notesMaster1.xml" Id="Rac2a91ce680d4d7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1bcca02d474959" /><Relationship Type="http://schemas.openxmlformats.org/officeDocument/2006/relationships/notesMaster" Target="/ppt/notesMasters/notesMaster1.xml" Id="Rbefbf8bbebd84b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5606524a634301" /><Relationship Type="http://schemas.openxmlformats.org/officeDocument/2006/relationships/notesMaster" Target="/ppt/notesMasters/notesMaster1.xml" Id="R66338f7ffc8743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b04b3aae6849c8" /><Relationship Type="http://schemas.openxmlformats.org/officeDocument/2006/relationships/notesMaster" Target="/ppt/notesMasters/notesMaster1.xml" Id="R51c4742cb9ad4d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e3491d5f9d14b7e" /><Relationship Type="http://schemas.openxmlformats.org/officeDocument/2006/relationships/notesMaster" Target="/ppt/notesMasters/notesMaster1.xml" Id="Rd9f44496a00541e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Position this as a hardware/runtime co-design question, not just an SGLang software optimization.</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two traffic feeds. Synthetic runs let us control pressure and timing; real DeepAgents/SWE-bench traces preserve realistic coding-agent prompts and tool gaps.</a:t>
            </a:r>
          </a:p>
          <a:p xmlns:a="http://schemas.openxmlformats.org/drawingml/2006/main">
            <a:r>
              <a:t>The setup flow image comes from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frames the hardware opportunity: hints must become enforceable by the memory movement path.</a:t>
            </a:r>
          </a:p>
          <a:p xmlns:a="http://schemas.openxmlformats.org/drawingml/2006/main">
            <a:r>
              <a:t>Hardware examples include SDMA, CPU-side DMA, NIC DMA, SSD DMA, and copy/migration engines.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narrative chart. It shows the initial model turn, tool wait, replay path, replay-side H2D, recompute, prefill, and decode.</a:t>
            </a:r>
          </a:p>
          <a:p xmlns:a="http://schemas.openxmlformats.org/drawingml/2006/main">
            <a:r>
              <a:t>The image is a cropped view of the Readable Phase Timeline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global prefetch-attempt evidence. The backup report shows 114 matched prefetch attempts, 112 late, and 98.25% late.</a:t>
            </a:r>
          </a:p>
          <a:p xmlns:a="http://schemas.openxmlformats.org/drawingml/2006/main">
            <a:r>
              <a:t>Use it to show that software prefetch through the normal serving path often misses tight replay windows.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aggregate evidence slide. The current controlled no-prefetch run reports 8 no-prefetch replay H2D gaps and 8 late H2D finishes.</a:t>
            </a:r>
          </a:p>
          <a:p xmlns:a="http://schemas.openxmlformats.org/drawingml/2006/main">
            <a:r>
              <a:t>Measured claim source: Global Replay H2D Readiness table and dot plot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replay due, client submit, SGLang receive, scheduler queue/admit, H2D start, and H2D finish.</a:t>
            </a:r>
          </a:p>
          <a:p xmlns:a="http://schemas.openxmlformats.org/drawingml/2006/main">
            <a:r>
              <a:t>The key manager takeaway: a hint-aware design should influence scheduling and priority, not merely request more copies.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This translates observed software/runtime behavior into concrete hardware support candidates.</a:t>
            </a:r>
          </a:p>
          <a:p xmlns:a="http://schemas.openxmlformats.org/drawingml/2006/main">
            <a:r>
              <a:t>Hardware ideas come from the project proposal: KV metadata, deadline-aware queues,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829cb62e9841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00ecb6e13a4e83" /><Relationship Type="http://schemas.openxmlformats.org/officeDocument/2006/relationships/slideLayout" Target="/ppt/slideLayouts/slideLayout1.xml" Id="R7ea18fb3123640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ea18fb3123640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06bc45dc82453d" /><Relationship Type="http://schemas.openxmlformats.org/officeDocument/2006/relationships/notesSlide" Target="/ppt/notesSlides/notesSlide1.xml" Id="R96d4c66f1b89427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88227ca195b44c8" /><Relationship Type="http://schemas.openxmlformats.org/officeDocument/2006/relationships/image" Target="/ppt/media/image.png" Id="Rc652ccb7afff48c1" /><Relationship Type="http://schemas.openxmlformats.org/officeDocument/2006/relationships/notesSlide" Target="/ppt/notesSlides/notesSlide2.xml" Id="Ra677cde883954a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3d84cba0f4e42ef" /><Relationship Type="http://schemas.openxmlformats.org/officeDocument/2006/relationships/notesSlide" Target="/ppt/notesSlides/notesSlide3.xml" Id="Rf0be48797bd845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e94ca2ed794221" /><Relationship Type="http://schemas.openxmlformats.org/officeDocument/2006/relationships/image" Target="/ppt/media/image2.png" Id="R7e766f32f879457e" /><Relationship Type="http://schemas.openxmlformats.org/officeDocument/2006/relationships/notesSlide" Target="/ppt/notesSlides/notesSlide4.xml" Id="R335591d3b90a4d4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aa9943672647bc" /><Relationship Type="http://schemas.openxmlformats.org/officeDocument/2006/relationships/image" Target="/ppt/media/image3.png" Id="R2b32a3f26fd14672" /><Relationship Type="http://schemas.openxmlformats.org/officeDocument/2006/relationships/notesSlide" Target="/ppt/notesSlides/notesSlide5.xml" Id="R9f366d18353b45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363896a5da64a32" /><Relationship Type="http://schemas.openxmlformats.org/officeDocument/2006/relationships/image" Target="/ppt/media/image4.png" Id="R0f2ba06b4cb54345" /><Relationship Type="http://schemas.openxmlformats.org/officeDocument/2006/relationships/notesSlide" Target="/ppt/notesSlides/notesSlide6.xml" Id="R8b63da97fc9041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93a5a18bc474777" /><Relationship Type="http://schemas.openxmlformats.org/officeDocument/2006/relationships/image" Target="/ppt/media/image5.png" Id="Ref412272abe94d6b" /><Relationship Type="http://schemas.openxmlformats.org/officeDocument/2006/relationships/notesSlide" Target="/ppt/notesSlides/notesSlide7.xml" Id="R0f1c2ec8243a41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67243e0c754331" /><Relationship Type="http://schemas.openxmlformats.org/officeDocument/2006/relationships/notesSlide" Target="/ppt/notesSlides/notesSlide8.xml" Id="Rb7b1c8d0bd3c43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A751AA-DA07-48DE-8EC8-BFDC164BC590}"/>
              </a:ext>
            </a:extLst>
          </p:cNvPr>
          <p:cNvSpPr>
            <a:spLocks xmlns:a="http://schemas.openxmlformats.org/drawingml/2006/main" noGrp="1"/>
          </p:cNvSpPr>
          <p:nvPr/>
        </p:nvSpPr>
        <p:spPr>
          <a:xfrm xmlns:a="http://schemas.openxmlformats.org/drawingml/2006/main">
            <a:off x="400050" y="514350"/>
            <a:ext cx="8382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350" b="1">
                <a:solidFill>
                  <a:srgbClr val="0F172A"/>
                </a:solidFill>
              </a:defRPr>
            </a:pPr>
            <a:r>
              <a:rPr sz="435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0AF7E61D-5A88-4467-A5F9-BD9A46BF6CCC}"/>
              </a:ext>
            </a:extLst>
          </p:cNvPr>
          <p:cNvSpPr>
            <a:spLocks xmlns:a="http://schemas.openxmlformats.org/drawingml/2006/main" noGrp="1"/>
          </p:cNvSpPr>
          <p:nvPr/>
        </p:nvSpPr>
        <p:spPr>
          <a:xfrm xmlns:a="http://schemas.openxmlformats.org/drawingml/2006/main">
            <a:off x="438150" y="1714500"/>
            <a:ext cx="10287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489BCDC5-8D32-4F24-8012-C090C9A6F95A}"/>
              </a:ext>
            </a:extLst>
          </p:cNvPr>
          <p:cNvSpPr>
            <a:spLocks xmlns:a="http://schemas.openxmlformats.org/drawingml/2006/main" noGrp="1"/>
          </p:cNvSpPr>
          <p:nvPr/>
        </p:nvSpPr>
        <p:spPr>
          <a:xfrm xmlns:a="http://schemas.openxmlformats.org/drawingml/2006/main">
            <a:off x="495300" y="3829050"/>
            <a:ext cx="1619250" cy="781050"/>
          </a:xfrm>
          <a:prstGeom xmlns:a="http://schemas.openxmlformats.org/drawingml/2006/main" prst="roundRect">
            <a:avLst>
              <a:gd name="adj" fmla="val 7317"/>
            </a:avLst>
          </a:prstGeom>
          <a:solidFill xmlns:a="http://schemas.openxmlformats.org/drawingml/2006/main">
            <a:srgbClr val="DBEAFE"/>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397A9E5F-7E4F-4B2D-AEED-A576C8F70253}"/>
              </a:ext>
            </a:extLst>
          </p:cNvPr>
          <p:cNvSpPr>
            <a:spLocks xmlns:a="http://schemas.openxmlformats.org/drawingml/2006/main" noGrp="1"/>
          </p:cNvSpPr>
          <p:nvPr/>
        </p:nvSpPr>
        <p:spPr>
          <a:xfrm xmlns:a="http://schemas.openxmlformats.org/drawingml/2006/main">
            <a:off x="62865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model turn</a:t>
            </a:r>
          </a:p>
        </p:txBody>
      </p:sp>
      <p:sp>
        <p:nvSpPr>
          <p:cNvPr id="5" name="">
            <a:extLst xmlns:a="http://schemas.openxmlformats.org/drawingml/2006/main">
              <a:ext uri="{FF2B5EF4-FFF2-40B4-BE49-F238E27FC236}">
                <a16:creationId xmlns:a16="http://schemas.microsoft.com/office/drawing/2014/main" id="{2CBA0617-FF1F-4852-8AB9-E69708A179D1}"/>
              </a:ext>
            </a:extLst>
          </p:cNvPr>
          <p:cNvSpPr>
            <a:spLocks xmlns:a="http://schemas.openxmlformats.org/drawingml/2006/main" noGrp="1"/>
          </p:cNvSpPr>
          <p:nvPr/>
        </p:nvSpPr>
        <p:spPr>
          <a:xfrm xmlns:a="http://schemas.openxmlformats.org/drawingml/2006/main">
            <a:off x="222885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6" name="">
            <a:extLst xmlns:a="http://schemas.openxmlformats.org/drawingml/2006/main">
              <a:ext uri="{FF2B5EF4-FFF2-40B4-BE49-F238E27FC236}">
                <a16:creationId xmlns:a16="http://schemas.microsoft.com/office/drawing/2014/main" id="{4DED71BA-614D-4160-88F5-7CFE73003F2C}"/>
              </a:ext>
            </a:extLst>
          </p:cNvPr>
          <p:cNvSpPr>
            <a:spLocks xmlns:a="http://schemas.openxmlformats.org/drawingml/2006/main" noGrp="1"/>
          </p:cNvSpPr>
          <p:nvPr/>
        </p:nvSpPr>
        <p:spPr>
          <a:xfrm xmlns:a="http://schemas.openxmlformats.org/drawingml/2006/main">
            <a:off x="2714625" y="3829050"/>
            <a:ext cx="1619250" cy="781050"/>
          </a:xfrm>
          <a:prstGeom xmlns:a="http://schemas.openxmlformats.org/drawingml/2006/main" prst="roundRect">
            <a:avLst>
              <a:gd name="adj" fmla="val 7317"/>
            </a:avLst>
          </a:prstGeom>
          <a:solidFill xmlns:a="http://schemas.openxmlformats.org/drawingml/2006/main">
            <a:srgbClr val="F1F5F9"/>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B5A77795-127A-4B6D-ABF0-0C3705669DF6}"/>
              </a:ext>
            </a:extLst>
          </p:cNvPr>
          <p:cNvSpPr>
            <a:spLocks xmlns:a="http://schemas.openxmlformats.org/drawingml/2006/main" noGrp="1"/>
          </p:cNvSpPr>
          <p:nvPr/>
        </p:nvSpPr>
        <p:spPr>
          <a:xfrm xmlns:a="http://schemas.openxmlformats.org/drawingml/2006/main">
            <a:off x="284797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tool wait</a:t>
            </a:r>
          </a:p>
        </p:txBody>
      </p:sp>
      <p:sp>
        <p:nvSpPr>
          <p:cNvPr id="8" name="">
            <a:extLst xmlns:a="http://schemas.openxmlformats.org/drawingml/2006/main">
              <a:ext uri="{FF2B5EF4-FFF2-40B4-BE49-F238E27FC236}">
                <a16:creationId xmlns:a16="http://schemas.microsoft.com/office/drawing/2014/main" id="{BC15575F-1D32-4544-A13A-2F29689DBCDA}"/>
              </a:ext>
            </a:extLst>
          </p:cNvPr>
          <p:cNvSpPr>
            <a:spLocks xmlns:a="http://schemas.openxmlformats.org/drawingml/2006/main" noGrp="1"/>
          </p:cNvSpPr>
          <p:nvPr/>
        </p:nvSpPr>
        <p:spPr>
          <a:xfrm xmlns:a="http://schemas.openxmlformats.org/drawingml/2006/main">
            <a:off x="4448175"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9" name="">
            <a:extLst xmlns:a="http://schemas.openxmlformats.org/drawingml/2006/main">
              <a:ext uri="{FF2B5EF4-FFF2-40B4-BE49-F238E27FC236}">
                <a16:creationId xmlns:a16="http://schemas.microsoft.com/office/drawing/2014/main" id="{C2C81932-2E11-4600-88F8-567227A2CE43}"/>
              </a:ext>
            </a:extLst>
          </p:cNvPr>
          <p:cNvSpPr>
            <a:spLocks xmlns:a="http://schemas.openxmlformats.org/drawingml/2006/main" noGrp="1"/>
          </p:cNvSpPr>
          <p:nvPr/>
        </p:nvSpPr>
        <p:spPr>
          <a:xfrm xmlns:a="http://schemas.openxmlformats.org/drawingml/2006/main">
            <a:off x="4933950" y="3829050"/>
            <a:ext cx="1619250" cy="781050"/>
          </a:xfrm>
          <a:prstGeom xmlns:a="http://schemas.openxmlformats.org/drawingml/2006/main" prst="roundRect">
            <a:avLst>
              <a:gd name="adj" fmla="val 7317"/>
            </a:avLst>
          </a:prstGeom>
          <a:solidFill xmlns:a="http://schemas.openxmlformats.org/drawingml/2006/main">
            <a:srgbClr val="FEE2E2"/>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D71F2028-771E-47D1-A353-D13A3F5A790A}"/>
              </a:ext>
            </a:extLst>
          </p:cNvPr>
          <p:cNvSpPr>
            <a:spLocks xmlns:a="http://schemas.openxmlformats.org/drawingml/2006/main" noGrp="1"/>
          </p:cNvSpPr>
          <p:nvPr/>
        </p:nvSpPr>
        <p:spPr>
          <a:xfrm xmlns:a="http://schemas.openxmlformats.org/drawingml/2006/main">
            <a:off x="506730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replay request</a:t>
            </a:r>
          </a:p>
        </p:txBody>
      </p:sp>
      <p:sp>
        <p:nvSpPr>
          <p:cNvPr id="11" name="">
            <a:extLst xmlns:a="http://schemas.openxmlformats.org/drawingml/2006/main">
              <a:ext uri="{FF2B5EF4-FFF2-40B4-BE49-F238E27FC236}">
                <a16:creationId xmlns:a16="http://schemas.microsoft.com/office/drawing/2014/main" id="{912F86DB-BDE7-4917-B774-60BD3883D174}"/>
              </a:ext>
            </a:extLst>
          </p:cNvPr>
          <p:cNvSpPr>
            <a:spLocks xmlns:a="http://schemas.openxmlformats.org/drawingml/2006/main" noGrp="1"/>
          </p:cNvSpPr>
          <p:nvPr/>
        </p:nvSpPr>
        <p:spPr>
          <a:xfrm xmlns:a="http://schemas.openxmlformats.org/drawingml/2006/main">
            <a:off x="666750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12" name="">
            <a:extLst xmlns:a="http://schemas.openxmlformats.org/drawingml/2006/main">
              <a:ext uri="{FF2B5EF4-FFF2-40B4-BE49-F238E27FC236}">
                <a16:creationId xmlns:a16="http://schemas.microsoft.com/office/drawing/2014/main" id="{5D68CDBA-9A29-40DE-8885-0AFC21686D79}"/>
              </a:ext>
            </a:extLst>
          </p:cNvPr>
          <p:cNvSpPr>
            <a:spLocks xmlns:a="http://schemas.openxmlformats.org/drawingml/2006/main" noGrp="1"/>
          </p:cNvSpPr>
          <p:nvPr/>
        </p:nvSpPr>
        <p:spPr>
          <a:xfrm xmlns:a="http://schemas.openxmlformats.org/drawingml/2006/main">
            <a:off x="7153275" y="3829050"/>
            <a:ext cx="1619250" cy="781050"/>
          </a:xfrm>
          <a:prstGeom xmlns:a="http://schemas.openxmlformats.org/drawingml/2006/main" prst="roundRect">
            <a:avLst>
              <a:gd name="adj" fmla="val 7317"/>
            </a:avLst>
          </a:prstGeom>
          <a:solidFill xmlns:a="http://schemas.openxmlformats.org/drawingml/2006/main">
            <a:srgbClr val="DCFCE7"/>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A38CD4DA-A930-489C-9310-14F05BA6BA5E}"/>
              </a:ext>
            </a:extLst>
          </p:cNvPr>
          <p:cNvSpPr>
            <a:spLocks xmlns:a="http://schemas.openxmlformats.org/drawingml/2006/main" noGrp="1"/>
          </p:cNvSpPr>
          <p:nvPr/>
        </p:nvSpPr>
        <p:spPr>
          <a:xfrm xmlns:a="http://schemas.openxmlformats.org/drawingml/2006/main">
            <a:off x="728662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KV ready?</a:t>
            </a:r>
          </a:p>
        </p:txBody>
      </p:sp>
      <p:sp>
        <p:nvSpPr>
          <p:cNvPr id="14" name="">
            <a:extLst xmlns:a="http://schemas.openxmlformats.org/drawingml/2006/main">
              <a:ext uri="{FF2B5EF4-FFF2-40B4-BE49-F238E27FC236}">
                <a16:creationId xmlns:a16="http://schemas.microsoft.com/office/drawing/2014/main" id="{80F15CE9-1606-4C61-A104-B79AFF4814FA}"/>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FE975BE0-7819-490A-A228-0064DC6F914F}"/>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15491671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16AA59A-BD22-4C13-B0C5-FAB2879E3C46}"/>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testbed uses both controlled and real agent traffic</a:t>
            </a:r>
          </a:p>
        </p:txBody>
      </p:sp>
      <p:sp>
        <p:nvSpPr>
          <p:cNvPr id="2" name="">
            <a:extLst xmlns:a="http://schemas.openxmlformats.org/drawingml/2006/main">
              <a:ext uri="{FF2B5EF4-FFF2-40B4-BE49-F238E27FC236}">
                <a16:creationId xmlns:a16="http://schemas.microsoft.com/office/drawing/2014/main" id="{4B9124A5-F0DF-4F8B-A6F7-5C00736C990F}"/>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Synthetic request generators give clean knobs; SWE-bench/DeepAgents traces give realistic coding-agent behavior.</a:t>
            </a:r>
          </a:p>
        </p:txBody>
      </p:sp>
      <p:sp>
        <p:nvSpPr>
          <p:cNvPr id="3" name="">
            <a:extLst xmlns:a="http://schemas.openxmlformats.org/drawingml/2006/main">
              <a:ext uri="{FF2B5EF4-FFF2-40B4-BE49-F238E27FC236}">
                <a16:creationId xmlns:a16="http://schemas.microsoft.com/office/drawing/2014/main" id="{23DA23A4-2D27-48C3-B1E5-D14DD439DBE8}"/>
              </a:ext>
            </a:extLst>
          </p:cNvPr>
          <p:cNvSpPr>
            <a:spLocks xmlns:a="http://schemas.openxmlformats.org/drawingml/2006/main" noGrp="1"/>
          </p:cNvSpPr>
          <p:nvPr/>
        </p:nvSpPr>
        <p:spPr>
          <a:xfrm xmlns:a="http://schemas.openxmlformats.org/drawingml/2006/main">
            <a:off x="419100" y="1428750"/>
            <a:ext cx="11353800" cy="1790700"/>
          </a:xfrm>
          <a:prstGeom xmlns:a="http://schemas.openxmlformats.org/drawingml/2006/main" prst="roundRect">
            <a:avLst>
              <a:gd name="adj" fmla="val 3191"/>
            </a:avLst>
          </a:prstGeom>
          <a:solidFill xmlns:a="http://schemas.openxmlformats.org/drawingml/2006/main">
            <a:srgbClr val="FFFFFF"/>
          </a:solidFill>
          <a:ln xmlns:a="http://schemas.openxmlformats.org/drawingml/2006/main" w="9525">
            <a:solidFill>
              <a:srgbClr val="E5E7EB"/>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652ccb7afff48c1"/>
          <a:stretch xmlns:a="http://schemas.openxmlformats.org/drawingml/2006/main"/>
        </p:blipFill>
        <p:spPr>
          <a:xfrm xmlns:a="http://schemas.openxmlformats.org/drawingml/2006/main">
            <a:off x="496830" y="1504950"/>
            <a:ext cx="11198340" cy="1638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99AB612-0BB8-4FFC-A7E6-0A1437B9CD6B}"/>
              </a:ext>
            </a:extLst>
          </p:cNvPr>
          <p:cNvSpPr>
            <a:spLocks xmlns:a="http://schemas.openxmlformats.org/drawingml/2006/main" noGrp="1"/>
          </p:cNvSpPr>
          <p:nvPr/>
        </p:nvSpPr>
        <p:spPr>
          <a:xfrm xmlns:a="http://schemas.openxmlformats.org/drawingml/2006/main">
            <a:off x="819150" y="3733800"/>
            <a:ext cx="4552950" cy="1428750"/>
          </a:xfrm>
          <a:prstGeom xmlns:a="http://schemas.openxmlformats.org/drawingml/2006/main" prst="roundRect">
            <a:avLst>
              <a:gd name="adj" fmla="val 4000"/>
            </a:avLst>
          </a:prstGeom>
          <a:solidFill xmlns:a="http://schemas.openxmlformats.org/drawingml/2006/main">
            <a:srgbClr val="F8FAFC"/>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73569E6B-4898-4726-9DC8-63A85BA77CE6}"/>
              </a:ext>
            </a:extLst>
          </p:cNvPr>
          <p:cNvSpPr>
            <a:spLocks xmlns:a="http://schemas.openxmlformats.org/drawingml/2006/main" noGrp="1"/>
          </p:cNvSpPr>
          <p:nvPr/>
        </p:nvSpPr>
        <p:spPr>
          <a:xfrm xmlns:a="http://schemas.openxmlformats.org/drawingml/2006/main">
            <a:off x="110490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Controlled synthetic path</a:t>
            </a:r>
          </a:p>
        </p:txBody>
      </p:sp>
      <p:sp>
        <p:nvSpPr>
          <p:cNvPr id="7" name="">
            <a:extLst xmlns:a="http://schemas.openxmlformats.org/drawingml/2006/main">
              <a:ext uri="{FF2B5EF4-FFF2-40B4-BE49-F238E27FC236}">
                <a16:creationId xmlns:a16="http://schemas.microsoft.com/office/drawing/2014/main" id="{8AEF6E1E-6D4F-46A0-8C33-15A81B8F2806}"/>
              </a:ext>
            </a:extLst>
          </p:cNvPr>
          <p:cNvSpPr>
            <a:spLocks xmlns:a="http://schemas.openxmlformats.org/drawingml/2006/main" noGrp="1"/>
          </p:cNvSpPr>
          <p:nvPr/>
        </p:nvSpPr>
        <p:spPr>
          <a:xfrm xmlns:a="http://schemas.openxmlformats.org/drawingml/2006/main">
            <a:off x="110490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Synthetic request generator creates known prompt sizes, tool-wait windows, filler pressure, and replay deadlines.</a:t>
            </a:r>
          </a:p>
        </p:txBody>
      </p:sp>
      <p:sp>
        <p:nvSpPr>
          <p:cNvPr id="8" name="">
            <a:extLst xmlns:a="http://schemas.openxmlformats.org/drawingml/2006/main">
              <a:ext uri="{FF2B5EF4-FFF2-40B4-BE49-F238E27FC236}">
                <a16:creationId xmlns:a16="http://schemas.microsoft.com/office/drawing/2014/main" id="{95E25240-55B1-4486-8F1A-F8C93598E1E3}"/>
              </a:ext>
            </a:extLst>
          </p:cNvPr>
          <p:cNvSpPr>
            <a:spLocks xmlns:a="http://schemas.openxmlformats.org/drawingml/2006/main" noGrp="1"/>
          </p:cNvSpPr>
          <p:nvPr/>
        </p:nvSpPr>
        <p:spPr>
          <a:xfrm xmlns:a="http://schemas.openxmlformats.org/drawingml/2006/main">
            <a:off x="6096000" y="3733800"/>
            <a:ext cx="4552950" cy="1428750"/>
          </a:xfrm>
          <a:prstGeom xmlns:a="http://schemas.openxmlformats.org/drawingml/2006/main" prst="roundRect">
            <a:avLst>
              <a:gd name="adj" fmla="val 4000"/>
            </a:avLst>
          </a:prstGeom>
          <a:solidFill xmlns:a="http://schemas.openxmlformats.org/drawingml/2006/main">
            <a:srgbClr val="EFF6FF"/>
          </a:solidFill>
          <a:ln xmlns:a="http://schemas.openxmlformats.org/drawingml/2006/main" w="9525">
            <a:solidFill>
              <a:srgbClr val="BFDBFE"/>
            </a:solidFill>
            <a:prstDash val="solid"/>
          </a:ln>
        </p:spPr>
      </p:sp>
      <p:sp>
        <p:nvSpPr>
          <p:cNvPr id="9" name="">
            <a:extLst xmlns:a="http://schemas.openxmlformats.org/drawingml/2006/main">
              <a:ext uri="{FF2B5EF4-FFF2-40B4-BE49-F238E27FC236}">
                <a16:creationId xmlns:a16="http://schemas.microsoft.com/office/drawing/2014/main" id="{3F461627-3B8C-4FEA-A511-73B437BFC36F}"/>
              </a:ext>
            </a:extLst>
          </p:cNvPr>
          <p:cNvSpPr>
            <a:spLocks xmlns:a="http://schemas.openxmlformats.org/drawingml/2006/main" noGrp="1"/>
          </p:cNvSpPr>
          <p:nvPr/>
        </p:nvSpPr>
        <p:spPr>
          <a:xfrm xmlns:a="http://schemas.openxmlformats.org/drawingml/2006/main">
            <a:off x="638175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Real coding-agent path</a:t>
            </a:r>
          </a:p>
        </p:txBody>
      </p:sp>
      <p:sp>
        <p:nvSpPr>
          <p:cNvPr id="10" name="">
            <a:extLst xmlns:a="http://schemas.openxmlformats.org/drawingml/2006/main">
              <a:ext uri="{FF2B5EF4-FFF2-40B4-BE49-F238E27FC236}">
                <a16:creationId xmlns:a16="http://schemas.microsoft.com/office/drawing/2014/main" id="{8976D35C-DC30-436E-8209-6C0F2DE23B81}"/>
              </a:ext>
            </a:extLst>
          </p:cNvPr>
          <p:cNvSpPr>
            <a:spLocks xmlns:a="http://schemas.openxmlformats.org/drawingml/2006/main" noGrp="1"/>
          </p:cNvSpPr>
          <p:nvPr/>
        </p:nvSpPr>
        <p:spPr>
          <a:xfrm xmlns:a="http://schemas.openxmlformats.org/drawingml/2006/main">
            <a:off x="638175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SWE-bench / AgentBench tasks feed DeepAgents, which emits model turns and tool-call gaps into SGLang.</a:t>
            </a:r>
          </a:p>
        </p:txBody>
      </p:sp>
      <p:sp>
        <p:nvSpPr>
          <p:cNvPr id="11" name="">
            <a:extLst xmlns:a="http://schemas.openxmlformats.org/drawingml/2006/main">
              <a:ext uri="{FF2B5EF4-FFF2-40B4-BE49-F238E27FC236}">
                <a16:creationId xmlns:a16="http://schemas.microsoft.com/office/drawing/2014/main" id="{30B8261E-FE9F-4188-8282-64D462C2B5BA}"/>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2" name="">
            <a:extLst xmlns:a="http://schemas.openxmlformats.org/drawingml/2006/main">
              <a:ext uri="{FF2B5EF4-FFF2-40B4-BE49-F238E27FC236}">
                <a16:creationId xmlns:a16="http://schemas.microsoft.com/office/drawing/2014/main" id="{EF074449-55C4-4A01-8526-7E76E1D0CD37}"/>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1896B789-3AC2-4CCA-B654-0E840877A6C5}"/>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21401251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76BD223-2F6F-4FCA-901E-CC583D9A8DFF}"/>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F6906ED2-FB7A-457A-8812-64E49C4E2BA9}"/>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hardware path is fast, but it usually lacks agent/session semantics.</a:t>
            </a:r>
          </a:p>
        </p:txBody>
      </p:sp>
      <p:sp>
        <p:nvSpPr>
          <p:cNvPr id="3" name="">
            <a:extLst xmlns:a="http://schemas.openxmlformats.org/drawingml/2006/main">
              <a:ext uri="{FF2B5EF4-FFF2-40B4-BE49-F238E27FC236}">
                <a16:creationId xmlns:a16="http://schemas.microsoft.com/office/drawing/2014/main" id="{1D16494C-F1F1-47B3-8B02-312BC2770EC3}"/>
              </a:ext>
            </a:extLst>
          </p:cNvPr>
          <p:cNvSpPr>
            <a:spLocks xmlns:a="http://schemas.openxmlformats.org/drawingml/2006/main" noGrp="1"/>
          </p:cNvSpPr>
          <p:nvPr/>
        </p:nvSpPr>
        <p:spPr>
          <a:xfrm xmlns:a="http://schemas.openxmlformats.org/drawingml/2006/main">
            <a:off x="552450" y="1790700"/>
            <a:ext cx="4953000" cy="3429000"/>
          </a:xfrm>
          <a:prstGeom xmlns:a="http://schemas.openxmlformats.org/drawingml/2006/main" prst="roundRect">
            <a:avLst>
              <a:gd name="adj" fmla="val 1667"/>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70BA4936-E19D-4E08-A1B8-917B7AAB8C28}"/>
              </a:ext>
            </a:extLst>
          </p:cNvPr>
          <p:cNvSpPr>
            <a:spLocks xmlns:a="http://schemas.openxmlformats.org/drawingml/2006/main" noGrp="1"/>
          </p:cNvSpPr>
          <p:nvPr/>
        </p:nvSpPr>
        <p:spPr>
          <a:xfrm xmlns:a="http://schemas.openxmlformats.org/drawingml/2006/main">
            <a:off x="838200" y="20764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Context-agnostic movement</a:t>
            </a:r>
          </a:p>
        </p:txBody>
      </p:sp>
      <p:sp>
        <p:nvSpPr>
          <p:cNvPr id="5" name="">
            <a:extLst xmlns:a="http://schemas.openxmlformats.org/drawingml/2006/main">
              <a:ext uri="{FF2B5EF4-FFF2-40B4-BE49-F238E27FC236}">
                <a16:creationId xmlns:a16="http://schemas.microsoft.com/office/drawing/2014/main" id="{C50D260D-CA1C-4FC4-BEB1-28F543C4B578}"/>
              </a:ext>
            </a:extLst>
          </p:cNvPr>
          <p:cNvSpPr>
            <a:spLocks xmlns:a="http://schemas.openxmlformats.org/drawingml/2006/main" noGrp="1"/>
          </p:cNvSpPr>
          <p:nvPr/>
        </p:nvSpPr>
        <p:spPr>
          <a:xfrm xmlns:a="http://schemas.openxmlformats.org/drawingml/2006/main">
            <a:off x="876300" y="27813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99B30B7-9799-4B0E-9532-7B75D66D6A38}"/>
              </a:ext>
            </a:extLst>
          </p:cNvPr>
          <p:cNvSpPr>
            <a:spLocks xmlns:a="http://schemas.openxmlformats.org/drawingml/2006/main" noGrp="1"/>
          </p:cNvSpPr>
          <p:nvPr/>
        </p:nvSpPr>
        <p:spPr>
          <a:xfrm xmlns:a="http://schemas.openxmlformats.org/drawingml/2006/main">
            <a:off x="11049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sees memory ranges</a:t>
            </a:r>
          </a:p>
        </p:txBody>
      </p:sp>
      <p:sp>
        <p:nvSpPr>
          <p:cNvPr id="7" name="">
            <a:extLst xmlns:a="http://schemas.openxmlformats.org/drawingml/2006/main">
              <a:ext uri="{FF2B5EF4-FFF2-40B4-BE49-F238E27FC236}">
                <a16:creationId xmlns:a16="http://schemas.microsoft.com/office/drawing/2014/main" id="{76C394B8-600B-4AD1-804A-E8B29D7D3A1D}"/>
              </a:ext>
            </a:extLst>
          </p:cNvPr>
          <p:cNvSpPr>
            <a:spLocks xmlns:a="http://schemas.openxmlformats.org/drawingml/2006/main" noGrp="1"/>
          </p:cNvSpPr>
          <p:nvPr/>
        </p:nvSpPr>
        <p:spPr>
          <a:xfrm xmlns:a="http://schemas.openxmlformats.org/drawingml/2006/main">
            <a:off x="876300" y="32956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38E098-87EE-46B4-80AB-4B2D847618D8}"/>
              </a:ext>
            </a:extLst>
          </p:cNvPr>
          <p:cNvSpPr>
            <a:spLocks xmlns:a="http://schemas.openxmlformats.org/drawingml/2006/main" noGrp="1"/>
          </p:cNvSpPr>
          <p:nvPr/>
        </p:nvSpPr>
        <p:spPr>
          <a:xfrm xmlns:a="http://schemas.openxmlformats.org/drawingml/2006/main">
            <a:off x="11049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the agent session</a:t>
            </a:r>
          </a:p>
        </p:txBody>
      </p:sp>
      <p:sp>
        <p:nvSpPr>
          <p:cNvPr id="9" name="">
            <a:extLst xmlns:a="http://schemas.openxmlformats.org/drawingml/2006/main">
              <a:ext uri="{FF2B5EF4-FFF2-40B4-BE49-F238E27FC236}">
                <a16:creationId xmlns:a16="http://schemas.microsoft.com/office/drawing/2014/main" id="{55E060FD-85F2-4033-A03E-820286F85F30}"/>
              </a:ext>
            </a:extLst>
          </p:cNvPr>
          <p:cNvSpPr>
            <a:spLocks xmlns:a="http://schemas.openxmlformats.org/drawingml/2006/main" noGrp="1"/>
          </p:cNvSpPr>
          <p:nvPr/>
        </p:nvSpPr>
        <p:spPr>
          <a:xfrm xmlns:a="http://schemas.openxmlformats.org/drawingml/2006/main">
            <a:off x="876300" y="38100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B2028D3-861A-46D0-AD9C-76AFBC03D434}"/>
              </a:ext>
            </a:extLst>
          </p:cNvPr>
          <p:cNvSpPr>
            <a:spLocks xmlns:a="http://schemas.openxmlformats.org/drawingml/2006/main" noGrp="1"/>
          </p:cNvSpPr>
          <p:nvPr/>
        </p:nvSpPr>
        <p:spPr>
          <a:xfrm xmlns:a="http://schemas.openxmlformats.org/drawingml/2006/main">
            <a:off x="11049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replay deadline</a:t>
            </a:r>
          </a:p>
        </p:txBody>
      </p:sp>
      <p:sp>
        <p:nvSpPr>
          <p:cNvPr id="11" name="">
            <a:extLst xmlns:a="http://schemas.openxmlformats.org/drawingml/2006/main">
              <a:ext uri="{FF2B5EF4-FFF2-40B4-BE49-F238E27FC236}">
                <a16:creationId xmlns:a16="http://schemas.microsoft.com/office/drawing/2014/main" id="{1960C189-3D83-4249-9811-9A441B63D469}"/>
              </a:ext>
            </a:extLst>
          </p:cNvPr>
          <p:cNvSpPr>
            <a:spLocks xmlns:a="http://schemas.openxmlformats.org/drawingml/2006/main" noGrp="1"/>
          </p:cNvSpPr>
          <p:nvPr/>
        </p:nvSpPr>
        <p:spPr>
          <a:xfrm xmlns:a="http://schemas.openxmlformats.org/drawingml/2006/main">
            <a:off x="876300" y="43243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2FC0FF-963B-4053-B99D-D57B511B3224}"/>
              </a:ext>
            </a:extLst>
          </p:cNvPr>
          <p:cNvSpPr>
            <a:spLocks xmlns:a="http://schemas.openxmlformats.org/drawingml/2006/main" noGrp="1"/>
          </p:cNvSpPr>
          <p:nvPr/>
        </p:nvSpPr>
        <p:spPr>
          <a:xfrm xmlns:a="http://schemas.openxmlformats.org/drawingml/2006/main">
            <a:off x="11049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protect useful prefetched KV</a:t>
            </a:r>
          </a:p>
        </p:txBody>
      </p:sp>
      <p:sp>
        <p:nvSpPr>
          <p:cNvPr id="13" name="">
            <a:extLst xmlns:a="http://schemas.openxmlformats.org/drawingml/2006/main">
              <a:ext uri="{FF2B5EF4-FFF2-40B4-BE49-F238E27FC236}">
                <a16:creationId xmlns:a16="http://schemas.microsoft.com/office/drawing/2014/main" id="{05D78D9E-CA03-4F8D-8923-73B0C8030FB0}"/>
              </a:ext>
            </a:extLst>
          </p:cNvPr>
          <p:cNvSpPr>
            <a:spLocks xmlns:a="http://schemas.openxmlformats.org/drawingml/2006/main" noGrp="1"/>
          </p:cNvSpPr>
          <p:nvPr/>
        </p:nvSpPr>
        <p:spPr>
          <a:xfrm xmlns:a="http://schemas.openxmlformats.org/drawingml/2006/main">
            <a:off x="5753100" y="308610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050" b="1">
                <a:solidFill>
                  <a:srgbClr val="64748B"/>
                </a:solidFill>
              </a:defRPr>
            </a:pPr>
            <a:r>
              <a:rPr sz="4050" b="1">
                <a:solidFill>
                  <a:srgbClr val="64748B"/>
                </a:solidFill>
              </a:rPr>
              <a:t>→</a:t>
            </a:r>
          </a:p>
        </p:txBody>
      </p:sp>
      <p:sp>
        <p:nvSpPr>
          <p:cNvPr id="14" name="">
            <a:extLst xmlns:a="http://schemas.openxmlformats.org/drawingml/2006/main">
              <a:ext uri="{FF2B5EF4-FFF2-40B4-BE49-F238E27FC236}">
                <a16:creationId xmlns:a16="http://schemas.microsoft.com/office/drawing/2014/main" id="{E1E64D29-68AA-4686-9270-A48950C5F2D4}"/>
              </a:ext>
            </a:extLst>
          </p:cNvPr>
          <p:cNvSpPr>
            <a:spLocks xmlns:a="http://schemas.openxmlformats.org/drawingml/2006/main" noGrp="1"/>
          </p:cNvSpPr>
          <p:nvPr/>
        </p:nvSpPr>
        <p:spPr>
          <a:xfrm xmlns:a="http://schemas.openxmlformats.org/drawingml/2006/main">
            <a:off x="6686550" y="1790700"/>
            <a:ext cx="4953000" cy="3429000"/>
          </a:xfrm>
          <a:prstGeom xmlns:a="http://schemas.openxmlformats.org/drawingml/2006/main" prst="roundRect">
            <a:avLst>
              <a:gd name="adj" fmla="val 1667"/>
            </a:avLst>
          </a:prstGeom>
          <a:solidFill xmlns:a="http://schemas.openxmlformats.org/drawingml/2006/main">
            <a:srgbClr val="EFF6FF"/>
          </a:solidFill>
          <a:ln xmlns:a="http://schemas.openxmlformats.org/drawingml/2006/main" w="9525">
            <a:solidFill>
              <a:srgbClr val="BFDBFE"/>
            </a:solidFill>
            <a:prstDash val="solid"/>
          </a:ln>
        </p:spPr>
      </p:sp>
      <p:sp>
        <p:nvSpPr>
          <p:cNvPr id="15" name="">
            <a:extLst xmlns:a="http://schemas.openxmlformats.org/drawingml/2006/main">
              <a:ext uri="{FF2B5EF4-FFF2-40B4-BE49-F238E27FC236}">
                <a16:creationId xmlns:a16="http://schemas.microsoft.com/office/drawing/2014/main" id="{2C32DBF2-FD8F-41D3-B9E7-BDC910DE608C}"/>
              </a:ext>
            </a:extLst>
          </p:cNvPr>
          <p:cNvSpPr>
            <a:spLocks xmlns:a="http://schemas.openxmlformats.org/drawingml/2006/main" noGrp="1"/>
          </p:cNvSpPr>
          <p:nvPr/>
        </p:nvSpPr>
        <p:spPr>
          <a:xfrm xmlns:a="http://schemas.openxmlformats.org/drawingml/2006/main">
            <a:off x="6972300" y="20764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Hint-aware movement</a:t>
            </a:r>
          </a:p>
        </p:txBody>
      </p:sp>
      <p:sp>
        <p:nvSpPr>
          <p:cNvPr id="16" name="">
            <a:extLst xmlns:a="http://schemas.openxmlformats.org/drawingml/2006/main">
              <a:ext uri="{FF2B5EF4-FFF2-40B4-BE49-F238E27FC236}">
                <a16:creationId xmlns:a16="http://schemas.microsoft.com/office/drawing/2014/main" id="{F87EFA5B-6075-49B6-A79E-2C496BB66906}"/>
              </a:ext>
            </a:extLst>
          </p:cNvPr>
          <p:cNvSpPr>
            <a:spLocks xmlns:a="http://schemas.openxmlformats.org/drawingml/2006/main" noGrp="1"/>
          </p:cNvSpPr>
          <p:nvPr/>
        </p:nvSpPr>
        <p:spPr>
          <a:xfrm xmlns:a="http://schemas.openxmlformats.org/drawingml/2006/main">
            <a:off x="7010400" y="2781300"/>
            <a:ext cx="85725" cy="85725"/>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D1E0FBD-FFB5-4F61-B52D-73900F41B197}"/>
              </a:ext>
            </a:extLst>
          </p:cNvPr>
          <p:cNvSpPr>
            <a:spLocks xmlns:a="http://schemas.openxmlformats.org/drawingml/2006/main" noGrp="1"/>
          </p:cNvSpPr>
          <p:nvPr/>
        </p:nvSpPr>
        <p:spPr>
          <a:xfrm xmlns:a="http://schemas.openxmlformats.org/drawingml/2006/main">
            <a:off x="72390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tags KV by session and priority</a:t>
            </a:r>
          </a:p>
        </p:txBody>
      </p:sp>
      <p:sp>
        <p:nvSpPr>
          <p:cNvPr id="18" name="">
            <a:extLst xmlns:a="http://schemas.openxmlformats.org/drawingml/2006/main">
              <a:ext uri="{FF2B5EF4-FFF2-40B4-BE49-F238E27FC236}">
                <a16:creationId xmlns:a16="http://schemas.microsoft.com/office/drawing/2014/main" id="{9F8BAC5C-5C39-41D4-8F44-9AA18A3B0C3A}"/>
              </a:ext>
            </a:extLst>
          </p:cNvPr>
          <p:cNvSpPr>
            <a:spLocks xmlns:a="http://schemas.openxmlformats.org/drawingml/2006/main" noGrp="1"/>
          </p:cNvSpPr>
          <p:nvPr/>
        </p:nvSpPr>
        <p:spPr>
          <a:xfrm xmlns:a="http://schemas.openxmlformats.org/drawingml/2006/main">
            <a:off x="7010400" y="3295650"/>
            <a:ext cx="85725" cy="85725"/>
          </a:xfrm>
          <a:prstGeom xmlns:a="http://schemas.openxmlformats.org/drawingml/2006/main" prst="ellipse">
            <a:avLst/>
          </a:prstGeom>
          <a:solidFill xmlns:a="http://schemas.openxmlformats.org/drawingml/2006/main">
            <a:srgbClr val="A855F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BBD1F50-4C2C-4335-9C67-055114E94591}"/>
              </a:ext>
            </a:extLst>
          </p:cNvPr>
          <p:cNvSpPr>
            <a:spLocks xmlns:a="http://schemas.openxmlformats.org/drawingml/2006/main" noGrp="1"/>
          </p:cNvSpPr>
          <p:nvPr/>
        </p:nvSpPr>
        <p:spPr>
          <a:xfrm xmlns:a="http://schemas.openxmlformats.org/drawingml/2006/main">
            <a:off x="72390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schedules against replay deadlines</a:t>
            </a:r>
          </a:p>
        </p:txBody>
      </p:sp>
      <p:sp>
        <p:nvSpPr>
          <p:cNvPr id="20" name="">
            <a:extLst xmlns:a="http://schemas.openxmlformats.org/drawingml/2006/main">
              <a:ext uri="{FF2B5EF4-FFF2-40B4-BE49-F238E27FC236}">
                <a16:creationId xmlns:a16="http://schemas.microsoft.com/office/drawing/2014/main" id="{D003EDC9-BF09-4D4E-BD4E-E085488A4981}"/>
              </a:ext>
            </a:extLst>
          </p:cNvPr>
          <p:cNvSpPr>
            <a:spLocks xmlns:a="http://schemas.openxmlformats.org/drawingml/2006/main" noGrp="1"/>
          </p:cNvSpPr>
          <p:nvPr/>
        </p:nvSpPr>
        <p:spPr>
          <a:xfrm xmlns:a="http://schemas.openxmlformats.org/drawingml/2006/main">
            <a:off x="7010400" y="3810000"/>
            <a:ext cx="85725" cy="85725"/>
          </a:xfrm>
          <a:prstGeom xmlns:a="http://schemas.openxmlformats.org/drawingml/2006/main" prst="ellipse">
            <a:avLst/>
          </a:prstGeom>
          <a:solidFill xmlns:a="http://schemas.openxmlformats.org/drawingml/2006/main">
            <a:srgbClr val="06B6D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1D831CD-8A59-414A-B720-9EFF3F9E0C3D}"/>
              </a:ext>
            </a:extLst>
          </p:cNvPr>
          <p:cNvSpPr>
            <a:spLocks xmlns:a="http://schemas.openxmlformats.org/drawingml/2006/main" noGrp="1"/>
          </p:cNvSpPr>
          <p:nvPr/>
        </p:nvSpPr>
        <p:spPr>
          <a:xfrm xmlns:a="http://schemas.openxmlformats.org/drawingml/2006/main">
            <a:off x="72390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moves hot KV before replay</a:t>
            </a:r>
          </a:p>
        </p:txBody>
      </p:sp>
      <p:sp>
        <p:nvSpPr>
          <p:cNvPr id="22" name="">
            <a:extLst xmlns:a="http://schemas.openxmlformats.org/drawingml/2006/main">
              <a:ext uri="{FF2B5EF4-FFF2-40B4-BE49-F238E27FC236}">
                <a16:creationId xmlns:a16="http://schemas.microsoft.com/office/drawing/2014/main" id="{64DC2A31-72C5-4B2F-9DE8-E484282CF975}"/>
              </a:ext>
            </a:extLst>
          </p:cNvPr>
          <p:cNvSpPr>
            <a:spLocks xmlns:a="http://schemas.openxmlformats.org/drawingml/2006/main" noGrp="1"/>
          </p:cNvSpPr>
          <p:nvPr/>
        </p:nvSpPr>
        <p:spPr>
          <a:xfrm xmlns:a="http://schemas.openxmlformats.org/drawingml/2006/main">
            <a:off x="7010400" y="4324350"/>
            <a:ext cx="85725" cy="85725"/>
          </a:xfrm>
          <a:prstGeom xmlns:a="http://schemas.openxmlformats.org/drawingml/2006/main" prst="ellipse">
            <a:avLst/>
          </a:prstGeom>
          <a:solidFill xmlns:a="http://schemas.openxmlformats.org/drawingml/2006/main">
            <a:srgbClr val="16A34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7A26081-F69A-43A0-B695-CEE2C8B2A024}"/>
              </a:ext>
            </a:extLst>
          </p:cNvPr>
          <p:cNvSpPr>
            <a:spLocks xmlns:a="http://schemas.openxmlformats.org/drawingml/2006/main" noGrp="1"/>
          </p:cNvSpPr>
          <p:nvPr/>
        </p:nvSpPr>
        <p:spPr>
          <a:xfrm xmlns:a="http://schemas.openxmlformats.org/drawingml/2006/main">
            <a:off x="72390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reports late, useful, and wasted movement</a:t>
            </a:r>
          </a:p>
        </p:txBody>
      </p:sp>
      <p:sp>
        <p:nvSpPr>
          <p:cNvPr id="24" name="">
            <a:extLst xmlns:a="http://schemas.openxmlformats.org/drawingml/2006/main">
              <a:ext uri="{FF2B5EF4-FFF2-40B4-BE49-F238E27FC236}">
                <a16:creationId xmlns:a16="http://schemas.microsoft.com/office/drawing/2014/main" id="{1B1FC787-6117-4591-A247-C70AD4EC4EF8}"/>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5" name="">
            <a:extLst xmlns:a="http://schemas.openxmlformats.org/drawingml/2006/main">
              <a:ext uri="{FF2B5EF4-FFF2-40B4-BE49-F238E27FC236}">
                <a16:creationId xmlns:a16="http://schemas.microsoft.com/office/drawing/2014/main" id="{A405F162-4C48-42E9-909F-8C847513BB90}"/>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2001754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95E657-4C7E-4B10-A25D-2BE6E78F0C24}"/>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replay path exposes the bottleneck</a:t>
            </a:r>
          </a:p>
        </p:txBody>
      </p:sp>
      <p:sp>
        <p:nvSpPr>
          <p:cNvPr id="2" name="">
            <a:extLst xmlns:a="http://schemas.openxmlformats.org/drawingml/2006/main">
              <a:ext uri="{FF2B5EF4-FFF2-40B4-BE49-F238E27FC236}">
                <a16:creationId xmlns:a16="http://schemas.microsoft.com/office/drawing/2014/main" id="{179CB9E9-F6EC-4D0F-BAF3-166CDC45C672}"/>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One tool-gap row shows where replay spends time before the first useful token.</a:t>
            </a:r>
          </a:p>
        </p:txBody>
      </p:sp>
      <p:sp>
        <p:nvSpPr>
          <p:cNvPr id="3" name="">
            <a:extLst xmlns:a="http://schemas.openxmlformats.org/drawingml/2006/main">
              <a:ext uri="{FF2B5EF4-FFF2-40B4-BE49-F238E27FC236}">
                <a16:creationId xmlns:a16="http://schemas.microsoft.com/office/drawing/2014/main" id="{7FB6521F-C60B-498F-99E2-1DB3FF66CB10}"/>
              </a:ext>
            </a:extLst>
          </p:cNvPr>
          <p:cNvSpPr>
            <a:spLocks xmlns:a="http://schemas.openxmlformats.org/drawingml/2006/main" noGrp="1"/>
          </p:cNvSpPr>
          <p:nvPr/>
        </p:nvSpPr>
        <p:spPr>
          <a:xfrm xmlns:a="http://schemas.openxmlformats.org/drawingml/2006/main">
            <a:off x="323850" y="1371600"/>
            <a:ext cx="11201400" cy="4438650"/>
          </a:xfrm>
          <a:prstGeom xmlns:a="http://schemas.openxmlformats.org/drawingml/2006/main" prst="roundRect">
            <a:avLst>
              <a:gd name="adj" fmla="val 1288"/>
            </a:avLst>
          </a:prstGeom>
          <a:solidFill xmlns:a="http://schemas.openxmlformats.org/drawingml/2006/main">
            <a:srgbClr val="FFFFFF"/>
          </a:solidFill>
          <a:ln xmlns:a="http://schemas.openxmlformats.org/drawingml/2006/main" w="9525">
            <a:solidFill>
              <a:srgbClr val="E5E7EB"/>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e766f32f879457e"/>
          <a:stretch xmlns:a="http://schemas.openxmlformats.org/drawingml/2006/main"/>
        </p:blipFill>
        <p:spPr>
          <a:xfrm xmlns:a="http://schemas.openxmlformats.org/drawingml/2006/main">
            <a:off x="400050" y="1448639"/>
            <a:ext cx="11049000" cy="428457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2E5464B-FB44-4566-944F-80AAD20B35E8}"/>
              </a:ext>
            </a:extLst>
          </p:cNvPr>
          <p:cNvSpPr>
            <a:spLocks xmlns:a="http://schemas.openxmlformats.org/drawingml/2006/main" noGrp="1"/>
          </p:cNvSpPr>
          <p:nvPr/>
        </p:nvSpPr>
        <p:spPr>
          <a:xfrm xmlns:a="http://schemas.openxmlformats.org/drawingml/2006/main">
            <a:off x="685800" y="5829300"/>
            <a:ext cx="981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334155"/>
                </a:solidFill>
              </a:defRPr>
            </a:pPr>
            <a:r>
              <a:rPr sz="1275" b="0">
                <a:solidFill>
                  <a:srgbClr val="334155"/>
                </a:solidFill>
              </a:rPr>
              <a:t>Read left to right: model turn → tool wait → replay path. Cyan is host-to-device KV load; magenta/gold are work before first token.</a:t>
            </a:r>
          </a:p>
        </p:txBody>
      </p:sp>
      <p:sp>
        <p:nvSpPr>
          <p:cNvPr id="6" name="">
            <a:extLst xmlns:a="http://schemas.openxmlformats.org/drawingml/2006/main">
              <a:ext uri="{FF2B5EF4-FFF2-40B4-BE49-F238E27FC236}">
                <a16:creationId xmlns:a16="http://schemas.microsoft.com/office/drawing/2014/main" id="{79B6D2BD-6F9A-4649-91D0-47DE8B472083}"/>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controlled run</a:t>
            </a:r>
          </a:p>
        </p:txBody>
      </p:sp>
      <p:sp>
        <p:nvSpPr>
          <p:cNvPr id="7" name="">
            <a:extLst xmlns:a="http://schemas.openxmlformats.org/drawingml/2006/main">
              <a:ext uri="{FF2B5EF4-FFF2-40B4-BE49-F238E27FC236}">
                <a16:creationId xmlns:a16="http://schemas.microsoft.com/office/drawing/2014/main" id="{13660B54-4055-4DC6-9BA2-FC76F671A702}"/>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9350C413-6416-4BDE-B2F3-0DD7B05784EA}"/>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144322464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780E68-F39D-4CAA-B684-B6B63967E843}"/>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Software prefetch often missed the agent replay deadline</a:t>
            </a:r>
          </a:p>
        </p:txBody>
      </p:sp>
      <p:sp>
        <p:nvSpPr>
          <p:cNvPr id="2" name="">
            <a:extLst xmlns:a="http://schemas.openxmlformats.org/drawingml/2006/main">
              <a:ext uri="{FF2B5EF4-FFF2-40B4-BE49-F238E27FC236}">
                <a16:creationId xmlns:a16="http://schemas.microsoft.com/office/drawing/2014/main" id="{7E2DD1F0-53AB-4698-A3F4-05058BB281B2}"/>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Across live prefetch attempts, nearly every hint completed after the agent had already resumed.</a:t>
            </a:r>
          </a:p>
        </p:txBody>
      </p:sp>
      <p:sp>
        <p:nvSpPr>
          <p:cNvPr id="3" name="">
            <a:extLst xmlns:a="http://schemas.openxmlformats.org/drawingml/2006/main">
              <a:ext uri="{FF2B5EF4-FFF2-40B4-BE49-F238E27FC236}">
                <a16:creationId xmlns:a16="http://schemas.microsoft.com/office/drawing/2014/main" id="{9682BCD0-3A5E-4FD1-9388-6917E642E1A3}"/>
              </a:ext>
            </a:extLst>
          </p:cNvPr>
          <p:cNvSpPr>
            <a:spLocks xmlns:a="http://schemas.openxmlformats.org/drawingml/2006/main" noGrp="1"/>
          </p:cNvSpPr>
          <p:nvPr/>
        </p:nvSpPr>
        <p:spPr>
          <a:xfrm xmlns:a="http://schemas.openxmlformats.org/drawingml/2006/main">
            <a:off x="323850" y="1428750"/>
            <a:ext cx="8572500" cy="3886200"/>
          </a:xfrm>
          <a:prstGeom xmlns:a="http://schemas.openxmlformats.org/drawingml/2006/main" prst="roundRect">
            <a:avLst>
              <a:gd name="adj" fmla="val 1471"/>
            </a:avLst>
          </a:prstGeom>
          <a:solidFill xmlns:a="http://schemas.openxmlformats.org/drawingml/2006/main">
            <a:srgbClr val="FFFFFF"/>
          </a:solidFill>
          <a:ln xmlns:a="http://schemas.openxmlformats.org/drawingml/2006/main" w="9525">
            <a:solidFill>
              <a:srgbClr val="E5E7EB"/>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b32a3f26fd14672"/>
          <a:stretch xmlns:a="http://schemas.openxmlformats.org/drawingml/2006/main"/>
        </p:blipFill>
        <p:spPr>
          <a:xfrm xmlns:a="http://schemas.openxmlformats.org/drawingml/2006/main">
            <a:off x="400050" y="1890170"/>
            <a:ext cx="8420100" cy="296336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814B9E2-EC79-4017-A3AC-79C6DAE7C64A}"/>
              </a:ext>
            </a:extLst>
          </p:cNvPr>
          <p:cNvSpPr>
            <a:spLocks xmlns:a="http://schemas.openxmlformats.org/drawingml/2006/main" noGrp="1"/>
          </p:cNvSpPr>
          <p:nvPr/>
        </p:nvSpPr>
        <p:spPr>
          <a:xfrm xmlns:a="http://schemas.openxmlformats.org/drawingml/2006/main">
            <a:off x="9124950" y="1600200"/>
            <a:ext cx="2228850" cy="1295400"/>
          </a:xfrm>
          <a:prstGeom xmlns:a="http://schemas.openxmlformats.org/drawingml/2006/main" prst="roundRect">
            <a:avLst>
              <a:gd name="adj" fmla="val 441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D14983F6-72A1-48B7-8E39-1862299D5ECA}"/>
              </a:ext>
            </a:extLst>
          </p:cNvPr>
          <p:cNvSpPr>
            <a:spLocks xmlns:a="http://schemas.openxmlformats.org/drawingml/2006/main" noGrp="1"/>
          </p:cNvSpPr>
          <p:nvPr/>
        </p:nvSpPr>
        <p:spPr>
          <a:xfrm xmlns:a="http://schemas.openxmlformats.org/drawingml/2006/main">
            <a:off x="9296400" y="1809750"/>
            <a:ext cx="188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700" b="1">
                <a:solidFill>
                  <a:srgbClr val="B91C1C"/>
                </a:solidFill>
              </a:defRPr>
            </a:pPr>
            <a:r>
              <a:rPr sz="2700" b="1">
                <a:solidFill>
                  <a:srgbClr val="B91C1C"/>
                </a:solidFill>
              </a:rPr>
              <a:t>112 of 114</a:t>
            </a:r>
          </a:p>
        </p:txBody>
      </p:sp>
      <p:sp>
        <p:nvSpPr>
          <p:cNvPr id="7" name="">
            <a:extLst xmlns:a="http://schemas.openxmlformats.org/drawingml/2006/main">
              <a:ext uri="{FF2B5EF4-FFF2-40B4-BE49-F238E27FC236}">
                <a16:creationId xmlns:a16="http://schemas.microsoft.com/office/drawing/2014/main" id="{4CF89ED6-8534-4D62-AF86-67892F93CBFD}"/>
              </a:ext>
            </a:extLst>
          </p:cNvPr>
          <p:cNvSpPr>
            <a:spLocks xmlns:a="http://schemas.openxmlformats.org/drawingml/2006/main" noGrp="1"/>
          </p:cNvSpPr>
          <p:nvPr/>
        </p:nvSpPr>
        <p:spPr>
          <a:xfrm xmlns:a="http://schemas.openxmlformats.org/drawingml/2006/main">
            <a:off x="9353550" y="232410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prefetch attempts</a:t>
            </a:r>
          </a:p>
        </p:txBody>
      </p:sp>
      <p:sp>
        <p:nvSpPr>
          <p:cNvPr id="8" name="">
            <a:extLst xmlns:a="http://schemas.openxmlformats.org/drawingml/2006/main">
              <a:ext uri="{FF2B5EF4-FFF2-40B4-BE49-F238E27FC236}">
                <a16:creationId xmlns:a16="http://schemas.microsoft.com/office/drawing/2014/main" id="{E83491FB-3825-4EA4-9258-C5366DDA66E9}"/>
              </a:ext>
            </a:extLst>
          </p:cNvPr>
          <p:cNvSpPr>
            <a:spLocks xmlns:a="http://schemas.openxmlformats.org/drawingml/2006/main" noGrp="1"/>
          </p:cNvSpPr>
          <p:nvPr/>
        </p:nvSpPr>
        <p:spPr>
          <a:xfrm xmlns:a="http://schemas.openxmlformats.org/drawingml/2006/main">
            <a:off x="9353550" y="257175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were late</a:t>
            </a:r>
          </a:p>
        </p:txBody>
      </p:sp>
      <p:sp>
        <p:nvSpPr>
          <p:cNvPr id="9" name="">
            <a:extLst xmlns:a="http://schemas.openxmlformats.org/drawingml/2006/main">
              <a:ext uri="{FF2B5EF4-FFF2-40B4-BE49-F238E27FC236}">
                <a16:creationId xmlns:a16="http://schemas.microsoft.com/office/drawing/2014/main" id="{7FCB1E35-7C1A-4DE9-AFAA-0E85147FB2E6}"/>
              </a:ext>
            </a:extLst>
          </p:cNvPr>
          <p:cNvSpPr>
            <a:spLocks xmlns:a="http://schemas.openxmlformats.org/drawingml/2006/main" noGrp="1"/>
          </p:cNvSpPr>
          <p:nvPr/>
        </p:nvSpPr>
        <p:spPr>
          <a:xfrm xmlns:a="http://schemas.openxmlformats.org/drawingml/2006/main">
            <a:off x="9124950" y="3143250"/>
            <a:ext cx="2228850" cy="1066800"/>
          </a:xfrm>
          <a:prstGeom xmlns:a="http://schemas.openxmlformats.org/drawingml/2006/main" prst="roundRect">
            <a:avLst>
              <a:gd name="adj" fmla="val 5357"/>
            </a:avLst>
          </a:prstGeom>
          <a:solidFill xmlns:a="http://schemas.openxmlformats.org/drawingml/2006/main">
            <a:srgbClr val="FFF7ED"/>
          </a:solidFill>
          <a:ln xmlns:a="http://schemas.openxmlformats.org/drawingml/2006/main" w="9525">
            <a:solidFill>
              <a:srgbClr val="FED7AA"/>
            </a:solidFill>
            <a:prstDash val="solid"/>
          </a:ln>
        </p:spPr>
      </p:sp>
      <p:sp>
        <p:nvSpPr>
          <p:cNvPr id="10" name="">
            <a:extLst xmlns:a="http://schemas.openxmlformats.org/drawingml/2006/main">
              <a:ext uri="{FF2B5EF4-FFF2-40B4-BE49-F238E27FC236}">
                <a16:creationId xmlns:a16="http://schemas.microsoft.com/office/drawing/2014/main" id="{678C4100-DD6B-4132-8CE2-A97F8DE72B4B}"/>
              </a:ext>
            </a:extLst>
          </p:cNvPr>
          <p:cNvSpPr>
            <a:spLocks xmlns:a="http://schemas.openxmlformats.org/drawingml/2006/main" noGrp="1"/>
          </p:cNvSpPr>
          <p:nvPr/>
        </p:nvSpPr>
        <p:spPr>
          <a:xfrm xmlns:a="http://schemas.openxmlformats.org/drawingml/2006/main">
            <a:off x="9353550" y="3333750"/>
            <a:ext cx="1771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C2410C"/>
                </a:solidFill>
              </a:defRPr>
            </a:pPr>
            <a:r>
              <a:rPr sz="3000" b="1">
                <a:solidFill>
                  <a:srgbClr val="C2410C"/>
                </a:solidFill>
              </a:rPr>
              <a:t>98.25%</a:t>
            </a:r>
          </a:p>
        </p:txBody>
      </p:sp>
      <p:sp>
        <p:nvSpPr>
          <p:cNvPr id="11" name="">
            <a:extLst xmlns:a="http://schemas.openxmlformats.org/drawingml/2006/main">
              <a:ext uri="{FF2B5EF4-FFF2-40B4-BE49-F238E27FC236}">
                <a16:creationId xmlns:a16="http://schemas.microsoft.com/office/drawing/2014/main" id="{C341851C-F33D-4E45-A148-1D4450CAD2BC}"/>
              </a:ext>
            </a:extLst>
          </p:cNvPr>
          <p:cNvSpPr>
            <a:spLocks xmlns:a="http://schemas.openxmlformats.org/drawingml/2006/main" noGrp="1"/>
          </p:cNvSpPr>
          <p:nvPr/>
        </p:nvSpPr>
        <p:spPr>
          <a:xfrm xmlns:a="http://schemas.openxmlformats.org/drawingml/2006/main">
            <a:off x="9353550" y="3829050"/>
            <a:ext cx="1771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missed replay due deadline</a:t>
            </a:r>
          </a:p>
        </p:txBody>
      </p:sp>
      <p:sp>
        <p:nvSpPr>
          <p:cNvPr id="12" name="">
            <a:extLst xmlns:a="http://schemas.openxmlformats.org/drawingml/2006/main">
              <a:ext uri="{FF2B5EF4-FFF2-40B4-BE49-F238E27FC236}">
                <a16:creationId xmlns:a16="http://schemas.microsoft.com/office/drawing/2014/main" id="{937611C3-918F-479B-AEF3-D12A7B01AA32}"/>
              </a:ext>
            </a:extLst>
          </p:cNvPr>
          <p:cNvSpPr>
            <a:spLocks xmlns:a="http://schemas.openxmlformats.org/drawingml/2006/main" noGrp="1"/>
          </p:cNvSpPr>
          <p:nvPr/>
        </p:nvSpPr>
        <p:spPr>
          <a:xfrm xmlns:a="http://schemas.openxmlformats.org/drawingml/2006/main">
            <a:off x="9124950" y="4514850"/>
            <a:ext cx="2247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This shows that semantic knowledge alone is not enough if the movement path cannot act on hints predictably.</a:t>
            </a:r>
          </a:p>
        </p:txBody>
      </p:sp>
      <p:sp>
        <p:nvSpPr>
          <p:cNvPr id="13" name="">
            <a:extLst xmlns:a="http://schemas.openxmlformats.org/drawingml/2006/main">
              <a:ext uri="{FF2B5EF4-FFF2-40B4-BE49-F238E27FC236}">
                <a16:creationId xmlns:a16="http://schemas.microsoft.com/office/drawing/2014/main" id="{10AD9847-D479-484A-BCA1-D22732B5D21A}"/>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backups/latest_master_report-1.html, Global Prefetch Margin</a:t>
            </a:r>
          </a:p>
        </p:txBody>
      </p:sp>
      <p:sp>
        <p:nvSpPr>
          <p:cNvPr id="14" name="">
            <a:extLst xmlns:a="http://schemas.openxmlformats.org/drawingml/2006/main">
              <a:ext uri="{FF2B5EF4-FFF2-40B4-BE49-F238E27FC236}">
                <a16:creationId xmlns:a16="http://schemas.microsoft.com/office/drawing/2014/main" id="{EE5E3AF0-892B-4742-9853-4623B4DE2826}"/>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D1C7EACD-9FD3-4C5C-B71F-E3087E5AF3B8}"/>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8003355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0089FF-3EF7-4EB2-A563-392526D1DD11}"/>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Replay-side KV loads missed the deadline in this run</a:t>
            </a:r>
          </a:p>
        </p:txBody>
      </p:sp>
      <p:sp>
        <p:nvSpPr>
          <p:cNvPr id="2" name="">
            <a:extLst xmlns:a="http://schemas.openxmlformats.org/drawingml/2006/main">
              <a:ext uri="{FF2B5EF4-FFF2-40B4-BE49-F238E27FC236}">
                <a16:creationId xmlns:a16="http://schemas.microsoft.com/office/drawing/2014/main" id="{F69214AA-04BD-4EA8-9984-B1E14896D56D}"/>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aggregate view shows whether KV H2D finished before or after replay was due.</a:t>
            </a:r>
          </a:p>
        </p:txBody>
      </p:sp>
      <p:sp>
        <p:nvSpPr>
          <p:cNvPr id="3" name="">
            <a:extLst xmlns:a="http://schemas.openxmlformats.org/drawingml/2006/main">
              <a:ext uri="{FF2B5EF4-FFF2-40B4-BE49-F238E27FC236}">
                <a16:creationId xmlns:a16="http://schemas.microsoft.com/office/drawing/2014/main" id="{AE4A1B50-C618-4D62-8AE9-3D3498F67C55}"/>
              </a:ext>
            </a:extLst>
          </p:cNvPr>
          <p:cNvSpPr>
            <a:spLocks xmlns:a="http://schemas.openxmlformats.org/drawingml/2006/main" noGrp="1"/>
          </p:cNvSpPr>
          <p:nvPr/>
        </p:nvSpPr>
        <p:spPr>
          <a:xfrm xmlns:a="http://schemas.openxmlformats.org/drawingml/2006/main">
            <a:off x="323850" y="1428750"/>
            <a:ext cx="8724900" cy="3867150"/>
          </a:xfrm>
          <a:prstGeom xmlns:a="http://schemas.openxmlformats.org/drawingml/2006/main" prst="roundRect">
            <a:avLst>
              <a:gd name="adj" fmla="val 1478"/>
            </a:avLst>
          </a:prstGeom>
          <a:solidFill xmlns:a="http://schemas.openxmlformats.org/drawingml/2006/main">
            <a:srgbClr val="FFFFFF"/>
          </a:solidFill>
          <a:ln xmlns:a="http://schemas.openxmlformats.org/drawingml/2006/main" w="9525">
            <a:solidFill>
              <a:srgbClr val="E5E7EB"/>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0f2ba06b4cb54345"/>
          <a:stretch xmlns:a="http://schemas.openxmlformats.org/drawingml/2006/main"/>
        </p:blipFill>
        <p:spPr>
          <a:xfrm xmlns:a="http://schemas.openxmlformats.org/drawingml/2006/main">
            <a:off x="400050" y="1795905"/>
            <a:ext cx="8572500" cy="313284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A371C9C-4E11-4364-9B17-A686138A5B12}"/>
              </a:ext>
            </a:extLst>
          </p:cNvPr>
          <p:cNvSpPr>
            <a:spLocks xmlns:a="http://schemas.openxmlformats.org/drawingml/2006/main" noGrp="1"/>
          </p:cNvSpPr>
          <p:nvPr/>
        </p:nvSpPr>
        <p:spPr>
          <a:xfrm xmlns:a="http://schemas.openxmlformats.org/drawingml/2006/main">
            <a:off x="9258300" y="1847850"/>
            <a:ext cx="2095500" cy="1104900"/>
          </a:xfrm>
          <a:prstGeom xmlns:a="http://schemas.openxmlformats.org/drawingml/2006/main" prst="roundRect">
            <a:avLst>
              <a:gd name="adj" fmla="val 517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36F17F41-E0DB-4F2D-91B2-2ABBFBF44484}"/>
              </a:ext>
            </a:extLst>
          </p:cNvPr>
          <p:cNvSpPr>
            <a:spLocks xmlns:a="http://schemas.openxmlformats.org/drawingml/2006/main" noGrp="1"/>
          </p:cNvSpPr>
          <p:nvPr/>
        </p:nvSpPr>
        <p:spPr>
          <a:xfrm xmlns:a="http://schemas.openxmlformats.org/drawingml/2006/main">
            <a:off x="9505950" y="2076450"/>
            <a:ext cx="1600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600" b="1">
                <a:solidFill>
                  <a:srgbClr val="B91C1C"/>
                </a:solidFill>
              </a:defRPr>
            </a:pPr>
            <a:r>
              <a:rPr sz="3600" b="1">
                <a:solidFill>
                  <a:srgbClr val="B91C1C"/>
                </a:solidFill>
              </a:rPr>
              <a:t>8 / 8</a:t>
            </a:r>
          </a:p>
        </p:txBody>
      </p:sp>
      <p:sp>
        <p:nvSpPr>
          <p:cNvPr id="7" name="">
            <a:extLst xmlns:a="http://schemas.openxmlformats.org/drawingml/2006/main">
              <a:ext uri="{FF2B5EF4-FFF2-40B4-BE49-F238E27FC236}">
                <a16:creationId xmlns:a16="http://schemas.microsoft.com/office/drawing/2014/main" id="{AD784674-C112-4C68-884F-54630FFCB04F}"/>
              </a:ext>
            </a:extLst>
          </p:cNvPr>
          <p:cNvSpPr>
            <a:spLocks xmlns:a="http://schemas.openxmlformats.org/drawingml/2006/main" noGrp="1"/>
          </p:cNvSpPr>
          <p:nvPr/>
        </p:nvSpPr>
        <p:spPr>
          <a:xfrm xmlns:a="http://schemas.openxmlformats.org/drawingml/2006/main">
            <a:off x="9505950" y="2628900"/>
            <a:ext cx="1600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H2D loads finished late</a:t>
            </a:r>
          </a:p>
        </p:txBody>
      </p:sp>
      <p:sp>
        <p:nvSpPr>
          <p:cNvPr id="8" name="">
            <a:extLst xmlns:a="http://schemas.openxmlformats.org/drawingml/2006/main">
              <a:ext uri="{FF2B5EF4-FFF2-40B4-BE49-F238E27FC236}">
                <a16:creationId xmlns:a16="http://schemas.microsoft.com/office/drawing/2014/main" id="{5696626B-1B9A-4E38-9996-6831E6BE7B30}"/>
              </a:ext>
            </a:extLst>
          </p:cNvPr>
          <p:cNvSpPr>
            <a:spLocks xmlns:a="http://schemas.openxmlformats.org/drawingml/2006/main" noGrp="1"/>
          </p:cNvSpPr>
          <p:nvPr/>
        </p:nvSpPr>
        <p:spPr>
          <a:xfrm xmlns:a="http://schemas.openxmlformats.org/drawingml/2006/main">
            <a:off x="9258300" y="35242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All visible replay-side KV loads finished below the 0 ms deadline line.</a:t>
            </a:r>
          </a:p>
        </p:txBody>
      </p:sp>
      <p:sp>
        <p:nvSpPr>
          <p:cNvPr id="9" name="">
            <a:extLst xmlns:a="http://schemas.openxmlformats.org/drawingml/2006/main">
              <a:ext uri="{FF2B5EF4-FFF2-40B4-BE49-F238E27FC236}">
                <a16:creationId xmlns:a16="http://schemas.microsoft.com/office/drawing/2014/main" id="{1E232D0A-F346-4EDA-A96E-84CF28C84C86}"/>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Global Replay H2D Readiness</a:t>
            </a:r>
          </a:p>
        </p:txBody>
      </p:sp>
      <p:sp>
        <p:nvSpPr>
          <p:cNvPr id="10" name="">
            <a:extLst xmlns:a="http://schemas.openxmlformats.org/drawingml/2006/main">
              <a:ext uri="{FF2B5EF4-FFF2-40B4-BE49-F238E27FC236}">
                <a16:creationId xmlns:a16="http://schemas.microsoft.com/office/drawing/2014/main" id="{D1E0DFE4-1036-4BB6-A5DE-4FDBCDE1CAF3}"/>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AC8F3249-58A3-4AB5-A2E4-D605E8D80C07}"/>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9981694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F5894F-5131-46F7-91F1-0C00A3681BE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846B80E5-9E21-4D4C-82F0-3A4036037912}"/>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request enters normal software/runtime scheduling before visible KV H2D begins.</a:t>
            </a:r>
          </a:p>
        </p:txBody>
      </p:sp>
      <p:sp>
        <p:nvSpPr>
          <p:cNvPr id="3" name="">
            <a:extLst xmlns:a="http://schemas.openxmlformats.org/drawingml/2006/main">
              <a:ext uri="{FF2B5EF4-FFF2-40B4-BE49-F238E27FC236}">
                <a16:creationId xmlns:a16="http://schemas.microsoft.com/office/drawing/2014/main" id="{D6E3F474-BA41-4836-9119-2368AE4B636B}"/>
              </a:ext>
            </a:extLst>
          </p:cNvPr>
          <p:cNvSpPr>
            <a:spLocks xmlns:a="http://schemas.openxmlformats.org/drawingml/2006/main" noGrp="1"/>
          </p:cNvSpPr>
          <p:nvPr/>
        </p:nvSpPr>
        <p:spPr>
          <a:xfrm xmlns:a="http://schemas.openxmlformats.org/drawingml/2006/main">
            <a:off x="323850" y="1333500"/>
            <a:ext cx="10820400" cy="4343400"/>
          </a:xfrm>
          <a:prstGeom xmlns:a="http://schemas.openxmlformats.org/drawingml/2006/main" prst="roundRect">
            <a:avLst>
              <a:gd name="adj" fmla="val 1316"/>
            </a:avLst>
          </a:prstGeom>
          <a:solidFill xmlns:a="http://schemas.openxmlformats.org/drawingml/2006/main">
            <a:srgbClr val="FFFFFF"/>
          </a:solidFill>
          <a:ln xmlns:a="http://schemas.openxmlformats.org/drawingml/2006/main" w="9525">
            <a:solidFill>
              <a:srgbClr val="E5E7EB"/>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ef412272abe94d6b"/>
          <a:stretch xmlns:a="http://schemas.openxmlformats.org/drawingml/2006/main"/>
        </p:blipFill>
        <p:spPr>
          <a:xfrm xmlns:a="http://schemas.openxmlformats.org/drawingml/2006/main">
            <a:off x="1247835" y="1409700"/>
            <a:ext cx="8972430" cy="4191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A59EC7B-C8E7-4154-9901-3398C0CA970B}"/>
              </a:ext>
            </a:extLst>
          </p:cNvPr>
          <p:cNvSpPr>
            <a:spLocks xmlns:a="http://schemas.openxmlformats.org/drawingml/2006/main" noGrp="1"/>
          </p:cNvSpPr>
          <p:nvPr/>
        </p:nvSpPr>
        <p:spPr>
          <a:xfrm xmlns:a="http://schemas.openxmlformats.org/drawingml/2006/main">
            <a:off x="685800" y="5791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334155"/>
                </a:solidFill>
              </a:defRPr>
            </a:pPr>
            <a:r>
              <a:rPr sz="1275" b="0">
                <a:solidFill>
                  <a:srgbClr val="334155"/>
                </a:solidFill>
              </a:rPr>
              <a:t>The stage markers separate submission, SGLang receive, scheduler queue/admit, and visible KV H2D movement.</a:t>
            </a:r>
          </a:p>
        </p:txBody>
      </p:sp>
      <p:sp>
        <p:nvSpPr>
          <p:cNvPr id="6" name="">
            <a:extLst xmlns:a="http://schemas.openxmlformats.org/drawingml/2006/main">
              <a:ext uri="{FF2B5EF4-FFF2-40B4-BE49-F238E27FC236}">
                <a16:creationId xmlns:a16="http://schemas.microsoft.com/office/drawing/2014/main" id="{3E44DF2C-3346-4BE2-956C-B298DF0850E2}"/>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Replay Queue Timeline vs H2D Start</a:t>
            </a:r>
          </a:p>
        </p:txBody>
      </p:sp>
      <p:sp>
        <p:nvSpPr>
          <p:cNvPr id="7" name="">
            <a:extLst xmlns:a="http://schemas.openxmlformats.org/drawingml/2006/main">
              <a:ext uri="{FF2B5EF4-FFF2-40B4-BE49-F238E27FC236}">
                <a16:creationId xmlns:a16="http://schemas.microsoft.com/office/drawing/2014/main" id="{B9F8E16B-04C3-4B8E-861F-3C30CF056A3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C9FC36C5-9EB7-41AD-B5BB-DDA61C8EF0DC}"/>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1702646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EE85317-04F6-4116-93DA-3FFE5143D331}"/>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9F9DEA1B-541B-4CE6-A378-0CBF0DD5A856}"/>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opportunity is to treat KV as deadline-sensitive memory, not generic bytes.</a:t>
            </a:r>
          </a:p>
        </p:txBody>
      </p:sp>
      <p:sp>
        <p:nvSpPr>
          <p:cNvPr id="3" name="">
            <a:extLst xmlns:a="http://schemas.openxmlformats.org/drawingml/2006/main">
              <a:ext uri="{FF2B5EF4-FFF2-40B4-BE49-F238E27FC236}">
                <a16:creationId xmlns:a16="http://schemas.microsoft.com/office/drawing/2014/main" id="{7151633E-80A2-405B-8B97-A86CA62171FF}"/>
              </a:ext>
            </a:extLst>
          </p:cNvPr>
          <p:cNvSpPr>
            <a:spLocks xmlns:a="http://schemas.openxmlformats.org/drawingml/2006/main" noGrp="1"/>
          </p:cNvSpPr>
          <p:nvPr/>
        </p:nvSpPr>
        <p:spPr>
          <a:xfrm xmlns:a="http://schemas.openxmlformats.org/drawingml/2006/main">
            <a:off x="552450" y="1962150"/>
            <a:ext cx="1695450" cy="1695450"/>
          </a:xfrm>
          <a:prstGeom xmlns:a="http://schemas.openxmlformats.org/drawingml/2006/main" prst="roundRect">
            <a:avLst>
              <a:gd name="adj" fmla="val 3371"/>
            </a:avLst>
          </a:prstGeom>
          <a:solidFill xmlns:a="http://schemas.openxmlformats.org/drawingml/2006/main">
            <a:srgbClr val="EFF6FF"/>
          </a:solidFill>
          <a:ln xmlns:a="http://schemas.openxmlformats.org/drawingml/2006/main" w="9525">
            <a:solidFill>
              <a:srgbClr val="2563EB"/>
            </a:solidFill>
            <a:prstDash val="solid"/>
          </a:ln>
        </p:spPr>
      </p:sp>
      <p:sp>
        <p:nvSpPr>
          <p:cNvPr id="4" name="">
            <a:extLst xmlns:a="http://schemas.openxmlformats.org/drawingml/2006/main">
              <a:ext uri="{FF2B5EF4-FFF2-40B4-BE49-F238E27FC236}">
                <a16:creationId xmlns:a16="http://schemas.microsoft.com/office/drawing/2014/main" id="{E918F2D8-774E-4C5D-945B-D823781B9837}"/>
              </a:ext>
            </a:extLst>
          </p:cNvPr>
          <p:cNvSpPr>
            <a:spLocks xmlns:a="http://schemas.openxmlformats.org/drawingml/2006/main" noGrp="1"/>
          </p:cNvSpPr>
          <p:nvPr/>
        </p:nvSpPr>
        <p:spPr>
          <a:xfrm xmlns:a="http://schemas.openxmlformats.org/drawingml/2006/main">
            <a:off x="7048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Runtime hint</a:t>
            </a:r>
          </a:p>
        </p:txBody>
      </p:sp>
      <p:sp>
        <p:nvSpPr>
          <p:cNvPr id="5" name="">
            <a:extLst xmlns:a="http://schemas.openxmlformats.org/drawingml/2006/main">
              <a:ext uri="{FF2B5EF4-FFF2-40B4-BE49-F238E27FC236}">
                <a16:creationId xmlns:a16="http://schemas.microsoft.com/office/drawing/2014/main" id="{0E9BFFDD-49C0-4203-8BC7-00969028AC00}"/>
              </a:ext>
            </a:extLst>
          </p:cNvPr>
          <p:cNvSpPr>
            <a:spLocks xmlns:a="http://schemas.openxmlformats.org/drawingml/2006/main" noGrp="1"/>
          </p:cNvSpPr>
          <p:nvPr/>
        </p:nvSpPr>
        <p:spPr>
          <a:xfrm xmlns:a="http://schemas.openxmlformats.org/drawingml/2006/main">
            <a:off x="7239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session, priority, deadline</a:t>
            </a:r>
          </a:p>
        </p:txBody>
      </p:sp>
      <p:sp>
        <p:nvSpPr>
          <p:cNvPr id="6" name="">
            <a:extLst xmlns:a="http://schemas.openxmlformats.org/drawingml/2006/main">
              <a:ext uri="{FF2B5EF4-FFF2-40B4-BE49-F238E27FC236}">
                <a16:creationId xmlns:a16="http://schemas.microsoft.com/office/drawing/2014/main" id="{B820E52D-ED10-4E03-A975-DBFF96C7226A}"/>
              </a:ext>
            </a:extLst>
          </p:cNvPr>
          <p:cNvSpPr>
            <a:spLocks xmlns:a="http://schemas.openxmlformats.org/drawingml/2006/main" noGrp="1"/>
          </p:cNvSpPr>
          <p:nvPr/>
        </p:nvSpPr>
        <p:spPr>
          <a:xfrm xmlns:a="http://schemas.openxmlformats.org/drawingml/2006/main">
            <a:off x="23050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7" name="">
            <a:extLst xmlns:a="http://schemas.openxmlformats.org/drawingml/2006/main">
              <a:ext uri="{FF2B5EF4-FFF2-40B4-BE49-F238E27FC236}">
                <a16:creationId xmlns:a16="http://schemas.microsoft.com/office/drawing/2014/main" id="{19CF921B-28C8-44AC-BC85-6FD6076928C1}"/>
              </a:ext>
            </a:extLst>
          </p:cNvPr>
          <p:cNvSpPr>
            <a:spLocks xmlns:a="http://schemas.openxmlformats.org/drawingml/2006/main" noGrp="1"/>
          </p:cNvSpPr>
          <p:nvPr/>
        </p:nvSpPr>
        <p:spPr>
          <a:xfrm xmlns:a="http://schemas.openxmlformats.org/drawingml/2006/main">
            <a:off x="2857500" y="1962150"/>
            <a:ext cx="1695450" cy="1695450"/>
          </a:xfrm>
          <a:prstGeom xmlns:a="http://schemas.openxmlformats.org/drawingml/2006/main" prst="roundRect">
            <a:avLst>
              <a:gd name="adj" fmla="val 3371"/>
            </a:avLst>
          </a:prstGeom>
          <a:solidFill xmlns:a="http://schemas.openxmlformats.org/drawingml/2006/main">
            <a:srgbClr val="F5F3FF"/>
          </a:solidFill>
          <a:ln xmlns:a="http://schemas.openxmlformats.org/drawingml/2006/main" w="9525">
            <a:solidFill>
              <a:srgbClr val="A855F7"/>
            </a:solidFill>
            <a:prstDash val="solid"/>
          </a:ln>
        </p:spPr>
      </p:sp>
      <p:sp>
        <p:nvSpPr>
          <p:cNvPr id="8" name="">
            <a:extLst xmlns:a="http://schemas.openxmlformats.org/drawingml/2006/main">
              <a:ext uri="{FF2B5EF4-FFF2-40B4-BE49-F238E27FC236}">
                <a16:creationId xmlns:a16="http://schemas.microsoft.com/office/drawing/2014/main" id="{6EE998F5-2400-4951-A644-AC2F66AE89D2}"/>
              </a:ext>
            </a:extLst>
          </p:cNvPr>
          <p:cNvSpPr>
            <a:spLocks xmlns:a="http://schemas.openxmlformats.org/drawingml/2006/main" noGrp="1"/>
          </p:cNvSpPr>
          <p:nvPr/>
        </p:nvSpPr>
        <p:spPr>
          <a:xfrm xmlns:a="http://schemas.openxmlformats.org/drawingml/2006/main">
            <a:off x="30099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KV-aware queue</a:t>
            </a:r>
          </a:p>
        </p:txBody>
      </p:sp>
      <p:sp>
        <p:nvSpPr>
          <p:cNvPr id="9" name="">
            <a:extLst xmlns:a="http://schemas.openxmlformats.org/drawingml/2006/main">
              <a:ext uri="{FF2B5EF4-FFF2-40B4-BE49-F238E27FC236}">
                <a16:creationId xmlns:a16="http://schemas.microsoft.com/office/drawing/2014/main" id="{E75F76FB-6A4F-42CA-AEA3-84C3BDFA72BC}"/>
              </a:ext>
            </a:extLst>
          </p:cNvPr>
          <p:cNvSpPr>
            <a:spLocks xmlns:a="http://schemas.openxmlformats.org/drawingml/2006/main" noGrp="1"/>
          </p:cNvSpPr>
          <p:nvPr/>
        </p:nvSpPr>
        <p:spPr>
          <a:xfrm xmlns:a="http://schemas.openxmlformats.org/drawingml/2006/main">
            <a:off x="30289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order urgent KV first</a:t>
            </a:r>
          </a:p>
        </p:txBody>
      </p:sp>
      <p:sp>
        <p:nvSpPr>
          <p:cNvPr id="10" name="">
            <a:extLst xmlns:a="http://schemas.openxmlformats.org/drawingml/2006/main">
              <a:ext uri="{FF2B5EF4-FFF2-40B4-BE49-F238E27FC236}">
                <a16:creationId xmlns:a16="http://schemas.microsoft.com/office/drawing/2014/main" id="{0248757A-DB28-4561-A1D6-F0D79881F2A6}"/>
              </a:ext>
            </a:extLst>
          </p:cNvPr>
          <p:cNvSpPr>
            <a:spLocks xmlns:a="http://schemas.openxmlformats.org/drawingml/2006/main" noGrp="1"/>
          </p:cNvSpPr>
          <p:nvPr/>
        </p:nvSpPr>
        <p:spPr>
          <a:xfrm xmlns:a="http://schemas.openxmlformats.org/drawingml/2006/main">
            <a:off x="46101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1" name="">
            <a:extLst xmlns:a="http://schemas.openxmlformats.org/drawingml/2006/main">
              <a:ext uri="{FF2B5EF4-FFF2-40B4-BE49-F238E27FC236}">
                <a16:creationId xmlns:a16="http://schemas.microsoft.com/office/drawing/2014/main" id="{A4DDD330-5DF7-4EA4-9D76-B075106F0E85}"/>
              </a:ext>
            </a:extLst>
          </p:cNvPr>
          <p:cNvSpPr>
            <a:spLocks xmlns:a="http://schemas.openxmlformats.org/drawingml/2006/main" noGrp="1"/>
          </p:cNvSpPr>
          <p:nvPr/>
        </p:nvSpPr>
        <p:spPr>
          <a:xfrm xmlns:a="http://schemas.openxmlformats.org/drawingml/2006/main">
            <a:off x="5162550" y="1962150"/>
            <a:ext cx="1695450" cy="1695450"/>
          </a:xfrm>
          <a:prstGeom xmlns:a="http://schemas.openxmlformats.org/drawingml/2006/main" prst="roundRect">
            <a:avLst>
              <a:gd name="adj" fmla="val 3371"/>
            </a:avLst>
          </a:prstGeom>
          <a:solidFill xmlns:a="http://schemas.openxmlformats.org/drawingml/2006/main">
            <a:srgbClr val="ECFEFF"/>
          </a:solidFill>
          <a:ln xmlns:a="http://schemas.openxmlformats.org/drawingml/2006/main" w="9525">
            <a:solidFill>
              <a:srgbClr val="06B6D4"/>
            </a:solidFill>
            <a:prstDash val="solid"/>
          </a:ln>
        </p:spPr>
      </p:sp>
      <p:sp>
        <p:nvSpPr>
          <p:cNvPr id="12" name="">
            <a:extLst xmlns:a="http://schemas.openxmlformats.org/drawingml/2006/main">
              <a:ext uri="{FF2B5EF4-FFF2-40B4-BE49-F238E27FC236}">
                <a16:creationId xmlns:a16="http://schemas.microsoft.com/office/drawing/2014/main" id="{60132940-81CA-47DF-9385-425FFDACD504}"/>
              </a:ext>
            </a:extLst>
          </p:cNvPr>
          <p:cNvSpPr>
            <a:spLocks xmlns:a="http://schemas.openxmlformats.org/drawingml/2006/main" noGrp="1"/>
          </p:cNvSpPr>
          <p:nvPr/>
        </p:nvSpPr>
        <p:spPr>
          <a:xfrm xmlns:a="http://schemas.openxmlformats.org/drawingml/2006/main">
            <a:off x="53149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DMA / copy engine</a:t>
            </a:r>
          </a:p>
        </p:txBody>
      </p:sp>
      <p:sp>
        <p:nvSpPr>
          <p:cNvPr id="13" name="">
            <a:extLst xmlns:a="http://schemas.openxmlformats.org/drawingml/2006/main">
              <a:ext uri="{FF2B5EF4-FFF2-40B4-BE49-F238E27FC236}">
                <a16:creationId xmlns:a16="http://schemas.microsoft.com/office/drawing/2014/main" id="{5D554875-5F1D-4960-9753-330273947C4A}"/>
              </a:ext>
            </a:extLst>
          </p:cNvPr>
          <p:cNvSpPr>
            <a:spLocks xmlns:a="http://schemas.openxmlformats.org/drawingml/2006/main" noGrp="1"/>
          </p:cNvSpPr>
          <p:nvPr/>
        </p:nvSpPr>
        <p:spPr>
          <a:xfrm xmlns:a="http://schemas.openxmlformats.org/drawingml/2006/main">
            <a:off x="53340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throttle and prioritize</a:t>
            </a:r>
          </a:p>
        </p:txBody>
      </p:sp>
      <p:sp>
        <p:nvSpPr>
          <p:cNvPr id="14" name="">
            <a:extLst xmlns:a="http://schemas.openxmlformats.org/drawingml/2006/main">
              <a:ext uri="{FF2B5EF4-FFF2-40B4-BE49-F238E27FC236}">
                <a16:creationId xmlns:a16="http://schemas.microsoft.com/office/drawing/2014/main" id="{5F665F7A-CC19-47A7-84B1-E596DDE5E7A3}"/>
              </a:ext>
            </a:extLst>
          </p:cNvPr>
          <p:cNvSpPr>
            <a:spLocks xmlns:a="http://schemas.openxmlformats.org/drawingml/2006/main" noGrp="1"/>
          </p:cNvSpPr>
          <p:nvPr/>
        </p:nvSpPr>
        <p:spPr>
          <a:xfrm xmlns:a="http://schemas.openxmlformats.org/drawingml/2006/main">
            <a:off x="69151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5" name="">
            <a:extLst xmlns:a="http://schemas.openxmlformats.org/drawingml/2006/main">
              <a:ext uri="{FF2B5EF4-FFF2-40B4-BE49-F238E27FC236}">
                <a16:creationId xmlns:a16="http://schemas.microsoft.com/office/drawing/2014/main" id="{37D3B592-850C-4E80-844A-E4FB533B7AAD}"/>
              </a:ext>
            </a:extLst>
          </p:cNvPr>
          <p:cNvSpPr>
            <a:spLocks xmlns:a="http://schemas.openxmlformats.org/drawingml/2006/main" noGrp="1"/>
          </p:cNvSpPr>
          <p:nvPr/>
        </p:nvSpPr>
        <p:spPr>
          <a:xfrm xmlns:a="http://schemas.openxmlformats.org/drawingml/2006/main">
            <a:off x="7467600" y="1962150"/>
            <a:ext cx="1695450" cy="1695450"/>
          </a:xfrm>
          <a:prstGeom xmlns:a="http://schemas.openxmlformats.org/drawingml/2006/main" prst="roundRect">
            <a:avLst>
              <a:gd name="adj" fmla="val 3371"/>
            </a:avLst>
          </a:prstGeom>
          <a:solidFill xmlns:a="http://schemas.openxmlformats.org/drawingml/2006/main">
            <a:srgbClr val="F0FDF4"/>
          </a:solidFill>
          <a:ln xmlns:a="http://schemas.openxmlformats.org/drawingml/2006/main" w="9525">
            <a:solidFill>
              <a:srgbClr val="16A34A"/>
            </a:solidFill>
            <a:prstDash val="solid"/>
          </a:ln>
        </p:spPr>
      </p:sp>
      <p:sp>
        <p:nvSpPr>
          <p:cNvPr id="16" name="">
            <a:extLst xmlns:a="http://schemas.openxmlformats.org/drawingml/2006/main">
              <a:ext uri="{FF2B5EF4-FFF2-40B4-BE49-F238E27FC236}">
                <a16:creationId xmlns:a16="http://schemas.microsoft.com/office/drawing/2014/main" id="{3B0DBBDB-B571-4E9B-A74D-6200C3937EFE}"/>
              </a:ext>
            </a:extLst>
          </p:cNvPr>
          <p:cNvSpPr>
            <a:spLocks xmlns:a="http://schemas.openxmlformats.org/drawingml/2006/main" noGrp="1"/>
          </p:cNvSpPr>
          <p:nvPr/>
        </p:nvSpPr>
        <p:spPr>
          <a:xfrm xmlns:a="http://schemas.openxmlformats.org/drawingml/2006/main">
            <a:off x="76200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Residency control</a:t>
            </a:r>
          </a:p>
        </p:txBody>
      </p:sp>
      <p:sp>
        <p:nvSpPr>
          <p:cNvPr id="17" name="">
            <a:extLst xmlns:a="http://schemas.openxmlformats.org/drawingml/2006/main">
              <a:ext uri="{FF2B5EF4-FFF2-40B4-BE49-F238E27FC236}">
                <a16:creationId xmlns:a16="http://schemas.microsoft.com/office/drawing/2014/main" id="{0D3F9C76-623A-40D0-B579-E8BC94D384E4}"/>
              </a:ext>
            </a:extLst>
          </p:cNvPr>
          <p:cNvSpPr>
            <a:spLocks xmlns:a="http://schemas.openxmlformats.org/drawingml/2006/main" noGrp="1"/>
          </p:cNvSpPr>
          <p:nvPr/>
        </p:nvSpPr>
        <p:spPr>
          <a:xfrm xmlns:a="http://schemas.openxmlformats.org/drawingml/2006/main">
            <a:off x="76390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protect useful KV</a:t>
            </a:r>
          </a:p>
        </p:txBody>
      </p:sp>
      <p:sp>
        <p:nvSpPr>
          <p:cNvPr id="18" name="">
            <a:extLst xmlns:a="http://schemas.openxmlformats.org/drawingml/2006/main">
              <a:ext uri="{FF2B5EF4-FFF2-40B4-BE49-F238E27FC236}">
                <a16:creationId xmlns:a16="http://schemas.microsoft.com/office/drawing/2014/main" id="{12E5A710-689F-4D32-AE20-B9E6EBF3DA73}"/>
              </a:ext>
            </a:extLst>
          </p:cNvPr>
          <p:cNvSpPr>
            <a:spLocks xmlns:a="http://schemas.openxmlformats.org/drawingml/2006/main" noGrp="1"/>
          </p:cNvSpPr>
          <p:nvPr/>
        </p:nvSpPr>
        <p:spPr>
          <a:xfrm xmlns:a="http://schemas.openxmlformats.org/drawingml/2006/main">
            <a:off x="92202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9" name="">
            <a:extLst xmlns:a="http://schemas.openxmlformats.org/drawingml/2006/main">
              <a:ext uri="{FF2B5EF4-FFF2-40B4-BE49-F238E27FC236}">
                <a16:creationId xmlns:a16="http://schemas.microsoft.com/office/drawing/2014/main" id="{24D053D8-723C-4C4E-9E6B-07F074FC4090}"/>
              </a:ext>
            </a:extLst>
          </p:cNvPr>
          <p:cNvSpPr>
            <a:spLocks xmlns:a="http://schemas.openxmlformats.org/drawingml/2006/main" noGrp="1"/>
          </p:cNvSpPr>
          <p:nvPr/>
        </p:nvSpPr>
        <p:spPr>
          <a:xfrm xmlns:a="http://schemas.openxmlformats.org/drawingml/2006/main">
            <a:off x="9772650" y="1962150"/>
            <a:ext cx="1695450" cy="1695450"/>
          </a:xfrm>
          <a:prstGeom xmlns:a="http://schemas.openxmlformats.org/drawingml/2006/main" prst="roundRect">
            <a:avLst>
              <a:gd name="adj" fmla="val 3371"/>
            </a:avLst>
          </a:prstGeom>
          <a:solidFill xmlns:a="http://schemas.openxmlformats.org/drawingml/2006/main">
            <a:srgbClr val="FFF7ED"/>
          </a:solidFill>
          <a:ln xmlns:a="http://schemas.openxmlformats.org/drawingml/2006/main" w="9525">
            <a:solidFill>
              <a:srgbClr val="F97316"/>
            </a:solidFill>
            <a:prstDash val="solid"/>
          </a:ln>
        </p:spPr>
      </p:sp>
      <p:sp>
        <p:nvSpPr>
          <p:cNvPr id="20" name="">
            <a:extLst xmlns:a="http://schemas.openxmlformats.org/drawingml/2006/main">
              <a:ext uri="{FF2B5EF4-FFF2-40B4-BE49-F238E27FC236}">
                <a16:creationId xmlns:a16="http://schemas.microsoft.com/office/drawing/2014/main" id="{11D7581F-4374-4238-B2BA-419A2E80AC70}"/>
              </a:ext>
            </a:extLst>
          </p:cNvPr>
          <p:cNvSpPr>
            <a:spLocks xmlns:a="http://schemas.openxmlformats.org/drawingml/2006/main" noGrp="1"/>
          </p:cNvSpPr>
          <p:nvPr/>
        </p:nvSpPr>
        <p:spPr>
          <a:xfrm xmlns:a="http://schemas.openxmlformats.org/drawingml/2006/main">
            <a:off x="99250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Telemetry</a:t>
            </a:r>
          </a:p>
        </p:txBody>
      </p:sp>
      <p:sp>
        <p:nvSpPr>
          <p:cNvPr id="21" name="">
            <a:extLst xmlns:a="http://schemas.openxmlformats.org/drawingml/2006/main">
              <a:ext uri="{FF2B5EF4-FFF2-40B4-BE49-F238E27FC236}">
                <a16:creationId xmlns:a16="http://schemas.microsoft.com/office/drawing/2014/main" id="{884DB8A4-B899-404A-B2C2-4D372D89AEC5}"/>
              </a:ext>
            </a:extLst>
          </p:cNvPr>
          <p:cNvSpPr>
            <a:spLocks xmlns:a="http://schemas.openxmlformats.org/drawingml/2006/main" noGrp="1"/>
          </p:cNvSpPr>
          <p:nvPr/>
        </p:nvSpPr>
        <p:spPr>
          <a:xfrm xmlns:a="http://schemas.openxmlformats.org/drawingml/2006/main">
            <a:off x="99441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late / useful / wasted</a:t>
            </a:r>
          </a:p>
        </p:txBody>
      </p:sp>
      <p:sp>
        <p:nvSpPr>
          <p:cNvPr id="22" name="">
            <a:extLst xmlns:a="http://schemas.openxmlformats.org/drawingml/2006/main">
              <a:ext uri="{FF2B5EF4-FFF2-40B4-BE49-F238E27FC236}">
                <a16:creationId xmlns:a16="http://schemas.microsoft.com/office/drawing/2014/main" id="{2BB10AAA-D317-4FDE-9D2A-EBA2D5BFCC07}"/>
              </a:ext>
            </a:extLst>
          </p:cNvPr>
          <p:cNvSpPr>
            <a:spLocks xmlns:a="http://schemas.openxmlformats.org/drawingml/2006/main" noGrp="1"/>
          </p:cNvSpPr>
          <p:nvPr/>
        </p:nvSpPr>
        <p:spPr>
          <a:xfrm xmlns:a="http://schemas.openxmlformats.org/drawingml/2006/main">
            <a:off x="2000250" y="4514850"/>
            <a:ext cx="8191500" cy="800100"/>
          </a:xfrm>
          <a:prstGeom xmlns:a="http://schemas.openxmlformats.org/drawingml/2006/main" prst="roundRect">
            <a:avLst>
              <a:gd name="adj" fmla="val 7143"/>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E7577C74-0F57-4E07-B242-5626D85C497E}"/>
              </a:ext>
            </a:extLst>
          </p:cNvPr>
          <p:cNvSpPr>
            <a:spLocks xmlns:a="http://schemas.openxmlformats.org/drawingml/2006/main" noGrp="1"/>
          </p:cNvSpPr>
          <p:nvPr/>
        </p:nvSpPr>
        <p:spPr>
          <a:xfrm xmlns:a="http://schemas.openxmlformats.org/drawingml/2006/main">
            <a:off x="2247900" y="47434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F172A"/>
                </a:solidFill>
              </a:defRPr>
            </a:pPr>
            <a:r>
              <a:rPr sz="1650" b="1">
                <a:solidFill>
                  <a:srgbClr val="0F172A"/>
                </a:solidFill>
              </a:rPr>
              <a:t>Resulting research question</a:t>
            </a:r>
          </a:p>
        </p:txBody>
      </p:sp>
      <p:sp>
        <p:nvSpPr>
          <p:cNvPr id="24" name="">
            <a:extLst xmlns:a="http://schemas.openxmlformats.org/drawingml/2006/main">
              <a:ext uri="{FF2B5EF4-FFF2-40B4-BE49-F238E27FC236}">
                <a16:creationId xmlns:a16="http://schemas.microsoft.com/office/drawing/2014/main" id="{4554A24C-2E4B-4A1B-869C-C2589BF225C1}"/>
              </a:ext>
            </a:extLst>
          </p:cNvPr>
          <p:cNvSpPr>
            <a:spLocks xmlns:a="http://schemas.openxmlformats.org/drawingml/2006/main" noGrp="1"/>
          </p:cNvSpPr>
          <p:nvPr/>
        </p:nvSpPr>
        <p:spPr>
          <a:xfrm xmlns:a="http://schemas.openxmlformats.org/drawingml/2006/main">
            <a:off x="4953000" y="4686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How much replay latency and wasted movement can be avoided when KV movement has session context, priority, deadline, protection, and telemetry?</a:t>
            </a:r>
          </a:p>
        </p:txBody>
      </p:sp>
      <p:sp>
        <p:nvSpPr>
          <p:cNvPr id="25" name="">
            <a:extLst xmlns:a="http://schemas.openxmlformats.org/drawingml/2006/main">
              <a:ext uri="{FF2B5EF4-FFF2-40B4-BE49-F238E27FC236}">
                <a16:creationId xmlns:a16="http://schemas.microsoft.com/office/drawing/2014/main" id="{9C964D50-B3C3-416D-BA42-29BA6A4F76C4}"/>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6" name="">
            <a:extLst xmlns:a="http://schemas.openxmlformats.org/drawingml/2006/main">
              <a:ext uri="{FF2B5EF4-FFF2-40B4-BE49-F238E27FC236}">
                <a16:creationId xmlns:a16="http://schemas.microsoft.com/office/drawing/2014/main" id="{98B46ED2-5A57-4087-92BB-9C4D2AEEDD6C}"/>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2089895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2026-08-19T16:24:32.9270000Z</dcterms:created>
  <dcterms:modified xsi:type="dcterms:W3CDTF">2026-08-19T16:24:32.9270000Z</dcterms:modified>
</coreProperties>
</file>