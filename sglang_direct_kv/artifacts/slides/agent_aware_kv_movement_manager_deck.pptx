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ca4c5f1a6b34fd2" /><Relationship Type="http://schemas.openxmlformats.org/officeDocument/2006/relationships/extended-properties" Target="/docProps/app.xml" Id="R59568e1db7b545c8" /><Relationship Type="http://schemas.openxmlformats.org/officeDocument/2006/relationships/officeDocument" Target="/ppt/presentation.xml" Id="Rf62eac86e6974e09" /></Relationships>
</file>

<file path=ppt/presentation.xml><?xml version="1.0" encoding="utf-8"?>
<p:presentation xmlns:p="http://schemas.openxmlformats.org/presentationml/2006/main">
  <p:sldMasterIdLst>
    <p:sldMasterId xmlns:r="http://schemas.openxmlformats.org/officeDocument/2006/relationships" id="2147483648" r:id="Rdd19941f25ac4c9f"/>
  </p:sldMasterIdLst>
  <p:notesMasterIdLst>
    <p:notesMasterId xmlns:r="http://schemas.openxmlformats.org/officeDocument/2006/relationships" r:id="R3b9ab355ed5148dd"/>
  </p:notesMasterIdLst>
  <p:sldIdLst>
    <p:sldId xmlns:r="http://schemas.openxmlformats.org/officeDocument/2006/relationships" id="256" r:id="R3747018f52a847ed"/>
    <p:sldId xmlns:r="http://schemas.openxmlformats.org/officeDocument/2006/relationships" id="257" r:id="R10fb33f07ceb472a"/>
    <p:sldId xmlns:r="http://schemas.openxmlformats.org/officeDocument/2006/relationships" id="258" r:id="R1ff5d80340db4d44"/>
    <p:sldId xmlns:r="http://schemas.openxmlformats.org/officeDocument/2006/relationships" id="259" r:id="R4b61aa6434d84c08"/>
    <p:sldId xmlns:r="http://schemas.openxmlformats.org/officeDocument/2006/relationships" id="260" r:id="R1e9c2c7fe8b641bd"/>
    <p:sldId xmlns:r="http://schemas.openxmlformats.org/officeDocument/2006/relationships" id="261" r:id="Rbe6f11dc51634325"/>
    <p:sldId xmlns:r="http://schemas.openxmlformats.org/officeDocument/2006/relationships" id="262" r:id="R0256c9fd73004179"/>
    <p:sldId xmlns:r="http://schemas.openxmlformats.org/officeDocument/2006/relationships" id="263" r:id="Ra8f0a96523904ac3"/>
    <p:sldId xmlns:r="http://schemas.openxmlformats.org/officeDocument/2006/relationships" id="264" r:id="R309071f66e354c5b"/>
    <p:sldId xmlns:r="http://schemas.openxmlformats.org/officeDocument/2006/relationships" id="265" r:id="R30f277db03c14201"/>
    <p:sldId xmlns:r="http://schemas.openxmlformats.org/officeDocument/2006/relationships" id="266" r:id="R4e067635c6524ff7"/>
    <p:sldId xmlns:r="http://schemas.openxmlformats.org/officeDocument/2006/relationships" id="267" r:id="Ra1672ae8f55b456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ece60fa8b634f07" /><Relationship Type="http://schemas.openxmlformats.org/officeDocument/2006/relationships/slideMaster" Target="/ppt/slideMasters/slideMaster1.xml" Id="Rdd19941f25ac4c9f" /><Relationship Type="http://schemas.openxmlformats.org/officeDocument/2006/relationships/notesMaster" Target="/ppt/notesMasters/notesMaster1.xml" Id="R3b9ab355ed5148dd" /><Relationship Type="http://schemas.openxmlformats.org/officeDocument/2006/relationships/presProps" Target="/ppt/presProps.xml" Id="R0a7616f03e2843ec" /><Relationship Type="http://schemas.openxmlformats.org/officeDocument/2006/relationships/tableStyles" Target="/ppt/tableStyles.xml" Id="Re6325b6e06244276" /><Relationship Type="http://schemas.openxmlformats.org/officeDocument/2006/relationships/slide" Target="/ppt/slides/slide1.xml" Id="R3747018f52a847ed" /><Relationship Type="http://schemas.openxmlformats.org/officeDocument/2006/relationships/slide" Target="/ppt/slides/slide2.xml" Id="R10fb33f07ceb472a" /><Relationship Type="http://schemas.openxmlformats.org/officeDocument/2006/relationships/slide" Target="/ppt/slides/slide3.xml" Id="R1ff5d80340db4d44" /><Relationship Type="http://schemas.openxmlformats.org/officeDocument/2006/relationships/slide" Target="/ppt/slides/slide4.xml" Id="R4b61aa6434d84c08" /><Relationship Type="http://schemas.openxmlformats.org/officeDocument/2006/relationships/slide" Target="/ppt/slides/slide5.xml" Id="R1e9c2c7fe8b641bd" /><Relationship Type="http://schemas.openxmlformats.org/officeDocument/2006/relationships/slide" Target="/ppt/slides/slide6.xml" Id="Rbe6f11dc51634325" /><Relationship Type="http://schemas.openxmlformats.org/officeDocument/2006/relationships/slide" Target="/ppt/slides/slide7.xml" Id="R0256c9fd73004179" /><Relationship Type="http://schemas.openxmlformats.org/officeDocument/2006/relationships/slide" Target="/ppt/slides/slide8.xml" Id="Ra8f0a96523904ac3" /><Relationship Type="http://schemas.openxmlformats.org/officeDocument/2006/relationships/slide" Target="/ppt/slides/slide9.xml" Id="R309071f66e354c5b" /><Relationship Type="http://schemas.openxmlformats.org/officeDocument/2006/relationships/slide" Target="/ppt/slides/slide10.xml" Id="R30f277db03c14201" /><Relationship Type="http://schemas.openxmlformats.org/officeDocument/2006/relationships/slide" Target="/ppt/slides/slide11.xml" Id="R4e067635c6524ff7" /><Relationship Type="http://schemas.openxmlformats.org/officeDocument/2006/relationships/slide" Target="/ppt/slides/slide12.xml" Id="Ra1672ae8f55b456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7552b10a8b48f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df2d253a6f4336" /><Relationship Type="http://schemas.openxmlformats.org/officeDocument/2006/relationships/notesMaster" Target="/ppt/notesMasters/notesMaster1.xml" Id="R18414a77a45340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b17b4ca15fd43cb" /><Relationship Type="http://schemas.openxmlformats.org/officeDocument/2006/relationships/notesMaster" Target="/ppt/notesMasters/notesMaster1.xml" Id="R446214d0f5bb4cd1"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fe1f4ac9a8452b" /><Relationship Type="http://schemas.openxmlformats.org/officeDocument/2006/relationships/notesMaster" Target="/ppt/notesMasters/notesMaster1.xml" Id="R3621fb6eb0f244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b647b159b94031" /><Relationship Type="http://schemas.openxmlformats.org/officeDocument/2006/relationships/notesMaster" Target="/ppt/notesMasters/notesMaster1.xml" Id="R6bb300cebe3241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16b3b87236743c8" /><Relationship Type="http://schemas.openxmlformats.org/officeDocument/2006/relationships/notesMaster" Target="/ppt/notesMasters/notesMaster1.xml" Id="R4e7dd8adadb641d0" /></Relationships>
</file>

<file path=ppt/notesSlides/_rels/notesSlide6.xml.rels>&#65279;<?xml version="1.0" encoding="utf-8"?><Relationships xmlns="http://schemas.openxmlformats.org/package/2006/relationships"><Relationship Type="http://schemas.openxmlformats.org/officeDocument/2006/relationships/slide" Target="/ppt/slides/slide6.xml" Id="Rb413e1fffdea44d3" /><Relationship Type="http://schemas.openxmlformats.org/officeDocument/2006/relationships/notesMaster" Target="/ppt/notesMasters/notesMaster1.xml" Id="R6778558fdcf2490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56f962ccf1c47c3" /><Relationship Type="http://schemas.openxmlformats.org/officeDocument/2006/relationships/notesMaster" Target="/ppt/notesMasters/notesMaster1.xml" Id="Raf59e2c9f6dc493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a613b98ad84061" /><Relationship Type="http://schemas.openxmlformats.org/officeDocument/2006/relationships/notesMaster" Target="/ppt/notesMasters/notesMaster1.xml" Id="Rc1f1f9572f174f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7feb9ea7ea5c4200" /><Relationship Type="http://schemas.openxmlformats.org/officeDocument/2006/relationships/notesMaster" Target="/ppt/notesMasters/notesMaster1.xml" Id="R5091ffef0353496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f6cbc445b34f51" /><Relationship Type="http://schemas.openxmlformats.org/officeDocument/2006/relationships/notesMaster" Target="/ppt/notesMasters/notesMaster1.xml" Id="Ra06f0f3ff95648d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9e6326f0834217" /><Relationship Type="http://schemas.openxmlformats.org/officeDocument/2006/relationships/notesMaster" Target="/ppt/notesMasters/notesMaster1.xml" Id="R4f4aa84525a546d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42025938d484b20" /><Relationship Type="http://schemas.openxmlformats.org/officeDocument/2006/relationships/notesMaster" Target="/ppt/notesMasters/notesMaster1.xml" Id="R7e6f5cbd18944b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Keep the framing hardware-facing: software can provide hints, but hardware/runtime support can make those hints enforceable.</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replaces the earlier card-heavy setup with plain points.</a:t>
            </a:r>
          </a:p>
          <a:p xmlns:a="http://schemas.openxmlformats.org/drawingml/2006/main">
            <a:r>
              <a:t>Synthetic runs give clean control. Real DeepAgents/SWE-bench traces preserve coding-agent behavior.</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deliberately sparse. It should be easy to explain in one sentence.</a:t>
            </a:r>
          </a:p>
          <a:p xmlns:a="http://schemas.openxmlformats.org/drawingml/2006/main">
            <a:r>
              <a:t>The user asked to remove extra hardware/context-length details from this setup slide.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core problem slide. Keep it concise and hardware-focused.</a:t>
            </a:r>
          </a:p>
          <a:p xmlns:a="http://schemas.openxmlformats.org/drawingml/2006/main">
            <a:r>
              <a:t>Do not argue software cannot do this. The claim is that hardware can make enforcement cheaper, more predictable, and scalable.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main timeline slide. It now shows a readable crop of G00 through G03 instead of compressing all rows.</a:t>
            </a:r>
          </a:p>
          <a:p xmlns:a="http://schemas.openxmlformats.org/drawingml/2006/main">
            <a:r>
              <a:t>The cropped chart shows initial model turn, tool wait, replay path, H2D, recompute, prefill, and decode.</a:t>
            </a:r>
          </a:p>
          <a:p xmlns:a="http://schemas.openxmlformats.org/drawingml/2006/main">
            <a:r>
              <a:t>The full timeline remains available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Global prefetch margin evidence: 114 matched attempts, 112 late, 98.25% late.</a:t>
            </a:r>
          </a:p>
          <a:p xmlns:a="http://schemas.openxmlformats.org/drawingml/2006/main">
            <a:r>
              <a:t>This chart is useful for showing deadline misses at a glance.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profiled synthetic mechanism evidence.</a:t>
            </a:r>
          </a:p>
          <a:p xmlns:a="http://schemas.openxmlformats.org/drawingml/2006/main">
            <a:r>
              <a:t>It supports the claim that software/runtime scheduling and residency behavior can defeat a correct hint.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Aggregate no-prefetch evidence: 8 visible replay H2D gaps and 8 late H2D finishes.</a:t>
            </a:r>
          </a:p>
          <a:p xmlns:a="http://schemas.openxmlformats.org/drawingml/2006/main">
            <a:r>
              <a:t>This supports the deadline-aware scheduling argument.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queue timing from H2D timing.</a:t>
            </a:r>
          </a:p>
          <a:p xmlns:a="http://schemas.openxmlformats.org/drawingml/2006/main">
            <a:r>
              <a:t>Manager takeaway: a hint-aware system should affect admission, ordering, priority, and residency, not just copy calls.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synthesis of the research so far.</a:t>
            </a:r>
          </a:p>
          <a:p xmlns:a="http://schemas.openxmlformats.org/drawingml/2006/main">
            <a:r>
              <a:t>The finding list is intentionally short enough to present without reading dense boxes.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intentionally avoids internal terms such as H2D and replay-prefill on the visible canvas.</a:t>
            </a:r>
          </a:p>
          <a:p xmlns:a="http://schemas.openxmlformats.org/drawingml/2006/main">
            <a:r>
              <a:t>Translate for technical discussion: faster agent resume corresponds to lowering post-tool replay latency when KV is ready earlier.</a:t>
            </a:r>
          </a:p>
          <a:p xmlns:a="http://schemas.openxmlformats.org/drawingml/2006/main">
            <a:r>
              <a:t>Fewer wasted memory movements corresponds to reducing late prefetches, evicted-before-use KV, and redundant reloads.</a:t>
            </a:r>
          </a:p>
          <a:p xmlns:a="http://schemas.openxmlformats.org/drawingml/2006/main">
            <a:r>
              <a:t>More predictable tail latency corresponds to reducing p95/p99 stalls caused by context-agnostic memory scheduling.</a:t>
            </a:r>
          </a:p>
          <a:p xmlns:a="http://schemas.openxmlformats.org/drawingml/2006/main">
            <a:r>
              <a:t>Potential benefit ranges are conservative internal proposal targets based on observed late prefetch/replay H2D patterns and expected gains from deadline-aware KV movement.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Translate the evidence into concrete hardware support candidates.</a:t>
            </a:r>
          </a:p>
          <a:p xmlns:a="http://schemas.openxmlformats.org/drawingml/2006/main">
            <a:r>
              <a:t>These ideas map to the hardware proposal: KV metadata, semantic prefetch queue,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f651536acec4cd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156942ea144a12" /><Relationship Type="http://schemas.openxmlformats.org/officeDocument/2006/relationships/slideLayout" Target="/ppt/slideLayouts/slideLayout1.xml" Id="Re294e6d64ab644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94e6d64ab644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66e22bfb0f54992" /><Relationship Type="http://schemas.openxmlformats.org/officeDocument/2006/relationships/notesSlide" Target="/ppt/notesSlides/notesSlide1.xml" Id="R50a5d778b3e54e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2ffa51e01c04a39" /><Relationship Type="http://schemas.openxmlformats.org/officeDocument/2006/relationships/notesSlide" Target="/ppt/notesSlides/notesSlide2.xml" Id="R55c7c92fec9d48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c773dfa9efd4c32" /><Relationship Type="http://schemas.openxmlformats.org/officeDocument/2006/relationships/notesSlide" Target="/ppt/notesSlides/notesSlide3.xml" Id="Rfbe9e4d223884a1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31234f3d904233" /><Relationship Type="http://schemas.openxmlformats.org/officeDocument/2006/relationships/notesSlide" Target="/ppt/notesSlides/notesSlide4.xml" Id="R9874f96797a24c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f49407033cf4bc5" /><Relationship Type="http://schemas.openxmlformats.org/officeDocument/2006/relationships/image" Target="/ppt/media/image.png" Id="R03398cad322343bb" /><Relationship Type="http://schemas.openxmlformats.org/officeDocument/2006/relationships/notesSlide" Target="/ppt/notesSlides/notesSlide5.xml" Id="R9307f1dfe2004aa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d31a793d58a4856" /><Relationship Type="http://schemas.openxmlformats.org/officeDocument/2006/relationships/image" Target="/ppt/media/image2.png" Id="R87c2d830d1a44fa8" /><Relationship Type="http://schemas.openxmlformats.org/officeDocument/2006/relationships/notesSlide" Target="/ppt/notesSlides/notesSlide6.xml" Id="R2aa667ccefc24e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0c8f7de71aa4988" /><Relationship Type="http://schemas.openxmlformats.org/officeDocument/2006/relationships/image" Target="/ppt/media/image3.png" Id="Rd228ce6e9bb1404b" /><Relationship Type="http://schemas.openxmlformats.org/officeDocument/2006/relationships/notesSlide" Target="/ppt/notesSlides/notesSlide7.xml" Id="Rd03227fd853e49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b7e748075f04d25" /><Relationship Type="http://schemas.openxmlformats.org/officeDocument/2006/relationships/image" Target="/ppt/media/image4.png" Id="R41f096c445f74206" /><Relationship Type="http://schemas.openxmlformats.org/officeDocument/2006/relationships/notesSlide" Target="/ppt/notesSlides/notesSlide8.xml" Id="Rf43029df62f04e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ee5b84119ae436c" /><Relationship Type="http://schemas.openxmlformats.org/officeDocument/2006/relationships/image" Target="/ppt/media/image5.png" Id="R07ce41db95e24293" /><Relationship Type="http://schemas.openxmlformats.org/officeDocument/2006/relationships/notesSlide" Target="/ppt/notesSlides/notesSlide9.xml" Id="Rf9951b521aaf48c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b9d1f40a299457b" /><Relationship Type="http://schemas.openxmlformats.org/officeDocument/2006/relationships/notesSlide" Target="/ppt/notesSlides/notesSlide10.xml" Id="R26f8df573a584cf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0780a69d555411d" /><Relationship Type="http://schemas.openxmlformats.org/officeDocument/2006/relationships/notesSlide" Target="/ppt/notesSlides/notesSlide11.xml" Id="Reee812dfa397427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04e9f49fa3f4103" /><Relationship Type="http://schemas.openxmlformats.org/officeDocument/2006/relationships/notesSlide" Target="/ppt/notesSlides/notesSlide12.xml" Id="Rcedc9da7b7bb456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999D096-759A-4CF7-80BC-AEEC8EDCD149}"/>
              </a:ext>
            </a:extLst>
          </p:cNvPr>
          <p:cNvSpPr>
            <a:spLocks xmlns:a="http://schemas.openxmlformats.org/drawingml/2006/main" noGrp="1"/>
          </p:cNvSpPr>
          <p:nvPr/>
        </p:nvSpPr>
        <p:spPr>
          <a:xfrm xmlns:a="http://schemas.openxmlformats.org/drawingml/2006/main">
            <a:off x="419100" y="552450"/>
            <a:ext cx="9810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200" b="1">
                <a:solidFill>
                  <a:srgbClr val="0F172A"/>
                </a:solidFill>
              </a:defRPr>
            </a:pPr>
            <a:r>
              <a:rPr sz="420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D64462A8-A55B-4784-8D10-DFAEFC955DC2}"/>
              </a:ext>
            </a:extLst>
          </p:cNvPr>
          <p:cNvSpPr>
            <a:spLocks xmlns:a="http://schemas.openxmlformats.org/drawingml/2006/main" noGrp="1"/>
          </p:cNvSpPr>
          <p:nvPr/>
        </p:nvSpPr>
        <p:spPr>
          <a:xfrm xmlns:a="http://schemas.openxmlformats.org/drawingml/2006/main">
            <a:off x="457200" y="1809750"/>
            <a:ext cx="103822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334155"/>
                </a:solidFill>
              </a:defRPr>
            </a:pPr>
            <a:r>
              <a:rPr sz="1650"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551B11E0-FF31-4E0B-8F1B-D266111653E9}"/>
              </a:ext>
            </a:extLst>
          </p:cNvPr>
          <p:cNvSpPr>
            <a:spLocks xmlns:a="http://schemas.openxmlformats.org/drawingml/2006/main" noGrp="1"/>
          </p:cNvSpPr>
          <p:nvPr/>
        </p:nvSpPr>
        <p:spPr>
          <a:xfrm xmlns:a="http://schemas.openxmlformats.org/drawingml/2006/main">
            <a:off x="419100" y="35433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6EBA2A1-B361-410A-8182-8067D38FF181}"/>
              </a:ext>
            </a:extLst>
          </p:cNvPr>
          <p:cNvSpPr>
            <a:spLocks xmlns:a="http://schemas.openxmlformats.org/drawingml/2006/main" noGrp="1"/>
          </p:cNvSpPr>
          <p:nvPr/>
        </p:nvSpPr>
        <p:spPr>
          <a:xfrm xmlns:a="http://schemas.openxmlformats.org/drawingml/2006/main">
            <a:off x="876300" y="4000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B1693AB9-A175-4515-84EC-B4231DD9F598}"/>
              </a:ext>
            </a:extLst>
          </p:cNvPr>
          <p:cNvSpPr>
            <a:spLocks xmlns:a="http://schemas.openxmlformats.org/drawingml/2006/main" noGrp="1"/>
          </p:cNvSpPr>
          <p:nvPr/>
        </p:nvSpPr>
        <p:spPr>
          <a:xfrm xmlns:a="http://schemas.openxmlformats.org/drawingml/2006/main">
            <a:off x="1162050" y="4019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Core problem: memory movement sees bytes, not agent deadlines.</a:t>
            </a:r>
          </a:p>
        </p:txBody>
      </p:sp>
      <p:sp>
        <p:nvSpPr>
          <p:cNvPr id="6" name="">
            <a:extLst xmlns:a="http://schemas.openxmlformats.org/drawingml/2006/main">
              <a:ext uri="{FF2B5EF4-FFF2-40B4-BE49-F238E27FC236}">
                <a16:creationId xmlns:a16="http://schemas.microsoft.com/office/drawing/2014/main" id="{0436163B-6727-4BB7-A387-3D9853679692}"/>
              </a:ext>
            </a:extLst>
          </p:cNvPr>
          <p:cNvSpPr>
            <a:spLocks xmlns:a="http://schemas.openxmlformats.org/drawingml/2006/main" noGrp="1"/>
          </p:cNvSpPr>
          <p:nvPr/>
        </p:nvSpPr>
        <p:spPr>
          <a:xfrm xmlns:a="http://schemas.openxmlformats.org/drawingml/2006/main">
            <a:off x="876300" y="4552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563EB"/>
                </a:solidFill>
              </a:defRPr>
            </a:pPr>
            <a:r>
              <a:rPr sz="1950" b="1">
                <a:solidFill>
                  <a:srgbClr val="2563EB"/>
                </a:solidFill>
              </a:rPr>
              <a:t>•</a:t>
            </a:r>
          </a:p>
        </p:txBody>
      </p:sp>
      <p:sp>
        <p:nvSpPr>
          <p:cNvPr id="7" name="">
            <a:extLst xmlns:a="http://schemas.openxmlformats.org/drawingml/2006/main">
              <a:ext uri="{FF2B5EF4-FFF2-40B4-BE49-F238E27FC236}">
                <a16:creationId xmlns:a16="http://schemas.microsoft.com/office/drawing/2014/main" id="{4EB4A988-1C85-4C5E-B8B5-76DE39C0EB13}"/>
              </a:ext>
            </a:extLst>
          </p:cNvPr>
          <p:cNvSpPr>
            <a:spLocks xmlns:a="http://schemas.openxmlformats.org/drawingml/2006/main" noGrp="1"/>
          </p:cNvSpPr>
          <p:nvPr/>
        </p:nvSpPr>
        <p:spPr>
          <a:xfrm xmlns:a="http://schemas.openxmlformats.org/drawingml/2006/main">
            <a:off x="1162050" y="457200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Research target: make KV movement deadline-aware and session-aware.</a:t>
            </a:r>
          </a:p>
        </p:txBody>
      </p:sp>
      <p:sp>
        <p:nvSpPr>
          <p:cNvPr id="8" name="">
            <a:extLst xmlns:a="http://schemas.openxmlformats.org/drawingml/2006/main">
              <a:ext uri="{FF2B5EF4-FFF2-40B4-BE49-F238E27FC236}">
                <a16:creationId xmlns:a16="http://schemas.microsoft.com/office/drawing/2014/main" id="{771150D8-8CF0-4A3E-9E97-E0D8FC4948FE}"/>
              </a:ext>
            </a:extLst>
          </p:cNvPr>
          <p:cNvSpPr>
            <a:spLocks xmlns:a="http://schemas.openxmlformats.org/drawingml/2006/main" noGrp="1"/>
          </p:cNvSpPr>
          <p:nvPr/>
        </p:nvSpPr>
        <p:spPr>
          <a:xfrm xmlns:a="http://schemas.openxmlformats.org/drawingml/2006/main">
            <a:off x="876300" y="5105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16A34A"/>
                </a:solidFill>
              </a:defRPr>
            </a:pPr>
            <a:r>
              <a:rPr sz="1950" b="1">
                <a:solidFill>
                  <a:srgbClr val="16A34A"/>
                </a:solidFill>
              </a:rPr>
              <a:t>•</a:t>
            </a:r>
          </a:p>
        </p:txBody>
      </p:sp>
      <p:sp>
        <p:nvSpPr>
          <p:cNvPr id="9" name="">
            <a:extLst xmlns:a="http://schemas.openxmlformats.org/drawingml/2006/main">
              <a:ext uri="{FF2B5EF4-FFF2-40B4-BE49-F238E27FC236}">
                <a16:creationId xmlns:a16="http://schemas.microsoft.com/office/drawing/2014/main" id="{19049D14-8459-44DA-8F7B-7464BB3D6058}"/>
              </a:ext>
            </a:extLst>
          </p:cNvPr>
          <p:cNvSpPr>
            <a:spLocks xmlns:a="http://schemas.openxmlformats.org/drawingml/2006/main" noGrp="1"/>
          </p:cNvSpPr>
          <p:nvPr/>
        </p:nvSpPr>
        <p:spPr>
          <a:xfrm xmlns:a="http://schemas.openxmlformats.org/drawingml/2006/main">
            <a:off x="1162050" y="51244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Hardware angle: smarter DMA queues, KV metadata, residency protection, and telemetry.</a:t>
            </a:r>
          </a:p>
        </p:txBody>
      </p:sp>
      <p:sp>
        <p:nvSpPr>
          <p:cNvPr id="10" name="">
            <a:extLst xmlns:a="http://schemas.openxmlformats.org/drawingml/2006/main">
              <a:ext uri="{FF2B5EF4-FFF2-40B4-BE49-F238E27FC236}">
                <a16:creationId xmlns:a16="http://schemas.microsoft.com/office/drawing/2014/main" id="{5ED37489-5E99-4C6A-B836-2681A11EE898}"/>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034DCA3F-84B8-4721-8ECA-05EB7D57D81E}"/>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91948008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366AEBA-B025-4BA6-A3C0-AD2A00AFEA51}"/>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testbed has controlled and real traffic</a:t>
            </a:r>
          </a:p>
        </p:txBody>
      </p:sp>
      <p:sp>
        <p:nvSpPr>
          <p:cNvPr id="2" name="">
            <a:extLst xmlns:a="http://schemas.openxmlformats.org/drawingml/2006/main">
              <a:ext uri="{FF2B5EF4-FFF2-40B4-BE49-F238E27FC236}">
                <a16:creationId xmlns:a16="http://schemas.microsoft.com/office/drawing/2014/main" id="{1C02FFB4-E9CC-489E-8400-15C3FF99D7AF}"/>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Controlled runs expose mechanisms; real traces keep the workload credible.</a:t>
            </a:r>
          </a:p>
        </p:txBody>
      </p:sp>
      <p:sp>
        <p:nvSpPr>
          <p:cNvPr id="3" name="">
            <a:extLst xmlns:a="http://schemas.openxmlformats.org/drawingml/2006/main">
              <a:ext uri="{FF2B5EF4-FFF2-40B4-BE49-F238E27FC236}">
                <a16:creationId xmlns:a16="http://schemas.microsoft.com/office/drawing/2014/main" id="{B800EDAA-52C7-465D-8796-098C1F63E466}"/>
              </a:ext>
            </a:extLst>
          </p:cNvPr>
          <p:cNvSpPr>
            <a:spLocks xmlns:a="http://schemas.openxmlformats.org/drawingml/2006/main" noGrp="1"/>
          </p:cNvSpPr>
          <p:nvPr/>
        </p:nvSpPr>
        <p:spPr>
          <a:xfrm xmlns:a="http://schemas.openxmlformats.org/drawingml/2006/main">
            <a:off x="800100" y="17716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A082A6C2-0157-4520-AFA4-F6A7E4718D8C}"/>
              </a:ext>
            </a:extLst>
          </p:cNvPr>
          <p:cNvSpPr>
            <a:spLocks xmlns:a="http://schemas.openxmlformats.org/drawingml/2006/main" noGrp="1"/>
          </p:cNvSpPr>
          <p:nvPr/>
        </p:nvSpPr>
        <p:spPr>
          <a:xfrm xmlns:a="http://schemas.openxmlformats.org/drawingml/2006/main">
            <a:off x="1085850" y="17907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Controlled synthetic path: prompt size, tool wait, filler pressure, and replay deadline are known.</a:t>
            </a:r>
          </a:p>
        </p:txBody>
      </p:sp>
      <p:sp>
        <p:nvSpPr>
          <p:cNvPr id="5" name="">
            <a:extLst xmlns:a="http://schemas.openxmlformats.org/drawingml/2006/main">
              <a:ext uri="{FF2B5EF4-FFF2-40B4-BE49-F238E27FC236}">
                <a16:creationId xmlns:a16="http://schemas.microsoft.com/office/drawing/2014/main" id="{B2AED248-E203-4F84-A524-BA17FF42E15A}"/>
              </a:ext>
            </a:extLst>
          </p:cNvPr>
          <p:cNvSpPr>
            <a:spLocks xmlns:a="http://schemas.openxmlformats.org/drawingml/2006/main" noGrp="1"/>
          </p:cNvSpPr>
          <p:nvPr/>
        </p:nvSpPr>
        <p:spPr>
          <a:xfrm xmlns:a="http://schemas.openxmlformats.org/drawingml/2006/main">
            <a:off x="800100" y="2476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8AEA97EA-D02A-4607-BA23-E70F0BA3484D}"/>
              </a:ext>
            </a:extLst>
          </p:cNvPr>
          <p:cNvSpPr>
            <a:spLocks xmlns:a="http://schemas.openxmlformats.org/drawingml/2006/main" noGrp="1"/>
          </p:cNvSpPr>
          <p:nvPr/>
        </p:nvSpPr>
        <p:spPr>
          <a:xfrm xmlns:a="http://schemas.openxmlformats.org/drawingml/2006/main">
            <a:off x="1085850" y="249555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Real coding-agent path: SWE-bench / AgentBench traces feed DeepAgents and SGLang.</a:t>
            </a:r>
          </a:p>
        </p:txBody>
      </p:sp>
      <p:sp>
        <p:nvSpPr>
          <p:cNvPr id="7" name="">
            <a:extLst xmlns:a="http://schemas.openxmlformats.org/drawingml/2006/main">
              <a:ext uri="{FF2B5EF4-FFF2-40B4-BE49-F238E27FC236}">
                <a16:creationId xmlns:a16="http://schemas.microsoft.com/office/drawing/2014/main" id="{A498B437-4B4A-4F1D-85DA-CFF98080719F}"/>
              </a:ext>
            </a:extLst>
          </p:cNvPr>
          <p:cNvSpPr>
            <a:spLocks xmlns:a="http://schemas.openxmlformats.org/drawingml/2006/main" noGrp="1"/>
          </p:cNvSpPr>
          <p:nvPr/>
        </p:nvSpPr>
        <p:spPr>
          <a:xfrm xmlns:a="http://schemas.openxmlformats.org/drawingml/2006/main">
            <a:off x="80010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29D5D00D-7E4C-4E77-A85F-BE570151DAD2}"/>
              </a:ext>
            </a:extLst>
          </p:cNvPr>
          <p:cNvSpPr>
            <a:spLocks xmlns:a="http://schemas.openxmlformats.org/drawingml/2006/main" noGrp="1"/>
          </p:cNvSpPr>
          <p:nvPr/>
        </p:nvSpPr>
        <p:spPr>
          <a:xfrm xmlns:a="http://schemas.openxmlformats.org/drawingml/2006/main">
            <a:off x="1085850" y="32004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Both paths measure the same question: was useful KV ready before replay?</a:t>
            </a:r>
          </a:p>
        </p:txBody>
      </p:sp>
      <p:sp>
        <p:nvSpPr>
          <p:cNvPr id="9" name="">
            <a:extLst xmlns:a="http://schemas.openxmlformats.org/drawingml/2006/main">
              <a:ext uri="{FF2B5EF4-FFF2-40B4-BE49-F238E27FC236}">
                <a16:creationId xmlns:a16="http://schemas.microsoft.com/office/drawing/2014/main" id="{1A54D267-D753-4738-8EF1-4C8D87E2A077}"/>
              </a:ext>
            </a:extLst>
          </p:cNvPr>
          <p:cNvSpPr>
            <a:spLocks xmlns:a="http://schemas.openxmlformats.org/drawingml/2006/main" noGrp="1"/>
          </p:cNvSpPr>
          <p:nvPr/>
        </p:nvSpPr>
        <p:spPr>
          <a:xfrm xmlns:a="http://schemas.openxmlformats.org/drawingml/2006/main">
            <a:off x="914400" y="4533900"/>
            <a:ext cx="1009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400" b="1">
                <a:solidFill>
                  <a:srgbClr val="0F172A"/>
                </a:solidFill>
              </a:defRPr>
            </a:pPr>
            <a:r>
              <a:rPr sz="2400" b="1">
                <a:solidFill>
                  <a:srgbClr val="0F172A"/>
                </a:solidFill>
              </a:rPr>
              <a:t>agent task   →   tool wait   →   replay   →   KV ready?</a:t>
            </a:r>
          </a:p>
        </p:txBody>
      </p:sp>
      <p:sp>
        <p:nvSpPr>
          <p:cNvPr id="10" name="">
            <a:extLst xmlns:a="http://schemas.openxmlformats.org/drawingml/2006/main">
              <a:ext uri="{FF2B5EF4-FFF2-40B4-BE49-F238E27FC236}">
                <a16:creationId xmlns:a16="http://schemas.microsoft.com/office/drawing/2014/main" id="{9B69446A-ECB9-40FB-A18F-D766A8AFFCB3}"/>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E8C47FE8-C06C-40D1-BDD5-4A1C720723C5}"/>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163215099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F627859-AB02-4C7D-8A06-48E8BA78DF11}"/>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Experiment Testbed Setup</a:t>
            </a:r>
          </a:p>
        </p:txBody>
      </p:sp>
      <p:sp>
        <p:nvSpPr>
          <p:cNvPr id="2" name="">
            <a:extLst xmlns:a="http://schemas.openxmlformats.org/drawingml/2006/main">
              <a:ext uri="{FF2B5EF4-FFF2-40B4-BE49-F238E27FC236}">
                <a16:creationId xmlns:a16="http://schemas.microsoft.com/office/drawing/2014/main" id="{6B42BE96-28C6-4609-B997-9E0CB5225432}"/>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real-request path is intentionally simple.</a:t>
            </a:r>
          </a:p>
        </p:txBody>
      </p:sp>
      <p:sp>
        <p:nvSpPr>
          <p:cNvPr id="3" name="">
            <a:extLst xmlns:a="http://schemas.openxmlformats.org/drawingml/2006/main">
              <a:ext uri="{FF2B5EF4-FFF2-40B4-BE49-F238E27FC236}">
                <a16:creationId xmlns:a16="http://schemas.microsoft.com/office/drawing/2014/main" id="{4DCC4CE1-7DCF-4913-B82C-BA66EFF48997}"/>
              </a:ext>
            </a:extLst>
          </p:cNvPr>
          <p:cNvSpPr>
            <a:spLocks xmlns:a="http://schemas.openxmlformats.org/drawingml/2006/main" noGrp="1"/>
          </p:cNvSpPr>
          <p:nvPr/>
        </p:nvSpPr>
        <p:spPr>
          <a:xfrm xmlns:a="http://schemas.openxmlformats.org/drawingml/2006/main">
            <a:off x="723900"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2563EB"/>
            </a:solidFill>
            <a:prstDash val="solid"/>
          </a:ln>
        </p:spPr>
      </p:sp>
      <p:sp>
        <p:nvSpPr>
          <p:cNvPr id="4" name="">
            <a:extLst xmlns:a="http://schemas.openxmlformats.org/drawingml/2006/main">
              <a:ext uri="{FF2B5EF4-FFF2-40B4-BE49-F238E27FC236}">
                <a16:creationId xmlns:a16="http://schemas.microsoft.com/office/drawing/2014/main" id="{D07B01CA-847D-44E9-A191-53B80012434D}"/>
              </a:ext>
            </a:extLst>
          </p:cNvPr>
          <p:cNvSpPr>
            <a:spLocks xmlns:a="http://schemas.openxmlformats.org/drawingml/2006/main" noGrp="1"/>
          </p:cNvSpPr>
          <p:nvPr/>
        </p:nvSpPr>
        <p:spPr>
          <a:xfrm xmlns:a="http://schemas.openxmlformats.org/drawingml/2006/main">
            <a:off x="857250"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SWE-bench</a:t>
            </a:r>
          </a:p>
          <a:p xmlns:a="http://schemas.openxmlformats.org/drawingml/2006/main">
            <a:pPr algn="ctr">
              <a:defRPr sz="1575" b="1">
                <a:solidFill>
                  <a:srgbClr val="0F172A"/>
                </a:solidFill>
              </a:defRPr>
            </a:pPr>
            <a:r>
              <a:rPr sz="1575" b="1">
                <a:solidFill>
                  <a:srgbClr val="0F172A"/>
                </a:solidFill>
              </a:rPr>
              <a:t>traces</a:t>
            </a:r>
          </a:p>
        </p:txBody>
      </p:sp>
      <p:sp>
        <p:nvSpPr>
          <p:cNvPr id="5" name="">
            <a:extLst xmlns:a="http://schemas.openxmlformats.org/drawingml/2006/main">
              <a:ext uri="{FF2B5EF4-FFF2-40B4-BE49-F238E27FC236}">
                <a16:creationId xmlns:a16="http://schemas.microsoft.com/office/drawing/2014/main" id="{0B2305FF-C99E-4244-8FFE-0971A775A042}"/>
              </a:ext>
            </a:extLst>
          </p:cNvPr>
          <p:cNvSpPr>
            <a:spLocks xmlns:a="http://schemas.openxmlformats.org/drawingml/2006/main" noGrp="1"/>
          </p:cNvSpPr>
          <p:nvPr/>
        </p:nvSpPr>
        <p:spPr>
          <a:xfrm xmlns:a="http://schemas.openxmlformats.org/drawingml/2006/main">
            <a:off x="3043238"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6" name="">
            <a:extLst xmlns:a="http://schemas.openxmlformats.org/drawingml/2006/main">
              <a:ext uri="{FF2B5EF4-FFF2-40B4-BE49-F238E27FC236}">
                <a16:creationId xmlns:a16="http://schemas.microsoft.com/office/drawing/2014/main" id="{F51AB654-A528-4F5A-9950-6E2940A608DB}"/>
              </a:ext>
            </a:extLst>
          </p:cNvPr>
          <p:cNvSpPr>
            <a:spLocks xmlns:a="http://schemas.openxmlformats.org/drawingml/2006/main" noGrp="1"/>
          </p:cNvSpPr>
          <p:nvPr/>
        </p:nvSpPr>
        <p:spPr>
          <a:xfrm xmlns:a="http://schemas.openxmlformats.org/drawingml/2006/main">
            <a:off x="3557588"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9333EA"/>
            </a:solidFill>
            <a:prstDash val="solid"/>
          </a:ln>
        </p:spPr>
      </p:sp>
      <p:sp>
        <p:nvSpPr>
          <p:cNvPr id="7" name="">
            <a:extLst xmlns:a="http://schemas.openxmlformats.org/drawingml/2006/main">
              <a:ext uri="{FF2B5EF4-FFF2-40B4-BE49-F238E27FC236}">
                <a16:creationId xmlns:a16="http://schemas.microsoft.com/office/drawing/2014/main" id="{98782638-8633-49D7-9F9E-6CAC908380A1}"/>
              </a:ext>
            </a:extLst>
          </p:cNvPr>
          <p:cNvSpPr>
            <a:spLocks xmlns:a="http://schemas.openxmlformats.org/drawingml/2006/main" noGrp="1"/>
          </p:cNvSpPr>
          <p:nvPr/>
        </p:nvSpPr>
        <p:spPr>
          <a:xfrm xmlns:a="http://schemas.openxmlformats.org/drawingml/2006/main">
            <a:off x="3690938"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DeepAgents</a:t>
            </a:r>
          </a:p>
          <a:p xmlns:a="http://schemas.openxmlformats.org/drawingml/2006/main">
            <a:pPr algn="ctr">
              <a:defRPr sz="1575" b="1">
                <a:solidFill>
                  <a:srgbClr val="0F172A"/>
                </a:solidFill>
              </a:defRPr>
            </a:pPr>
            <a:r>
              <a:rPr sz="1575" b="1">
                <a:solidFill>
                  <a:srgbClr val="0F172A"/>
                </a:solidFill>
              </a:rPr>
              <a:t>tool loop</a:t>
            </a:r>
          </a:p>
        </p:txBody>
      </p:sp>
      <p:sp>
        <p:nvSpPr>
          <p:cNvPr id="8" name="">
            <a:extLst xmlns:a="http://schemas.openxmlformats.org/drawingml/2006/main">
              <a:ext uri="{FF2B5EF4-FFF2-40B4-BE49-F238E27FC236}">
                <a16:creationId xmlns:a16="http://schemas.microsoft.com/office/drawing/2014/main" id="{0F152DED-FE32-49C2-A6D8-3F104BFE08FD}"/>
              </a:ext>
            </a:extLst>
          </p:cNvPr>
          <p:cNvSpPr>
            <a:spLocks xmlns:a="http://schemas.openxmlformats.org/drawingml/2006/main" noGrp="1"/>
          </p:cNvSpPr>
          <p:nvPr/>
        </p:nvSpPr>
        <p:spPr>
          <a:xfrm xmlns:a="http://schemas.openxmlformats.org/drawingml/2006/main">
            <a:off x="5876925"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9" name="">
            <a:extLst xmlns:a="http://schemas.openxmlformats.org/drawingml/2006/main">
              <a:ext uri="{FF2B5EF4-FFF2-40B4-BE49-F238E27FC236}">
                <a16:creationId xmlns:a16="http://schemas.microsoft.com/office/drawing/2014/main" id="{9ACC85D3-694C-489F-B442-19DBD80494D0}"/>
              </a:ext>
            </a:extLst>
          </p:cNvPr>
          <p:cNvSpPr>
            <a:spLocks xmlns:a="http://schemas.openxmlformats.org/drawingml/2006/main" noGrp="1"/>
          </p:cNvSpPr>
          <p:nvPr/>
        </p:nvSpPr>
        <p:spPr>
          <a:xfrm xmlns:a="http://schemas.openxmlformats.org/drawingml/2006/main">
            <a:off x="6391275"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0891B2"/>
            </a:solidFill>
            <a:prstDash val="solid"/>
          </a:ln>
        </p:spPr>
      </p:sp>
      <p:sp>
        <p:nvSpPr>
          <p:cNvPr id="10" name="">
            <a:extLst xmlns:a="http://schemas.openxmlformats.org/drawingml/2006/main">
              <a:ext uri="{FF2B5EF4-FFF2-40B4-BE49-F238E27FC236}">
                <a16:creationId xmlns:a16="http://schemas.microsoft.com/office/drawing/2014/main" id="{A9FEAF2A-CFBB-4AA4-9BFE-23191E9717D4}"/>
              </a:ext>
            </a:extLst>
          </p:cNvPr>
          <p:cNvSpPr>
            <a:spLocks xmlns:a="http://schemas.openxmlformats.org/drawingml/2006/main" noGrp="1"/>
          </p:cNvSpPr>
          <p:nvPr/>
        </p:nvSpPr>
        <p:spPr>
          <a:xfrm xmlns:a="http://schemas.openxmlformats.org/drawingml/2006/main">
            <a:off x="6524625"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SGLang</a:t>
            </a:r>
          </a:p>
          <a:p xmlns:a="http://schemas.openxmlformats.org/drawingml/2006/main">
            <a:pPr algn="ctr">
              <a:defRPr sz="1575" b="1">
                <a:solidFill>
                  <a:srgbClr val="0F172A"/>
                </a:solidFill>
              </a:defRPr>
            </a:pPr>
            <a:r>
              <a:rPr sz="1575" b="1">
                <a:solidFill>
                  <a:srgbClr val="0F172A"/>
                </a:solidFill>
              </a:rPr>
              <a:t>server</a:t>
            </a:r>
          </a:p>
        </p:txBody>
      </p:sp>
      <p:sp>
        <p:nvSpPr>
          <p:cNvPr id="11" name="">
            <a:extLst xmlns:a="http://schemas.openxmlformats.org/drawingml/2006/main">
              <a:ext uri="{FF2B5EF4-FFF2-40B4-BE49-F238E27FC236}">
                <a16:creationId xmlns:a16="http://schemas.microsoft.com/office/drawing/2014/main" id="{0A11457D-1C9A-4B5F-96EB-1F4FB101D392}"/>
              </a:ext>
            </a:extLst>
          </p:cNvPr>
          <p:cNvSpPr>
            <a:spLocks xmlns:a="http://schemas.openxmlformats.org/drawingml/2006/main" noGrp="1"/>
          </p:cNvSpPr>
          <p:nvPr/>
        </p:nvSpPr>
        <p:spPr>
          <a:xfrm xmlns:a="http://schemas.openxmlformats.org/drawingml/2006/main">
            <a:off x="8710613"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12" name="">
            <a:extLst xmlns:a="http://schemas.openxmlformats.org/drawingml/2006/main">
              <a:ext uri="{FF2B5EF4-FFF2-40B4-BE49-F238E27FC236}">
                <a16:creationId xmlns:a16="http://schemas.microsoft.com/office/drawing/2014/main" id="{45123D2E-16F3-46CB-89A8-9BEF07410FF1}"/>
              </a:ext>
            </a:extLst>
          </p:cNvPr>
          <p:cNvSpPr>
            <a:spLocks xmlns:a="http://schemas.openxmlformats.org/drawingml/2006/main" noGrp="1"/>
          </p:cNvSpPr>
          <p:nvPr/>
        </p:nvSpPr>
        <p:spPr>
          <a:xfrm xmlns:a="http://schemas.openxmlformats.org/drawingml/2006/main">
            <a:off x="9224963"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16A34A"/>
            </a:solidFill>
            <a:prstDash val="solid"/>
          </a:ln>
        </p:spPr>
      </p:sp>
      <p:sp>
        <p:nvSpPr>
          <p:cNvPr id="13" name="">
            <a:extLst xmlns:a="http://schemas.openxmlformats.org/drawingml/2006/main">
              <a:ext uri="{FF2B5EF4-FFF2-40B4-BE49-F238E27FC236}">
                <a16:creationId xmlns:a16="http://schemas.microsoft.com/office/drawing/2014/main" id="{138EC3F0-85B9-439D-9B72-0C8FEA314104}"/>
              </a:ext>
            </a:extLst>
          </p:cNvPr>
          <p:cNvSpPr>
            <a:spLocks xmlns:a="http://schemas.openxmlformats.org/drawingml/2006/main" noGrp="1"/>
          </p:cNvSpPr>
          <p:nvPr/>
        </p:nvSpPr>
        <p:spPr>
          <a:xfrm xmlns:a="http://schemas.openxmlformats.org/drawingml/2006/main">
            <a:off x="9358313"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KV/cache</a:t>
            </a:r>
          </a:p>
          <a:p xmlns:a="http://schemas.openxmlformats.org/drawingml/2006/main">
            <a:pPr algn="ctr">
              <a:defRPr sz="1575" b="1">
                <a:solidFill>
                  <a:srgbClr val="0F172A"/>
                </a:solidFill>
              </a:defRPr>
            </a:pPr>
            <a:r>
              <a:rPr sz="1575" b="1">
                <a:solidFill>
                  <a:srgbClr val="0F172A"/>
                </a:solidFill>
              </a:rPr>
              <a:t>observations</a:t>
            </a:r>
          </a:p>
        </p:txBody>
      </p:sp>
      <p:sp>
        <p:nvSpPr>
          <p:cNvPr id="14" name="">
            <a:extLst xmlns:a="http://schemas.openxmlformats.org/drawingml/2006/main">
              <a:ext uri="{FF2B5EF4-FFF2-40B4-BE49-F238E27FC236}">
                <a16:creationId xmlns:a16="http://schemas.microsoft.com/office/drawing/2014/main" id="{6B294024-E17D-48BE-A71C-850663A7A560}"/>
              </a:ext>
            </a:extLst>
          </p:cNvPr>
          <p:cNvSpPr>
            <a:spLocks xmlns:a="http://schemas.openxmlformats.org/drawingml/2006/main" noGrp="1"/>
          </p:cNvSpPr>
          <p:nvPr/>
        </p:nvSpPr>
        <p:spPr>
          <a:xfrm xmlns:a="http://schemas.openxmlformats.org/drawingml/2006/main">
            <a:off x="1143000" y="3886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9333EA"/>
                </a:solidFill>
              </a:defRPr>
            </a:pPr>
            <a:r>
              <a:rPr sz="1875" b="1">
                <a:solidFill>
                  <a:srgbClr val="9333EA"/>
                </a:solidFill>
              </a:rPr>
              <a:t>•</a:t>
            </a:r>
          </a:p>
        </p:txBody>
      </p:sp>
      <p:sp>
        <p:nvSpPr>
          <p:cNvPr id="15" name="">
            <a:extLst xmlns:a="http://schemas.openxmlformats.org/drawingml/2006/main">
              <a:ext uri="{FF2B5EF4-FFF2-40B4-BE49-F238E27FC236}">
                <a16:creationId xmlns:a16="http://schemas.microsoft.com/office/drawing/2014/main" id="{7BCE3C3B-4971-4BB7-BD21-53CDF3FD3E81}"/>
              </a:ext>
            </a:extLst>
          </p:cNvPr>
          <p:cNvSpPr>
            <a:spLocks xmlns:a="http://schemas.openxmlformats.org/drawingml/2006/main" noGrp="1"/>
          </p:cNvSpPr>
          <p:nvPr/>
        </p:nvSpPr>
        <p:spPr>
          <a:xfrm xmlns:a="http://schemas.openxmlformats.org/drawingml/2006/main">
            <a:off x="1428750" y="39052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DeepAgents produces model turns and tool-call gaps.</a:t>
            </a:r>
          </a:p>
        </p:txBody>
      </p:sp>
      <p:sp>
        <p:nvSpPr>
          <p:cNvPr id="16" name="">
            <a:extLst xmlns:a="http://schemas.openxmlformats.org/drawingml/2006/main">
              <a:ext uri="{FF2B5EF4-FFF2-40B4-BE49-F238E27FC236}">
                <a16:creationId xmlns:a16="http://schemas.microsoft.com/office/drawing/2014/main" id="{CC82C95E-4814-46D0-BB6F-06DFA2BCB605}"/>
              </a:ext>
            </a:extLst>
          </p:cNvPr>
          <p:cNvSpPr>
            <a:spLocks xmlns:a="http://schemas.openxmlformats.org/drawingml/2006/main" noGrp="1"/>
          </p:cNvSpPr>
          <p:nvPr/>
        </p:nvSpPr>
        <p:spPr>
          <a:xfrm xmlns:a="http://schemas.openxmlformats.org/drawingml/2006/main">
            <a:off x="1143000" y="4381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891B2"/>
                </a:solidFill>
              </a:defRPr>
            </a:pPr>
            <a:r>
              <a:rPr sz="1875" b="1">
                <a:solidFill>
                  <a:srgbClr val="0891B2"/>
                </a:solidFill>
              </a:rPr>
              <a:t>•</a:t>
            </a:r>
          </a:p>
        </p:txBody>
      </p:sp>
      <p:sp>
        <p:nvSpPr>
          <p:cNvPr id="17" name="">
            <a:extLst xmlns:a="http://schemas.openxmlformats.org/drawingml/2006/main">
              <a:ext uri="{FF2B5EF4-FFF2-40B4-BE49-F238E27FC236}">
                <a16:creationId xmlns:a16="http://schemas.microsoft.com/office/drawing/2014/main" id="{E2F65A74-33BA-471C-A26C-D12F415FA817}"/>
              </a:ext>
            </a:extLst>
          </p:cNvPr>
          <p:cNvSpPr>
            <a:spLocks xmlns:a="http://schemas.openxmlformats.org/drawingml/2006/main" noGrp="1"/>
          </p:cNvSpPr>
          <p:nvPr/>
        </p:nvSpPr>
        <p:spPr>
          <a:xfrm xmlns:a="http://schemas.openxmlformats.org/drawingml/2006/main">
            <a:off x="1428750" y="4400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SGLang serves the model and exposes KV/cache behavior through our hooks.</a:t>
            </a:r>
          </a:p>
        </p:txBody>
      </p:sp>
      <p:sp>
        <p:nvSpPr>
          <p:cNvPr id="18" name="">
            <a:extLst xmlns:a="http://schemas.openxmlformats.org/drawingml/2006/main">
              <a:ext uri="{FF2B5EF4-FFF2-40B4-BE49-F238E27FC236}">
                <a16:creationId xmlns:a16="http://schemas.microsoft.com/office/drawing/2014/main" id="{4A68D147-703E-4637-AC5F-C9C0656F5DE3}"/>
              </a:ext>
            </a:extLst>
          </p:cNvPr>
          <p:cNvSpPr>
            <a:spLocks xmlns:a="http://schemas.openxmlformats.org/drawingml/2006/main" noGrp="1"/>
          </p:cNvSpPr>
          <p:nvPr/>
        </p:nvSpPr>
        <p:spPr>
          <a:xfrm xmlns:a="http://schemas.openxmlformats.org/drawingml/2006/main">
            <a:off x="1143000" y="4876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16A34A"/>
                </a:solidFill>
              </a:defRPr>
            </a:pPr>
            <a:r>
              <a:rPr sz="1875" b="1">
                <a:solidFill>
                  <a:srgbClr val="16A34A"/>
                </a:solidFill>
              </a:rPr>
              <a:t>•</a:t>
            </a:r>
          </a:p>
        </p:txBody>
      </p:sp>
      <p:sp>
        <p:nvSpPr>
          <p:cNvPr id="19" name="">
            <a:extLst xmlns:a="http://schemas.openxmlformats.org/drawingml/2006/main">
              <a:ext uri="{FF2B5EF4-FFF2-40B4-BE49-F238E27FC236}">
                <a16:creationId xmlns:a16="http://schemas.microsoft.com/office/drawing/2014/main" id="{E74A9A7A-F300-4F31-97EB-257E8CFC3F03}"/>
              </a:ext>
            </a:extLst>
          </p:cNvPr>
          <p:cNvSpPr>
            <a:spLocks xmlns:a="http://schemas.openxmlformats.org/drawingml/2006/main" noGrp="1"/>
          </p:cNvSpPr>
          <p:nvPr/>
        </p:nvSpPr>
        <p:spPr>
          <a:xfrm xmlns:a="http://schemas.openxmlformats.org/drawingml/2006/main">
            <a:off x="1428750" y="48958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Reports compare replay timing, H2D movement, recompute, and prefetch readiness.</a:t>
            </a:r>
          </a:p>
        </p:txBody>
      </p:sp>
      <p:sp>
        <p:nvSpPr>
          <p:cNvPr id="20" name="">
            <a:extLst xmlns:a="http://schemas.openxmlformats.org/drawingml/2006/main">
              <a:ext uri="{FF2B5EF4-FFF2-40B4-BE49-F238E27FC236}">
                <a16:creationId xmlns:a16="http://schemas.microsoft.com/office/drawing/2014/main" id="{931EF4F4-01E2-4DAF-AB06-4C753BF5C5D8}"/>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1" name="">
            <a:extLst xmlns:a="http://schemas.openxmlformats.org/drawingml/2006/main">
              <a:ext uri="{FF2B5EF4-FFF2-40B4-BE49-F238E27FC236}">
                <a16:creationId xmlns:a16="http://schemas.microsoft.com/office/drawing/2014/main" id="{F85F8079-4B4D-40CA-93B3-5733C0B9FA1E}"/>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13025810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9602FB3-19F6-4E32-B98E-A1D9E0BA98A7}"/>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D7556F94-9E43-4C0F-9C5A-5D6B37C6DFB7}"/>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That limits how well software hints can be enforced.</a:t>
            </a:r>
          </a:p>
        </p:txBody>
      </p:sp>
      <p:sp>
        <p:nvSpPr>
          <p:cNvPr id="3" name="">
            <a:extLst xmlns:a="http://schemas.openxmlformats.org/drawingml/2006/main">
              <a:ext uri="{FF2B5EF4-FFF2-40B4-BE49-F238E27FC236}">
                <a16:creationId xmlns:a16="http://schemas.microsoft.com/office/drawing/2014/main" id="{09BDFCE1-A0DE-4214-99F7-B73FC2AAFE31}"/>
              </a:ext>
            </a:extLst>
          </p:cNvPr>
          <p:cNvSpPr>
            <a:spLocks xmlns:a="http://schemas.openxmlformats.org/drawingml/2006/main" noGrp="1"/>
          </p:cNvSpPr>
          <p:nvPr/>
        </p:nvSpPr>
        <p:spPr>
          <a:xfrm xmlns:a="http://schemas.openxmlformats.org/drawingml/2006/main">
            <a:off x="857250" y="1733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563EB"/>
                </a:solidFill>
              </a:defRPr>
            </a:pPr>
            <a:r>
              <a:rPr sz="2100" b="1">
                <a:solidFill>
                  <a:srgbClr val="2563EB"/>
                </a:solidFill>
              </a:rPr>
              <a:t>•</a:t>
            </a:r>
          </a:p>
        </p:txBody>
      </p:sp>
      <p:sp>
        <p:nvSpPr>
          <p:cNvPr id="4" name="">
            <a:extLst xmlns:a="http://schemas.openxmlformats.org/drawingml/2006/main">
              <a:ext uri="{FF2B5EF4-FFF2-40B4-BE49-F238E27FC236}">
                <a16:creationId xmlns:a16="http://schemas.microsoft.com/office/drawing/2014/main" id="{19F8B51E-1714-42B6-9EBB-7DDF11681CAC}"/>
              </a:ext>
            </a:extLst>
          </p:cNvPr>
          <p:cNvSpPr>
            <a:spLocks xmlns:a="http://schemas.openxmlformats.org/drawingml/2006/main" noGrp="1"/>
          </p:cNvSpPr>
          <p:nvPr/>
        </p:nvSpPr>
        <p:spPr>
          <a:xfrm xmlns:a="http://schemas.openxmlformats.org/drawingml/2006/main">
            <a:off x="1143000" y="17526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which KV belongs to which agent session.</a:t>
            </a:r>
          </a:p>
        </p:txBody>
      </p:sp>
      <p:sp>
        <p:nvSpPr>
          <p:cNvPr id="5" name="">
            <a:extLst xmlns:a="http://schemas.openxmlformats.org/drawingml/2006/main">
              <a:ext uri="{FF2B5EF4-FFF2-40B4-BE49-F238E27FC236}">
                <a16:creationId xmlns:a16="http://schemas.microsoft.com/office/drawing/2014/main" id="{DFBE21A4-6EDD-40E9-80F6-C3E24D50F9D8}"/>
              </a:ext>
            </a:extLst>
          </p:cNvPr>
          <p:cNvSpPr>
            <a:spLocks xmlns:a="http://schemas.openxmlformats.org/drawingml/2006/main" noGrp="1"/>
          </p:cNvSpPr>
          <p:nvPr/>
        </p:nvSpPr>
        <p:spPr>
          <a:xfrm xmlns:a="http://schemas.openxmlformats.org/drawingml/2006/main">
            <a:off x="857250" y="24574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9333EA"/>
                </a:solidFill>
              </a:defRPr>
            </a:pPr>
            <a:r>
              <a:rPr sz="2100" b="1">
                <a:solidFill>
                  <a:srgbClr val="9333EA"/>
                </a:solidFill>
              </a:rPr>
              <a:t>•</a:t>
            </a:r>
          </a:p>
        </p:txBody>
      </p:sp>
      <p:sp>
        <p:nvSpPr>
          <p:cNvPr id="6" name="">
            <a:extLst xmlns:a="http://schemas.openxmlformats.org/drawingml/2006/main">
              <a:ext uri="{FF2B5EF4-FFF2-40B4-BE49-F238E27FC236}">
                <a16:creationId xmlns:a16="http://schemas.microsoft.com/office/drawing/2014/main" id="{5B269D25-3E5D-4D04-AF67-1460883832E0}"/>
              </a:ext>
            </a:extLst>
          </p:cNvPr>
          <p:cNvSpPr>
            <a:spLocks xmlns:a="http://schemas.openxmlformats.org/drawingml/2006/main" noGrp="1"/>
          </p:cNvSpPr>
          <p:nvPr/>
        </p:nvSpPr>
        <p:spPr>
          <a:xfrm xmlns:a="http://schemas.openxmlformats.org/drawingml/2006/main">
            <a:off x="1143000" y="2476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when the agent will replay after a tool call.</a:t>
            </a:r>
          </a:p>
        </p:txBody>
      </p:sp>
      <p:sp>
        <p:nvSpPr>
          <p:cNvPr id="7" name="">
            <a:extLst xmlns:a="http://schemas.openxmlformats.org/drawingml/2006/main">
              <a:ext uri="{FF2B5EF4-FFF2-40B4-BE49-F238E27FC236}">
                <a16:creationId xmlns:a16="http://schemas.microsoft.com/office/drawing/2014/main" id="{528310A9-45D1-4AD1-A3B5-92FB1F5ECA01}"/>
              </a:ext>
            </a:extLst>
          </p:cNvPr>
          <p:cNvSpPr>
            <a:spLocks xmlns:a="http://schemas.openxmlformats.org/drawingml/2006/main" noGrp="1"/>
          </p:cNvSpPr>
          <p:nvPr/>
        </p:nvSpPr>
        <p:spPr>
          <a:xfrm xmlns:a="http://schemas.openxmlformats.org/drawingml/2006/main">
            <a:off x="85725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DC2626"/>
                </a:solidFill>
              </a:defRPr>
            </a:pPr>
            <a:r>
              <a:rPr sz="2100" b="1">
                <a:solidFill>
                  <a:srgbClr val="DC2626"/>
                </a:solidFill>
              </a:rPr>
              <a:t>•</a:t>
            </a:r>
          </a:p>
        </p:txBody>
      </p:sp>
      <p:sp>
        <p:nvSpPr>
          <p:cNvPr id="8" name="">
            <a:extLst xmlns:a="http://schemas.openxmlformats.org/drawingml/2006/main">
              <a:ext uri="{FF2B5EF4-FFF2-40B4-BE49-F238E27FC236}">
                <a16:creationId xmlns:a16="http://schemas.microsoft.com/office/drawing/2014/main" id="{AE85884D-6F56-426C-8EE9-798EA0CD5293}"/>
              </a:ext>
            </a:extLst>
          </p:cNvPr>
          <p:cNvSpPr>
            <a:spLocks xmlns:a="http://schemas.openxmlformats.org/drawingml/2006/main" noGrp="1"/>
          </p:cNvSpPr>
          <p:nvPr/>
        </p:nvSpPr>
        <p:spPr>
          <a:xfrm xmlns:a="http://schemas.openxmlformats.org/drawingml/2006/main">
            <a:off x="1143000" y="32004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whether evicting prefetched KV wastes the hint.</a:t>
            </a:r>
          </a:p>
        </p:txBody>
      </p:sp>
      <p:sp>
        <p:nvSpPr>
          <p:cNvPr id="9" name="">
            <a:extLst xmlns:a="http://schemas.openxmlformats.org/drawingml/2006/main">
              <a:ext uri="{FF2B5EF4-FFF2-40B4-BE49-F238E27FC236}">
                <a16:creationId xmlns:a16="http://schemas.microsoft.com/office/drawing/2014/main" id="{403A50A0-6F3A-451C-A412-18896299D078}"/>
              </a:ext>
            </a:extLst>
          </p:cNvPr>
          <p:cNvSpPr>
            <a:spLocks xmlns:a="http://schemas.openxmlformats.org/drawingml/2006/main" noGrp="1"/>
          </p:cNvSpPr>
          <p:nvPr/>
        </p:nvSpPr>
        <p:spPr>
          <a:xfrm xmlns:a="http://schemas.openxmlformats.org/drawingml/2006/main">
            <a:off x="857250" y="39052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6A34A"/>
                </a:solidFill>
              </a:defRPr>
            </a:pPr>
            <a:r>
              <a:rPr sz="2100" b="1">
                <a:solidFill>
                  <a:srgbClr val="16A34A"/>
                </a:solidFill>
              </a:rPr>
              <a:t>•</a:t>
            </a:r>
          </a:p>
        </p:txBody>
      </p:sp>
      <p:sp>
        <p:nvSpPr>
          <p:cNvPr id="10" name="">
            <a:extLst xmlns:a="http://schemas.openxmlformats.org/drawingml/2006/main">
              <a:ext uri="{FF2B5EF4-FFF2-40B4-BE49-F238E27FC236}">
                <a16:creationId xmlns:a16="http://schemas.microsoft.com/office/drawing/2014/main" id="{2DFDE137-9658-4239-913D-3C1B62B790AF}"/>
              </a:ext>
            </a:extLst>
          </p:cNvPr>
          <p:cNvSpPr>
            <a:spLocks xmlns:a="http://schemas.openxmlformats.org/drawingml/2006/main" noGrp="1"/>
          </p:cNvSpPr>
          <p:nvPr/>
        </p:nvSpPr>
        <p:spPr>
          <a:xfrm xmlns:a="http://schemas.openxmlformats.org/drawingml/2006/main">
            <a:off x="1143000" y="39243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expose enough semantic telemetry: useful, late, wasted, or evicted-before-use.</a:t>
            </a:r>
          </a:p>
        </p:txBody>
      </p:sp>
      <p:sp>
        <p:nvSpPr>
          <p:cNvPr id="11" name="">
            <a:extLst xmlns:a="http://schemas.openxmlformats.org/drawingml/2006/main">
              <a:ext uri="{FF2B5EF4-FFF2-40B4-BE49-F238E27FC236}">
                <a16:creationId xmlns:a16="http://schemas.microsoft.com/office/drawing/2014/main" id="{2AF7C44A-E089-4380-B706-A2191DDA7CC4}"/>
              </a:ext>
            </a:extLst>
          </p:cNvPr>
          <p:cNvSpPr>
            <a:spLocks xmlns:a="http://schemas.openxmlformats.org/drawingml/2006/main" noGrp="1"/>
          </p:cNvSpPr>
          <p:nvPr/>
        </p:nvSpPr>
        <p:spPr>
          <a:xfrm xmlns:a="http://schemas.openxmlformats.org/drawingml/2006/main">
            <a:off x="419100" y="51435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F1369A4-A693-406E-8690-616C886FEA22}"/>
              </a:ext>
            </a:extLst>
          </p:cNvPr>
          <p:cNvSpPr>
            <a:spLocks xmlns:a="http://schemas.openxmlformats.org/drawingml/2006/main" noGrp="1"/>
          </p:cNvSpPr>
          <p:nvPr/>
        </p:nvSpPr>
        <p:spPr>
          <a:xfrm xmlns:a="http://schemas.openxmlformats.org/drawingml/2006/main">
            <a:off x="876300" y="5448300"/>
            <a:ext cx="981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F172A"/>
                </a:solidFill>
              </a:defRPr>
            </a:pPr>
            <a:r>
              <a:rPr sz="1875" b="1">
                <a:solidFill>
                  <a:srgbClr val="0F172A"/>
                </a:solidFill>
              </a:rPr>
              <a:t>Hardware opportunity: add KV/session context to the memory movement path.</a:t>
            </a:r>
          </a:p>
        </p:txBody>
      </p:sp>
      <p:sp>
        <p:nvSpPr>
          <p:cNvPr id="13" name="">
            <a:extLst xmlns:a="http://schemas.openxmlformats.org/drawingml/2006/main">
              <a:ext uri="{FF2B5EF4-FFF2-40B4-BE49-F238E27FC236}">
                <a16:creationId xmlns:a16="http://schemas.microsoft.com/office/drawing/2014/main" id="{54FF001E-154C-4FDC-9A26-58272C0F4785}"/>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632D79FC-1D1C-4608-A194-D6DFDBF2DD8E}"/>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207908983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6743AEB-9A7E-469F-89C5-FBF353603AF5}"/>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 path exposes the bottleneck</a:t>
            </a:r>
          </a:p>
        </p:txBody>
      </p:sp>
      <p:sp>
        <p:nvSpPr>
          <p:cNvPr id="2" name="">
            <a:extLst xmlns:a="http://schemas.openxmlformats.org/drawingml/2006/main">
              <a:ext uri="{FF2B5EF4-FFF2-40B4-BE49-F238E27FC236}">
                <a16:creationId xmlns:a16="http://schemas.microsoft.com/office/drawing/2014/main" id="{3570B6B9-0AE0-4999-8C5A-7E0439CB1F24}"/>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Each row is one tool-gap replay; the replay path shows where time goes before the first token.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3398cad322343bb"/>
          <a:stretch xmlns:a="http://schemas.openxmlformats.org/drawingml/2006/main"/>
        </p:blipFill>
        <p:spPr>
          <a:xfrm xmlns:a="http://schemas.openxmlformats.org/drawingml/2006/main">
            <a:off x="1024101" y="1295400"/>
            <a:ext cx="10143798" cy="4171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ED940DF-D65F-4087-A1C9-D65A50DE7C4A}"/>
              </a:ext>
            </a:extLst>
          </p:cNvPr>
          <p:cNvSpPr>
            <a:spLocks xmlns:a="http://schemas.openxmlformats.org/drawingml/2006/main" noGrp="1"/>
          </p:cNvSpPr>
          <p:nvPr/>
        </p:nvSpPr>
        <p:spPr>
          <a:xfrm xmlns:a="http://schemas.openxmlformats.org/drawingml/2006/main">
            <a:off x="952500" y="561975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a:solidFill>
                  <a:srgbClr val="64748B"/>
                </a:solidFill>
              </a:defRPr>
            </a:pPr>
            <a:r>
              <a:rPr sz="1725" b="1">
                <a:solidFill>
                  <a:srgbClr val="64748B"/>
                </a:solidFill>
              </a:rPr>
              <a:t>... more replay gaps observed in the full report</a:t>
            </a:r>
          </a:p>
        </p:txBody>
      </p:sp>
      <p:sp>
        <p:nvSpPr>
          <p:cNvPr id="5" name="">
            <a:extLst xmlns:a="http://schemas.openxmlformats.org/drawingml/2006/main">
              <a:ext uri="{FF2B5EF4-FFF2-40B4-BE49-F238E27FC236}">
                <a16:creationId xmlns:a16="http://schemas.microsoft.com/office/drawing/2014/main" id="{B778906D-D0CB-465D-9F03-E8C4DFCF0AEC}"/>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6" name="">
            <a:extLst xmlns:a="http://schemas.openxmlformats.org/drawingml/2006/main">
              <a:ext uri="{FF2B5EF4-FFF2-40B4-BE49-F238E27FC236}">
                <a16:creationId xmlns:a16="http://schemas.microsoft.com/office/drawing/2014/main" id="{AC803546-A1C5-485E-922E-D66550EF21EE}"/>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111047754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ABBCBB-4814-4CEF-A3A6-B9450AA22B42}"/>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Software prefetch often missed replay</a:t>
            </a:r>
          </a:p>
        </p:txBody>
      </p:sp>
      <p:sp>
        <p:nvSpPr>
          <p:cNvPr id="2" name="">
            <a:extLst xmlns:a="http://schemas.openxmlformats.org/drawingml/2006/main">
              <a:ext uri="{FF2B5EF4-FFF2-40B4-BE49-F238E27FC236}">
                <a16:creationId xmlns:a16="http://schemas.microsoft.com/office/drawing/2014/main" id="{B91841CD-EC97-44C4-919C-62076185024B}"/>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In the live prefetch-margin run, almost every hint completed after replay was due.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87c2d830d1a44fa8"/>
          <a:stretch xmlns:a="http://schemas.openxmlformats.org/drawingml/2006/main"/>
        </p:blipFill>
        <p:spPr>
          <a:xfrm xmlns:a="http://schemas.openxmlformats.org/drawingml/2006/main">
            <a:off x="381000" y="1861432"/>
            <a:ext cx="8096250" cy="284938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600001A-CF78-485B-A09F-C3F566273B70}"/>
              </a:ext>
            </a:extLst>
          </p:cNvPr>
          <p:cNvSpPr>
            <a:spLocks xmlns:a="http://schemas.openxmlformats.org/drawingml/2006/main" noGrp="1"/>
          </p:cNvSpPr>
          <p:nvPr/>
        </p:nvSpPr>
        <p:spPr>
          <a:xfrm xmlns:a="http://schemas.openxmlformats.org/drawingml/2006/main">
            <a:off x="8953500" y="18669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112 / 114</a:t>
            </a:r>
          </a:p>
        </p:txBody>
      </p:sp>
      <p:sp>
        <p:nvSpPr>
          <p:cNvPr id="5" name="">
            <a:extLst xmlns:a="http://schemas.openxmlformats.org/drawingml/2006/main">
              <a:ext uri="{FF2B5EF4-FFF2-40B4-BE49-F238E27FC236}">
                <a16:creationId xmlns:a16="http://schemas.microsoft.com/office/drawing/2014/main" id="{64B0B5A8-E70A-4335-AA47-F16118BDA9E4}"/>
              </a:ext>
            </a:extLst>
          </p:cNvPr>
          <p:cNvSpPr>
            <a:spLocks xmlns:a="http://schemas.openxmlformats.org/drawingml/2006/main" noGrp="1"/>
          </p:cNvSpPr>
          <p:nvPr/>
        </p:nvSpPr>
        <p:spPr>
          <a:xfrm xmlns:a="http://schemas.openxmlformats.org/drawingml/2006/main">
            <a:off x="8953500" y="23241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prefetch attempts were late</a:t>
            </a:r>
          </a:p>
        </p:txBody>
      </p:sp>
      <p:sp>
        <p:nvSpPr>
          <p:cNvPr id="6" name="">
            <a:extLst xmlns:a="http://schemas.openxmlformats.org/drawingml/2006/main">
              <a:ext uri="{FF2B5EF4-FFF2-40B4-BE49-F238E27FC236}">
                <a16:creationId xmlns:a16="http://schemas.microsoft.com/office/drawing/2014/main" id="{23E74176-2669-449B-BB38-8E7D1B88FBCE}"/>
              </a:ext>
            </a:extLst>
          </p:cNvPr>
          <p:cNvSpPr>
            <a:spLocks xmlns:a="http://schemas.openxmlformats.org/drawingml/2006/main" noGrp="1"/>
          </p:cNvSpPr>
          <p:nvPr/>
        </p:nvSpPr>
        <p:spPr>
          <a:xfrm xmlns:a="http://schemas.openxmlformats.org/drawingml/2006/main">
            <a:off x="8953500" y="32385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C2410C"/>
                </a:solidFill>
              </a:defRPr>
            </a:pPr>
            <a:r>
              <a:rPr sz="2850" b="1">
                <a:solidFill>
                  <a:srgbClr val="C2410C"/>
                </a:solidFill>
              </a:rPr>
              <a:t>98.25%</a:t>
            </a:r>
          </a:p>
        </p:txBody>
      </p:sp>
      <p:sp>
        <p:nvSpPr>
          <p:cNvPr id="7" name="">
            <a:extLst xmlns:a="http://schemas.openxmlformats.org/drawingml/2006/main">
              <a:ext uri="{FF2B5EF4-FFF2-40B4-BE49-F238E27FC236}">
                <a16:creationId xmlns:a16="http://schemas.microsoft.com/office/drawing/2014/main" id="{7E758037-1C1B-4577-9E57-C468AF046CD0}"/>
              </a:ext>
            </a:extLst>
          </p:cNvPr>
          <p:cNvSpPr>
            <a:spLocks xmlns:a="http://schemas.openxmlformats.org/drawingml/2006/main" noGrp="1"/>
          </p:cNvSpPr>
          <p:nvPr/>
        </p:nvSpPr>
        <p:spPr>
          <a:xfrm xmlns:a="http://schemas.openxmlformats.org/drawingml/2006/main">
            <a:off x="8953500" y="36957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missed the replay deadline</a:t>
            </a:r>
          </a:p>
        </p:txBody>
      </p:sp>
      <p:sp>
        <p:nvSpPr>
          <p:cNvPr id="8" name="">
            <a:extLst xmlns:a="http://schemas.openxmlformats.org/drawingml/2006/main">
              <a:ext uri="{FF2B5EF4-FFF2-40B4-BE49-F238E27FC236}">
                <a16:creationId xmlns:a16="http://schemas.microsoft.com/office/drawing/2014/main" id="{FC5E5F24-6A8E-4DF5-9EC9-6B75889E37F1}"/>
              </a:ext>
            </a:extLst>
          </p:cNvPr>
          <p:cNvSpPr>
            <a:spLocks xmlns:a="http://schemas.openxmlformats.org/drawingml/2006/main" noGrp="1"/>
          </p:cNvSpPr>
          <p:nvPr/>
        </p:nvSpPr>
        <p:spPr>
          <a:xfrm xmlns:a="http://schemas.openxmlformats.org/drawingml/2006/main">
            <a:off x="8953500" y="4705350"/>
            <a:ext cx="23336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hints alone are not enough when the movement path cannot act predictably.</a:t>
            </a:r>
          </a:p>
        </p:txBody>
      </p:sp>
      <p:sp>
        <p:nvSpPr>
          <p:cNvPr id="9" name="">
            <a:extLst xmlns:a="http://schemas.openxmlformats.org/drawingml/2006/main">
              <a:ext uri="{FF2B5EF4-FFF2-40B4-BE49-F238E27FC236}">
                <a16:creationId xmlns:a16="http://schemas.microsoft.com/office/drawing/2014/main" id="{398B5DAF-0AD4-472E-9BD9-D58908EF7667}"/>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0" name="">
            <a:extLst xmlns:a="http://schemas.openxmlformats.org/drawingml/2006/main">
              <a:ext uri="{FF2B5EF4-FFF2-40B4-BE49-F238E27FC236}">
                <a16:creationId xmlns:a16="http://schemas.microsoft.com/office/drawing/2014/main" id="{EF8B686E-92F2-44F4-864C-36D801EFCF09}"/>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20191353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E83292B-0B01-46F3-A76F-0ECDC5E6329E}"/>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Mechanism traces explain the miss</a:t>
            </a:r>
          </a:p>
        </p:txBody>
      </p:sp>
      <p:sp>
        <p:nvSpPr>
          <p:cNvPr id="2" name="">
            <a:extLst xmlns:a="http://schemas.openxmlformats.org/drawingml/2006/main">
              <a:ext uri="{FF2B5EF4-FFF2-40B4-BE49-F238E27FC236}">
                <a16:creationId xmlns:a16="http://schemas.microsoft.com/office/drawing/2014/main" id="{7754D688-5339-430E-AA96-C54C58D83C38}"/>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hint existed, but KV readiness still landed too late for replay.</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228ce6e9bb1404b"/>
          <a:stretch xmlns:a="http://schemas.openxmlformats.org/drawingml/2006/main"/>
        </p:blipFill>
        <p:spPr>
          <a:xfrm xmlns:a="http://schemas.openxmlformats.org/drawingml/2006/main">
            <a:off x="323850" y="1812925"/>
            <a:ext cx="7620000" cy="2794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D4344C6-5ED8-4FBD-938A-BAC0603D8AF2}"/>
              </a:ext>
            </a:extLst>
          </p:cNvPr>
          <p:cNvSpPr>
            <a:spLocks xmlns:a="http://schemas.openxmlformats.org/drawingml/2006/main" noGrp="1"/>
          </p:cNvSpPr>
          <p:nvPr/>
        </p:nvSpPr>
        <p:spPr>
          <a:xfrm xmlns:a="http://schemas.openxmlformats.org/drawingml/2006/main">
            <a:off x="8324850" y="20193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009C32C1-6DE0-439E-9479-48886417E459}"/>
              </a:ext>
            </a:extLst>
          </p:cNvPr>
          <p:cNvSpPr>
            <a:spLocks xmlns:a="http://schemas.openxmlformats.org/drawingml/2006/main" noGrp="1"/>
          </p:cNvSpPr>
          <p:nvPr/>
        </p:nvSpPr>
        <p:spPr>
          <a:xfrm xmlns:a="http://schemas.openxmlformats.org/drawingml/2006/main">
            <a:off x="8610600" y="20383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0 / 6 ready before replay</a:t>
            </a:r>
          </a:p>
        </p:txBody>
      </p:sp>
      <p:sp>
        <p:nvSpPr>
          <p:cNvPr id="6" name="">
            <a:extLst xmlns:a="http://schemas.openxmlformats.org/drawingml/2006/main">
              <a:ext uri="{FF2B5EF4-FFF2-40B4-BE49-F238E27FC236}">
                <a16:creationId xmlns:a16="http://schemas.microsoft.com/office/drawing/2014/main" id="{4DA370AC-4C17-4451-8A4F-988FD5B33221}"/>
              </a:ext>
            </a:extLst>
          </p:cNvPr>
          <p:cNvSpPr>
            <a:spLocks xmlns:a="http://schemas.openxmlformats.org/drawingml/2006/main" noGrp="1"/>
          </p:cNvSpPr>
          <p:nvPr/>
        </p:nvSpPr>
        <p:spPr>
          <a:xfrm xmlns:a="http://schemas.openxmlformats.org/drawingml/2006/main">
            <a:off x="8324850" y="2724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891B2"/>
                </a:solidFill>
              </a:defRPr>
            </a:pPr>
            <a:r>
              <a:rPr sz="1950" b="1">
                <a:solidFill>
                  <a:srgbClr val="0891B2"/>
                </a:solidFill>
              </a:rPr>
              <a:t>•</a:t>
            </a:r>
          </a:p>
        </p:txBody>
      </p:sp>
      <p:sp>
        <p:nvSpPr>
          <p:cNvPr id="7" name="">
            <a:extLst xmlns:a="http://schemas.openxmlformats.org/drawingml/2006/main">
              <a:ext uri="{FF2B5EF4-FFF2-40B4-BE49-F238E27FC236}">
                <a16:creationId xmlns:a16="http://schemas.microsoft.com/office/drawing/2014/main" id="{FE6021CB-FA97-4961-82BD-25FA9C5A8F58}"/>
              </a:ext>
            </a:extLst>
          </p:cNvPr>
          <p:cNvSpPr>
            <a:spLocks xmlns:a="http://schemas.openxmlformats.org/drawingml/2006/main" noGrp="1"/>
          </p:cNvSpPr>
          <p:nvPr/>
        </p:nvSpPr>
        <p:spPr>
          <a:xfrm xmlns:a="http://schemas.openxmlformats.org/drawingml/2006/main">
            <a:off x="8610600" y="2743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3 / 6 visible CUDA HtoD</a:t>
            </a:r>
          </a:p>
        </p:txBody>
      </p:sp>
      <p:sp>
        <p:nvSpPr>
          <p:cNvPr id="8" name="">
            <a:extLst xmlns:a="http://schemas.openxmlformats.org/drawingml/2006/main">
              <a:ext uri="{FF2B5EF4-FFF2-40B4-BE49-F238E27FC236}">
                <a16:creationId xmlns:a16="http://schemas.microsoft.com/office/drawing/2014/main" id="{AB8BC059-BA36-4134-B61A-17FFFC7BDCD1}"/>
              </a:ext>
            </a:extLst>
          </p:cNvPr>
          <p:cNvSpPr>
            <a:spLocks xmlns:a="http://schemas.openxmlformats.org/drawingml/2006/main" noGrp="1"/>
          </p:cNvSpPr>
          <p:nvPr/>
        </p:nvSpPr>
        <p:spPr>
          <a:xfrm xmlns:a="http://schemas.openxmlformats.org/drawingml/2006/main">
            <a:off x="8324850" y="3429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CA8A04"/>
                </a:solidFill>
              </a:defRPr>
            </a:pPr>
            <a:r>
              <a:rPr sz="1950" b="1">
                <a:solidFill>
                  <a:srgbClr val="CA8A04"/>
                </a:solidFill>
              </a:rPr>
              <a:t>•</a:t>
            </a:r>
          </a:p>
        </p:txBody>
      </p:sp>
      <p:sp>
        <p:nvSpPr>
          <p:cNvPr id="9" name="">
            <a:extLst xmlns:a="http://schemas.openxmlformats.org/drawingml/2006/main">
              <a:ext uri="{FF2B5EF4-FFF2-40B4-BE49-F238E27FC236}">
                <a16:creationId xmlns:a16="http://schemas.microsoft.com/office/drawing/2014/main" id="{9554BC66-6BF2-4F61-989A-D1169EC6FEE9}"/>
              </a:ext>
            </a:extLst>
          </p:cNvPr>
          <p:cNvSpPr>
            <a:spLocks xmlns:a="http://schemas.openxmlformats.org/drawingml/2006/main" noGrp="1"/>
          </p:cNvSpPr>
          <p:nvPr/>
        </p:nvSpPr>
        <p:spPr>
          <a:xfrm xmlns:a="http://schemas.openxmlformats.org/drawingml/2006/main">
            <a:off x="8610600" y="34480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6 / 6 replay reloaded KV</a:t>
            </a:r>
          </a:p>
        </p:txBody>
      </p:sp>
      <p:sp>
        <p:nvSpPr>
          <p:cNvPr id="10" name="">
            <a:extLst xmlns:a="http://schemas.openxmlformats.org/drawingml/2006/main">
              <a:ext uri="{FF2B5EF4-FFF2-40B4-BE49-F238E27FC236}">
                <a16:creationId xmlns:a16="http://schemas.microsoft.com/office/drawing/2014/main" id="{9614F956-0C27-4FC3-B76B-84EBA31EBB35}"/>
              </a:ext>
            </a:extLst>
          </p:cNvPr>
          <p:cNvSpPr>
            <a:spLocks xmlns:a="http://schemas.openxmlformats.org/drawingml/2006/main" noGrp="1"/>
          </p:cNvSpPr>
          <p:nvPr/>
        </p:nvSpPr>
        <p:spPr>
          <a:xfrm xmlns:a="http://schemas.openxmlformats.org/drawingml/2006/main">
            <a:off x="914400" y="52578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64748B"/>
                </a:solidFill>
              </a:defRPr>
            </a:pPr>
            <a:r>
              <a:rPr sz="1350" b="0">
                <a:solidFill>
                  <a:srgbClr val="64748B"/>
                </a:solidFill>
              </a:rPr>
              <a:t>Use this as mechanism evidence, not clean TTFT evidence.</a:t>
            </a:r>
          </a:p>
        </p:txBody>
      </p:sp>
      <p:sp>
        <p:nvSpPr>
          <p:cNvPr id="11" name="">
            <a:extLst xmlns:a="http://schemas.openxmlformats.org/drawingml/2006/main">
              <a:ext uri="{FF2B5EF4-FFF2-40B4-BE49-F238E27FC236}">
                <a16:creationId xmlns:a16="http://schemas.microsoft.com/office/drawing/2014/main" id="{40156F5A-55F3-4497-9472-E4A56C93380E}"/>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2" name="">
            <a:extLst xmlns:a="http://schemas.openxmlformats.org/drawingml/2006/main">
              <a:ext uri="{FF2B5EF4-FFF2-40B4-BE49-F238E27FC236}">
                <a16:creationId xmlns:a16="http://schemas.microsoft.com/office/drawing/2014/main" id="{9DE791F6-22B9-4448-AA9F-1DAA91072499}"/>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20046475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6D6C0B-3424-4847-B5B0-3A43647A9B27}"/>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Replay-side KV loads missed the deadline</a:t>
            </a:r>
          </a:p>
        </p:txBody>
      </p:sp>
      <p:sp>
        <p:nvSpPr>
          <p:cNvPr id="2" name="">
            <a:extLst xmlns:a="http://schemas.openxmlformats.org/drawingml/2006/main">
              <a:ext uri="{FF2B5EF4-FFF2-40B4-BE49-F238E27FC236}">
                <a16:creationId xmlns:a16="http://schemas.microsoft.com/office/drawing/2014/main" id="{44159568-B40A-4C56-ACFE-7D4F3F18014E}"/>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For this controlled no-prefetch run, visible H2D loads finished after replay was due.</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1f096c445f74206"/>
          <a:stretch xmlns:a="http://schemas.openxmlformats.org/drawingml/2006/main"/>
        </p:blipFill>
        <p:spPr>
          <a:xfrm xmlns:a="http://schemas.openxmlformats.org/drawingml/2006/main">
            <a:off x="419100" y="1789323"/>
            <a:ext cx="8191500" cy="299360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8484F47-FB31-45C5-9D1F-8A936800544B}"/>
              </a:ext>
            </a:extLst>
          </p:cNvPr>
          <p:cNvSpPr>
            <a:spLocks xmlns:a="http://schemas.openxmlformats.org/drawingml/2006/main" noGrp="1"/>
          </p:cNvSpPr>
          <p:nvPr/>
        </p:nvSpPr>
        <p:spPr>
          <a:xfrm xmlns:a="http://schemas.openxmlformats.org/drawingml/2006/main">
            <a:off x="9105900" y="23622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8 / 8</a:t>
            </a:r>
          </a:p>
        </p:txBody>
      </p:sp>
      <p:sp>
        <p:nvSpPr>
          <p:cNvPr id="5" name="">
            <a:extLst xmlns:a="http://schemas.openxmlformats.org/drawingml/2006/main">
              <a:ext uri="{FF2B5EF4-FFF2-40B4-BE49-F238E27FC236}">
                <a16:creationId xmlns:a16="http://schemas.microsoft.com/office/drawing/2014/main" id="{88E88A13-E27C-4A29-BB81-5EB038DD2ED5}"/>
              </a:ext>
            </a:extLst>
          </p:cNvPr>
          <p:cNvSpPr>
            <a:spLocks xmlns:a="http://schemas.openxmlformats.org/drawingml/2006/main" noGrp="1"/>
          </p:cNvSpPr>
          <p:nvPr/>
        </p:nvSpPr>
        <p:spPr>
          <a:xfrm xmlns:a="http://schemas.openxmlformats.org/drawingml/2006/main">
            <a:off x="9105900" y="28194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visible replay-side H2D loads finished late</a:t>
            </a:r>
          </a:p>
        </p:txBody>
      </p:sp>
      <p:sp>
        <p:nvSpPr>
          <p:cNvPr id="6" name="">
            <a:extLst xmlns:a="http://schemas.openxmlformats.org/drawingml/2006/main">
              <a:ext uri="{FF2B5EF4-FFF2-40B4-BE49-F238E27FC236}">
                <a16:creationId xmlns:a16="http://schemas.microsoft.com/office/drawing/2014/main" id="{044F57E4-038E-498F-8B9C-748C4C0CEA24}"/>
              </a:ext>
            </a:extLst>
          </p:cNvPr>
          <p:cNvSpPr>
            <a:spLocks xmlns:a="http://schemas.openxmlformats.org/drawingml/2006/main" noGrp="1"/>
          </p:cNvSpPr>
          <p:nvPr/>
        </p:nvSpPr>
        <p:spPr>
          <a:xfrm xmlns:a="http://schemas.openxmlformats.org/drawingml/2006/main">
            <a:off x="9105900" y="3714750"/>
            <a:ext cx="22669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the memory movement happened, but not early enough for the replay deadline.</a:t>
            </a:r>
          </a:p>
        </p:txBody>
      </p:sp>
      <p:sp>
        <p:nvSpPr>
          <p:cNvPr id="7" name="">
            <a:extLst xmlns:a="http://schemas.openxmlformats.org/drawingml/2006/main">
              <a:ext uri="{FF2B5EF4-FFF2-40B4-BE49-F238E27FC236}">
                <a16:creationId xmlns:a16="http://schemas.microsoft.com/office/drawing/2014/main" id="{62112945-5444-4047-BEF0-AE3A334A7EB2}"/>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50DC2D51-0D07-4781-B20A-5496E6D21953}"/>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48948201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B119E4-6D86-40F2-A3C1-E58EFD9478B4}"/>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61E7D273-34CF-4C08-8FA8-45201B7F7EDD}"/>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request passes through normal runtime scheduling before visible KV H2D begins.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7ce41db95e24293"/>
          <a:stretch xmlns:a="http://schemas.openxmlformats.org/drawingml/2006/main"/>
        </p:blipFill>
        <p:spPr>
          <a:xfrm xmlns:a="http://schemas.openxmlformats.org/drawingml/2006/main">
            <a:off x="1329402" y="1371600"/>
            <a:ext cx="8809295" cy="41148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AB5A899-D014-4DF6-ABAC-BF0EF10BCD2B}"/>
              </a:ext>
            </a:extLst>
          </p:cNvPr>
          <p:cNvSpPr>
            <a:spLocks xmlns:a="http://schemas.openxmlformats.org/drawingml/2006/main" noGrp="1"/>
          </p:cNvSpPr>
          <p:nvPr/>
        </p:nvSpPr>
        <p:spPr>
          <a:xfrm xmlns:a="http://schemas.openxmlformats.org/drawingml/2006/main">
            <a:off x="742950" y="567690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Stage markers separate client submit, SGLang receive, scheduler queue/admit, H2D start, and H2D finish.</a:t>
            </a:r>
          </a:p>
        </p:txBody>
      </p:sp>
      <p:sp>
        <p:nvSpPr>
          <p:cNvPr id="5" name="">
            <a:extLst xmlns:a="http://schemas.openxmlformats.org/drawingml/2006/main">
              <a:ext uri="{FF2B5EF4-FFF2-40B4-BE49-F238E27FC236}">
                <a16:creationId xmlns:a16="http://schemas.microsoft.com/office/drawing/2014/main" id="{147F55FA-BA0B-4F73-87FC-3E09630F81EA}"/>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6" name="">
            <a:extLst xmlns:a="http://schemas.openxmlformats.org/drawingml/2006/main">
              <a:ext uri="{FF2B5EF4-FFF2-40B4-BE49-F238E27FC236}">
                <a16:creationId xmlns:a16="http://schemas.microsoft.com/office/drawing/2014/main" id="{9AC1B0B1-A822-4C89-A1EE-93F2D1ACE404}"/>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09</a:t>
            </a:r>
          </a:p>
        </p:txBody>
      </p:sp>
    </p:spTree>
    <p:extLst>
      <p:ext uri="{BB962C8B-B14F-4D97-AF65-F5344CB8AC3E}">
        <p14:creationId xmlns:p14="http://schemas.microsoft.com/office/powerpoint/2010/main" val="108380245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58CD9DE-7C59-4F93-AE45-D91BB5A7451F}"/>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Key findings make the hardware case</a:t>
            </a:r>
          </a:p>
        </p:txBody>
      </p:sp>
      <p:sp>
        <p:nvSpPr>
          <p:cNvPr id="2" name="">
            <a:extLst xmlns:a="http://schemas.openxmlformats.org/drawingml/2006/main">
              <a:ext uri="{FF2B5EF4-FFF2-40B4-BE49-F238E27FC236}">
                <a16:creationId xmlns:a16="http://schemas.microsoft.com/office/drawing/2014/main" id="{8AC5B8B2-5A48-4A1E-92A2-1962CE762B25}"/>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pattern points to missing context, deadlines, residency control, and telemetry.</a:t>
            </a:r>
          </a:p>
        </p:txBody>
      </p:sp>
      <p:sp>
        <p:nvSpPr>
          <p:cNvPr id="3" name="">
            <a:extLst xmlns:a="http://schemas.openxmlformats.org/drawingml/2006/main">
              <a:ext uri="{FF2B5EF4-FFF2-40B4-BE49-F238E27FC236}">
                <a16:creationId xmlns:a16="http://schemas.microsoft.com/office/drawing/2014/main" id="{AABBCCF7-70F7-4EF6-A01F-3A831DC23DD6}"/>
              </a:ext>
            </a:extLst>
          </p:cNvPr>
          <p:cNvSpPr>
            <a:spLocks xmlns:a="http://schemas.openxmlformats.org/drawingml/2006/main" noGrp="1"/>
          </p:cNvSpPr>
          <p:nvPr/>
        </p:nvSpPr>
        <p:spPr>
          <a:xfrm xmlns:a="http://schemas.openxmlformats.org/drawingml/2006/main">
            <a:off x="876300" y="1581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F1B23511-75DF-467F-9087-119AFF50FA38}"/>
              </a:ext>
            </a:extLst>
          </p:cNvPr>
          <p:cNvSpPr>
            <a:spLocks xmlns:a="http://schemas.openxmlformats.org/drawingml/2006/main" noGrp="1"/>
          </p:cNvSpPr>
          <p:nvPr/>
        </p:nvSpPr>
        <p:spPr>
          <a:xfrm xmlns:a="http://schemas.openxmlformats.org/drawingml/2006/main">
            <a:off x="1162050" y="16002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Agent tool gaps can be very short.</a:t>
            </a:r>
          </a:p>
        </p:txBody>
      </p:sp>
      <p:sp>
        <p:nvSpPr>
          <p:cNvPr id="5" name="">
            <a:extLst xmlns:a="http://schemas.openxmlformats.org/drawingml/2006/main">
              <a:ext uri="{FF2B5EF4-FFF2-40B4-BE49-F238E27FC236}">
                <a16:creationId xmlns:a16="http://schemas.microsoft.com/office/drawing/2014/main" id="{06A3EC39-6CA7-4A35-8214-93C22DF1D211}"/>
              </a:ext>
            </a:extLst>
          </p:cNvPr>
          <p:cNvSpPr>
            <a:spLocks xmlns:a="http://schemas.openxmlformats.org/drawingml/2006/main" noGrp="1"/>
          </p:cNvSpPr>
          <p:nvPr/>
        </p:nvSpPr>
        <p:spPr>
          <a:xfrm xmlns:a="http://schemas.openxmlformats.org/drawingml/2006/main">
            <a:off x="876300" y="2266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75412647-D8B8-4CF0-8957-515A58D453A2}"/>
              </a:ext>
            </a:extLst>
          </p:cNvPr>
          <p:cNvSpPr>
            <a:spLocks xmlns:a="http://schemas.openxmlformats.org/drawingml/2006/main" noGrp="1"/>
          </p:cNvSpPr>
          <p:nvPr/>
        </p:nvSpPr>
        <p:spPr>
          <a:xfrm xmlns:a="http://schemas.openxmlformats.org/drawingml/2006/main">
            <a:off x="1162050" y="22860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Correct hints can still finish late.</a:t>
            </a:r>
          </a:p>
        </p:txBody>
      </p:sp>
      <p:sp>
        <p:nvSpPr>
          <p:cNvPr id="7" name="">
            <a:extLst xmlns:a="http://schemas.openxmlformats.org/drawingml/2006/main">
              <a:ext uri="{FF2B5EF4-FFF2-40B4-BE49-F238E27FC236}">
                <a16:creationId xmlns:a16="http://schemas.microsoft.com/office/drawing/2014/main" id="{4F28DCCB-43CF-482D-9FC4-AC0292C6FCBF}"/>
              </a:ext>
            </a:extLst>
          </p:cNvPr>
          <p:cNvSpPr>
            <a:spLocks xmlns:a="http://schemas.openxmlformats.org/drawingml/2006/main" noGrp="1"/>
          </p:cNvSpPr>
          <p:nvPr/>
        </p:nvSpPr>
        <p:spPr>
          <a:xfrm xmlns:a="http://schemas.openxmlformats.org/drawingml/2006/main">
            <a:off x="876300" y="29527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8" name="">
            <a:extLst xmlns:a="http://schemas.openxmlformats.org/drawingml/2006/main">
              <a:ext uri="{FF2B5EF4-FFF2-40B4-BE49-F238E27FC236}">
                <a16:creationId xmlns:a16="http://schemas.microsoft.com/office/drawing/2014/main" id="{2B421B0F-2E07-4406-B27F-5003B5EE01A8}"/>
              </a:ext>
            </a:extLst>
          </p:cNvPr>
          <p:cNvSpPr>
            <a:spLocks xmlns:a="http://schemas.openxmlformats.org/drawingml/2006/main" noGrp="1"/>
          </p:cNvSpPr>
          <p:nvPr/>
        </p:nvSpPr>
        <p:spPr>
          <a:xfrm xmlns:a="http://schemas.openxmlformats.org/drawingml/2006/main">
            <a:off x="1162050" y="29718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Visible copy time is only part of end-to-end delay.</a:t>
            </a:r>
          </a:p>
        </p:txBody>
      </p:sp>
      <p:sp>
        <p:nvSpPr>
          <p:cNvPr id="9" name="">
            <a:extLst xmlns:a="http://schemas.openxmlformats.org/drawingml/2006/main">
              <a:ext uri="{FF2B5EF4-FFF2-40B4-BE49-F238E27FC236}">
                <a16:creationId xmlns:a16="http://schemas.microsoft.com/office/drawing/2014/main" id="{10AC94F0-21D7-49CF-8511-B6F052F0B9A0}"/>
              </a:ext>
            </a:extLst>
          </p:cNvPr>
          <p:cNvSpPr>
            <a:spLocks xmlns:a="http://schemas.openxmlformats.org/drawingml/2006/main" noGrp="1"/>
          </p:cNvSpPr>
          <p:nvPr/>
        </p:nvSpPr>
        <p:spPr>
          <a:xfrm xmlns:a="http://schemas.openxmlformats.org/drawingml/2006/main">
            <a:off x="876300" y="3638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CA8A04"/>
                </a:solidFill>
              </a:defRPr>
            </a:pPr>
            <a:r>
              <a:rPr sz="2025" b="1">
                <a:solidFill>
                  <a:srgbClr val="CA8A04"/>
                </a:solidFill>
              </a:rPr>
              <a:t>•</a:t>
            </a:r>
          </a:p>
        </p:txBody>
      </p:sp>
      <p:sp>
        <p:nvSpPr>
          <p:cNvPr id="10" name="">
            <a:extLst xmlns:a="http://schemas.openxmlformats.org/drawingml/2006/main">
              <a:ext uri="{FF2B5EF4-FFF2-40B4-BE49-F238E27FC236}">
                <a16:creationId xmlns:a16="http://schemas.microsoft.com/office/drawing/2014/main" id="{CAF8F4E6-F19C-431A-B1EB-029082E95DF2}"/>
              </a:ext>
            </a:extLst>
          </p:cNvPr>
          <p:cNvSpPr>
            <a:spLocks xmlns:a="http://schemas.openxmlformats.org/drawingml/2006/main" noGrp="1"/>
          </p:cNvSpPr>
          <p:nvPr/>
        </p:nvSpPr>
        <p:spPr>
          <a:xfrm xmlns:a="http://schemas.openxmlformats.org/drawingml/2006/main">
            <a:off x="1162050" y="36576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can be written to host, evicted from GPU, then lost from host before replay.</a:t>
            </a:r>
          </a:p>
        </p:txBody>
      </p:sp>
      <p:sp>
        <p:nvSpPr>
          <p:cNvPr id="11" name="">
            <a:extLst xmlns:a="http://schemas.openxmlformats.org/drawingml/2006/main">
              <a:ext uri="{FF2B5EF4-FFF2-40B4-BE49-F238E27FC236}">
                <a16:creationId xmlns:a16="http://schemas.microsoft.com/office/drawing/2014/main" id="{AD871F86-7098-45EE-B2E4-EA7D79CB99B0}"/>
              </a:ext>
            </a:extLst>
          </p:cNvPr>
          <p:cNvSpPr>
            <a:spLocks xmlns:a="http://schemas.openxmlformats.org/drawingml/2006/main" noGrp="1"/>
          </p:cNvSpPr>
          <p:nvPr/>
        </p:nvSpPr>
        <p:spPr>
          <a:xfrm xmlns:a="http://schemas.openxmlformats.org/drawingml/2006/main">
            <a:off x="876300" y="4324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DC2626"/>
                </a:solidFill>
              </a:defRPr>
            </a:pPr>
            <a:r>
              <a:rPr sz="2025" b="1">
                <a:solidFill>
                  <a:srgbClr val="DC2626"/>
                </a:solidFill>
              </a:rPr>
              <a:t>•</a:t>
            </a:r>
          </a:p>
        </p:txBody>
      </p:sp>
      <p:sp>
        <p:nvSpPr>
          <p:cNvPr id="12" name="">
            <a:extLst xmlns:a="http://schemas.openxmlformats.org/drawingml/2006/main">
              <a:ext uri="{FF2B5EF4-FFF2-40B4-BE49-F238E27FC236}">
                <a16:creationId xmlns:a16="http://schemas.microsoft.com/office/drawing/2014/main" id="{D8F91BBE-0ACC-4C87-A921-462948210056}"/>
              </a:ext>
            </a:extLst>
          </p:cNvPr>
          <p:cNvSpPr>
            <a:spLocks xmlns:a="http://schemas.openxmlformats.org/drawingml/2006/main" noGrp="1"/>
          </p:cNvSpPr>
          <p:nvPr/>
        </p:nvSpPr>
        <p:spPr>
          <a:xfrm xmlns:a="http://schemas.openxmlformats.org/drawingml/2006/main">
            <a:off x="1162050" y="43434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Replay-side H2D movement can miss the deadline even when the replay request exists.</a:t>
            </a:r>
          </a:p>
        </p:txBody>
      </p:sp>
      <p:sp>
        <p:nvSpPr>
          <p:cNvPr id="13" name="">
            <a:extLst xmlns:a="http://schemas.openxmlformats.org/drawingml/2006/main">
              <a:ext uri="{FF2B5EF4-FFF2-40B4-BE49-F238E27FC236}">
                <a16:creationId xmlns:a16="http://schemas.microsoft.com/office/drawing/2014/main" id="{786513C9-A431-4695-8AE7-851F7F9CB91B}"/>
              </a:ext>
            </a:extLst>
          </p:cNvPr>
          <p:cNvSpPr>
            <a:spLocks xmlns:a="http://schemas.openxmlformats.org/drawingml/2006/main" noGrp="1"/>
          </p:cNvSpPr>
          <p:nvPr/>
        </p:nvSpPr>
        <p:spPr>
          <a:xfrm xmlns:a="http://schemas.openxmlformats.org/drawingml/2006/main">
            <a:off x="419100" y="542925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37E4755-2015-45BF-B890-323D8ED931D8}"/>
              </a:ext>
            </a:extLst>
          </p:cNvPr>
          <p:cNvSpPr>
            <a:spLocks xmlns:a="http://schemas.openxmlformats.org/drawingml/2006/main" noGrp="1"/>
          </p:cNvSpPr>
          <p:nvPr/>
        </p:nvSpPr>
        <p:spPr>
          <a:xfrm xmlns:a="http://schemas.openxmlformats.org/drawingml/2006/main">
            <a:off x="876300" y="5657850"/>
            <a:ext cx="990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Conclusion: this is a scheduling and enforceability problem, not just a bandwidth problem.</a:t>
            </a:r>
          </a:p>
        </p:txBody>
      </p:sp>
      <p:sp>
        <p:nvSpPr>
          <p:cNvPr id="15" name="">
            <a:extLst xmlns:a="http://schemas.openxmlformats.org/drawingml/2006/main">
              <a:ext uri="{FF2B5EF4-FFF2-40B4-BE49-F238E27FC236}">
                <a16:creationId xmlns:a16="http://schemas.microsoft.com/office/drawing/2014/main" id="{91B6AC60-DF40-43FA-8CF3-B3D6EDFB7885}"/>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6" name="">
            <a:extLst xmlns:a="http://schemas.openxmlformats.org/drawingml/2006/main">
              <a:ext uri="{FF2B5EF4-FFF2-40B4-BE49-F238E27FC236}">
                <a16:creationId xmlns:a16="http://schemas.microsoft.com/office/drawing/2014/main" id="{3439C747-162C-4542-B2E9-D51832D83C12}"/>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10</a:t>
            </a:r>
          </a:p>
        </p:txBody>
      </p:sp>
    </p:spTree>
    <p:extLst>
      <p:ext uri="{BB962C8B-B14F-4D97-AF65-F5344CB8AC3E}">
        <p14:creationId xmlns:p14="http://schemas.microsoft.com/office/powerpoint/2010/main" val="185107517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AECBB62-54C9-4112-85B4-18ACEE28F499}"/>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Potential hardware impact</a:t>
            </a:r>
          </a:p>
        </p:txBody>
      </p:sp>
      <p:sp>
        <p:nvSpPr>
          <p:cNvPr id="2" name="">
            <a:extLst xmlns:a="http://schemas.openxmlformats.org/drawingml/2006/main">
              <a:ext uri="{FF2B5EF4-FFF2-40B4-BE49-F238E27FC236}">
                <a16:creationId xmlns:a16="http://schemas.microsoft.com/office/drawing/2014/main" id="{A8BD059F-89E3-46CA-8FDF-0AE0708D9BBC}"/>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Simple targets for tool-heavy coding-agent workloads.</a:t>
            </a:r>
          </a:p>
        </p:txBody>
      </p:sp>
      <p:sp>
        <p:nvSpPr>
          <p:cNvPr id="3" name="">
            <a:extLst xmlns:a="http://schemas.openxmlformats.org/drawingml/2006/main">
              <a:ext uri="{FF2B5EF4-FFF2-40B4-BE49-F238E27FC236}">
                <a16:creationId xmlns:a16="http://schemas.microsoft.com/office/drawing/2014/main" id="{FC8D48C4-AD5D-4499-BD26-90907D0B8874}"/>
              </a:ext>
            </a:extLst>
          </p:cNvPr>
          <p:cNvSpPr>
            <a:spLocks xmlns:a="http://schemas.openxmlformats.org/drawingml/2006/main" noGrp="1"/>
          </p:cNvSpPr>
          <p:nvPr/>
        </p:nvSpPr>
        <p:spPr>
          <a:xfrm xmlns:a="http://schemas.openxmlformats.org/drawingml/2006/main">
            <a:off x="685800" y="156210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2563EB"/>
                </a:solidFill>
              </a:defRPr>
            </a:pPr>
            <a:r>
              <a:rPr sz="1875" b="1">
                <a:solidFill>
                  <a:srgbClr val="2563EB"/>
                </a:solidFill>
              </a:rPr>
              <a:t>1.</a:t>
            </a:r>
          </a:p>
        </p:txBody>
      </p:sp>
      <p:sp>
        <p:nvSpPr>
          <p:cNvPr id="4" name="">
            <a:extLst xmlns:a="http://schemas.openxmlformats.org/drawingml/2006/main">
              <a:ext uri="{FF2B5EF4-FFF2-40B4-BE49-F238E27FC236}">
                <a16:creationId xmlns:a16="http://schemas.microsoft.com/office/drawing/2014/main" id="{92375BAA-E69E-449F-B345-2CA90298BD8B}"/>
              </a:ext>
            </a:extLst>
          </p:cNvPr>
          <p:cNvSpPr>
            <a:spLocks xmlns:a="http://schemas.openxmlformats.org/drawingml/2006/main" noGrp="1"/>
          </p:cNvSpPr>
          <p:nvPr/>
        </p:nvSpPr>
        <p:spPr>
          <a:xfrm xmlns:a="http://schemas.openxmlformats.org/drawingml/2006/main">
            <a:off x="1123950" y="156210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F172A"/>
                </a:solidFill>
              </a:defRPr>
            </a:pPr>
            <a:r>
              <a:rPr sz="1875" b="1">
                <a:solidFill>
                  <a:srgbClr val="0F172A"/>
                </a:solidFill>
              </a:rPr>
              <a:t>Faster agent resume after tools</a:t>
            </a:r>
          </a:p>
        </p:txBody>
      </p:sp>
      <p:sp>
        <p:nvSpPr>
          <p:cNvPr id="5" name="">
            <a:extLst xmlns:a="http://schemas.openxmlformats.org/drawingml/2006/main">
              <a:ext uri="{FF2B5EF4-FFF2-40B4-BE49-F238E27FC236}">
                <a16:creationId xmlns:a16="http://schemas.microsoft.com/office/drawing/2014/main" id="{F8AAA9C0-5E92-40EE-A0BE-D0ED8DBB3696}"/>
              </a:ext>
            </a:extLst>
          </p:cNvPr>
          <p:cNvSpPr>
            <a:spLocks xmlns:a="http://schemas.openxmlformats.org/drawingml/2006/main" noGrp="1"/>
          </p:cNvSpPr>
          <p:nvPr/>
        </p:nvSpPr>
        <p:spPr>
          <a:xfrm xmlns:a="http://schemas.openxmlformats.org/drawingml/2006/main">
            <a:off x="1123950" y="19240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2563EB"/>
                </a:solidFill>
              </a:defRPr>
            </a:pPr>
            <a:r>
              <a:rPr sz="1575" b="1">
                <a:solidFill>
                  <a:srgbClr val="2563EB"/>
                </a:solidFill>
              </a:rPr>
              <a:t>Target: 10-30% lower post-tool latency</a:t>
            </a:r>
          </a:p>
        </p:txBody>
      </p:sp>
      <p:sp>
        <p:nvSpPr>
          <p:cNvPr id="6" name="">
            <a:extLst xmlns:a="http://schemas.openxmlformats.org/drawingml/2006/main">
              <a:ext uri="{FF2B5EF4-FFF2-40B4-BE49-F238E27FC236}">
                <a16:creationId xmlns:a16="http://schemas.microsoft.com/office/drawing/2014/main" id="{D85D6261-142F-4D85-8F5C-CB594E66A20F}"/>
              </a:ext>
            </a:extLst>
          </p:cNvPr>
          <p:cNvSpPr>
            <a:spLocks xmlns:a="http://schemas.openxmlformats.org/drawingml/2006/main" noGrp="1"/>
          </p:cNvSpPr>
          <p:nvPr/>
        </p:nvSpPr>
        <p:spPr>
          <a:xfrm xmlns:a="http://schemas.openxmlformats.org/drawingml/2006/main">
            <a:off x="1123950" y="2247900"/>
            <a:ext cx="9334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Why: our traces show the next model turn can wait because useful KV is not ready when the agent resumes.</a:t>
            </a:r>
          </a:p>
        </p:txBody>
      </p:sp>
      <p:sp>
        <p:nvSpPr>
          <p:cNvPr id="7" name="">
            <a:extLst xmlns:a="http://schemas.openxmlformats.org/drawingml/2006/main">
              <a:ext uri="{FF2B5EF4-FFF2-40B4-BE49-F238E27FC236}">
                <a16:creationId xmlns:a16="http://schemas.microsoft.com/office/drawing/2014/main" id="{8B8BF92F-D1B6-4284-9DC4-58D74208D3B1}"/>
              </a:ext>
            </a:extLst>
          </p:cNvPr>
          <p:cNvSpPr>
            <a:spLocks xmlns:a="http://schemas.openxmlformats.org/drawingml/2006/main" noGrp="1"/>
          </p:cNvSpPr>
          <p:nvPr/>
        </p:nvSpPr>
        <p:spPr>
          <a:xfrm xmlns:a="http://schemas.openxmlformats.org/drawingml/2006/main">
            <a:off x="419100" y="2647950"/>
            <a:ext cx="11353800" cy="11430"/>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48B3DF-63EE-4DD2-B3D5-587D861B78B4}"/>
              </a:ext>
            </a:extLst>
          </p:cNvPr>
          <p:cNvSpPr>
            <a:spLocks xmlns:a="http://schemas.openxmlformats.org/drawingml/2006/main" noGrp="1"/>
          </p:cNvSpPr>
          <p:nvPr/>
        </p:nvSpPr>
        <p:spPr>
          <a:xfrm xmlns:a="http://schemas.openxmlformats.org/drawingml/2006/main">
            <a:off x="685800" y="278130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9333EA"/>
                </a:solidFill>
              </a:defRPr>
            </a:pPr>
            <a:r>
              <a:rPr sz="1875" b="1">
                <a:solidFill>
                  <a:srgbClr val="9333EA"/>
                </a:solidFill>
              </a:rPr>
              <a:t>2.</a:t>
            </a:r>
          </a:p>
        </p:txBody>
      </p:sp>
      <p:sp>
        <p:nvSpPr>
          <p:cNvPr id="9" name="">
            <a:extLst xmlns:a="http://schemas.openxmlformats.org/drawingml/2006/main">
              <a:ext uri="{FF2B5EF4-FFF2-40B4-BE49-F238E27FC236}">
                <a16:creationId xmlns:a16="http://schemas.microsoft.com/office/drawing/2014/main" id="{67BDA0E0-DE61-4427-B6E0-E69EAEF32AEE}"/>
              </a:ext>
            </a:extLst>
          </p:cNvPr>
          <p:cNvSpPr>
            <a:spLocks xmlns:a="http://schemas.openxmlformats.org/drawingml/2006/main" noGrp="1"/>
          </p:cNvSpPr>
          <p:nvPr/>
        </p:nvSpPr>
        <p:spPr>
          <a:xfrm xmlns:a="http://schemas.openxmlformats.org/drawingml/2006/main">
            <a:off x="1123950" y="278130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F172A"/>
                </a:solidFill>
              </a:defRPr>
            </a:pPr>
            <a:r>
              <a:rPr sz="1875" b="1">
                <a:solidFill>
                  <a:srgbClr val="0F172A"/>
                </a:solidFill>
              </a:rPr>
              <a:t>Fewer wasted memory movements</a:t>
            </a:r>
          </a:p>
        </p:txBody>
      </p:sp>
      <p:sp>
        <p:nvSpPr>
          <p:cNvPr id="10" name="">
            <a:extLst xmlns:a="http://schemas.openxmlformats.org/drawingml/2006/main">
              <a:ext uri="{FF2B5EF4-FFF2-40B4-BE49-F238E27FC236}">
                <a16:creationId xmlns:a16="http://schemas.microsoft.com/office/drawing/2014/main" id="{33CADE34-C19B-49C0-BFDC-58254C6C91AC}"/>
              </a:ext>
            </a:extLst>
          </p:cNvPr>
          <p:cNvSpPr>
            <a:spLocks xmlns:a="http://schemas.openxmlformats.org/drawingml/2006/main" noGrp="1"/>
          </p:cNvSpPr>
          <p:nvPr/>
        </p:nvSpPr>
        <p:spPr>
          <a:xfrm xmlns:a="http://schemas.openxmlformats.org/drawingml/2006/main">
            <a:off x="1123950" y="31432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9333EA"/>
                </a:solidFill>
              </a:defRPr>
            </a:pPr>
            <a:r>
              <a:rPr sz="1575" b="1">
                <a:solidFill>
                  <a:srgbClr val="9333EA"/>
                </a:solidFill>
              </a:rPr>
              <a:t>Target: 20-50% fewer late or wasted KV reloads</a:t>
            </a:r>
          </a:p>
        </p:txBody>
      </p:sp>
      <p:sp>
        <p:nvSpPr>
          <p:cNvPr id="11" name="">
            <a:extLst xmlns:a="http://schemas.openxmlformats.org/drawingml/2006/main">
              <a:ext uri="{FF2B5EF4-FFF2-40B4-BE49-F238E27FC236}">
                <a16:creationId xmlns:a16="http://schemas.microsoft.com/office/drawing/2014/main" id="{9A58081A-E0D2-4F1F-AE26-AE1DE0D62AE4}"/>
              </a:ext>
            </a:extLst>
          </p:cNvPr>
          <p:cNvSpPr>
            <a:spLocks xmlns:a="http://schemas.openxmlformats.org/drawingml/2006/main" noGrp="1"/>
          </p:cNvSpPr>
          <p:nvPr/>
        </p:nvSpPr>
        <p:spPr>
          <a:xfrm xmlns:a="http://schemas.openxmlformats.org/drawingml/2006/main">
            <a:off x="1123950" y="3467100"/>
            <a:ext cx="9334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Why: memory movement can finish too late, or useful KV can be moved but not reused in time.</a:t>
            </a:r>
          </a:p>
        </p:txBody>
      </p:sp>
      <p:sp>
        <p:nvSpPr>
          <p:cNvPr id="12" name="">
            <a:extLst xmlns:a="http://schemas.openxmlformats.org/drawingml/2006/main">
              <a:ext uri="{FF2B5EF4-FFF2-40B4-BE49-F238E27FC236}">
                <a16:creationId xmlns:a16="http://schemas.microsoft.com/office/drawing/2014/main" id="{9A81C263-E4DC-4DF9-8D0F-C2C074E796F6}"/>
              </a:ext>
            </a:extLst>
          </p:cNvPr>
          <p:cNvSpPr>
            <a:spLocks xmlns:a="http://schemas.openxmlformats.org/drawingml/2006/main" noGrp="1"/>
          </p:cNvSpPr>
          <p:nvPr/>
        </p:nvSpPr>
        <p:spPr>
          <a:xfrm xmlns:a="http://schemas.openxmlformats.org/drawingml/2006/main">
            <a:off x="419100" y="3867150"/>
            <a:ext cx="11353800" cy="11430"/>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2ECB64A-A1C4-4C79-B216-F24A8600962D}"/>
              </a:ext>
            </a:extLst>
          </p:cNvPr>
          <p:cNvSpPr>
            <a:spLocks xmlns:a="http://schemas.openxmlformats.org/drawingml/2006/main" noGrp="1"/>
          </p:cNvSpPr>
          <p:nvPr/>
        </p:nvSpPr>
        <p:spPr>
          <a:xfrm xmlns:a="http://schemas.openxmlformats.org/drawingml/2006/main">
            <a:off x="685800" y="4000500"/>
            <a:ext cx="533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16A34A"/>
                </a:solidFill>
              </a:defRPr>
            </a:pPr>
            <a:r>
              <a:rPr sz="1875" b="1">
                <a:solidFill>
                  <a:srgbClr val="16A34A"/>
                </a:solidFill>
              </a:rPr>
              <a:t>3.</a:t>
            </a:r>
          </a:p>
        </p:txBody>
      </p:sp>
      <p:sp>
        <p:nvSpPr>
          <p:cNvPr id="14" name="">
            <a:extLst xmlns:a="http://schemas.openxmlformats.org/drawingml/2006/main">
              <a:ext uri="{FF2B5EF4-FFF2-40B4-BE49-F238E27FC236}">
                <a16:creationId xmlns:a16="http://schemas.microsoft.com/office/drawing/2014/main" id="{09F01511-E20C-4C52-BF81-0E93F2EAE940}"/>
              </a:ext>
            </a:extLst>
          </p:cNvPr>
          <p:cNvSpPr>
            <a:spLocks xmlns:a="http://schemas.openxmlformats.org/drawingml/2006/main" noGrp="1"/>
          </p:cNvSpPr>
          <p:nvPr/>
        </p:nvSpPr>
        <p:spPr>
          <a:xfrm xmlns:a="http://schemas.openxmlformats.org/drawingml/2006/main">
            <a:off x="1123950" y="400050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F172A"/>
                </a:solidFill>
              </a:defRPr>
            </a:pPr>
            <a:r>
              <a:rPr sz="1875" b="1">
                <a:solidFill>
                  <a:srgbClr val="0F172A"/>
                </a:solidFill>
              </a:rPr>
              <a:t>More predictable tail latency</a:t>
            </a:r>
          </a:p>
        </p:txBody>
      </p:sp>
      <p:sp>
        <p:nvSpPr>
          <p:cNvPr id="15" name="">
            <a:extLst xmlns:a="http://schemas.openxmlformats.org/drawingml/2006/main">
              <a:ext uri="{FF2B5EF4-FFF2-40B4-BE49-F238E27FC236}">
                <a16:creationId xmlns:a16="http://schemas.microsoft.com/office/drawing/2014/main" id="{E99FB8C6-D4C0-4E88-A0A2-5C436EEF1FB0}"/>
              </a:ext>
            </a:extLst>
          </p:cNvPr>
          <p:cNvSpPr>
            <a:spLocks xmlns:a="http://schemas.openxmlformats.org/drawingml/2006/main" noGrp="1"/>
          </p:cNvSpPr>
          <p:nvPr/>
        </p:nvSpPr>
        <p:spPr>
          <a:xfrm xmlns:a="http://schemas.openxmlformats.org/drawingml/2006/main">
            <a:off x="1123950" y="43624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16A34A"/>
                </a:solidFill>
              </a:defRPr>
            </a:pPr>
            <a:r>
              <a:rPr sz="1575" b="1">
                <a:solidFill>
                  <a:srgbClr val="16A34A"/>
                </a:solidFill>
              </a:rPr>
              <a:t>Target: lower p95/p99 agent-resume stalls</a:t>
            </a:r>
          </a:p>
        </p:txBody>
      </p:sp>
      <p:sp>
        <p:nvSpPr>
          <p:cNvPr id="16" name="">
            <a:extLst xmlns:a="http://schemas.openxmlformats.org/drawingml/2006/main">
              <a:ext uri="{FF2B5EF4-FFF2-40B4-BE49-F238E27FC236}">
                <a16:creationId xmlns:a16="http://schemas.microsoft.com/office/drawing/2014/main" id="{C865F086-731A-4783-80E8-3893553F584F}"/>
              </a:ext>
            </a:extLst>
          </p:cNvPr>
          <p:cNvSpPr>
            <a:spLocks xmlns:a="http://schemas.openxmlformats.org/drawingml/2006/main" noGrp="1"/>
          </p:cNvSpPr>
          <p:nvPr/>
        </p:nvSpPr>
        <p:spPr>
          <a:xfrm xmlns:a="http://schemas.openxmlformats.org/drawingml/2006/main">
            <a:off x="1123950" y="4686300"/>
            <a:ext cx="9334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Why: urgent agent KV currently competes with ordinary memory traffic without deadline or priority context.</a:t>
            </a:r>
          </a:p>
        </p:txBody>
      </p:sp>
      <p:sp>
        <p:nvSpPr>
          <p:cNvPr id="17" name="">
            <a:extLst xmlns:a="http://schemas.openxmlformats.org/drawingml/2006/main">
              <a:ext uri="{FF2B5EF4-FFF2-40B4-BE49-F238E27FC236}">
                <a16:creationId xmlns:a16="http://schemas.microsoft.com/office/drawing/2014/main" id="{B7CCE12D-B2F8-4E75-BB7A-A8157236C3B1}"/>
              </a:ext>
            </a:extLst>
          </p:cNvPr>
          <p:cNvSpPr>
            <a:spLocks xmlns:a="http://schemas.openxmlformats.org/drawingml/2006/main" noGrp="1"/>
          </p:cNvSpPr>
          <p:nvPr/>
        </p:nvSpPr>
        <p:spPr>
          <a:xfrm xmlns:a="http://schemas.openxmlformats.org/drawingml/2006/main">
            <a:off x="419100" y="53340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6CDA8D-8973-4D17-862E-551A0640D0F4}"/>
              </a:ext>
            </a:extLst>
          </p:cNvPr>
          <p:cNvSpPr>
            <a:spLocks xmlns:a="http://schemas.openxmlformats.org/drawingml/2006/main" noGrp="1"/>
          </p:cNvSpPr>
          <p:nvPr/>
        </p:nvSpPr>
        <p:spPr>
          <a:xfrm xmlns:a="http://schemas.openxmlformats.org/drawingml/2006/main">
            <a:off x="876300" y="556260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Hardware support to test</a:t>
            </a:r>
          </a:p>
        </p:txBody>
      </p:sp>
      <p:sp>
        <p:nvSpPr>
          <p:cNvPr id="19" name="">
            <a:extLst xmlns:a="http://schemas.openxmlformats.org/drawingml/2006/main">
              <a:ext uri="{FF2B5EF4-FFF2-40B4-BE49-F238E27FC236}">
                <a16:creationId xmlns:a16="http://schemas.microsoft.com/office/drawing/2014/main" id="{5FD3D6B7-A0E6-4078-9750-92005DA716AF}"/>
              </a:ext>
            </a:extLst>
          </p:cNvPr>
          <p:cNvSpPr>
            <a:spLocks xmlns:a="http://schemas.openxmlformats.org/drawingml/2006/main" noGrp="1"/>
          </p:cNvSpPr>
          <p:nvPr/>
        </p:nvSpPr>
        <p:spPr>
          <a:xfrm xmlns:a="http://schemas.openxmlformats.org/drawingml/2006/main">
            <a:off x="876300" y="58674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F172A"/>
                </a:solidFill>
              </a:defRPr>
            </a:pPr>
            <a:r>
              <a:rPr sz="1425" b="1">
                <a:solidFill>
                  <a:srgbClr val="0F172A"/>
                </a:solidFill>
              </a:rPr>
              <a:t>KV/session metadata, deadline-aware movement queues, temporary KV protection, and useful/late/wasted telemetry.</a:t>
            </a:r>
          </a:p>
        </p:txBody>
      </p:sp>
      <p:sp>
        <p:nvSpPr>
          <p:cNvPr id="20" name="">
            <a:extLst xmlns:a="http://schemas.openxmlformats.org/drawingml/2006/main">
              <a:ext uri="{FF2B5EF4-FFF2-40B4-BE49-F238E27FC236}">
                <a16:creationId xmlns:a16="http://schemas.microsoft.com/office/drawing/2014/main" id="{4B25D72D-63FE-410C-B487-FD327FA7C694}"/>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1" name="">
            <a:extLst xmlns:a="http://schemas.openxmlformats.org/drawingml/2006/main">
              <a:ext uri="{FF2B5EF4-FFF2-40B4-BE49-F238E27FC236}">
                <a16:creationId xmlns:a16="http://schemas.microsoft.com/office/drawing/2014/main" id="{8973D742-CCA8-4568-BD95-5B776A2C38DE}"/>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11</a:t>
            </a:r>
          </a:p>
        </p:txBody>
      </p:sp>
    </p:spTree>
    <p:extLst>
      <p:ext uri="{BB962C8B-B14F-4D97-AF65-F5344CB8AC3E}">
        <p14:creationId xmlns:p14="http://schemas.microsoft.com/office/powerpoint/2010/main" val="134797926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54CDFBF-37DE-4685-941A-14325A8001D9}"/>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88ED46AE-C6C2-4A2E-A3F2-027149212E84}"/>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Treat KV as deadline-sensitive memory, not generic bytes.</a:t>
            </a:r>
          </a:p>
        </p:txBody>
      </p:sp>
      <p:sp>
        <p:nvSpPr>
          <p:cNvPr id="3" name="">
            <a:extLst xmlns:a="http://schemas.openxmlformats.org/drawingml/2006/main">
              <a:ext uri="{FF2B5EF4-FFF2-40B4-BE49-F238E27FC236}">
                <a16:creationId xmlns:a16="http://schemas.microsoft.com/office/drawing/2014/main" id="{9A0A206A-C485-406C-9FDD-813C57BD7355}"/>
              </a:ext>
            </a:extLst>
          </p:cNvPr>
          <p:cNvSpPr>
            <a:spLocks xmlns:a="http://schemas.openxmlformats.org/drawingml/2006/main" noGrp="1"/>
          </p:cNvSpPr>
          <p:nvPr/>
        </p:nvSpPr>
        <p:spPr>
          <a:xfrm xmlns:a="http://schemas.openxmlformats.org/drawingml/2006/main">
            <a:off x="857250" y="1676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C242997F-85E9-4FFE-B216-4C5EC65FF57D}"/>
              </a:ext>
            </a:extLst>
          </p:cNvPr>
          <p:cNvSpPr>
            <a:spLocks xmlns:a="http://schemas.openxmlformats.org/drawingml/2006/main" noGrp="1"/>
          </p:cNvSpPr>
          <p:nvPr/>
        </p:nvSpPr>
        <p:spPr>
          <a:xfrm xmlns:a="http://schemas.openxmlformats.org/drawingml/2006/main">
            <a:off x="1143000" y="16954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page/session metadata: which agent owns this KV and how urgent is it?</a:t>
            </a:r>
          </a:p>
        </p:txBody>
      </p:sp>
      <p:sp>
        <p:nvSpPr>
          <p:cNvPr id="5" name="">
            <a:extLst xmlns:a="http://schemas.openxmlformats.org/drawingml/2006/main">
              <a:ext uri="{FF2B5EF4-FFF2-40B4-BE49-F238E27FC236}">
                <a16:creationId xmlns:a16="http://schemas.microsoft.com/office/drawing/2014/main" id="{8D9756C0-B7AA-4133-8552-12ADB803185C}"/>
              </a:ext>
            </a:extLst>
          </p:cNvPr>
          <p:cNvSpPr>
            <a:spLocks xmlns:a="http://schemas.openxmlformats.org/drawingml/2006/main" noGrp="1"/>
          </p:cNvSpPr>
          <p:nvPr/>
        </p:nvSpPr>
        <p:spPr>
          <a:xfrm xmlns:a="http://schemas.openxmlformats.org/drawingml/2006/main">
            <a:off x="857250" y="2362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F045540A-E436-4EA3-9D6E-8DEA6F35DB6F}"/>
              </a:ext>
            </a:extLst>
          </p:cNvPr>
          <p:cNvSpPr>
            <a:spLocks xmlns:a="http://schemas.openxmlformats.org/drawingml/2006/main" noGrp="1"/>
          </p:cNvSpPr>
          <p:nvPr/>
        </p:nvSpPr>
        <p:spPr>
          <a:xfrm xmlns:a="http://schemas.openxmlformats.org/drawingml/2006/main">
            <a:off x="1143000" y="23812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Deadline-aware migration queue: move urgent KV before less urgent traffic.</a:t>
            </a:r>
          </a:p>
        </p:txBody>
      </p:sp>
      <p:sp>
        <p:nvSpPr>
          <p:cNvPr id="7" name="">
            <a:extLst xmlns:a="http://schemas.openxmlformats.org/drawingml/2006/main">
              <a:ext uri="{FF2B5EF4-FFF2-40B4-BE49-F238E27FC236}">
                <a16:creationId xmlns:a16="http://schemas.microsoft.com/office/drawing/2014/main" id="{A9B5C110-53A2-4824-8D10-A67E44DAE0FC}"/>
              </a:ext>
            </a:extLst>
          </p:cNvPr>
          <p:cNvSpPr>
            <a:spLocks xmlns:a="http://schemas.openxmlformats.org/drawingml/2006/main" noGrp="1"/>
          </p:cNvSpPr>
          <p:nvPr/>
        </p:nvSpPr>
        <p:spPr>
          <a:xfrm xmlns:a="http://schemas.openxmlformats.org/drawingml/2006/main">
            <a:off x="857250" y="3048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D3BE5191-7EEC-425E-AEED-50E5B0101147}"/>
              </a:ext>
            </a:extLst>
          </p:cNvPr>
          <p:cNvSpPr>
            <a:spLocks xmlns:a="http://schemas.openxmlformats.org/drawingml/2006/main" noGrp="1"/>
          </p:cNvSpPr>
          <p:nvPr/>
        </p:nvSpPr>
        <p:spPr>
          <a:xfrm xmlns:a="http://schemas.openxmlformats.org/drawingml/2006/main">
            <a:off x="1143000" y="30670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Residency protection: keep useful prefetched KV from being evicted too early.</a:t>
            </a:r>
          </a:p>
        </p:txBody>
      </p:sp>
      <p:sp>
        <p:nvSpPr>
          <p:cNvPr id="9" name="">
            <a:extLst xmlns:a="http://schemas.openxmlformats.org/drawingml/2006/main">
              <a:ext uri="{FF2B5EF4-FFF2-40B4-BE49-F238E27FC236}">
                <a16:creationId xmlns:a16="http://schemas.microsoft.com/office/drawing/2014/main" id="{7403CB6C-EDBF-4802-8945-141FAF9FD8BB}"/>
              </a:ext>
            </a:extLst>
          </p:cNvPr>
          <p:cNvSpPr>
            <a:spLocks xmlns:a="http://schemas.openxmlformats.org/drawingml/2006/main" noGrp="1"/>
          </p:cNvSpPr>
          <p:nvPr/>
        </p:nvSpPr>
        <p:spPr>
          <a:xfrm xmlns:a="http://schemas.openxmlformats.org/drawingml/2006/main">
            <a:off x="857250" y="3733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10" name="">
            <a:extLst xmlns:a="http://schemas.openxmlformats.org/drawingml/2006/main">
              <a:ext uri="{FF2B5EF4-FFF2-40B4-BE49-F238E27FC236}">
                <a16:creationId xmlns:a16="http://schemas.microsoft.com/office/drawing/2014/main" id="{DF68B0F6-33F1-4FD5-B64C-F1CF9B14B8D2}"/>
              </a:ext>
            </a:extLst>
          </p:cNvPr>
          <p:cNvSpPr>
            <a:spLocks xmlns:a="http://schemas.openxmlformats.org/drawingml/2006/main" noGrp="1"/>
          </p:cNvSpPr>
          <p:nvPr/>
        </p:nvSpPr>
        <p:spPr>
          <a:xfrm xmlns:a="http://schemas.openxmlformats.org/drawingml/2006/main">
            <a:off x="1143000" y="37528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Telemetry: count useful, late, wasted, and evicted-before-use movement.</a:t>
            </a:r>
          </a:p>
        </p:txBody>
      </p:sp>
      <p:sp>
        <p:nvSpPr>
          <p:cNvPr id="11" name="">
            <a:extLst xmlns:a="http://schemas.openxmlformats.org/drawingml/2006/main">
              <a:ext uri="{FF2B5EF4-FFF2-40B4-BE49-F238E27FC236}">
                <a16:creationId xmlns:a16="http://schemas.microsoft.com/office/drawing/2014/main" id="{3718519A-617B-42C9-AFC3-755F13A4A955}"/>
              </a:ext>
            </a:extLst>
          </p:cNvPr>
          <p:cNvSpPr>
            <a:spLocks xmlns:a="http://schemas.openxmlformats.org/drawingml/2006/main" noGrp="1"/>
          </p:cNvSpPr>
          <p:nvPr/>
        </p:nvSpPr>
        <p:spPr>
          <a:xfrm xmlns:a="http://schemas.openxmlformats.org/drawingml/2006/main">
            <a:off x="419100" y="52578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7F2B537-61E6-4009-8382-92606EF41800}"/>
              </a:ext>
            </a:extLst>
          </p:cNvPr>
          <p:cNvSpPr>
            <a:spLocks xmlns:a="http://schemas.openxmlformats.org/drawingml/2006/main" noGrp="1"/>
          </p:cNvSpPr>
          <p:nvPr/>
        </p:nvSpPr>
        <p:spPr>
          <a:xfrm xmlns:a="http://schemas.openxmlformats.org/drawingml/2006/main">
            <a:off x="857250" y="5524500"/>
            <a:ext cx="10191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F172A"/>
                </a:solidFill>
              </a:defRPr>
            </a:pPr>
            <a:r>
              <a:rPr sz="1575" b="1">
                <a:solidFill>
                  <a:srgbClr val="0F172A"/>
                </a:solidFill>
              </a:rPr>
              <a:t>Research question: how much replay latency and wasted movement can be avoided when KV movement has session context, priority, deadline, protection, and telemetry?</a:t>
            </a:r>
          </a:p>
        </p:txBody>
      </p:sp>
      <p:sp>
        <p:nvSpPr>
          <p:cNvPr id="13" name="">
            <a:extLst xmlns:a="http://schemas.openxmlformats.org/drawingml/2006/main">
              <a:ext uri="{FF2B5EF4-FFF2-40B4-BE49-F238E27FC236}">
                <a16:creationId xmlns:a16="http://schemas.microsoft.com/office/drawing/2014/main" id="{D728E630-EFDD-4C29-9848-DCF76AC7839D}"/>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2674D2E0-1582-42AF-BFBA-8083A2FAF00D}"/>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12</a:t>
            </a:r>
          </a:p>
        </p:txBody>
      </p:sp>
    </p:spTree>
    <p:extLst>
      <p:ext uri="{BB962C8B-B14F-4D97-AF65-F5344CB8AC3E}">
        <p14:creationId xmlns:p14="http://schemas.microsoft.com/office/powerpoint/2010/main" val="9070000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2026-08-19T17:38:43.1690000Z</dcterms:created>
  <dcterms:modified xsi:type="dcterms:W3CDTF">2026-08-19T17:38:43.1690000Z</dcterms:modified>
</coreProperties>
</file>