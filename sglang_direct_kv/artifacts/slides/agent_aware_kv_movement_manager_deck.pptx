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32c298808364adf" /><Relationship Type="http://schemas.openxmlformats.org/officeDocument/2006/relationships/extended-properties" Target="/docProps/app.xml" Id="R458ea426462e4bc7" /><Relationship Type="http://schemas.openxmlformats.org/officeDocument/2006/relationships/officeDocument" Target="/ppt/presentation.xml" Id="Rc67ec195b10241d4" /></Relationships>
</file>

<file path=ppt/presentation.xml><?xml version="1.0" encoding="utf-8"?>
<p:presentation xmlns:p="http://schemas.openxmlformats.org/presentationml/2006/main">
  <p:sldMasterIdLst>
    <p:sldMasterId xmlns:r="http://schemas.openxmlformats.org/officeDocument/2006/relationships" id="2147483648" r:id="R601185fe15184d04"/>
  </p:sldMasterIdLst>
  <p:notesMasterIdLst>
    <p:notesMasterId xmlns:r="http://schemas.openxmlformats.org/officeDocument/2006/relationships" r:id="Rb5f852de8d444456"/>
  </p:notesMasterIdLst>
  <p:sldIdLst>
    <p:sldId xmlns:r="http://schemas.openxmlformats.org/officeDocument/2006/relationships" id="256" r:id="R7daa26312cdc4e89"/>
    <p:sldId xmlns:r="http://schemas.openxmlformats.org/officeDocument/2006/relationships" id="257" r:id="Rcf8d371f12da4fd9"/>
    <p:sldId xmlns:r="http://schemas.openxmlformats.org/officeDocument/2006/relationships" id="258" r:id="R4387e18435334843"/>
    <p:sldId xmlns:r="http://schemas.openxmlformats.org/officeDocument/2006/relationships" id="259" r:id="R7535cc3ff9094265"/>
    <p:sldId xmlns:r="http://schemas.openxmlformats.org/officeDocument/2006/relationships" id="260" r:id="R92d0645070fd4a7e"/>
    <p:sldId xmlns:r="http://schemas.openxmlformats.org/officeDocument/2006/relationships" id="261" r:id="Rd105dad3ca234f13"/>
    <p:sldId xmlns:r="http://schemas.openxmlformats.org/officeDocument/2006/relationships" id="262" r:id="R855ed48d2828471d"/>
    <p:sldId xmlns:r="http://schemas.openxmlformats.org/officeDocument/2006/relationships" id="263" r:id="R5b0c6fdbfb354bb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e321c8a15124607" /><Relationship Type="http://schemas.openxmlformats.org/officeDocument/2006/relationships/slideMaster" Target="/ppt/slideMasters/slideMaster1.xml" Id="R601185fe15184d04" /><Relationship Type="http://schemas.openxmlformats.org/officeDocument/2006/relationships/notesMaster" Target="/ppt/notesMasters/notesMaster1.xml" Id="Rb5f852de8d444456" /><Relationship Type="http://schemas.openxmlformats.org/officeDocument/2006/relationships/presProps" Target="/ppt/presProps.xml" Id="Ra6a9704af9574795" /><Relationship Type="http://schemas.openxmlformats.org/officeDocument/2006/relationships/tableStyles" Target="/ppt/tableStyles.xml" Id="R1be6dd9fd8c54494" /><Relationship Type="http://schemas.openxmlformats.org/officeDocument/2006/relationships/slide" Target="/ppt/slides/slide1.xml" Id="R7daa26312cdc4e89" /><Relationship Type="http://schemas.openxmlformats.org/officeDocument/2006/relationships/slide" Target="/ppt/slides/slide2.xml" Id="Rcf8d371f12da4fd9" /><Relationship Type="http://schemas.openxmlformats.org/officeDocument/2006/relationships/slide" Target="/ppt/slides/slide3.xml" Id="R4387e18435334843" /><Relationship Type="http://schemas.openxmlformats.org/officeDocument/2006/relationships/slide" Target="/ppt/slides/slide4.xml" Id="R7535cc3ff9094265" /><Relationship Type="http://schemas.openxmlformats.org/officeDocument/2006/relationships/slide" Target="/ppt/slides/slide5.xml" Id="R92d0645070fd4a7e" /><Relationship Type="http://schemas.openxmlformats.org/officeDocument/2006/relationships/slide" Target="/ppt/slides/slide6.xml" Id="Rd105dad3ca234f13" /><Relationship Type="http://schemas.openxmlformats.org/officeDocument/2006/relationships/slide" Target="/ppt/slides/slide7.xml" Id="R855ed48d2828471d" /><Relationship Type="http://schemas.openxmlformats.org/officeDocument/2006/relationships/slide" Target="/ppt/slides/slide8.xml" Id="R5b0c6fdbfb354bb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d72cdb4472f478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237fd47f7814d81" /><Relationship Type="http://schemas.openxmlformats.org/officeDocument/2006/relationships/notesMaster" Target="/ppt/notesMasters/notesMaster1.xml" Id="R502175ebf89b4330" /></Relationships>
</file>

<file path=ppt/notesSlides/_rels/notesSlide2.xml.rels>&#65279;<?xml version="1.0" encoding="utf-8"?><Relationships xmlns="http://schemas.openxmlformats.org/package/2006/relationships"><Relationship Type="http://schemas.openxmlformats.org/officeDocument/2006/relationships/slide" Target="/ppt/slides/slide2.xml" Id="Rf1f96206b0114692" /><Relationship Type="http://schemas.openxmlformats.org/officeDocument/2006/relationships/notesMaster" Target="/ppt/notesMasters/notesMaster1.xml" Id="R1c269f71300b4753" /></Relationships>
</file>

<file path=ppt/notesSlides/_rels/notesSlide3.xml.rels>&#65279;<?xml version="1.0" encoding="utf-8"?><Relationships xmlns="http://schemas.openxmlformats.org/package/2006/relationships"><Relationship Type="http://schemas.openxmlformats.org/officeDocument/2006/relationships/slide" Target="/ppt/slides/slide3.xml" Id="R381872b81fb04a29" /><Relationship Type="http://schemas.openxmlformats.org/officeDocument/2006/relationships/notesMaster" Target="/ppt/notesMasters/notesMaster1.xml" Id="R2d4eef35313e4ed9" /></Relationships>
</file>

<file path=ppt/notesSlides/_rels/notesSlide4.xml.rels>&#65279;<?xml version="1.0" encoding="utf-8"?><Relationships xmlns="http://schemas.openxmlformats.org/package/2006/relationships"><Relationship Type="http://schemas.openxmlformats.org/officeDocument/2006/relationships/slide" Target="/ppt/slides/slide4.xml" Id="R9f77ac133f7c4886" /><Relationship Type="http://schemas.openxmlformats.org/officeDocument/2006/relationships/notesMaster" Target="/ppt/notesMasters/notesMaster1.xml" Id="Rb06daddeb7644c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bcc891cf93184690" /><Relationship Type="http://schemas.openxmlformats.org/officeDocument/2006/relationships/notesMaster" Target="/ppt/notesMasters/notesMaster1.xml" Id="R7fcbe46ea2b14f38" /></Relationships>
</file>

<file path=ppt/notesSlides/_rels/notesSlide6.xml.rels>&#65279;<?xml version="1.0" encoding="utf-8"?><Relationships xmlns="http://schemas.openxmlformats.org/package/2006/relationships"><Relationship Type="http://schemas.openxmlformats.org/officeDocument/2006/relationships/slide" Target="/ppt/slides/slide6.xml" Id="R0093ddabe68d4c74" /><Relationship Type="http://schemas.openxmlformats.org/officeDocument/2006/relationships/notesMaster" Target="/ppt/notesMasters/notesMaster1.xml" Id="R8302c80ab65a40c7" /></Relationships>
</file>

<file path=ppt/notesSlides/_rels/notesSlide7.xml.rels>&#65279;<?xml version="1.0" encoding="utf-8"?><Relationships xmlns="http://schemas.openxmlformats.org/package/2006/relationships"><Relationship Type="http://schemas.openxmlformats.org/officeDocument/2006/relationships/slide" Target="/ppt/slides/slide7.xml" Id="R71005469d6634a34" /><Relationship Type="http://schemas.openxmlformats.org/officeDocument/2006/relationships/notesMaster" Target="/ppt/notesMasters/notesMaster1.xml" Id="Rcd4ec59b2c2b40a1" /></Relationships>
</file>

<file path=ppt/notesSlides/_rels/notesSlide8.xml.rels>&#65279;<?xml version="1.0" encoding="utf-8"?><Relationships xmlns="http://schemas.openxmlformats.org/package/2006/relationships"><Relationship Type="http://schemas.openxmlformats.org/officeDocument/2006/relationships/slide" Target="/ppt/slides/slide8.xml" Id="Rf1b17142cec54d2c" /><Relationship Type="http://schemas.openxmlformats.org/officeDocument/2006/relationships/notesMaster" Target="/ppt/notesMasters/notesMaster1.xml" Id="R7e30a93a1938484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slide. Position this as a hardware/runtime co-design question, not just an SGLang software optimization.</a:t>
            </a:r>
          </a:p>
          <a:p xmlns:a="http://schemas.openxmlformats.org/drawingml/2006/main">
            <a:r>
              <a:t>Goal: 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aims to quantify that gap and prototype hint-guided KV movement as a path toward smarter DMA engines, KV-aware memory scheduling, and hardware/runtime co-design.</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the two traffic feeds. Synthetic runs let us control pressure and timing; real DeepAgents/SWE-bench traces preserve realistic coding-agent prompts and tool gaps.</a:t>
            </a:r>
          </a:p>
          <a:p xmlns:a="http://schemas.openxmlformats.org/drawingml/2006/main">
            <a:r>
              <a:t>The setup flow image comes from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frames the hardware opportunity: hints must become enforceable by the memory movement path.</a:t>
            </a:r>
          </a:p>
          <a:p xmlns:a="http://schemas.openxmlformats.org/drawingml/2006/main">
            <a:r>
              <a:t>Hardware examples include SDMA, CPU-side DMA, NIC DMA, SSD DMA, and copy/migration engines.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narrative chart. It shows the initial model turn, tool wait, replay path, replay-side H2D, recompute, prefill, and decode.</a:t>
            </a:r>
          </a:p>
          <a:p xmlns:a="http://schemas.openxmlformats.org/drawingml/2006/main">
            <a:r>
              <a:t>The image is a cropped view of the Readable Phase Timeline in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global prefetch-attempt evidence. The backup report shows 114 matched prefetch attempts, 112 late, and 98.25% late.</a:t>
            </a:r>
          </a:p>
          <a:p xmlns:a="http://schemas.openxmlformats.org/drawingml/2006/main">
            <a:r>
              <a:t>Use it to show that software prefetch through the normal serving path often misses tight replay windows.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aggregate evidence slide. The current controlled no-prefetch run reports 8 no-prefetch replay H2D gaps and 8 late H2D finishes.</a:t>
            </a:r>
          </a:p>
          <a:p xmlns:a="http://schemas.openxmlformats.org/drawingml/2006/main">
            <a:r>
              <a:t>Measured claim source: Global Replay H2D Readiness table and dot plot in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separates replay due, client submit, SGLang receive, scheduler queue/admit, H2D start, and H2D finish.</a:t>
            </a:r>
          </a:p>
          <a:p xmlns:a="http://schemas.openxmlformats.org/drawingml/2006/main">
            <a:r>
              <a:t>The key manager takeaway: a hint-aware design should influence scheduling and priority, not merely request more copies.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slide. This translates observed software/runtime behavior into concrete hardware support candidates.</a:t>
            </a:r>
          </a:p>
          <a:p xmlns:a="http://schemas.openxmlformats.org/drawingml/2006/main">
            <a:r>
              <a:t>Hardware ideas come from the project proposal: KV metadata, deadline-aware queues, priority-aware migration, residency protection, and telemetry.</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33de8352a9549b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27cd15dbcf64c34" /><Relationship Type="http://schemas.openxmlformats.org/officeDocument/2006/relationships/slideLayout" Target="/ppt/slideLayouts/slideLayout1.xml" Id="R406961d316ec455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06961d316ec455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297e8840e224d3a" /><Relationship Type="http://schemas.openxmlformats.org/officeDocument/2006/relationships/notesSlide" Target="/ppt/notesSlides/notesSlide1.xml" Id="Rbe941f08622d4ed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3d19d6cd1cf4d21" /><Relationship Type="http://schemas.openxmlformats.org/officeDocument/2006/relationships/image" Target="/ppt/media/image.png" Id="Rb38c1f58a5844237" /><Relationship Type="http://schemas.openxmlformats.org/officeDocument/2006/relationships/notesSlide" Target="/ppt/notesSlides/notesSlide2.xml" Id="R2bf42ad07c39422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98ce1120c2d4824" /><Relationship Type="http://schemas.openxmlformats.org/officeDocument/2006/relationships/notesSlide" Target="/ppt/notesSlides/notesSlide3.xml" Id="R007b7f86980a48c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0d93d7141dc4dac" /><Relationship Type="http://schemas.openxmlformats.org/officeDocument/2006/relationships/image" Target="/ppt/media/image2.png" Id="R17ca1f81781040ea" /><Relationship Type="http://schemas.openxmlformats.org/officeDocument/2006/relationships/notesSlide" Target="/ppt/notesSlides/notesSlide4.xml" Id="R3d4e1d353d5b49d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e92bf0950584006" /><Relationship Type="http://schemas.openxmlformats.org/officeDocument/2006/relationships/image" Target="/ppt/media/image3.png" Id="R4354e2c2031a4581" /><Relationship Type="http://schemas.openxmlformats.org/officeDocument/2006/relationships/notesSlide" Target="/ppt/notesSlides/notesSlide5.xml" Id="R09737e5b8930456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de6757a2cd54c49" /><Relationship Type="http://schemas.openxmlformats.org/officeDocument/2006/relationships/image" Target="/ppt/media/image4.png" Id="Ra2c93e584e3f462c" /><Relationship Type="http://schemas.openxmlformats.org/officeDocument/2006/relationships/notesSlide" Target="/ppt/notesSlides/notesSlide6.xml" Id="Ra20437c5c5c1447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998022271a34da2" /><Relationship Type="http://schemas.openxmlformats.org/officeDocument/2006/relationships/image" Target="/ppt/media/image5.png" Id="R93b30e23c1444876" /><Relationship Type="http://schemas.openxmlformats.org/officeDocument/2006/relationships/notesSlide" Target="/ppt/notesSlides/notesSlide7.xml" Id="R00e002c9ef7b4fb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034969fb84344c0" /><Relationship Type="http://schemas.openxmlformats.org/officeDocument/2006/relationships/notesSlide" Target="/ppt/notesSlides/notesSlide8.xml" Id="Rdb353a6adc6d409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2FB2137-23A7-4BBA-82A2-4DADBBC59E9A}"/>
              </a:ext>
            </a:extLst>
          </p:cNvPr>
          <p:cNvSpPr>
            <a:spLocks xmlns:a="http://schemas.openxmlformats.org/drawingml/2006/main" noGrp="1"/>
          </p:cNvSpPr>
          <p:nvPr/>
        </p:nvSpPr>
        <p:spPr>
          <a:xfrm xmlns:a="http://schemas.openxmlformats.org/drawingml/2006/main">
            <a:off x="400050" y="514350"/>
            <a:ext cx="83820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350" b="1">
                <a:solidFill>
                  <a:srgbClr val="0F172A"/>
                </a:solidFill>
              </a:defRPr>
            </a:pPr>
            <a:r>
              <a:rPr sz="4350" b="1">
                <a:solidFill>
                  <a:srgbClr val="0F172A"/>
                </a:solidFill>
              </a:rPr>
              <a:t>Making KV Movement Agent-Aware</a:t>
            </a:r>
          </a:p>
        </p:txBody>
      </p:sp>
      <p:sp>
        <p:nvSpPr>
          <p:cNvPr id="2" name="">
            <a:extLst xmlns:a="http://schemas.openxmlformats.org/drawingml/2006/main">
              <a:ext uri="{FF2B5EF4-FFF2-40B4-BE49-F238E27FC236}">
                <a16:creationId xmlns:a16="http://schemas.microsoft.com/office/drawing/2014/main" id="{6E355E9F-8557-4B62-BDF4-23539AB16002}"/>
              </a:ext>
            </a:extLst>
          </p:cNvPr>
          <p:cNvSpPr>
            <a:spLocks xmlns:a="http://schemas.openxmlformats.org/drawingml/2006/main" noGrp="1"/>
          </p:cNvSpPr>
          <p:nvPr/>
        </p:nvSpPr>
        <p:spPr>
          <a:xfrm xmlns:a="http://schemas.openxmlformats.org/drawingml/2006/main">
            <a:off x="438150" y="1714500"/>
            <a:ext cx="102870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334155"/>
                </a:solidFill>
              </a:defRPr>
            </a:pPr>
            <a:r>
              <a:rPr sz="1575" b="0">
                <a:solidFill>
                  <a:srgbClr val="334155"/>
                </a:solidFill>
              </a:rPr>
              <a:t>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aims to quantify that gap and prototype hint-guided KV movement as a path toward smarter DMA engines, KV-aware memory scheduling, and hardware/runtime co-design.</a:t>
            </a:r>
          </a:p>
        </p:txBody>
      </p:sp>
      <p:sp>
        <p:nvSpPr>
          <p:cNvPr id="3" name="">
            <a:extLst xmlns:a="http://schemas.openxmlformats.org/drawingml/2006/main">
              <a:ext uri="{FF2B5EF4-FFF2-40B4-BE49-F238E27FC236}">
                <a16:creationId xmlns:a16="http://schemas.microsoft.com/office/drawing/2014/main" id="{DA1F0853-039D-4C86-A71F-E072698AE8FC}"/>
              </a:ext>
            </a:extLst>
          </p:cNvPr>
          <p:cNvSpPr>
            <a:spLocks xmlns:a="http://schemas.openxmlformats.org/drawingml/2006/main" noGrp="1"/>
          </p:cNvSpPr>
          <p:nvPr/>
        </p:nvSpPr>
        <p:spPr>
          <a:xfrm xmlns:a="http://schemas.openxmlformats.org/drawingml/2006/main">
            <a:off x="495300" y="3829050"/>
            <a:ext cx="1619250" cy="781050"/>
          </a:xfrm>
          <a:prstGeom xmlns:a="http://schemas.openxmlformats.org/drawingml/2006/main" prst="roundRect">
            <a:avLst>
              <a:gd name="adj" fmla="val 7317"/>
            </a:avLst>
          </a:prstGeom>
          <a:solidFill xmlns:a="http://schemas.openxmlformats.org/drawingml/2006/main">
            <a:srgbClr val="DBEAFE"/>
          </a:solidFill>
          <a:ln xmlns:a="http://schemas.openxmlformats.org/drawingml/2006/main" w="9525">
            <a:solidFill>
              <a:srgbClr val="CBD5E1"/>
            </a:solidFill>
            <a:prstDash val="solid"/>
          </a:ln>
        </p:spPr>
      </p:sp>
      <p:sp>
        <p:nvSpPr>
          <p:cNvPr id="4" name="">
            <a:extLst xmlns:a="http://schemas.openxmlformats.org/drawingml/2006/main">
              <a:ext uri="{FF2B5EF4-FFF2-40B4-BE49-F238E27FC236}">
                <a16:creationId xmlns:a16="http://schemas.microsoft.com/office/drawing/2014/main" id="{7A3A1910-124C-474A-B3E8-DD5CE2C8B126}"/>
              </a:ext>
            </a:extLst>
          </p:cNvPr>
          <p:cNvSpPr>
            <a:spLocks xmlns:a="http://schemas.openxmlformats.org/drawingml/2006/main" noGrp="1"/>
          </p:cNvSpPr>
          <p:nvPr/>
        </p:nvSpPr>
        <p:spPr>
          <a:xfrm xmlns:a="http://schemas.openxmlformats.org/drawingml/2006/main">
            <a:off x="628650"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model turn</a:t>
            </a:r>
          </a:p>
        </p:txBody>
      </p:sp>
      <p:sp>
        <p:nvSpPr>
          <p:cNvPr id="5" name="">
            <a:extLst xmlns:a="http://schemas.openxmlformats.org/drawingml/2006/main">
              <a:ext uri="{FF2B5EF4-FFF2-40B4-BE49-F238E27FC236}">
                <a16:creationId xmlns:a16="http://schemas.microsoft.com/office/drawing/2014/main" id="{2CBB6CA9-B912-4BEE-A8A5-D071D5EF73D4}"/>
              </a:ext>
            </a:extLst>
          </p:cNvPr>
          <p:cNvSpPr>
            <a:spLocks xmlns:a="http://schemas.openxmlformats.org/drawingml/2006/main" noGrp="1"/>
          </p:cNvSpPr>
          <p:nvPr/>
        </p:nvSpPr>
        <p:spPr>
          <a:xfrm xmlns:a="http://schemas.openxmlformats.org/drawingml/2006/main">
            <a:off x="2228850" y="4029075"/>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00" b="1">
                <a:solidFill>
                  <a:srgbClr val="64748B"/>
                </a:solidFill>
              </a:defRPr>
            </a:pPr>
            <a:r>
              <a:rPr sz="2400" b="1">
                <a:solidFill>
                  <a:srgbClr val="64748B"/>
                </a:solidFill>
              </a:rPr>
              <a:t>→</a:t>
            </a:r>
          </a:p>
        </p:txBody>
      </p:sp>
      <p:sp>
        <p:nvSpPr>
          <p:cNvPr id="6" name="">
            <a:extLst xmlns:a="http://schemas.openxmlformats.org/drawingml/2006/main">
              <a:ext uri="{FF2B5EF4-FFF2-40B4-BE49-F238E27FC236}">
                <a16:creationId xmlns:a16="http://schemas.microsoft.com/office/drawing/2014/main" id="{4BE85BCF-32F8-4954-89A0-9F8DD5B43FC4}"/>
              </a:ext>
            </a:extLst>
          </p:cNvPr>
          <p:cNvSpPr>
            <a:spLocks xmlns:a="http://schemas.openxmlformats.org/drawingml/2006/main" noGrp="1"/>
          </p:cNvSpPr>
          <p:nvPr/>
        </p:nvSpPr>
        <p:spPr>
          <a:xfrm xmlns:a="http://schemas.openxmlformats.org/drawingml/2006/main">
            <a:off x="2714625" y="3829050"/>
            <a:ext cx="1619250" cy="781050"/>
          </a:xfrm>
          <a:prstGeom xmlns:a="http://schemas.openxmlformats.org/drawingml/2006/main" prst="roundRect">
            <a:avLst>
              <a:gd name="adj" fmla="val 7317"/>
            </a:avLst>
          </a:prstGeom>
          <a:solidFill xmlns:a="http://schemas.openxmlformats.org/drawingml/2006/main">
            <a:srgbClr val="F1F5F9"/>
          </a:solidFill>
          <a:ln xmlns:a="http://schemas.openxmlformats.org/drawingml/2006/main" w="9525">
            <a:solidFill>
              <a:srgbClr val="CBD5E1"/>
            </a:solidFill>
            <a:prstDash val="solid"/>
          </a:ln>
        </p:spPr>
      </p:sp>
      <p:sp>
        <p:nvSpPr>
          <p:cNvPr id="7" name="">
            <a:extLst xmlns:a="http://schemas.openxmlformats.org/drawingml/2006/main">
              <a:ext uri="{FF2B5EF4-FFF2-40B4-BE49-F238E27FC236}">
                <a16:creationId xmlns:a16="http://schemas.microsoft.com/office/drawing/2014/main" id="{994E34FD-E5DA-45F3-8D66-AED20147FE33}"/>
              </a:ext>
            </a:extLst>
          </p:cNvPr>
          <p:cNvSpPr>
            <a:spLocks xmlns:a="http://schemas.openxmlformats.org/drawingml/2006/main" noGrp="1"/>
          </p:cNvSpPr>
          <p:nvPr/>
        </p:nvSpPr>
        <p:spPr>
          <a:xfrm xmlns:a="http://schemas.openxmlformats.org/drawingml/2006/main">
            <a:off x="2847975"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tool wait</a:t>
            </a:r>
          </a:p>
        </p:txBody>
      </p:sp>
      <p:sp>
        <p:nvSpPr>
          <p:cNvPr id="8" name="">
            <a:extLst xmlns:a="http://schemas.openxmlformats.org/drawingml/2006/main">
              <a:ext uri="{FF2B5EF4-FFF2-40B4-BE49-F238E27FC236}">
                <a16:creationId xmlns:a16="http://schemas.microsoft.com/office/drawing/2014/main" id="{0938EB14-B8AB-429A-9E3E-CD9B37BDFED5}"/>
              </a:ext>
            </a:extLst>
          </p:cNvPr>
          <p:cNvSpPr>
            <a:spLocks xmlns:a="http://schemas.openxmlformats.org/drawingml/2006/main" noGrp="1"/>
          </p:cNvSpPr>
          <p:nvPr/>
        </p:nvSpPr>
        <p:spPr>
          <a:xfrm xmlns:a="http://schemas.openxmlformats.org/drawingml/2006/main">
            <a:off x="4448175" y="4029075"/>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00" b="1">
                <a:solidFill>
                  <a:srgbClr val="64748B"/>
                </a:solidFill>
              </a:defRPr>
            </a:pPr>
            <a:r>
              <a:rPr sz="2400" b="1">
                <a:solidFill>
                  <a:srgbClr val="64748B"/>
                </a:solidFill>
              </a:rPr>
              <a:t>→</a:t>
            </a:r>
          </a:p>
        </p:txBody>
      </p:sp>
      <p:sp>
        <p:nvSpPr>
          <p:cNvPr id="9" name="">
            <a:extLst xmlns:a="http://schemas.openxmlformats.org/drawingml/2006/main">
              <a:ext uri="{FF2B5EF4-FFF2-40B4-BE49-F238E27FC236}">
                <a16:creationId xmlns:a16="http://schemas.microsoft.com/office/drawing/2014/main" id="{D8B1CD77-A766-4286-B4E6-001C63E22EDB}"/>
              </a:ext>
            </a:extLst>
          </p:cNvPr>
          <p:cNvSpPr>
            <a:spLocks xmlns:a="http://schemas.openxmlformats.org/drawingml/2006/main" noGrp="1"/>
          </p:cNvSpPr>
          <p:nvPr/>
        </p:nvSpPr>
        <p:spPr>
          <a:xfrm xmlns:a="http://schemas.openxmlformats.org/drawingml/2006/main">
            <a:off x="4933950" y="3829050"/>
            <a:ext cx="1619250" cy="781050"/>
          </a:xfrm>
          <a:prstGeom xmlns:a="http://schemas.openxmlformats.org/drawingml/2006/main" prst="roundRect">
            <a:avLst>
              <a:gd name="adj" fmla="val 7317"/>
            </a:avLst>
          </a:prstGeom>
          <a:solidFill xmlns:a="http://schemas.openxmlformats.org/drawingml/2006/main">
            <a:srgbClr val="FEE2E2"/>
          </a:solidFill>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96FBC1C6-BE07-422E-A6E4-6A7593983BB1}"/>
              </a:ext>
            </a:extLst>
          </p:cNvPr>
          <p:cNvSpPr>
            <a:spLocks xmlns:a="http://schemas.openxmlformats.org/drawingml/2006/main" noGrp="1"/>
          </p:cNvSpPr>
          <p:nvPr/>
        </p:nvSpPr>
        <p:spPr>
          <a:xfrm xmlns:a="http://schemas.openxmlformats.org/drawingml/2006/main">
            <a:off x="5067300"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replay request</a:t>
            </a:r>
          </a:p>
        </p:txBody>
      </p:sp>
      <p:sp>
        <p:nvSpPr>
          <p:cNvPr id="11" name="">
            <a:extLst xmlns:a="http://schemas.openxmlformats.org/drawingml/2006/main">
              <a:ext uri="{FF2B5EF4-FFF2-40B4-BE49-F238E27FC236}">
                <a16:creationId xmlns:a16="http://schemas.microsoft.com/office/drawing/2014/main" id="{F6DCC0D0-5871-40D0-93AB-45F2D4D8F76D}"/>
              </a:ext>
            </a:extLst>
          </p:cNvPr>
          <p:cNvSpPr>
            <a:spLocks xmlns:a="http://schemas.openxmlformats.org/drawingml/2006/main" noGrp="1"/>
          </p:cNvSpPr>
          <p:nvPr/>
        </p:nvSpPr>
        <p:spPr>
          <a:xfrm xmlns:a="http://schemas.openxmlformats.org/drawingml/2006/main">
            <a:off x="6667500" y="4029075"/>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00" b="1">
                <a:solidFill>
                  <a:srgbClr val="64748B"/>
                </a:solidFill>
              </a:defRPr>
            </a:pPr>
            <a:r>
              <a:rPr sz="2400" b="1">
                <a:solidFill>
                  <a:srgbClr val="64748B"/>
                </a:solidFill>
              </a:rPr>
              <a:t>→</a:t>
            </a:r>
          </a:p>
        </p:txBody>
      </p:sp>
      <p:sp>
        <p:nvSpPr>
          <p:cNvPr id="12" name="">
            <a:extLst xmlns:a="http://schemas.openxmlformats.org/drawingml/2006/main">
              <a:ext uri="{FF2B5EF4-FFF2-40B4-BE49-F238E27FC236}">
                <a16:creationId xmlns:a16="http://schemas.microsoft.com/office/drawing/2014/main" id="{3FB49F3C-BA29-48A8-A6B6-CFDB96C7267A}"/>
              </a:ext>
            </a:extLst>
          </p:cNvPr>
          <p:cNvSpPr>
            <a:spLocks xmlns:a="http://schemas.openxmlformats.org/drawingml/2006/main" noGrp="1"/>
          </p:cNvSpPr>
          <p:nvPr/>
        </p:nvSpPr>
        <p:spPr>
          <a:xfrm xmlns:a="http://schemas.openxmlformats.org/drawingml/2006/main">
            <a:off x="7153275" y="3829050"/>
            <a:ext cx="1619250" cy="781050"/>
          </a:xfrm>
          <a:prstGeom xmlns:a="http://schemas.openxmlformats.org/drawingml/2006/main" prst="roundRect">
            <a:avLst>
              <a:gd name="adj" fmla="val 7317"/>
            </a:avLst>
          </a:prstGeom>
          <a:solidFill xmlns:a="http://schemas.openxmlformats.org/drawingml/2006/main">
            <a:srgbClr val="DCFCE7"/>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A5F29790-1E4C-4B81-AE33-A255BA16910C}"/>
              </a:ext>
            </a:extLst>
          </p:cNvPr>
          <p:cNvSpPr>
            <a:spLocks xmlns:a="http://schemas.openxmlformats.org/drawingml/2006/main" noGrp="1"/>
          </p:cNvSpPr>
          <p:nvPr/>
        </p:nvSpPr>
        <p:spPr>
          <a:xfrm xmlns:a="http://schemas.openxmlformats.org/drawingml/2006/main">
            <a:off x="7286625"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KV ready?</a:t>
            </a:r>
          </a:p>
        </p:txBody>
      </p:sp>
      <p:sp>
        <p:nvSpPr>
          <p:cNvPr id="14" name="">
            <a:extLst xmlns:a="http://schemas.openxmlformats.org/drawingml/2006/main">
              <a:ext uri="{FF2B5EF4-FFF2-40B4-BE49-F238E27FC236}">
                <a16:creationId xmlns:a16="http://schemas.microsoft.com/office/drawing/2014/main" id="{B7AFF103-0AE0-4CB2-9144-92FA8E6068EC}"/>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5" name="">
            <a:extLst xmlns:a="http://schemas.openxmlformats.org/drawingml/2006/main">
              <a:ext uri="{FF2B5EF4-FFF2-40B4-BE49-F238E27FC236}">
                <a16:creationId xmlns:a16="http://schemas.microsoft.com/office/drawing/2014/main" id="{072DEE50-D0D2-4EAE-9D61-55BBCE5FEDE9}"/>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01</a:t>
            </a:r>
          </a:p>
        </p:txBody>
      </p:sp>
    </p:spTree>
    <p:extLst>
      <p:ext uri="{BB962C8B-B14F-4D97-AF65-F5344CB8AC3E}">
        <p14:creationId xmlns:p14="http://schemas.microsoft.com/office/powerpoint/2010/main" val="111732137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0536CB3-FB5C-45C9-B3EA-E43F0F619E87}"/>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testbed uses both controlled and real agent traffic</a:t>
            </a:r>
          </a:p>
        </p:txBody>
      </p:sp>
      <p:sp>
        <p:nvSpPr>
          <p:cNvPr id="2" name="">
            <a:extLst xmlns:a="http://schemas.openxmlformats.org/drawingml/2006/main">
              <a:ext uri="{FF2B5EF4-FFF2-40B4-BE49-F238E27FC236}">
                <a16:creationId xmlns:a16="http://schemas.microsoft.com/office/drawing/2014/main" id="{547E3963-FC62-4FBB-B3C5-20C3EC71709A}"/>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Synthetic request generators give clean knobs; SWE-bench/DeepAgents traces give realistic coding-agent behavior.</a:t>
            </a:r>
          </a:p>
        </p:txBody>
      </p:sp>
      <p:sp>
        <p:nvSpPr>
          <p:cNvPr id="3" name="">
            <a:extLst xmlns:a="http://schemas.openxmlformats.org/drawingml/2006/main">
              <a:ext uri="{FF2B5EF4-FFF2-40B4-BE49-F238E27FC236}">
                <a16:creationId xmlns:a16="http://schemas.microsoft.com/office/drawing/2014/main" id="{71592BEF-D46E-4C83-A1B6-40C1089E11D8}"/>
              </a:ext>
            </a:extLst>
          </p:cNvPr>
          <p:cNvSpPr>
            <a:spLocks xmlns:a="http://schemas.openxmlformats.org/drawingml/2006/main" noGrp="1"/>
          </p:cNvSpPr>
          <p:nvPr/>
        </p:nvSpPr>
        <p:spPr>
          <a:xfrm xmlns:a="http://schemas.openxmlformats.org/drawingml/2006/main">
            <a:off x="419100" y="1428750"/>
            <a:ext cx="11353800" cy="1790700"/>
          </a:xfrm>
          <a:prstGeom xmlns:a="http://schemas.openxmlformats.org/drawingml/2006/main" prst="roundRect">
            <a:avLst>
              <a:gd name="adj" fmla="val 3191"/>
            </a:avLst>
          </a:prstGeom>
          <a:solidFill xmlns:a="http://schemas.openxmlformats.org/drawingml/2006/main">
            <a:srgbClr val="FFFFFF"/>
          </a:solidFill>
          <a:ln xmlns:a="http://schemas.openxmlformats.org/drawingml/2006/main" w="9525">
            <a:solidFill>
              <a:srgbClr val="E5E7EB"/>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b38c1f58a5844237"/>
          <a:stretch xmlns:a="http://schemas.openxmlformats.org/drawingml/2006/main"/>
        </p:blipFill>
        <p:spPr>
          <a:xfrm xmlns:a="http://schemas.openxmlformats.org/drawingml/2006/main">
            <a:off x="496830" y="1504950"/>
            <a:ext cx="11198340" cy="16383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BBD5418-8F0D-4E65-B2E8-951F265D5E67}"/>
              </a:ext>
            </a:extLst>
          </p:cNvPr>
          <p:cNvSpPr>
            <a:spLocks xmlns:a="http://schemas.openxmlformats.org/drawingml/2006/main" noGrp="1"/>
          </p:cNvSpPr>
          <p:nvPr/>
        </p:nvSpPr>
        <p:spPr>
          <a:xfrm xmlns:a="http://schemas.openxmlformats.org/drawingml/2006/main">
            <a:off x="819150" y="3733800"/>
            <a:ext cx="4552950" cy="1428750"/>
          </a:xfrm>
          <a:prstGeom xmlns:a="http://schemas.openxmlformats.org/drawingml/2006/main" prst="roundRect">
            <a:avLst>
              <a:gd name="adj" fmla="val 4000"/>
            </a:avLst>
          </a:prstGeom>
          <a:solidFill xmlns:a="http://schemas.openxmlformats.org/drawingml/2006/main">
            <a:srgbClr val="F8FAFC"/>
          </a:solidFill>
          <a:ln xmlns:a="http://schemas.openxmlformats.org/drawingml/2006/main" w="9525">
            <a:solidFill>
              <a:srgbClr val="CBD5E1"/>
            </a:solidFill>
            <a:prstDash val="solid"/>
          </a:ln>
        </p:spPr>
      </p:sp>
      <p:sp>
        <p:nvSpPr>
          <p:cNvPr id="6" name="">
            <a:extLst xmlns:a="http://schemas.openxmlformats.org/drawingml/2006/main">
              <a:ext uri="{FF2B5EF4-FFF2-40B4-BE49-F238E27FC236}">
                <a16:creationId xmlns:a16="http://schemas.microsoft.com/office/drawing/2014/main" id="{95185ACD-37DA-414E-962D-89434056A095}"/>
              </a:ext>
            </a:extLst>
          </p:cNvPr>
          <p:cNvSpPr>
            <a:spLocks xmlns:a="http://schemas.openxmlformats.org/drawingml/2006/main" noGrp="1"/>
          </p:cNvSpPr>
          <p:nvPr/>
        </p:nvSpPr>
        <p:spPr>
          <a:xfrm xmlns:a="http://schemas.openxmlformats.org/drawingml/2006/main">
            <a:off x="1104900" y="396240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F172A"/>
                </a:solidFill>
              </a:defRPr>
            </a:pPr>
            <a:r>
              <a:rPr sz="1800" b="1">
                <a:solidFill>
                  <a:srgbClr val="0F172A"/>
                </a:solidFill>
              </a:rPr>
              <a:t>Controlled synthetic path</a:t>
            </a:r>
          </a:p>
        </p:txBody>
      </p:sp>
      <p:sp>
        <p:nvSpPr>
          <p:cNvPr id="7" name="">
            <a:extLst xmlns:a="http://schemas.openxmlformats.org/drawingml/2006/main">
              <a:ext uri="{FF2B5EF4-FFF2-40B4-BE49-F238E27FC236}">
                <a16:creationId xmlns:a16="http://schemas.microsoft.com/office/drawing/2014/main" id="{7A771A9A-534B-4A69-84DE-567DA5974CAE}"/>
              </a:ext>
            </a:extLst>
          </p:cNvPr>
          <p:cNvSpPr>
            <a:spLocks xmlns:a="http://schemas.openxmlformats.org/drawingml/2006/main" noGrp="1"/>
          </p:cNvSpPr>
          <p:nvPr/>
        </p:nvSpPr>
        <p:spPr>
          <a:xfrm xmlns:a="http://schemas.openxmlformats.org/drawingml/2006/main">
            <a:off x="1104900" y="4362450"/>
            <a:ext cx="3695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334155"/>
                </a:solidFill>
              </a:defRPr>
            </a:pPr>
            <a:r>
              <a:rPr sz="1350" b="0">
                <a:solidFill>
                  <a:srgbClr val="334155"/>
                </a:solidFill>
              </a:rPr>
              <a:t>Synthetic request generator creates known prompt sizes, tool-wait windows, filler pressure, and replay deadlines.</a:t>
            </a:r>
          </a:p>
        </p:txBody>
      </p:sp>
      <p:sp>
        <p:nvSpPr>
          <p:cNvPr id="8" name="">
            <a:extLst xmlns:a="http://schemas.openxmlformats.org/drawingml/2006/main">
              <a:ext uri="{FF2B5EF4-FFF2-40B4-BE49-F238E27FC236}">
                <a16:creationId xmlns:a16="http://schemas.microsoft.com/office/drawing/2014/main" id="{FB394521-18CF-475E-9BF0-49C76FF7EC9D}"/>
              </a:ext>
            </a:extLst>
          </p:cNvPr>
          <p:cNvSpPr>
            <a:spLocks xmlns:a="http://schemas.openxmlformats.org/drawingml/2006/main" noGrp="1"/>
          </p:cNvSpPr>
          <p:nvPr/>
        </p:nvSpPr>
        <p:spPr>
          <a:xfrm xmlns:a="http://schemas.openxmlformats.org/drawingml/2006/main">
            <a:off x="6096000" y="3733800"/>
            <a:ext cx="4552950" cy="1428750"/>
          </a:xfrm>
          <a:prstGeom xmlns:a="http://schemas.openxmlformats.org/drawingml/2006/main" prst="roundRect">
            <a:avLst>
              <a:gd name="adj" fmla="val 4000"/>
            </a:avLst>
          </a:prstGeom>
          <a:solidFill xmlns:a="http://schemas.openxmlformats.org/drawingml/2006/main">
            <a:srgbClr val="EFF6FF"/>
          </a:solidFill>
          <a:ln xmlns:a="http://schemas.openxmlformats.org/drawingml/2006/main" w="9525">
            <a:solidFill>
              <a:srgbClr val="BFDBFE"/>
            </a:solidFill>
            <a:prstDash val="solid"/>
          </a:ln>
        </p:spPr>
      </p:sp>
      <p:sp>
        <p:nvSpPr>
          <p:cNvPr id="9" name="">
            <a:extLst xmlns:a="http://schemas.openxmlformats.org/drawingml/2006/main">
              <a:ext uri="{FF2B5EF4-FFF2-40B4-BE49-F238E27FC236}">
                <a16:creationId xmlns:a16="http://schemas.microsoft.com/office/drawing/2014/main" id="{A753475D-A3FA-4D43-AB47-7C732BD2768D}"/>
              </a:ext>
            </a:extLst>
          </p:cNvPr>
          <p:cNvSpPr>
            <a:spLocks xmlns:a="http://schemas.openxmlformats.org/drawingml/2006/main" noGrp="1"/>
          </p:cNvSpPr>
          <p:nvPr/>
        </p:nvSpPr>
        <p:spPr>
          <a:xfrm xmlns:a="http://schemas.openxmlformats.org/drawingml/2006/main">
            <a:off x="6381750" y="396240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F172A"/>
                </a:solidFill>
              </a:defRPr>
            </a:pPr>
            <a:r>
              <a:rPr sz="1800" b="1">
                <a:solidFill>
                  <a:srgbClr val="0F172A"/>
                </a:solidFill>
              </a:rPr>
              <a:t>Real coding-agent path</a:t>
            </a:r>
          </a:p>
        </p:txBody>
      </p:sp>
      <p:sp>
        <p:nvSpPr>
          <p:cNvPr id="10" name="">
            <a:extLst xmlns:a="http://schemas.openxmlformats.org/drawingml/2006/main">
              <a:ext uri="{FF2B5EF4-FFF2-40B4-BE49-F238E27FC236}">
                <a16:creationId xmlns:a16="http://schemas.microsoft.com/office/drawing/2014/main" id="{C8E20A24-58CC-4010-8319-CC48E82E0AD2}"/>
              </a:ext>
            </a:extLst>
          </p:cNvPr>
          <p:cNvSpPr>
            <a:spLocks xmlns:a="http://schemas.openxmlformats.org/drawingml/2006/main" noGrp="1"/>
          </p:cNvSpPr>
          <p:nvPr/>
        </p:nvSpPr>
        <p:spPr>
          <a:xfrm xmlns:a="http://schemas.openxmlformats.org/drawingml/2006/main">
            <a:off x="6381750" y="4362450"/>
            <a:ext cx="3695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334155"/>
                </a:solidFill>
              </a:defRPr>
            </a:pPr>
            <a:r>
              <a:rPr sz="1350" b="0">
                <a:solidFill>
                  <a:srgbClr val="334155"/>
                </a:solidFill>
              </a:rPr>
              <a:t>SWE-bench / AgentBench tasks feed DeepAgents, which emits model turns and tool-call gaps into SGLang.</a:t>
            </a:r>
          </a:p>
        </p:txBody>
      </p:sp>
      <p:sp>
        <p:nvSpPr>
          <p:cNvPr id="11" name="">
            <a:extLst xmlns:a="http://schemas.openxmlformats.org/drawingml/2006/main">
              <a:ext uri="{FF2B5EF4-FFF2-40B4-BE49-F238E27FC236}">
                <a16:creationId xmlns:a16="http://schemas.microsoft.com/office/drawing/2014/main" id="{BA32AE1C-3E0B-4743-93E7-508D8D1D0A0D}"/>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Experiment Setup And Manager Summary</a:t>
            </a:r>
          </a:p>
        </p:txBody>
      </p:sp>
      <p:sp>
        <p:nvSpPr>
          <p:cNvPr id="12" name="">
            <a:extLst xmlns:a="http://schemas.openxmlformats.org/drawingml/2006/main">
              <a:ext uri="{FF2B5EF4-FFF2-40B4-BE49-F238E27FC236}">
                <a16:creationId xmlns:a16="http://schemas.microsoft.com/office/drawing/2014/main" id="{36B91FA5-5950-4DE6-9285-A14986342A28}"/>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3" name="">
            <a:extLst xmlns:a="http://schemas.openxmlformats.org/drawingml/2006/main">
              <a:ext uri="{FF2B5EF4-FFF2-40B4-BE49-F238E27FC236}">
                <a16:creationId xmlns:a16="http://schemas.microsoft.com/office/drawing/2014/main" id="{AA6111C1-B653-4800-85A1-2AF3F854544A}"/>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02</a:t>
            </a:r>
          </a:p>
        </p:txBody>
      </p:sp>
    </p:spTree>
    <p:extLst>
      <p:ext uri="{BB962C8B-B14F-4D97-AF65-F5344CB8AC3E}">
        <p14:creationId xmlns:p14="http://schemas.microsoft.com/office/powerpoint/2010/main" val="149846919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E5547E2-F8D1-41D3-BBFA-0FCED9F37510}"/>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Today’s DMA engines move bytes, not intent</a:t>
            </a:r>
          </a:p>
        </p:txBody>
      </p:sp>
      <p:sp>
        <p:nvSpPr>
          <p:cNvPr id="2" name="">
            <a:extLst xmlns:a="http://schemas.openxmlformats.org/drawingml/2006/main">
              <a:ext uri="{FF2B5EF4-FFF2-40B4-BE49-F238E27FC236}">
                <a16:creationId xmlns:a16="http://schemas.microsoft.com/office/drawing/2014/main" id="{118B0EAB-8AC2-4D72-B5BB-214EB5A7BAD9}"/>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hardware path is fast, but it usually lacks agent/session semantics.</a:t>
            </a:r>
          </a:p>
        </p:txBody>
      </p:sp>
      <p:sp>
        <p:nvSpPr>
          <p:cNvPr id="3" name="">
            <a:extLst xmlns:a="http://schemas.openxmlformats.org/drawingml/2006/main">
              <a:ext uri="{FF2B5EF4-FFF2-40B4-BE49-F238E27FC236}">
                <a16:creationId xmlns:a16="http://schemas.microsoft.com/office/drawing/2014/main" id="{B78CB1B7-6F9B-4CBD-A056-E71D80CFAE44}"/>
              </a:ext>
            </a:extLst>
          </p:cNvPr>
          <p:cNvSpPr>
            <a:spLocks xmlns:a="http://schemas.openxmlformats.org/drawingml/2006/main" noGrp="1"/>
          </p:cNvSpPr>
          <p:nvPr/>
        </p:nvSpPr>
        <p:spPr>
          <a:xfrm xmlns:a="http://schemas.openxmlformats.org/drawingml/2006/main">
            <a:off x="552450" y="1790700"/>
            <a:ext cx="4953000" cy="3429000"/>
          </a:xfrm>
          <a:prstGeom xmlns:a="http://schemas.openxmlformats.org/drawingml/2006/main" prst="roundRect">
            <a:avLst>
              <a:gd name="adj" fmla="val 1667"/>
            </a:avLst>
          </a:prstGeom>
          <a:solidFill xmlns:a="http://schemas.openxmlformats.org/drawingml/2006/main">
            <a:srgbClr val="F8FAFC"/>
          </a:solidFill>
          <a:ln xmlns:a="http://schemas.openxmlformats.org/drawingml/2006/main" w="9525">
            <a:solidFill>
              <a:srgbClr val="CBD5E1"/>
            </a:solidFill>
            <a:prstDash val="solid"/>
          </a:ln>
        </p:spPr>
      </p:sp>
      <p:sp>
        <p:nvSpPr>
          <p:cNvPr id="4" name="">
            <a:extLst xmlns:a="http://schemas.openxmlformats.org/drawingml/2006/main">
              <a:ext uri="{FF2B5EF4-FFF2-40B4-BE49-F238E27FC236}">
                <a16:creationId xmlns:a16="http://schemas.microsoft.com/office/drawing/2014/main" id="{386281B8-C2FD-48CF-93BF-A9E028834111}"/>
              </a:ext>
            </a:extLst>
          </p:cNvPr>
          <p:cNvSpPr>
            <a:spLocks xmlns:a="http://schemas.openxmlformats.org/drawingml/2006/main" noGrp="1"/>
          </p:cNvSpPr>
          <p:nvPr/>
        </p:nvSpPr>
        <p:spPr>
          <a:xfrm xmlns:a="http://schemas.openxmlformats.org/drawingml/2006/main">
            <a:off x="838200" y="207645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0F172A"/>
                </a:solidFill>
              </a:defRPr>
            </a:pPr>
            <a:r>
              <a:rPr sz="1950" b="1">
                <a:solidFill>
                  <a:srgbClr val="0F172A"/>
                </a:solidFill>
              </a:rPr>
              <a:t>Context-agnostic movement</a:t>
            </a:r>
          </a:p>
        </p:txBody>
      </p:sp>
      <p:sp>
        <p:nvSpPr>
          <p:cNvPr id="5" name="">
            <a:extLst xmlns:a="http://schemas.openxmlformats.org/drawingml/2006/main">
              <a:ext uri="{FF2B5EF4-FFF2-40B4-BE49-F238E27FC236}">
                <a16:creationId xmlns:a16="http://schemas.microsoft.com/office/drawing/2014/main" id="{8389FD71-FA2A-4B4A-826E-3870DE69CD7C}"/>
              </a:ext>
            </a:extLst>
          </p:cNvPr>
          <p:cNvSpPr>
            <a:spLocks xmlns:a="http://schemas.openxmlformats.org/drawingml/2006/main" noGrp="1"/>
          </p:cNvSpPr>
          <p:nvPr/>
        </p:nvSpPr>
        <p:spPr>
          <a:xfrm xmlns:a="http://schemas.openxmlformats.org/drawingml/2006/main">
            <a:off x="876300" y="278130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D01BB43-31B8-4899-91CA-91A20B1E3477}"/>
              </a:ext>
            </a:extLst>
          </p:cNvPr>
          <p:cNvSpPr>
            <a:spLocks xmlns:a="http://schemas.openxmlformats.org/drawingml/2006/main" noGrp="1"/>
          </p:cNvSpPr>
          <p:nvPr/>
        </p:nvSpPr>
        <p:spPr>
          <a:xfrm xmlns:a="http://schemas.openxmlformats.org/drawingml/2006/main">
            <a:off x="1104900" y="27051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sees memory ranges</a:t>
            </a:r>
          </a:p>
        </p:txBody>
      </p:sp>
      <p:sp>
        <p:nvSpPr>
          <p:cNvPr id="7" name="">
            <a:extLst xmlns:a="http://schemas.openxmlformats.org/drawingml/2006/main">
              <a:ext uri="{FF2B5EF4-FFF2-40B4-BE49-F238E27FC236}">
                <a16:creationId xmlns:a16="http://schemas.microsoft.com/office/drawing/2014/main" id="{15E6D17C-A55F-4F53-BC96-5892BD12C8FC}"/>
              </a:ext>
            </a:extLst>
          </p:cNvPr>
          <p:cNvSpPr>
            <a:spLocks xmlns:a="http://schemas.openxmlformats.org/drawingml/2006/main" noGrp="1"/>
          </p:cNvSpPr>
          <p:nvPr/>
        </p:nvSpPr>
        <p:spPr>
          <a:xfrm xmlns:a="http://schemas.openxmlformats.org/drawingml/2006/main">
            <a:off x="876300" y="329565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5AED1F2-493B-4BD8-ABE7-5E7F44F072AF}"/>
              </a:ext>
            </a:extLst>
          </p:cNvPr>
          <p:cNvSpPr>
            <a:spLocks xmlns:a="http://schemas.openxmlformats.org/drawingml/2006/main" noGrp="1"/>
          </p:cNvSpPr>
          <p:nvPr/>
        </p:nvSpPr>
        <p:spPr>
          <a:xfrm xmlns:a="http://schemas.openxmlformats.org/drawingml/2006/main">
            <a:off x="1104900" y="32194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does not know the agent session</a:t>
            </a:r>
          </a:p>
        </p:txBody>
      </p:sp>
      <p:sp>
        <p:nvSpPr>
          <p:cNvPr id="9" name="">
            <a:extLst xmlns:a="http://schemas.openxmlformats.org/drawingml/2006/main">
              <a:ext uri="{FF2B5EF4-FFF2-40B4-BE49-F238E27FC236}">
                <a16:creationId xmlns:a16="http://schemas.microsoft.com/office/drawing/2014/main" id="{4621232E-C824-4D6B-9CD4-259D2A91EE65}"/>
              </a:ext>
            </a:extLst>
          </p:cNvPr>
          <p:cNvSpPr>
            <a:spLocks xmlns:a="http://schemas.openxmlformats.org/drawingml/2006/main" noGrp="1"/>
          </p:cNvSpPr>
          <p:nvPr/>
        </p:nvSpPr>
        <p:spPr>
          <a:xfrm xmlns:a="http://schemas.openxmlformats.org/drawingml/2006/main">
            <a:off x="876300" y="381000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87923AB-C389-47A4-AE18-81ABC92E0E1A}"/>
              </a:ext>
            </a:extLst>
          </p:cNvPr>
          <p:cNvSpPr>
            <a:spLocks xmlns:a="http://schemas.openxmlformats.org/drawingml/2006/main" noGrp="1"/>
          </p:cNvSpPr>
          <p:nvPr/>
        </p:nvSpPr>
        <p:spPr>
          <a:xfrm xmlns:a="http://schemas.openxmlformats.org/drawingml/2006/main">
            <a:off x="1104900" y="37338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does not know replay deadline</a:t>
            </a:r>
          </a:p>
        </p:txBody>
      </p:sp>
      <p:sp>
        <p:nvSpPr>
          <p:cNvPr id="11" name="">
            <a:extLst xmlns:a="http://schemas.openxmlformats.org/drawingml/2006/main">
              <a:ext uri="{FF2B5EF4-FFF2-40B4-BE49-F238E27FC236}">
                <a16:creationId xmlns:a16="http://schemas.microsoft.com/office/drawing/2014/main" id="{C0F9230A-43FE-462A-8492-B1C3E76104CC}"/>
              </a:ext>
            </a:extLst>
          </p:cNvPr>
          <p:cNvSpPr>
            <a:spLocks xmlns:a="http://schemas.openxmlformats.org/drawingml/2006/main" noGrp="1"/>
          </p:cNvSpPr>
          <p:nvPr/>
        </p:nvSpPr>
        <p:spPr>
          <a:xfrm xmlns:a="http://schemas.openxmlformats.org/drawingml/2006/main">
            <a:off x="876300" y="432435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EEC4E6B-B8D9-4381-9935-5DE9FFE9AF5C}"/>
              </a:ext>
            </a:extLst>
          </p:cNvPr>
          <p:cNvSpPr>
            <a:spLocks xmlns:a="http://schemas.openxmlformats.org/drawingml/2006/main" noGrp="1"/>
          </p:cNvSpPr>
          <p:nvPr/>
        </p:nvSpPr>
        <p:spPr>
          <a:xfrm xmlns:a="http://schemas.openxmlformats.org/drawingml/2006/main">
            <a:off x="1104900" y="42481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does not protect useful prefetched KV</a:t>
            </a:r>
          </a:p>
        </p:txBody>
      </p:sp>
      <p:sp>
        <p:nvSpPr>
          <p:cNvPr id="13" name="">
            <a:extLst xmlns:a="http://schemas.openxmlformats.org/drawingml/2006/main">
              <a:ext uri="{FF2B5EF4-FFF2-40B4-BE49-F238E27FC236}">
                <a16:creationId xmlns:a16="http://schemas.microsoft.com/office/drawing/2014/main" id="{94E08F4C-EB1C-41D7-A96C-79C55BB2A616}"/>
              </a:ext>
            </a:extLst>
          </p:cNvPr>
          <p:cNvSpPr>
            <a:spLocks xmlns:a="http://schemas.openxmlformats.org/drawingml/2006/main" noGrp="1"/>
          </p:cNvSpPr>
          <p:nvPr/>
        </p:nvSpPr>
        <p:spPr>
          <a:xfrm xmlns:a="http://schemas.openxmlformats.org/drawingml/2006/main">
            <a:off x="5753100" y="3086100"/>
            <a:ext cx="666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4050" b="1">
                <a:solidFill>
                  <a:srgbClr val="64748B"/>
                </a:solidFill>
              </a:defRPr>
            </a:pPr>
            <a:r>
              <a:rPr sz="4050" b="1">
                <a:solidFill>
                  <a:srgbClr val="64748B"/>
                </a:solidFill>
              </a:rPr>
              <a:t>→</a:t>
            </a:r>
          </a:p>
        </p:txBody>
      </p:sp>
      <p:sp>
        <p:nvSpPr>
          <p:cNvPr id="14" name="">
            <a:extLst xmlns:a="http://schemas.openxmlformats.org/drawingml/2006/main">
              <a:ext uri="{FF2B5EF4-FFF2-40B4-BE49-F238E27FC236}">
                <a16:creationId xmlns:a16="http://schemas.microsoft.com/office/drawing/2014/main" id="{4D190A19-6641-450E-97DA-6C4CF783BCA6}"/>
              </a:ext>
            </a:extLst>
          </p:cNvPr>
          <p:cNvSpPr>
            <a:spLocks xmlns:a="http://schemas.openxmlformats.org/drawingml/2006/main" noGrp="1"/>
          </p:cNvSpPr>
          <p:nvPr/>
        </p:nvSpPr>
        <p:spPr>
          <a:xfrm xmlns:a="http://schemas.openxmlformats.org/drawingml/2006/main">
            <a:off x="6686550" y="1790700"/>
            <a:ext cx="4953000" cy="3429000"/>
          </a:xfrm>
          <a:prstGeom xmlns:a="http://schemas.openxmlformats.org/drawingml/2006/main" prst="roundRect">
            <a:avLst>
              <a:gd name="adj" fmla="val 1667"/>
            </a:avLst>
          </a:prstGeom>
          <a:solidFill xmlns:a="http://schemas.openxmlformats.org/drawingml/2006/main">
            <a:srgbClr val="EFF6FF"/>
          </a:solidFill>
          <a:ln xmlns:a="http://schemas.openxmlformats.org/drawingml/2006/main" w="9525">
            <a:solidFill>
              <a:srgbClr val="BFDBFE"/>
            </a:solidFill>
            <a:prstDash val="solid"/>
          </a:ln>
        </p:spPr>
      </p:sp>
      <p:sp>
        <p:nvSpPr>
          <p:cNvPr id="15" name="">
            <a:extLst xmlns:a="http://schemas.openxmlformats.org/drawingml/2006/main">
              <a:ext uri="{FF2B5EF4-FFF2-40B4-BE49-F238E27FC236}">
                <a16:creationId xmlns:a16="http://schemas.microsoft.com/office/drawing/2014/main" id="{F064D7E3-AC43-489C-A2EE-A637224F5984}"/>
              </a:ext>
            </a:extLst>
          </p:cNvPr>
          <p:cNvSpPr>
            <a:spLocks xmlns:a="http://schemas.openxmlformats.org/drawingml/2006/main" noGrp="1"/>
          </p:cNvSpPr>
          <p:nvPr/>
        </p:nvSpPr>
        <p:spPr>
          <a:xfrm xmlns:a="http://schemas.openxmlformats.org/drawingml/2006/main">
            <a:off x="6972300" y="20764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0F172A"/>
                </a:solidFill>
              </a:defRPr>
            </a:pPr>
            <a:r>
              <a:rPr sz="1950" b="1">
                <a:solidFill>
                  <a:srgbClr val="0F172A"/>
                </a:solidFill>
              </a:rPr>
              <a:t>Hint-aware movement</a:t>
            </a:r>
          </a:p>
        </p:txBody>
      </p:sp>
      <p:sp>
        <p:nvSpPr>
          <p:cNvPr id="16" name="">
            <a:extLst xmlns:a="http://schemas.openxmlformats.org/drawingml/2006/main">
              <a:ext uri="{FF2B5EF4-FFF2-40B4-BE49-F238E27FC236}">
                <a16:creationId xmlns:a16="http://schemas.microsoft.com/office/drawing/2014/main" id="{F5B7FD58-A639-478D-BD1C-08D1B331A1D3}"/>
              </a:ext>
            </a:extLst>
          </p:cNvPr>
          <p:cNvSpPr>
            <a:spLocks xmlns:a="http://schemas.openxmlformats.org/drawingml/2006/main" noGrp="1"/>
          </p:cNvSpPr>
          <p:nvPr/>
        </p:nvSpPr>
        <p:spPr>
          <a:xfrm xmlns:a="http://schemas.openxmlformats.org/drawingml/2006/main">
            <a:off x="7010400" y="2781300"/>
            <a:ext cx="85725" cy="85725"/>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46B2366-7F83-43DF-87C5-0D734CE8A58E}"/>
              </a:ext>
            </a:extLst>
          </p:cNvPr>
          <p:cNvSpPr>
            <a:spLocks xmlns:a="http://schemas.openxmlformats.org/drawingml/2006/main" noGrp="1"/>
          </p:cNvSpPr>
          <p:nvPr/>
        </p:nvSpPr>
        <p:spPr>
          <a:xfrm xmlns:a="http://schemas.openxmlformats.org/drawingml/2006/main">
            <a:off x="7239000" y="27051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tags KV by session and priority</a:t>
            </a:r>
          </a:p>
        </p:txBody>
      </p:sp>
      <p:sp>
        <p:nvSpPr>
          <p:cNvPr id="18" name="">
            <a:extLst xmlns:a="http://schemas.openxmlformats.org/drawingml/2006/main">
              <a:ext uri="{FF2B5EF4-FFF2-40B4-BE49-F238E27FC236}">
                <a16:creationId xmlns:a16="http://schemas.microsoft.com/office/drawing/2014/main" id="{063C8164-8C0C-4E53-B48F-C72F28B5142F}"/>
              </a:ext>
            </a:extLst>
          </p:cNvPr>
          <p:cNvSpPr>
            <a:spLocks xmlns:a="http://schemas.openxmlformats.org/drawingml/2006/main" noGrp="1"/>
          </p:cNvSpPr>
          <p:nvPr/>
        </p:nvSpPr>
        <p:spPr>
          <a:xfrm xmlns:a="http://schemas.openxmlformats.org/drawingml/2006/main">
            <a:off x="7010400" y="3295650"/>
            <a:ext cx="85725" cy="85725"/>
          </a:xfrm>
          <a:prstGeom xmlns:a="http://schemas.openxmlformats.org/drawingml/2006/main" prst="ellipse">
            <a:avLst/>
          </a:prstGeom>
          <a:solidFill xmlns:a="http://schemas.openxmlformats.org/drawingml/2006/main">
            <a:srgbClr val="A855F7"/>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8462A991-5144-4887-BD51-FB468D56540D}"/>
              </a:ext>
            </a:extLst>
          </p:cNvPr>
          <p:cNvSpPr>
            <a:spLocks xmlns:a="http://schemas.openxmlformats.org/drawingml/2006/main" noGrp="1"/>
          </p:cNvSpPr>
          <p:nvPr/>
        </p:nvSpPr>
        <p:spPr>
          <a:xfrm xmlns:a="http://schemas.openxmlformats.org/drawingml/2006/main">
            <a:off x="7239000" y="32194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schedules against replay deadlines</a:t>
            </a:r>
          </a:p>
        </p:txBody>
      </p:sp>
      <p:sp>
        <p:nvSpPr>
          <p:cNvPr id="20" name="">
            <a:extLst xmlns:a="http://schemas.openxmlformats.org/drawingml/2006/main">
              <a:ext uri="{FF2B5EF4-FFF2-40B4-BE49-F238E27FC236}">
                <a16:creationId xmlns:a16="http://schemas.microsoft.com/office/drawing/2014/main" id="{B78EF5C9-1024-45F4-B8FB-852282DA1E4B}"/>
              </a:ext>
            </a:extLst>
          </p:cNvPr>
          <p:cNvSpPr>
            <a:spLocks xmlns:a="http://schemas.openxmlformats.org/drawingml/2006/main" noGrp="1"/>
          </p:cNvSpPr>
          <p:nvPr/>
        </p:nvSpPr>
        <p:spPr>
          <a:xfrm xmlns:a="http://schemas.openxmlformats.org/drawingml/2006/main">
            <a:off x="7010400" y="3810000"/>
            <a:ext cx="85725" cy="85725"/>
          </a:xfrm>
          <a:prstGeom xmlns:a="http://schemas.openxmlformats.org/drawingml/2006/main" prst="ellipse">
            <a:avLst/>
          </a:prstGeom>
          <a:solidFill xmlns:a="http://schemas.openxmlformats.org/drawingml/2006/main">
            <a:srgbClr val="06B6D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C9514C3-1E44-46AD-A651-D137C9269369}"/>
              </a:ext>
            </a:extLst>
          </p:cNvPr>
          <p:cNvSpPr>
            <a:spLocks xmlns:a="http://schemas.openxmlformats.org/drawingml/2006/main" noGrp="1"/>
          </p:cNvSpPr>
          <p:nvPr/>
        </p:nvSpPr>
        <p:spPr>
          <a:xfrm xmlns:a="http://schemas.openxmlformats.org/drawingml/2006/main">
            <a:off x="7239000" y="37338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moves hot KV before replay</a:t>
            </a:r>
          </a:p>
        </p:txBody>
      </p:sp>
      <p:sp>
        <p:nvSpPr>
          <p:cNvPr id="22" name="">
            <a:extLst xmlns:a="http://schemas.openxmlformats.org/drawingml/2006/main">
              <a:ext uri="{FF2B5EF4-FFF2-40B4-BE49-F238E27FC236}">
                <a16:creationId xmlns:a16="http://schemas.microsoft.com/office/drawing/2014/main" id="{BF7A70BF-7DD1-4696-B309-DF85A47E2B77}"/>
              </a:ext>
            </a:extLst>
          </p:cNvPr>
          <p:cNvSpPr>
            <a:spLocks xmlns:a="http://schemas.openxmlformats.org/drawingml/2006/main" noGrp="1"/>
          </p:cNvSpPr>
          <p:nvPr/>
        </p:nvSpPr>
        <p:spPr>
          <a:xfrm xmlns:a="http://schemas.openxmlformats.org/drawingml/2006/main">
            <a:off x="7010400" y="4324350"/>
            <a:ext cx="85725" cy="85725"/>
          </a:xfrm>
          <a:prstGeom xmlns:a="http://schemas.openxmlformats.org/drawingml/2006/main" prst="ellipse">
            <a:avLst/>
          </a:prstGeom>
          <a:solidFill xmlns:a="http://schemas.openxmlformats.org/drawingml/2006/main">
            <a:srgbClr val="16A34A"/>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8E23812-C9D8-4191-B32C-BC0064E98036}"/>
              </a:ext>
            </a:extLst>
          </p:cNvPr>
          <p:cNvSpPr>
            <a:spLocks xmlns:a="http://schemas.openxmlformats.org/drawingml/2006/main" noGrp="1"/>
          </p:cNvSpPr>
          <p:nvPr/>
        </p:nvSpPr>
        <p:spPr>
          <a:xfrm xmlns:a="http://schemas.openxmlformats.org/drawingml/2006/main">
            <a:off x="7239000" y="42481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reports late, useful, and wasted movement</a:t>
            </a:r>
          </a:p>
        </p:txBody>
      </p:sp>
      <p:sp>
        <p:nvSpPr>
          <p:cNvPr id="24" name="">
            <a:extLst xmlns:a="http://schemas.openxmlformats.org/drawingml/2006/main">
              <a:ext uri="{FF2B5EF4-FFF2-40B4-BE49-F238E27FC236}">
                <a16:creationId xmlns:a16="http://schemas.microsoft.com/office/drawing/2014/main" id="{99D051D7-325E-4400-87BB-A05491DC788C}"/>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5" name="">
            <a:extLst xmlns:a="http://schemas.openxmlformats.org/drawingml/2006/main">
              <a:ext uri="{FF2B5EF4-FFF2-40B4-BE49-F238E27FC236}">
                <a16:creationId xmlns:a16="http://schemas.microsoft.com/office/drawing/2014/main" id="{FA277944-A3E3-4A02-A665-7198791EFB1C}"/>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03</a:t>
            </a:r>
          </a:p>
        </p:txBody>
      </p:sp>
    </p:spTree>
    <p:extLst>
      <p:ext uri="{BB962C8B-B14F-4D97-AF65-F5344CB8AC3E}">
        <p14:creationId xmlns:p14="http://schemas.microsoft.com/office/powerpoint/2010/main" val="135522062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44E4C8F-8A61-4A07-AC1F-3F6066AEE8BA}"/>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replay path exposes the bottleneck</a:t>
            </a:r>
          </a:p>
        </p:txBody>
      </p:sp>
      <p:sp>
        <p:nvSpPr>
          <p:cNvPr id="2" name="">
            <a:extLst xmlns:a="http://schemas.openxmlformats.org/drawingml/2006/main">
              <a:ext uri="{FF2B5EF4-FFF2-40B4-BE49-F238E27FC236}">
                <a16:creationId xmlns:a16="http://schemas.microsoft.com/office/drawing/2014/main" id="{8EE3802A-0C4C-4FD0-A291-B7D741582B0C}"/>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Several tool-gap sessions show where replay spends time before the first useful token.</a:t>
            </a:r>
          </a:p>
        </p:txBody>
      </p:sp>
      <p:sp>
        <p:nvSpPr>
          <p:cNvPr id="3" name="">
            <a:extLst xmlns:a="http://schemas.openxmlformats.org/drawingml/2006/main">
              <a:ext uri="{FF2B5EF4-FFF2-40B4-BE49-F238E27FC236}">
                <a16:creationId xmlns:a16="http://schemas.microsoft.com/office/drawing/2014/main" id="{E9E67C26-5CD8-4172-9AE2-3F1208A66164}"/>
              </a:ext>
            </a:extLst>
          </p:cNvPr>
          <p:cNvSpPr>
            <a:spLocks xmlns:a="http://schemas.openxmlformats.org/drawingml/2006/main" noGrp="1"/>
          </p:cNvSpPr>
          <p:nvPr/>
        </p:nvSpPr>
        <p:spPr>
          <a:xfrm xmlns:a="http://schemas.openxmlformats.org/drawingml/2006/main">
            <a:off x="228600" y="1181100"/>
            <a:ext cx="11734800" cy="4972050"/>
          </a:xfrm>
          <a:prstGeom xmlns:a="http://schemas.openxmlformats.org/drawingml/2006/main" prst="roundRect">
            <a:avLst>
              <a:gd name="adj" fmla="val 1149"/>
            </a:avLst>
          </a:prstGeom>
          <a:solidFill xmlns:a="http://schemas.openxmlformats.org/drawingml/2006/main">
            <a:srgbClr val="FFFFFF"/>
          </a:solidFill>
          <a:ln xmlns:a="http://schemas.openxmlformats.org/drawingml/2006/main" w="9525">
            <a:solidFill>
              <a:srgbClr val="E5E7EB"/>
            </a:solidFill>
            <a:prstDash val="solid"/>
          </a:ln>
        </p:spPr>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17ca1f81781040ea"/>
          <a:stretch xmlns:a="http://schemas.openxmlformats.org/drawingml/2006/main"/>
        </p:blipFill>
        <p:spPr>
          <a:xfrm xmlns:a="http://schemas.openxmlformats.org/drawingml/2006/main">
            <a:off x="304800" y="1285315"/>
            <a:ext cx="11582400" cy="4763619"/>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B6ABFDA-3D76-4248-8F4B-E976567063D2}"/>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controlled run</a:t>
            </a:r>
          </a:p>
        </p:txBody>
      </p:sp>
      <p:sp>
        <p:nvSpPr>
          <p:cNvPr id="6" name="">
            <a:extLst xmlns:a="http://schemas.openxmlformats.org/drawingml/2006/main">
              <a:ext uri="{FF2B5EF4-FFF2-40B4-BE49-F238E27FC236}">
                <a16:creationId xmlns:a16="http://schemas.microsoft.com/office/drawing/2014/main" id="{5BD9A2D0-8755-45BB-BEBB-FABF7E0BD5E0}"/>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7" name="">
            <a:extLst xmlns:a="http://schemas.openxmlformats.org/drawingml/2006/main">
              <a:ext uri="{FF2B5EF4-FFF2-40B4-BE49-F238E27FC236}">
                <a16:creationId xmlns:a16="http://schemas.microsoft.com/office/drawing/2014/main" id="{D8ECD703-E2C7-4EE9-8797-2021C2220D16}"/>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04</a:t>
            </a:r>
          </a:p>
        </p:txBody>
      </p:sp>
    </p:spTree>
    <p:extLst>
      <p:ext uri="{BB962C8B-B14F-4D97-AF65-F5344CB8AC3E}">
        <p14:creationId xmlns:p14="http://schemas.microsoft.com/office/powerpoint/2010/main" val="63838371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AF20165-E0EE-4304-8FC5-39BD9A5E2F4A}"/>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Software prefetch often missed the agent replay deadline</a:t>
            </a:r>
          </a:p>
        </p:txBody>
      </p:sp>
      <p:sp>
        <p:nvSpPr>
          <p:cNvPr id="2" name="">
            <a:extLst xmlns:a="http://schemas.openxmlformats.org/drawingml/2006/main">
              <a:ext uri="{FF2B5EF4-FFF2-40B4-BE49-F238E27FC236}">
                <a16:creationId xmlns:a16="http://schemas.microsoft.com/office/drawing/2014/main" id="{A079478B-24A7-4DDC-A3E5-89C182630F86}"/>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Across live prefetch attempts, nearly every hint completed after the agent had already resumed.</a:t>
            </a:r>
          </a:p>
        </p:txBody>
      </p:sp>
      <p:sp>
        <p:nvSpPr>
          <p:cNvPr id="3" name="">
            <a:extLst xmlns:a="http://schemas.openxmlformats.org/drawingml/2006/main">
              <a:ext uri="{FF2B5EF4-FFF2-40B4-BE49-F238E27FC236}">
                <a16:creationId xmlns:a16="http://schemas.microsoft.com/office/drawing/2014/main" id="{0DCB7E3C-21C8-4407-9248-F61AFD86DC9A}"/>
              </a:ext>
            </a:extLst>
          </p:cNvPr>
          <p:cNvSpPr>
            <a:spLocks xmlns:a="http://schemas.openxmlformats.org/drawingml/2006/main" noGrp="1"/>
          </p:cNvSpPr>
          <p:nvPr/>
        </p:nvSpPr>
        <p:spPr>
          <a:xfrm xmlns:a="http://schemas.openxmlformats.org/drawingml/2006/main">
            <a:off x="323850" y="1428750"/>
            <a:ext cx="8572500" cy="3886200"/>
          </a:xfrm>
          <a:prstGeom xmlns:a="http://schemas.openxmlformats.org/drawingml/2006/main" prst="roundRect">
            <a:avLst>
              <a:gd name="adj" fmla="val 1471"/>
            </a:avLst>
          </a:prstGeom>
          <a:solidFill xmlns:a="http://schemas.openxmlformats.org/drawingml/2006/main">
            <a:srgbClr val="FFFFFF"/>
          </a:solidFill>
          <a:ln xmlns:a="http://schemas.openxmlformats.org/drawingml/2006/main" w="9525">
            <a:solidFill>
              <a:srgbClr val="E5E7EB"/>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4354e2c2031a4581"/>
          <a:stretch xmlns:a="http://schemas.openxmlformats.org/drawingml/2006/main"/>
        </p:blipFill>
        <p:spPr>
          <a:xfrm xmlns:a="http://schemas.openxmlformats.org/drawingml/2006/main">
            <a:off x="400050" y="1890170"/>
            <a:ext cx="8420100" cy="296336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DC1BF31-9B2E-484B-B32A-151A763D1862}"/>
              </a:ext>
            </a:extLst>
          </p:cNvPr>
          <p:cNvSpPr>
            <a:spLocks xmlns:a="http://schemas.openxmlformats.org/drawingml/2006/main" noGrp="1"/>
          </p:cNvSpPr>
          <p:nvPr/>
        </p:nvSpPr>
        <p:spPr>
          <a:xfrm xmlns:a="http://schemas.openxmlformats.org/drawingml/2006/main">
            <a:off x="9124950" y="1600200"/>
            <a:ext cx="2228850" cy="1295400"/>
          </a:xfrm>
          <a:prstGeom xmlns:a="http://schemas.openxmlformats.org/drawingml/2006/main" prst="roundRect">
            <a:avLst>
              <a:gd name="adj" fmla="val 4412"/>
            </a:avLst>
          </a:prstGeom>
          <a:solidFill xmlns:a="http://schemas.openxmlformats.org/drawingml/2006/main">
            <a:srgbClr val="FEF2F2"/>
          </a:solidFill>
          <a:ln xmlns:a="http://schemas.openxmlformats.org/drawingml/2006/main" w="9525">
            <a:solidFill>
              <a:srgbClr val="FECACA"/>
            </a:solidFill>
            <a:prstDash val="solid"/>
          </a:ln>
        </p:spPr>
      </p:sp>
      <p:sp>
        <p:nvSpPr>
          <p:cNvPr id="6" name="">
            <a:extLst xmlns:a="http://schemas.openxmlformats.org/drawingml/2006/main">
              <a:ext uri="{FF2B5EF4-FFF2-40B4-BE49-F238E27FC236}">
                <a16:creationId xmlns:a16="http://schemas.microsoft.com/office/drawing/2014/main" id="{F9BC519B-CC45-4A8F-9111-EBE43D6E6BAB}"/>
              </a:ext>
            </a:extLst>
          </p:cNvPr>
          <p:cNvSpPr>
            <a:spLocks xmlns:a="http://schemas.openxmlformats.org/drawingml/2006/main" noGrp="1"/>
          </p:cNvSpPr>
          <p:nvPr/>
        </p:nvSpPr>
        <p:spPr>
          <a:xfrm xmlns:a="http://schemas.openxmlformats.org/drawingml/2006/main">
            <a:off x="9296400" y="1809750"/>
            <a:ext cx="188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700" b="1">
                <a:solidFill>
                  <a:srgbClr val="B91C1C"/>
                </a:solidFill>
              </a:defRPr>
            </a:pPr>
            <a:r>
              <a:rPr sz="2700" b="1">
                <a:solidFill>
                  <a:srgbClr val="B91C1C"/>
                </a:solidFill>
              </a:rPr>
              <a:t>112 of 114</a:t>
            </a:r>
          </a:p>
        </p:txBody>
      </p:sp>
      <p:sp>
        <p:nvSpPr>
          <p:cNvPr id="7" name="">
            <a:extLst xmlns:a="http://schemas.openxmlformats.org/drawingml/2006/main">
              <a:ext uri="{FF2B5EF4-FFF2-40B4-BE49-F238E27FC236}">
                <a16:creationId xmlns:a16="http://schemas.microsoft.com/office/drawing/2014/main" id="{3BCD2609-8C0B-4DBF-B08A-5A3699130D0B}"/>
              </a:ext>
            </a:extLst>
          </p:cNvPr>
          <p:cNvSpPr>
            <a:spLocks xmlns:a="http://schemas.openxmlformats.org/drawingml/2006/main" noGrp="1"/>
          </p:cNvSpPr>
          <p:nvPr/>
        </p:nvSpPr>
        <p:spPr>
          <a:xfrm xmlns:a="http://schemas.openxmlformats.org/drawingml/2006/main">
            <a:off x="9353550" y="2324100"/>
            <a:ext cx="1771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334155"/>
                </a:solidFill>
              </a:defRPr>
            </a:pPr>
            <a:r>
              <a:rPr sz="1350" b="0">
                <a:solidFill>
                  <a:srgbClr val="334155"/>
                </a:solidFill>
              </a:rPr>
              <a:t>prefetch attempts</a:t>
            </a:r>
          </a:p>
        </p:txBody>
      </p:sp>
      <p:sp>
        <p:nvSpPr>
          <p:cNvPr id="8" name="">
            <a:extLst xmlns:a="http://schemas.openxmlformats.org/drawingml/2006/main">
              <a:ext uri="{FF2B5EF4-FFF2-40B4-BE49-F238E27FC236}">
                <a16:creationId xmlns:a16="http://schemas.microsoft.com/office/drawing/2014/main" id="{BC65F419-9551-41C2-8C85-21B638A49B33}"/>
              </a:ext>
            </a:extLst>
          </p:cNvPr>
          <p:cNvSpPr>
            <a:spLocks xmlns:a="http://schemas.openxmlformats.org/drawingml/2006/main" noGrp="1"/>
          </p:cNvSpPr>
          <p:nvPr/>
        </p:nvSpPr>
        <p:spPr>
          <a:xfrm xmlns:a="http://schemas.openxmlformats.org/drawingml/2006/main">
            <a:off x="9353550" y="2571750"/>
            <a:ext cx="1771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334155"/>
                </a:solidFill>
              </a:defRPr>
            </a:pPr>
            <a:r>
              <a:rPr sz="1350" b="0">
                <a:solidFill>
                  <a:srgbClr val="334155"/>
                </a:solidFill>
              </a:rPr>
              <a:t>were late</a:t>
            </a:r>
          </a:p>
        </p:txBody>
      </p:sp>
      <p:sp>
        <p:nvSpPr>
          <p:cNvPr id="9" name="">
            <a:extLst xmlns:a="http://schemas.openxmlformats.org/drawingml/2006/main">
              <a:ext uri="{FF2B5EF4-FFF2-40B4-BE49-F238E27FC236}">
                <a16:creationId xmlns:a16="http://schemas.microsoft.com/office/drawing/2014/main" id="{3C50A6A6-2CB8-45A4-B4FF-3452DA3B7DBB}"/>
              </a:ext>
            </a:extLst>
          </p:cNvPr>
          <p:cNvSpPr>
            <a:spLocks xmlns:a="http://schemas.openxmlformats.org/drawingml/2006/main" noGrp="1"/>
          </p:cNvSpPr>
          <p:nvPr/>
        </p:nvSpPr>
        <p:spPr>
          <a:xfrm xmlns:a="http://schemas.openxmlformats.org/drawingml/2006/main">
            <a:off x="9124950" y="3143250"/>
            <a:ext cx="2228850" cy="1066800"/>
          </a:xfrm>
          <a:prstGeom xmlns:a="http://schemas.openxmlformats.org/drawingml/2006/main" prst="roundRect">
            <a:avLst>
              <a:gd name="adj" fmla="val 5357"/>
            </a:avLst>
          </a:prstGeom>
          <a:solidFill xmlns:a="http://schemas.openxmlformats.org/drawingml/2006/main">
            <a:srgbClr val="FFF7ED"/>
          </a:solidFill>
          <a:ln xmlns:a="http://schemas.openxmlformats.org/drawingml/2006/main" w="9525">
            <a:solidFill>
              <a:srgbClr val="FED7AA"/>
            </a:solidFill>
            <a:prstDash val="solid"/>
          </a:ln>
        </p:spPr>
      </p:sp>
      <p:sp>
        <p:nvSpPr>
          <p:cNvPr id="10" name="">
            <a:extLst xmlns:a="http://schemas.openxmlformats.org/drawingml/2006/main">
              <a:ext uri="{FF2B5EF4-FFF2-40B4-BE49-F238E27FC236}">
                <a16:creationId xmlns:a16="http://schemas.microsoft.com/office/drawing/2014/main" id="{01E8DD12-6009-4562-971F-5BD7CF3F4501}"/>
              </a:ext>
            </a:extLst>
          </p:cNvPr>
          <p:cNvSpPr>
            <a:spLocks xmlns:a="http://schemas.openxmlformats.org/drawingml/2006/main" noGrp="1"/>
          </p:cNvSpPr>
          <p:nvPr/>
        </p:nvSpPr>
        <p:spPr>
          <a:xfrm xmlns:a="http://schemas.openxmlformats.org/drawingml/2006/main">
            <a:off x="9353550" y="3333750"/>
            <a:ext cx="17716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000" b="1">
                <a:solidFill>
                  <a:srgbClr val="C2410C"/>
                </a:solidFill>
              </a:defRPr>
            </a:pPr>
            <a:r>
              <a:rPr sz="3000" b="1">
                <a:solidFill>
                  <a:srgbClr val="C2410C"/>
                </a:solidFill>
              </a:rPr>
              <a:t>98.25%</a:t>
            </a:r>
          </a:p>
        </p:txBody>
      </p:sp>
      <p:sp>
        <p:nvSpPr>
          <p:cNvPr id="11" name="">
            <a:extLst xmlns:a="http://schemas.openxmlformats.org/drawingml/2006/main">
              <a:ext uri="{FF2B5EF4-FFF2-40B4-BE49-F238E27FC236}">
                <a16:creationId xmlns:a16="http://schemas.microsoft.com/office/drawing/2014/main" id="{19C77AE1-BBF2-4A8F-928E-2BA8A7A1BCF6}"/>
              </a:ext>
            </a:extLst>
          </p:cNvPr>
          <p:cNvSpPr>
            <a:spLocks xmlns:a="http://schemas.openxmlformats.org/drawingml/2006/main" noGrp="1"/>
          </p:cNvSpPr>
          <p:nvPr/>
        </p:nvSpPr>
        <p:spPr>
          <a:xfrm xmlns:a="http://schemas.openxmlformats.org/drawingml/2006/main">
            <a:off x="9353550" y="3829050"/>
            <a:ext cx="1771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missed replay due deadline</a:t>
            </a:r>
          </a:p>
        </p:txBody>
      </p:sp>
      <p:sp>
        <p:nvSpPr>
          <p:cNvPr id="12" name="">
            <a:extLst xmlns:a="http://schemas.openxmlformats.org/drawingml/2006/main">
              <a:ext uri="{FF2B5EF4-FFF2-40B4-BE49-F238E27FC236}">
                <a16:creationId xmlns:a16="http://schemas.microsoft.com/office/drawing/2014/main" id="{CF4C2D29-6799-4FA9-8F1B-7A5E3A91E9AD}"/>
              </a:ext>
            </a:extLst>
          </p:cNvPr>
          <p:cNvSpPr>
            <a:spLocks xmlns:a="http://schemas.openxmlformats.org/drawingml/2006/main" noGrp="1"/>
          </p:cNvSpPr>
          <p:nvPr/>
        </p:nvSpPr>
        <p:spPr>
          <a:xfrm xmlns:a="http://schemas.openxmlformats.org/drawingml/2006/main">
            <a:off x="9124950" y="4514850"/>
            <a:ext cx="2247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This shows that semantic knowledge alone is not enough if the movement path cannot act on hints predictably.</a:t>
            </a:r>
          </a:p>
        </p:txBody>
      </p:sp>
      <p:sp>
        <p:nvSpPr>
          <p:cNvPr id="13" name="">
            <a:extLst xmlns:a="http://schemas.openxmlformats.org/drawingml/2006/main">
              <a:ext uri="{FF2B5EF4-FFF2-40B4-BE49-F238E27FC236}">
                <a16:creationId xmlns:a16="http://schemas.microsoft.com/office/drawing/2014/main" id="{857506D5-7B57-4F4B-B55F-89BE0F8F7CA5}"/>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backups/latest_master_report-1.html, Global Prefetch Margin</a:t>
            </a:r>
          </a:p>
        </p:txBody>
      </p:sp>
      <p:sp>
        <p:nvSpPr>
          <p:cNvPr id="14" name="">
            <a:extLst xmlns:a="http://schemas.openxmlformats.org/drawingml/2006/main">
              <a:ext uri="{FF2B5EF4-FFF2-40B4-BE49-F238E27FC236}">
                <a16:creationId xmlns:a16="http://schemas.microsoft.com/office/drawing/2014/main" id="{3E784F4F-1AB5-4D61-B3FD-1982361AD487}"/>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5" name="">
            <a:extLst xmlns:a="http://schemas.openxmlformats.org/drawingml/2006/main">
              <a:ext uri="{FF2B5EF4-FFF2-40B4-BE49-F238E27FC236}">
                <a16:creationId xmlns:a16="http://schemas.microsoft.com/office/drawing/2014/main" id="{112A6333-9B24-4DFD-B8B4-F8D4E1718959}"/>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05</a:t>
            </a:r>
          </a:p>
        </p:txBody>
      </p:sp>
    </p:spTree>
    <p:extLst>
      <p:ext uri="{BB962C8B-B14F-4D97-AF65-F5344CB8AC3E}">
        <p14:creationId xmlns:p14="http://schemas.microsoft.com/office/powerpoint/2010/main" val="53671419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90A680A-6C87-4520-83DA-2DCDF1D1B767}"/>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Replay-side KV loads missed the deadline in this run</a:t>
            </a:r>
          </a:p>
        </p:txBody>
      </p:sp>
      <p:sp>
        <p:nvSpPr>
          <p:cNvPr id="2" name="">
            <a:extLst xmlns:a="http://schemas.openxmlformats.org/drawingml/2006/main">
              <a:ext uri="{FF2B5EF4-FFF2-40B4-BE49-F238E27FC236}">
                <a16:creationId xmlns:a16="http://schemas.microsoft.com/office/drawing/2014/main" id="{C93026AD-F4B1-40CF-8401-EC7071FEB63C}"/>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aggregate view shows whether KV H2D finished before or after replay was due.</a:t>
            </a:r>
          </a:p>
        </p:txBody>
      </p:sp>
      <p:sp>
        <p:nvSpPr>
          <p:cNvPr id="3" name="">
            <a:extLst xmlns:a="http://schemas.openxmlformats.org/drawingml/2006/main">
              <a:ext uri="{FF2B5EF4-FFF2-40B4-BE49-F238E27FC236}">
                <a16:creationId xmlns:a16="http://schemas.microsoft.com/office/drawing/2014/main" id="{2AD938CD-B4BE-4673-A59E-76121FF0D858}"/>
              </a:ext>
            </a:extLst>
          </p:cNvPr>
          <p:cNvSpPr>
            <a:spLocks xmlns:a="http://schemas.openxmlformats.org/drawingml/2006/main" noGrp="1"/>
          </p:cNvSpPr>
          <p:nvPr/>
        </p:nvSpPr>
        <p:spPr>
          <a:xfrm xmlns:a="http://schemas.openxmlformats.org/drawingml/2006/main">
            <a:off x="323850" y="1428750"/>
            <a:ext cx="8724900" cy="3867150"/>
          </a:xfrm>
          <a:prstGeom xmlns:a="http://schemas.openxmlformats.org/drawingml/2006/main" prst="roundRect">
            <a:avLst>
              <a:gd name="adj" fmla="val 1478"/>
            </a:avLst>
          </a:prstGeom>
          <a:solidFill xmlns:a="http://schemas.openxmlformats.org/drawingml/2006/main">
            <a:srgbClr val="FFFFFF"/>
          </a:solidFill>
          <a:ln xmlns:a="http://schemas.openxmlformats.org/drawingml/2006/main" w="9525">
            <a:solidFill>
              <a:srgbClr val="E5E7EB"/>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a2c93e584e3f462c"/>
          <a:stretch xmlns:a="http://schemas.openxmlformats.org/drawingml/2006/main"/>
        </p:blipFill>
        <p:spPr>
          <a:xfrm xmlns:a="http://schemas.openxmlformats.org/drawingml/2006/main">
            <a:off x="400050" y="1795905"/>
            <a:ext cx="8572500" cy="313284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695C50C-6379-4C4F-A015-0D80A7546505}"/>
              </a:ext>
            </a:extLst>
          </p:cNvPr>
          <p:cNvSpPr>
            <a:spLocks xmlns:a="http://schemas.openxmlformats.org/drawingml/2006/main" noGrp="1"/>
          </p:cNvSpPr>
          <p:nvPr/>
        </p:nvSpPr>
        <p:spPr>
          <a:xfrm xmlns:a="http://schemas.openxmlformats.org/drawingml/2006/main">
            <a:off x="9258300" y="1847850"/>
            <a:ext cx="2095500" cy="1104900"/>
          </a:xfrm>
          <a:prstGeom xmlns:a="http://schemas.openxmlformats.org/drawingml/2006/main" prst="roundRect">
            <a:avLst>
              <a:gd name="adj" fmla="val 5172"/>
            </a:avLst>
          </a:prstGeom>
          <a:solidFill xmlns:a="http://schemas.openxmlformats.org/drawingml/2006/main">
            <a:srgbClr val="FEF2F2"/>
          </a:solidFill>
          <a:ln xmlns:a="http://schemas.openxmlformats.org/drawingml/2006/main" w="9525">
            <a:solidFill>
              <a:srgbClr val="FECACA"/>
            </a:solidFill>
            <a:prstDash val="solid"/>
          </a:ln>
        </p:spPr>
      </p:sp>
      <p:sp>
        <p:nvSpPr>
          <p:cNvPr id="6" name="">
            <a:extLst xmlns:a="http://schemas.openxmlformats.org/drawingml/2006/main">
              <a:ext uri="{FF2B5EF4-FFF2-40B4-BE49-F238E27FC236}">
                <a16:creationId xmlns:a16="http://schemas.microsoft.com/office/drawing/2014/main" id="{6C572B9C-D3B8-4B6C-B370-AF2614355B5C}"/>
              </a:ext>
            </a:extLst>
          </p:cNvPr>
          <p:cNvSpPr>
            <a:spLocks xmlns:a="http://schemas.openxmlformats.org/drawingml/2006/main" noGrp="1"/>
          </p:cNvSpPr>
          <p:nvPr/>
        </p:nvSpPr>
        <p:spPr>
          <a:xfrm xmlns:a="http://schemas.openxmlformats.org/drawingml/2006/main">
            <a:off x="9505950" y="2076450"/>
            <a:ext cx="1600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600" b="1">
                <a:solidFill>
                  <a:srgbClr val="B91C1C"/>
                </a:solidFill>
              </a:defRPr>
            </a:pPr>
            <a:r>
              <a:rPr sz="3600" b="1">
                <a:solidFill>
                  <a:srgbClr val="B91C1C"/>
                </a:solidFill>
              </a:rPr>
              <a:t>8 / 8</a:t>
            </a:r>
          </a:p>
        </p:txBody>
      </p:sp>
      <p:sp>
        <p:nvSpPr>
          <p:cNvPr id="7" name="">
            <a:extLst xmlns:a="http://schemas.openxmlformats.org/drawingml/2006/main">
              <a:ext uri="{FF2B5EF4-FFF2-40B4-BE49-F238E27FC236}">
                <a16:creationId xmlns:a16="http://schemas.microsoft.com/office/drawing/2014/main" id="{D037560F-DF01-4DA9-A258-0C7B9D62C918}"/>
              </a:ext>
            </a:extLst>
          </p:cNvPr>
          <p:cNvSpPr>
            <a:spLocks xmlns:a="http://schemas.openxmlformats.org/drawingml/2006/main" noGrp="1"/>
          </p:cNvSpPr>
          <p:nvPr/>
        </p:nvSpPr>
        <p:spPr>
          <a:xfrm xmlns:a="http://schemas.openxmlformats.org/drawingml/2006/main">
            <a:off x="9505950" y="2628900"/>
            <a:ext cx="1600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H2D loads finished late</a:t>
            </a:r>
          </a:p>
        </p:txBody>
      </p:sp>
      <p:sp>
        <p:nvSpPr>
          <p:cNvPr id="8" name="">
            <a:extLst xmlns:a="http://schemas.openxmlformats.org/drawingml/2006/main">
              <a:ext uri="{FF2B5EF4-FFF2-40B4-BE49-F238E27FC236}">
                <a16:creationId xmlns:a16="http://schemas.microsoft.com/office/drawing/2014/main" id="{A4FAE60E-DA33-4D21-A086-508F19EA4058}"/>
              </a:ext>
            </a:extLst>
          </p:cNvPr>
          <p:cNvSpPr>
            <a:spLocks xmlns:a="http://schemas.openxmlformats.org/drawingml/2006/main" noGrp="1"/>
          </p:cNvSpPr>
          <p:nvPr/>
        </p:nvSpPr>
        <p:spPr>
          <a:xfrm xmlns:a="http://schemas.openxmlformats.org/drawingml/2006/main">
            <a:off x="9258300" y="3524250"/>
            <a:ext cx="2095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334155"/>
                </a:solidFill>
              </a:defRPr>
            </a:pPr>
            <a:r>
              <a:rPr sz="1575" b="0">
                <a:solidFill>
                  <a:srgbClr val="334155"/>
                </a:solidFill>
              </a:rPr>
              <a:t>All visible replay-side KV loads finished below the 0 ms deadline line.</a:t>
            </a:r>
          </a:p>
        </p:txBody>
      </p:sp>
      <p:sp>
        <p:nvSpPr>
          <p:cNvPr id="9" name="">
            <a:extLst xmlns:a="http://schemas.openxmlformats.org/drawingml/2006/main">
              <a:ext uri="{FF2B5EF4-FFF2-40B4-BE49-F238E27FC236}">
                <a16:creationId xmlns:a16="http://schemas.microsoft.com/office/drawing/2014/main" id="{F561D74B-A36E-4C13-B040-79B5535EA70E}"/>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Global Replay H2D Readiness</a:t>
            </a:r>
          </a:p>
        </p:txBody>
      </p:sp>
      <p:sp>
        <p:nvSpPr>
          <p:cNvPr id="10" name="">
            <a:extLst xmlns:a="http://schemas.openxmlformats.org/drawingml/2006/main">
              <a:ext uri="{FF2B5EF4-FFF2-40B4-BE49-F238E27FC236}">
                <a16:creationId xmlns:a16="http://schemas.microsoft.com/office/drawing/2014/main" id="{F38AFE03-07BE-42F7-8C6B-6C61FA6C0DF2}"/>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1" name="">
            <a:extLst xmlns:a="http://schemas.openxmlformats.org/drawingml/2006/main">
              <a:ext uri="{FF2B5EF4-FFF2-40B4-BE49-F238E27FC236}">
                <a16:creationId xmlns:a16="http://schemas.microsoft.com/office/drawing/2014/main" id="{7C15C74F-4137-45C4-B354-6FE2585C1AD5}"/>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06</a:t>
            </a:r>
          </a:p>
        </p:txBody>
      </p:sp>
    </p:spTree>
    <p:extLst>
      <p:ext uri="{BB962C8B-B14F-4D97-AF65-F5344CB8AC3E}">
        <p14:creationId xmlns:p14="http://schemas.microsoft.com/office/powerpoint/2010/main" val="178371216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34BA47-CE24-45EA-ACA5-F72718419167}"/>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delay is not just copy time</a:t>
            </a:r>
          </a:p>
        </p:txBody>
      </p:sp>
      <p:sp>
        <p:nvSpPr>
          <p:cNvPr id="2" name="">
            <a:extLst xmlns:a="http://schemas.openxmlformats.org/drawingml/2006/main">
              <a:ext uri="{FF2B5EF4-FFF2-40B4-BE49-F238E27FC236}">
                <a16:creationId xmlns:a16="http://schemas.microsoft.com/office/drawing/2014/main" id="{5B0F4813-4052-427E-B4B4-54A0F19C16B3}"/>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request enters normal software/runtime scheduling before visible KV H2D begins.</a:t>
            </a:r>
          </a:p>
        </p:txBody>
      </p:sp>
      <p:sp>
        <p:nvSpPr>
          <p:cNvPr id="3" name="">
            <a:extLst xmlns:a="http://schemas.openxmlformats.org/drawingml/2006/main">
              <a:ext uri="{FF2B5EF4-FFF2-40B4-BE49-F238E27FC236}">
                <a16:creationId xmlns:a16="http://schemas.microsoft.com/office/drawing/2014/main" id="{50BE40A2-F16C-4E9B-938C-C66B055368B8}"/>
              </a:ext>
            </a:extLst>
          </p:cNvPr>
          <p:cNvSpPr>
            <a:spLocks xmlns:a="http://schemas.openxmlformats.org/drawingml/2006/main" noGrp="1"/>
          </p:cNvSpPr>
          <p:nvPr/>
        </p:nvSpPr>
        <p:spPr>
          <a:xfrm xmlns:a="http://schemas.openxmlformats.org/drawingml/2006/main">
            <a:off x="323850" y="1333500"/>
            <a:ext cx="10820400" cy="4343400"/>
          </a:xfrm>
          <a:prstGeom xmlns:a="http://schemas.openxmlformats.org/drawingml/2006/main" prst="roundRect">
            <a:avLst>
              <a:gd name="adj" fmla="val 1316"/>
            </a:avLst>
          </a:prstGeom>
          <a:solidFill xmlns:a="http://schemas.openxmlformats.org/drawingml/2006/main">
            <a:srgbClr val="FFFFFF"/>
          </a:solidFill>
          <a:ln xmlns:a="http://schemas.openxmlformats.org/drawingml/2006/main" w="9525">
            <a:solidFill>
              <a:srgbClr val="E5E7EB"/>
            </a:solid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93b30e23c1444876"/>
          <a:stretch xmlns:a="http://schemas.openxmlformats.org/drawingml/2006/main"/>
        </p:blipFill>
        <p:spPr>
          <a:xfrm xmlns:a="http://schemas.openxmlformats.org/drawingml/2006/main">
            <a:off x="1247835" y="1409700"/>
            <a:ext cx="8972430" cy="4191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25B79C7-BB4C-4E43-87FB-A7F8A1348FF4}"/>
              </a:ext>
            </a:extLst>
          </p:cNvPr>
          <p:cNvSpPr>
            <a:spLocks xmlns:a="http://schemas.openxmlformats.org/drawingml/2006/main" noGrp="1"/>
          </p:cNvSpPr>
          <p:nvPr/>
        </p:nvSpPr>
        <p:spPr>
          <a:xfrm xmlns:a="http://schemas.openxmlformats.org/drawingml/2006/main">
            <a:off x="685800" y="57912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334155"/>
                </a:solidFill>
              </a:defRPr>
            </a:pPr>
            <a:r>
              <a:rPr sz="1275" b="0">
                <a:solidFill>
                  <a:srgbClr val="334155"/>
                </a:solidFill>
              </a:rPr>
              <a:t>The stage markers separate submission, SGLang receive, scheduler queue/admit, and visible KV H2D movement.</a:t>
            </a:r>
          </a:p>
        </p:txBody>
      </p:sp>
      <p:sp>
        <p:nvSpPr>
          <p:cNvPr id="6" name="">
            <a:extLst xmlns:a="http://schemas.openxmlformats.org/drawingml/2006/main">
              <a:ext uri="{FF2B5EF4-FFF2-40B4-BE49-F238E27FC236}">
                <a16:creationId xmlns:a16="http://schemas.microsoft.com/office/drawing/2014/main" id="{FD08FBB6-172F-497D-805E-73B299197DCB}"/>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Replay Queue Timeline vs H2D Start</a:t>
            </a:r>
          </a:p>
        </p:txBody>
      </p:sp>
      <p:sp>
        <p:nvSpPr>
          <p:cNvPr id="7" name="">
            <a:extLst xmlns:a="http://schemas.openxmlformats.org/drawingml/2006/main">
              <a:ext uri="{FF2B5EF4-FFF2-40B4-BE49-F238E27FC236}">
                <a16:creationId xmlns:a16="http://schemas.microsoft.com/office/drawing/2014/main" id="{DDCB3123-3084-4FBF-A172-9714BB8AA28B}"/>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8" name="">
            <a:extLst xmlns:a="http://schemas.openxmlformats.org/drawingml/2006/main">
              <a:ext uri="{FF2B5EF4-FFF2-40B4-BE49-F238E27FC236}">
                <a16:creationId xmlns:a16="http://schemas.microsoft.com/office/drawing/2014/main" id="{68E3CB3B-BD33-441A-ADF5-E5BCCFB45869}"/>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07</a:t>
            </a:r>
          </a:p>
        </p:txBody>
      </p:sp>
    </p:spTree>
    <p:extLst>
      <p:ext uri="{BB962C8B-B14F-4D97-AF65-F5344CB8AC3E}">
        <p14:creationId xmlns:p14="http://schemas.microsoft.com/office/powerpoint/2010/main" val="153687842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1F03D19-B314-49C9-93B7-17D739F54B37}"/>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Hardware support can make hints enforceable</a:t>
            </a:r>
          </a:p>
        </p:txBody>
      </p:sp>
      <p:sp>
        <p:nvSpPr>
          <p:cNvPr id="2" name="">
            <a:extLst xmlns:a="http://schemas.openxmlformats.org/drawingml/2006/main">
              <a:ext uri="{FF2B5EF4-FFF2-40B4-BE49-F238E27FC236}">
                <a16:creationId xmlns:a16="http://schemas.microsoft.com/office/drawing/2014/main" id="{422DBAC9-FDE6-4FDE-B8D0-9A3FFBF85AC4}"/>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opportunity is to treat KV as deadline-sensitive memory, not generic bytes.</a:t>
            </a:r>
          </a:p>
        </p:txBody>
      </p:sp>
      <p:sp>
        <p:nvSpPr>
          <p:cNvPr id="3" name="">
            <a:extLst xmlns:a="http://schemas.openxmlformats.org/drawingml/2006/main">
              <a:ext uri="{FF2B5EF4-FFF2-40B4-BE49-F238E27FC236}">
                <a16:creationId xmlns:a16="http://schemas.microsoft.com/office/drawing/2014/main" id="{43BC88E1-0D73-4D03-9CAC-F3B531859556}"/>
              </a:ext>
            </a:extLst>
          </p:cNvPr>
          <p:cNvSpPr>
            <a:spLocks xmlns:a="http://schemas.openxmlformats.org/drawingml/2006/main" noGrp="1"/>
          </p:cNvSpPr>
          <p:nvPr/>
        </p:nvSpPr>
        <p:spPr>
          <a:xfrm xmlns:a="http://schemas.openxmlformats.org/drawingml/2006/main">
            <a:off x="552450" y="1962150"/>
            <a:ext cx="1695450" cy="1695450"/>
          </a:xfrm>
          <a:prstGeom xmlns:a="http://schemas.openxmlformats.org/drawingml/2006/main" prst="roundRect">
            <a:avLst>
              <a:gd name="adj" fmla="val 3371"/>
            </a:avLst>
          </a:prstGeom>
          <a:solidFill xmlns:a="http://schemas.openxmlformats.org/drawingml/2006/main">
            <a:srgbClr val="EFF6FF"/>
          </a:solidFill>
          <a:ln xmlns:a="http://schemas.openxmlformats.org/drawingml/2006/main" w="9525">
            <a:solidFill>
              <a:srgbClr val="2563EB"/>
            </a:solidFill>
            <a:prstDash val="solid"/>
          </a:ln>
        </p:spPr>
      </p:sp>
      <p:sp>
        <p:nvSpPr>
          <p:cNvPr id="4" name="">
            <a:extLst xmlns:a="http://schemas.openxmlformats.org/drawingml/2006/main">
              <a:ext uri="{FF2B5EF4-FFF2-40B4-BE49-F238E27FC236}">
                <a16:creationId xmlns:a16="http://schemas.microsoft.com/office/drawing/2014/main" id="{222B10D5-AF3D-4827-A1AC-B1FBFF89CC7E}"/>
              </a:ext>
            </a:extLst>
          </p:cNvPr>
          <p:cNvSpPr>
            <a:spLocks xmlns:a="http://schemas.openxmlformats.org/drawingml/2006/main" noGrp="1"/>
          </p:cNvSpPr>
          <p:nvPr/>
        </p:nvSpPr>
        <p:spPr>
          <a:xfrm xmlns:a="http://schemas.openxmlformats.org/drawingml/2006/main">
            <a:off x="70485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Runtime hint</a:t>
            </a:r>
          </a:p>
        </p:txBody>
      </p:sp>
      <p:sp>
        <p:nvSpPr>
          <p:cNvPr id="5" name="">
            <a:extLst xmlns:a="http://schemas.openxmlformats.org/drawingml/2006/main">
              <a:ext uri="{FF2B5EF4-FFF2-40B4-BE49-F238E27FC236}">
                <a16:creationId xmlns:a16="http://schemas.microsoft.com/office/drawing/2014/main" id="{58BB3263-32B0-4E80-AF90-F9B6A205F391}"/>
              </a:ext>
            </a:extLst>
          </p:cNvPr>
          <p:cNvSpPr>
            <a:spLocks xmlns:a="http://schemas.openxmlformats.org/drawingml/2006/main" noGrp="1"/>
          </p:cNvSpPr>
          <p:nvPr/>
        </p:nvSpPr>
        <p:spPr>
          <a:xfrm xmlns:a="http://schemas.openxmlformats.org/drawingml/2006/main">
            <a:off x="72390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session, priority, deadline</a:t>
            </a:r>
          </a:p>
        </p:txBody>
      </p:sp>
      <p:sp>
        <p:nvSpPr>
          <p:cNvPr id="6" name="">
            <a:extLst xmlns:a="http://schemas.openxmlformats.org/drawingml/2006/main">
              <a:ext uri="{FF2B5EF4-FFF2-40B4-BE49-F238E27FC236}">
                <a16:creationId xmlns:a16="http://schemas.microsoft.com/office/drawing/2014/main" id="{8A37FC77-050B-42B2-9D70-25BD66C6DF04}"/>
              </a:ext>
            </a:extLst>
          </p:cNvPr>
          <p:cNvSpPr>
            <a:spLocks xmlns:a="http://schemas.openxmlformats.org/drawingml/2006/main" noGrp="1"/>
          </p:cNvSpPr>
          <p:nvPr/>
        </p:nvSpPr>
        <p:spPr>
          <a:xfrm xmlns:a="http://schemas.openxmlformats.org/drawingml/2006/main">
            <a:off x="230505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7" name="">
            <a:extLst xmlns:a="http://schemas.openxmlformats.org/drawingml/2006/main">
              <a:ext uri="{FF2B5EF4-FFF2-40B4-BE49-F238E27FC236}">
                <a16:creationId xmlns:a16="http://schemas.microsoft.com/office/drawing/2014/main" id="{10F939C6-350E-4DD0-8DBC-0A14254C2D51}"/>
              </a:ext>
            </a:extLst>
          </p:cNvPr>
          <p:cNvSpPr>
            <a:spLocks xmlns:a="http://schemas.openxmlformats.org/drawingml/2006/main" noGrp="1"/>
          </p:cNvSpPr>
          <p:nvPr/>
        </p:nvSpPr>
        <p:spPr>
          <a:xfrm xmlns:a="http://schemas.openxmlformats.org/drawingml/2006/main">
            <a:off x="2857500" y="1962150"/>
            <a:ext cx="1695450" cy="1695450"/>
          </a:xfrm>
          <a:prstGeom xmlns:a="http://schemas.openxmlformats.org/drawingml/2006/main" prst="roundRect">
            <a:avLst>
              <a:gd name="adj" fmla="val 3371"/>
            </a:avLst>
          </a:prstGeom>
          <a:solidFill xmlns:a="http://schemas.openxmlformats.org/drawingml/2006/main">
            <a:srgbClr val="F5F3FF"/>
          </a:solidFill>
          <a:ln xmlns:a="http://schemas.openxmlformats.org/drawingml/2006/main" w="9525">
            <a:solidFill>
              <a:srgbClr val="A855F7"/>
            </a:solidFill>
            <a:prstDash val="solid"/>
          </a:ln>
        </p:spPr>
      </p:sp>
      <p:sp>
        <p:nvSpPr>
          <p:cNvPr id="8" name="">
            <a:extLst xmlns:a="http://schemas.openxmlformats.org/drawingml/2006/main">
              <a:ext uri="{FF2B5EF4-FFF2-40B4-BE49-F238E27FC236}">
                <a16:creationId xmlns:a16="http://schemas.microsoft.com/office/drawing/2014/main" id="{522D388B-FE0B-44F8-A3D2-A7622CAD89AC}"/>
              </a:ext>
            </a:extLst>
          </p:cNvPr>
          <p:cNvSpPr>
            <a:spLocks xmlns:a="http://schemas.openxmlformats.org/drawingml/2006/main" noGrp="1"/>
          </p:cNvSpPr>
          <p:nvPr/>
        </p:nvSpPr>
        <p:spPr>
          <a:xfrm xmlns:a="http://schemas.openxmlformats.org/drawingml/2006/main">
            <a:off x="300990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KV-aware queue</a:t>
            </a:r>
          </a:p>
        </p:txBody>
      </p:sp>
      <p:sp>
        <p:nvSpPr>
          <p:cNvPr id="9" name="">
            <a:extLst xmlns:a="http://schemas.openxmlformats.org/drawingml/2006/main">
              <a:ext uri="{FF2B5EF4-FFF2-40B4-BE49-F238E27FC236}">
                <a16:creationId xmlns:a16="http://schemas.microsoft.com/office/drawing/2014/main" id="{676812D0-C0A4-4237-8DDE-4304B1999C5F}"/>
              </a:ext>
            </a:extLst>
          </p:cNvPr>
          <p:cNvSpPr>
            <a:spLocks xmlns:a="http://schemas.openxmlformats.org/drawingml/2006/main" noGrp="1"/>
          </p:cNvSpPr>
          <p:nvPr/>
        </p:nvSpPr>
        <p:spPr>
          <a:xfrm xmlns:a="http://schemas.openxmlformats.org/drawingml/2006/main">
            <a:off x="302895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order urgent KV first</a:t>
            </a:r>
          </a:p>
        </p:txBody>
      </p:sp>
      <p:sp>
        <p:nvSpPr>
          <p:cNvPr id="10" name="">
            <a:extLst xmlns:a="http://schemas.openxmlformats.org/drawingml/2006/main">
              <a:ext uri="{FF2B5EF4-FFF2-40B4-BE49-F238E27FC236}">
                <a16:creationId xmlns:a16="http://schemas.microsoft.com/office/drawing/2014/main" id="{83FD98FB-17CA-433A-9B12-3225E58B1C23}"/>
              </a:ext>
            </a:extLst>
          </p:cNvPr>
          <p:cNvSpPr>
            <a:spLocks xmlns:a="http://schemas.openxmlformats.org/drawingml/2006/main" noGrp="1"/>
          </p:cNvSpPr>
          <p:nvPr/>
        </p:nvSpPr>
        <p:spPr>
          <a:xfrm xmlns:a="http://schemas.openxmlformats.org/drawingml/2006/main">
            <a:off x="461010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11" name="">
            <a:extLst xmlns:a="http://schemas.openxmlformats.org/drawingml/2006/main">
              <a:ext uri="{FF2B5EF4-FFF2-40B4-BE49-F238E27FC236}">
                <a16:creationId xmlns:a16="http://schemas.microsoft.com/office/drawing/2014/main" id="{BF679420-27F7-44FD-8A9E-3C7812354433}"/>
              </a:ext>
            </a:extLst>
          </p:cNvPr>
          <p:cNvSpPr>
            <a:spLocks xmlns:a="http://schemas.openxmlformats.org/drawingml/2006/main" noGrp="1"/>
          </p:cNvSpPr>
          <p:nvPr/>
        </p:nvSpPr>
        <p:spPr>
          <a:xfrm xmlns:a="http://schemas.openxmlformats.org/drawingml/2006/main">
            <a:off x="5162550" y="1962150"/>
            <a:ext cx="1695450" cy="1695450"/>
          </a:xfrm>
          <a:prstGeom xmlns:a="http://schemas.openxmlformats.org/drawingml/2006/main" prst="roundRect">
            <a:avLst>
              <a:gd name="adj" fmla="val 3371"/>
            </a:avLst>
          </a:prstGeom>
          <a:solidFill xmlns:a="http://schemas.openxmlformats.org/drawingml/2006/main">
            <a:srgbClr val="ECFEFF"/>
          </a:solidFill>
          <a:ln xmlns:a="http://schemas.openxmlformats.org/drawingml/2006/main" w="9525">
            <a:solidFill>
              <a:srgbClr val="06B6D4"/>
            </a:solidFill>
            <a:prstDash val="solid"/>
          </a:ln>
        </p:spPr>
      </p:sp>
      <p:sp>
        <p:nvSpPr>
          <p:cNvPr id="12" name="">
            <a:extLst xmlns:a="http://schemas.openxmlformats.org/drawingml/2006/main">
              <a:ext uri="{FF2B5EF4-FFF2-40B4-BE49-F238E27FC236}">
                <a16:creationId xmlns:a16="http://schemas.microsoft.com/office/drawing/2014/main" id="{84F5B24D-276A-4D7B-A395-99CA6762265E}"/>
              </a:ext>
            </a:extLst>
          </p:cNvPr>
          <p:cNvSpPr>
            <a:spLocks xmlns:a="http://schemas.openxmlformats.org/drawingml/2006/main" noGrp="1"/>
          </p:cNvSpPr>
          <p:nvPr/>
        </p:nvSpPr>
        <p:spPr>
          <a:xfrm xmlns:a="http://schemas.openxmlformats.org/drawingml/2006/main">
            <a:off x="531495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DMA / copy engine</a:t>
            </a:r>
          </a:p>
        </p:txBody>
      </p:sp>
      <p:sp>
        <p:nvSpPr>
          <p:cNvPr id="13" name="">
            <a:extLst xmlns:a="http://schemas.openxmlformats.org/drawingml/2006/main">
              <a:ext uri="{FF2B5EF4-FFF2-40B4-BE49-F238E27FC236}">
                <a16:creationId xmlns:a16="http://schemas.microsoft.com/office/drawing/2014/main" id="{975C0F49-D890-4035-BE6A-96170D42C97A}"/>
              </a:ext>
            </a:extLst>
          </p:cNvPr>
          <p:cNvSpPr>
            <a:spLocks xmlns:a="http://schemas.openxmlformats.org/drawingml/2006/main" noGrp="1"/>
          </p:cNvSpPr>
          <p:nvPr/>
        </p:nvSpPr>
        <p:spPr>
          <a:xfrm xmlns:a="http://schemas.openxmlformats.org/drawingml/2006/main">
            <a:off x="533400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throttle and prioritize</a:t>
            </a:r>
          </a:p>
        </p:txBody>
      </p:sp>
      <p:sp>
        <p:nvSpPr>
          <p:cNvPr id="14" name="">
            <a:extLst xmlns:a="http://schemas.openxmlformats.org/drawingml/2006/main">
              <a:ext uri="{FF2B5EF4-FFF2-40B4-BE49-F238E27FC236}">
                <a16:creationId xmlns:a16="http://schemas.microsoft.com/office/drawing/2014/main" id="{21F43EB0-1BB2-4940-ACB3-BB21BFDC6FF8}"/>
              </a:ext>
            </a:extLst>
          </p:cNvPr>
          <p:cNvSpPr>
            <a:spLocks xmlns:a="http://schemas.openxmlformats.org/drawingml/2006/main" noGrp="1"/>
          </p:cNvSpPr>
          <p:nvPr/>
        </p:nvSpPr>
        <p:spPr>
          <a:xfrm xmlns:a="http://schemas.openxmlformats.org/drawingml/2006/main">
            <a:off x="691515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15" name="">
            <a:extLst xmlns:a="http://schemas.openxmlformats.org/drawingml/2006/main">
              <a:ext uri="{FF2B5EF4-FFF2-40B4-BE49-F238E27FC236}">
                <a16:creationId xmlns:a16="http://schemas.microsoft.com/office/drawing/2014/main" id="{5EB820F3-C7D8-4BCE-B52B-3DC1A09E028E}"/>
              </a:ext>
            </a:extLst>
          </p:cNvPr>
          <p:cNvSpPr>
            <a:spLocks xmlns:a="http://schemas.openxmlformats.org/drawingml/2006/main" noGrp="1"/>
          </p:cNvSpPr>
          <p:nvPr/>
        </p:nvSpPr>
        <p:spPr>
          <a:xfrm xmlns:a="http://schemas.openxmlformats.org/drawingml/2006/main">
            <a:off x="7467600" y="1962150"/>
            <a:ext cx="1695450" cy="1695450"/>
          </a:xfrm>
          <a:prstGeom xmlns:a="http://schemas.openxmlformats.org/drawingml/2006/main" prst="roundRect">
            <a:avLst>
              <a:gd name="adj" fmla="val 3371"/>
            </a:avLst>
          </a:prstGeom>
          <a:solidFill xmlns:a="http://schemas.openxmlformats.org/drawingml/2006/main">
            <a:srgbClr val="F0FDF4"/>
          </a:solidFill>
          <a:ln xmlns:a="http://schemas.openxmlformats.org/drawingml/2006/main" w="9525">
            <a:solidFill>
              <a:srgbClr val="16A34A"/>
            </a:solidFill>
            <a:prstDash val="solid"/>
          </a:ln>
        </p:spPr>
      </p:sp>
      <p:sp>
        <p:nvSpPr>
          <p:cNvPr id="16" name="">
            <a:extLst xmlns:a="http://schemas.openxmlformats.org/drawingml/2006/main">
              <a:ext uri="{FF2B5EF4-FFF2-40B4-BE49-F238E27FC236}">
                <a16:creationId xmlns:a16="http://schemas.microsoft.com/office/drawing/2014/main" id="{D3DC714F-3CAA-4D27-8AE5-1AA2C1D4745D}"/>
              </a:ext>
            </a:extLst>
          </p:cNvPr>
          <p:cNvSpPr>
            <a:spLocks xmlns:a="http://schemas.openxmlformats.org/drawingml/2006/main" noGrp="1"/>
          </p:cNvSpPr>
          <p:nvPr/>
        </p:nvSpPr>
        <p:spPr>
          <a:xfrm xmlns:a="http://schemas.openxmlformats.org/drawingml/2006/main">
            <a:off x="762000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Residency control</a:t>
            </a:r>
          </a:p>
        </p:txBody>
      </p:sp>
      <p:sp>
        <p:nvSpPr>
          <p:cNvPr id="17" name="">
            <a:extLst xmlns:a="http://schemas.openxmlformats.org/drawingml/2006/main">
              <a:ext uri="{FF2B5EF4-FFF2-40B4-BE49-F238E27FC236}">
                <a16:creationId xmlns:a16="http://schemas.microsoft.com/office/drawing/2014/main" id="{9096600A-8334-40EC-816A-F388A1541D62}"/>
              </a:ext>
            </a:extLst>
          </p:cNvPr>
          <p:cNvSpPr>
            <a:spLocks xmlns:a="http://schemas.openxmlformats.org/drawingml/2006/main" noGrp="1"/>
          </p:cNvSpPr>
          <p:nvPr/>
        </p:nvSpPr>
        <p:spPr>
          <a:xfrm xmlns:a="http://schemas.openxmlformats.org/drawingml/2006/main">
            <a:off x="763905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protect useful KV</a:t>
            </a:r>
          </a:p>
        </p:txBody>
      </p:sp>
      <p:sp>
        <p:nvSpPr>
          <p:cNvPr id="18" name="">
            <a:extLst xmlns:a="http://schemas.openxmlformats.org/drawingml/2006/main">
              <a:ext uri="{FF2B5EF4-FFF2-40B4-BE49-F238E27FC236}">
                <a16:creationId xmlns:a16="http://schemas.microsoft.com/office/drawing/2014/main" id="{2F754845-FB42-4D52-BBC5-4368763B264E}"/>
              </a:ext>
            </a:extLst>
          </p:cNvPr>
          <p:cNvSpPr>
            <a:spLocks xmlns:a="http://schemas.openxmlformats.org/drawingml/2006/main" noGrp="1"/>
          </p:cNvSpPr>
          <p:nvPr/>
        </p:nvSpPr>
        <p:spPr>
          <a:xfrm xmlns:a="http://schemas.openxmlformats.org/drawingml/2006/main">
            <a:off x="922020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19" name="">
            <a:extLst xmlns:a="http://schemas.openxmlformats.org/drawingml/2006/main">
              <a:ext uri="{FF2B5EF4-FFF2-40B4-BE49-F238E27FC236}">
                <a16:creationId xmlns:a16="http://schemas.microsoft.com/office/drawing/2014/main" id="{89ACCDB8-C66A-4B31-9C50-1951024BB6BA}"/>
              </a:ext>
            </a:extLst>
          </p:cNvPr>
          <p:cNvSpPr>
            <a:spLocks xmlns:a="http://schemas.openxmlformats.org/drawingml/2006/main" noGrp="1"/>
          </p:cNvSpPr>
          <p:nvPr/>
        </p:nvSpPr>
        <p:spPr>
          <a:xfrm xmlns:a="http://schemas.openxmlformats.org/drawingml/2006/main">
            <a:off x="9772650" y="1962150"/>
            <a:ext cx="1695450" cy="1695450"/>
          </a:xfrm>
          <a:prstGeom xmlns:a="http://schemas.openxmlformats.org/drawingml/2006/main" prst="roundRect">
            <a:avLst>
              <a:gd name="adj" fmla="val 3371"/>
            </a:avLst>
          </a:prstGeom>
          <a:solidFill xmlns:a="http://schemas.openxmlformats.org/drawingml/2006/main">
            <a:srgbClr val="FFF7ED"/>
          </a:solidFill>
          <a:ln xmlns:a="http://schemas.openxmlformats.org/drawingml/2006/main" w="9525">
            <a:solidFill>
              <a:srgbClr val="F97316"/>
            </a:solidFill>
            <a:prstDash val="solid"/>
          </a:ln>
        </p:spPr>
      </p:sp>
      <p:sp>
        <p:nvSpPr>
          <p:cNvPr id="20" name="">
            <a:extLst xmlns:a="http://schemas.openxmlformats.org/drawingml/2006/main">
              <a:ext uri="{FF2B5EF4-FFF2-40B4-BE49-F238E27FC236}">
                <a16:creationId xmlns:a16="http://schemas.microsoft.com/office/drawing/2014/main" id="{6CA90AF3-7EA5-4215-87ED-D257120CB4FE}"/>
              </a:ext>
            </a:extLst>
          </p:cNvPr>
          <p:cNvSpPr>
            <a:spLocks xmlns:a="http://schemas.openxmlformats.org/drawingml/2006/main" noGrp="1"/>
          </p:cNvSpPr>
          <p:nvPr/>
        </p:nvSpPr>
        <p:spPr>
          <a:xfrm xmlns:a="http://schemas.openxmlformats.org/drawingml/2006/main">
            <a:off x="992505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Telemetry</a:t>
            </a:r>
          </a:p>
        </p:txBody>
      </p:sp>
      <p:sp>
        <p:nvSpPr>
          <p:cNvPr id="21" name="">
            <a:extLst xmlns:a="http://schemas.openxmlformats.org/drawingml/2006/main">
              <a:ext uri="{FF2B5EF4-FFF2-40B4-BE49-F238E27FC236}">
                <a16:creationId xmlns:a16="http://schemas.microsoft.com/office/drawing/2014/main" id="{F4EDDA31-E0F5-4ECA-A01B-D7BCFE7C4D12}"/>
              </a:ext>
            </a:extLst>
          </p:cNvPr>
          <p:cNvSpPr>
            <a:spLocks xmlns:a="http://schemas.openxmlformats.org/drawingml/2006/main" noGrp="1"/>
          </p:cNvSpPr>
          <p:nvPr/>
        </p:nvSpPr>
        <p:spPr>
          <a:xfrm xmlns:a="http://schemas.openxmlformats.org/drawingml/2006/main">
            <a:off x="994410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late / useful / wasted</a:t>
            </a:r>
          </a:p>
        </p:txBody>
      </p:sp>
      <p:sp>
        <p:nvSpPr>
          <p:cNvPr id="22" name="">
            <a:extLst xmlns:a="http://schemas.openxmlformats.org/drawingml/2006/main">
              <a:ext uri="{FF2B5EF4-FFF2-40B4-BE49-F238E27FC236}">
                <a16:creationId xmlns:a16="http://schemas.microsoft.com/office/drawing/2014/main" id="{2767C2BD-42FF-4888-9BBB-EAD96C895477}"/>
              </a:ext>
            </a:extLst>
          </p:cNvPr>
          <p:cNvSpPr>
            <a:spLocks xmlns:a="http://schemas.openxmlformats.org/drawingml/2006/main" noGrp="1"/>
          </p:cNvSpPr>
          <p:nvPr/>
        </p:nvSpPr>
        <p:spPr>
          <a:xfrm xmlns:a="http://schemas.openxmlformats.org/drawingml/2006/main">
            <a:off x="2000250" y="4514850"/>
            <a:ext cx="8191500" cy="800100"/>
          </a:xfrm>
          <a:prstGeom xmlns:a="http://schemas.openxmlformats.org/drawingml/2006/main" prst="roundRect">
            <a:avLst>
              <a:gd name="adj" fmla="val 7143"/>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839C8DDC-B4DA-4FDB-A4B3-93959ABE4A38}"/>
              </a:ext>
            </a:extLst>
          </p:cNvPr>
          <p:cNvSpPr>
            <a:spLocks xmlns:a="http://schemas.openxmlformats.org/drawingml/2006/main" noGrp="1"/>
          </p:cNvSpPr>
          <p:nvPr/>
        </p:nvSpPr>
        <p:spPr>
          <a:xfrm xmlns:a="http://schemas.openxmlformats.org/drawingml/2006/main">
            <a:off x="2247900" y="47434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F172A"/>
                </a:solidFill>
              </a:defRPr>
            </a:pPr>
            <a:r>
              <a:rPr sz="1650" b="1">
                <a:solidFill>
                  <a:srgbClr val="0F172A"/>
                </a:solidFill>
              </a:rPr>
              <a:t>Resulting research question</a:t>
            </a:r>
          </a:p>
        </p:txBody>
      </p:sp>
      <p:sp>
        <p:nvSpPr>
          <p:cNvPr id="24" name="">
            <a:extLst xmlns:a="http://schemas.openxmlformats.org/drawingml/2006/main">
              <a:ext uri="{FF2B5EF4-FFF2-40B4-BE49-F238E27FC236}">
                <a16:creationId xmlns:a16="http://schemas.microsoft.com/office/drawing/2014/main" id="{0F060A64-FB81-41A5-9494-CE9171E5D55B}"/>
              </a:ext>
            </a:extLst>
          </p:cNvPr>
          <p:cNvSpPr>
            <a:spLocks xmlns:a="http://schemas.openxmlformats.org/drawingml/2006/main" noGrp="1"/>
          </p:cNvSpPr>
          <p:nvPr/>
        </p:nvSpPr>
        <p:spPr>
          <a:xfrm xmlns:a="http://schemas.openxmlformats.org/drawingml/2006/main">
            <a:off x="4953000" y="4686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How much replay latency and wasted movement can be avoided when KV movement has session context, priority, deadline, protection, and telemetry?</a:t>
            </a:r>
          </a:p>
        </p:txBody>
      </p:sp>
      <p:sp>
        <p:nvSpPr>
          <p:cNvPr id="25" name="">
            <a:extLst xmlns:a="http://schemas.openxmlformats.org/drawingml/2006/main">
              <a:ext uri="{FF2B5EF4-FFF2-40B4-BE49-F238E27FC236}">
                <a16:creationId xmlns:a16="http://schemas.microsoft.com/office/drawing/2014/main" id="{86C3D3FD-8B08-46D1-B7A2-E86B05EDF00C}"/>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6" name="">
            <a:extLst xmlns:a="http://schemas.openxmlformats.org/drawingml/2006/main">
              <a:ext uri="{FF2B5EF4-FFF2-40B4-BE49-F238E27FC236}">
                <a16:creationId xmlns:a16="http://schemas.microsoft.com/office/drawing/2014/main" id="{FB1221F1-3248-47B5-B168-B0BA9978C2EB}"/>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08</a:t>
            </a:r>
          </a:p>
        </p:txBody>
      </p:sp>
    </p:spTree>
    <p:extLst>
      <p:ext uri="{BB962C8B-B14F-4D97-AF65-F5344CB8AC3E}">
        <p14:creationId xmlns:p14="http://schemas.microsoft.com/office/powerpoint/2010/main" val="15142256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2026-08-19T16:29:14.8220000Z</dcterms:created>
  <dcterms:modified xsi:type="dcterms:W3CDTF">2026-08-19T16:29:14.8220000Z</dcterms:modified>
</coreProperties>
</file>